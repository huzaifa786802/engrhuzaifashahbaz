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14F2A-07DC-41AD-8153-E53F011B5DEF}" type="datetimeFigureOut">
              <a:rPr lang="en-US" smtClean="0"/>
              <a:t>14-Mar-25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98B84-CCA4-47A1-9AC7-269952DE2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4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7B8A-2DD7-9C6B-AC98-4EEB7C919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982CD-D164-A6CE-D8C1-F9541260F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D7CB2-9FD1-A7E4-93C3-7529BD84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77C4-B71E-4C90-8049-4B36473C3929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169E7-898D-BAF2-2C91-B7B343910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E075E-9D0A-A3B8-3C4F-7E3B2ED7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1082-A5E6-963F-8D9A-38F1CA3E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D8EDD-4AAE-00B4-88A2-B22286E7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8F0-ACC6-68D7-2801-2FDB9745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72F35-19F4-4E99-9782-F165E5B4AB9D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3C912-95D8-4F46-2C61-9DFEC389B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45D8-318A-98DC-4437-B13DFB2A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9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9AA5-3F32-8386-AA6A-555C5E69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7E3C6-6D13-83AB-F36F-535FD04A5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BFE50-6BF2-4CF5-496D-538EBF35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76153-ED0A-4806-BFA3-1288837862DF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C43D0-0BCD-550A-8C30-3C0ACCF1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C5210-7F62-5E8D-5208-91A38145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0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D133-33E6-F073-23D4-1F2F1719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73AF-0A50-A3D9-E78A-F2E183689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8770-5D69-A15E-6B45-A4EFE9406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16841-34DA-1F38-0FB5-1F44B493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995A-9EDB-4A47-9F34-A4FC99E4B859}" type="datetime1">
              <a:rPr lang="en-US" smtClean="0"/>
              <a:t>14-Mar-25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87802-713A-62F4-1C9C-4810AEB36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98E54-1299-409E-1121-7E45EA41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3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8EFD-9478-9C36-8E52-F39DD2DA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4356F-6A25-3712-96DC-E94CD6A55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F7CE7-28EC-1186-DF0D-7AFF63B79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C2D8B-704E-B7F3-0094-FA43DD4D7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197F3-2B8B-355B-5C63-9A699EF97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FE7CF-CE99-FDB3-C197-9BF9DFDB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95F2-858C-420D-99A2-54BEF5C8F153}" type="datetime1">
              <a:rPr lang="en-US" smtClean="0"/>
              <a:t>14-Mar-25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7377A-E658-0344-24DD-A5EBB2B6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F7634-3F06-6CDB-0C60-4A24D50E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9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7E3A-0922-779E-B45A-2165D07E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2C1-0473-187D-9A91-EF1D48206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B6B2-C1F0-4B24-8D18-DDD9B1FA2315}" type="datetime1">
              <a:rPr lang="en-US" smtClean="0"/>
              <a:t>14-Mar-25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E5096-7357-F507-5D52-01C55DE7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34CCC-A5F7-E6B4-5A57-854DF218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7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1D010F-1E1F-8522-184A-960B30CF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CEAC-0CEB-45D9-B36C-064D6C68C01D}" type="datetime1">
              <a:rPr lang="en-US" smtClean="0"/>
              <a:t>14-Mar-25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F71B4-9426-CBCF-26E3-E4D2C4C4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C6376-3F02-97FA-1C27-9BEEAA3E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D7E5-22A3-F501-EDB4-3BBC9CBC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CB2B-9F2F-6CA1-7D62-C7295811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15A46-A88B-E895-1BE2-CB51DF2A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21BDC-7EA5-96CC-A113-DFA0BA0E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3720-D006-413A-A2AA-F9F11C2AE762}" type="datetime1">
              <a:rPr lang="en-US" smtClean="0"/>
              <a:t>14-Mar-25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73AD3-4F62-EB0F-E59E-56820A58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2451C-4FE2-2FEC-41CC-670DFD01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2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5C6F-7EC6-37FF-5DAC-462D28AC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0AF2B8-B2B0-CF18-A80C-B9784768F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2AF72-05F5-AC54-1915-B63130823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71B74-A391-294C-B084-8AAE0000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48B6-31B5-44F7-A5B9-BBEF5B0589AD}" type="datetime1">
              <a:rPr lang="en-US" smtClean="0"/>
              <a:t>14-Mar-25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A18E5-B994-0748-B69A-74587BE0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A7640-E1C2-0E3E-D0F0-D5E548CE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6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B52F-1566-AD0D-A635-E7FE0B83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CED85-FD5F-E2E5-33A8-97A83D25E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BAD48-4F7D-BF3C-2203-F7473F6C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E758-7E7F-4A53-B05D-FA3011931191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4821C-0273-DC14-138F-D0EB3947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13326-9CDF-D755-7ABB-A145C085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9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ADE3F-F856-0D8D-843B-6598A182B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9F510-6640-DC02-0384-7048938A8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9CDA-CBA2-B59B-E213-5C7CDE5A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3E09-E755-4479-AF03-4D1DF0B728B9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1347E-6EB4-8568-936B-E6BDFE5F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B4A89-0892-117D-9208-B3421EAC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7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12FDB-8933-7B49-908B-8F718C4F8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1FAAE-69B6-BA3B-1D34-AD2E54B09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7C9CC-654F-B7CF-0C3E-3D5AA7C73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B8AD0-5513-481A-A39A-BAB7B857D543}" type="datetime1">
              <a:rPr lang="en-US" smtClean="0"/>
              <a:t>14-Mar-25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6A82F-91A0-ABEE-93F3-2D8F6A95A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AAAE1-8082-E5F2-C056-92987EF8D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0AA30-3663-426F-9492-508B24D9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0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5163-3A09-534A-A64D-80A530BBD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3A4E3-9A41-A767-266D-9527820F1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59A31D0-130C-46AA-B8C2-3EE41EA9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FB4FC-56F6-2F51-BF57-726565614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7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62842-2A38-52D8-BFDF-64EDB066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Bat flying at day">
            <a:extLst>
              <a:ext uri="{FF2B5EF4-FFF2-40B4-BE49-F238E27FC236}">
                <a16:creationId xmlns:a16="http://schemas.microsoft.com/office/drawing/2014/main" id="{5B02A5FB-2CE3-168B-9783-598BFF678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66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A6414-D1DA-42FC-B449-5CC2906F3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24604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FFFFFF"/>
                </a:solidFill>
              </a:rPr>
              <a:t>ARTIFICIAL INTELLIGENCE BAT ALGORTHIM</a:t>
            </a: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D03B5-DF52-6011-5E14-99A24F99D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111497"/>
            <a:ext cx="10058400" cy="22582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85000" lnSpcReduction="20000"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PRESENTED BY</a:t>
            </a:r>
          </a:p>
          <a:p>
            <a:r>
              <a:rPr lang="en-US" sz="3500" dirty="0">
                <a:solidFill>
                  <a:srgbClr val="FFFFFF"/>
                </a:solidFill>
              </a:rPr>
              <a:t>HUZAIFA SHAHBAZ</a:t>
            </a:r>
          </a:p>
          <a:p>
            <a:r>
              <a:rPr lang="en-US" sz="3500" dirty="0">
                <a:solidFill>
                  <a:srgbClr val="FFFFFF"/>
                </a:solidFill>
              </a:rPr>
              <a:t>21-CE-009</a:t>
            </a:r>
          </a:p>
          <a:p>
            <a:r>
              <a:rPr lang="en-US" sz="3500" dirty="0">
                <a:solidFill>
                  <a:srgbClr val="FFFFFF"/>
                </a:solidFill>
              </a:rPr>
              <a:t>PRESENTED TO</a:t>
            </a:r>
          </a:p>
          <a:p>
            <a:r>
              <a:rPr lang="en-US" sz="3500" dirty="0">
                <a:solidFill>
                  <a:srgbClr val="FFFFFF"/>
                </a:solidFill>
              </a:rPr>
              <a:t>MAAM KAYYNAT RANA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B1320-19EB-9883-2200-721296D8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250AA30-3663-426F-9492-508B24D9AAA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77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A821-A684-E3F3-19F3-D9BDAE4F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969"/>
            <a:ext cx="10515600" cy="72842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OUTLINES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C3E8-1B55-BEC9-8AA0-46868B659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390"/>
            <a:ext cx="10515600" cy="5169573"/>
          </a:xfrm>
        </p:spPr>
        <p:txBody>
          <a:bodyPr/>
          <a:lstStyle/>
          <a:p>
            <a:pPr marL="465138" indent="-465138"/>
            <a:r>
              <a:rPr lang="en-US" sz="2800" b="0" i="0" dirty="0">
                <a:effectLst/>
              </a:rPr>
              <a:t>INTRODUCTION </a:t>
            </a:r>
          </a:p>
          <a:p>
            <a:pPr marL="465138" indent="-465138"/>
            <a:r>
              <a:rPr lang="en-US" sz="2800" b="0" i="0" dirty="0">
                <a:effectLst/>
              </a:rPr>
              <a:t>HISTORY </a:t>
            </a:r>
          </a:p>
          <a:p>
            <a:pPr marL="465138" indent="-465138"/>
            <a:r>
              <a:rPr lang="en-US" sz="2800" b="0" i="0" dirty="0">
                <a:effectLst/>
              </a:rPr>
              <a:t>WORKING AND CONSTRUCTION </a:t>
            </a:r>
          </a:p>
          <a:p>
            <a:pPr marL="465138" indent="-465138"/>
            <a:r>
              <a:rPr lang="en-US" sz="2800" b="0" i="0" dirty="0">
                <a:effectLst/>
              </a:rPr>
              <a:t>MATHEMATICAL DERIVATIONS </a:t>
            </a:r>
          </a:p>
          <a:p>
            <a:pPr marL="465138" indent="-465138"/>
            <a:r>
              <a:rPr lang="en-US" sz="2800" b="0" i="0" dirty="0">
                <a:effectLst/>
              </a:rPr>
              <a:t>USES AND APPLICATIONS </a:t>
            </a:r>
          </a:p>
          <a:p>
            <a:pPr marL="465138" indent="-465138"/>
            <a:r>
              <a:rPr lang="en-US" sz="2800" b="0" i="0" dirty="0">
                <a:effectLst/>
              </a:rPr>
              <a:t>CONCLUSIONS</a:t>
            </a:r>
          </a:p>
          <a:p>
            <a:pPr marL="465138" indent="-465138"/>
            <a:r>
              <a:rPr lang="en-US" sz="2800" dirty="0"/>
              <a:t>REFERENCES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6CE4B-A8C1-B157-0FAA-EBAB5817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9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4F6B-9C1B-A446-6B9B-53CAEEE6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003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INTRODUCTION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9B168-648D-225F-211E-7D93DB2E7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908"/>
            <a:ext cx="10515600" cy="5340055"/>
          </a:xfrm>
        </p:spPr>
        <p:txBody>
          <a:bodyPr/>
          <a:lstStyle/>
          <a:p>
            <a:pPr marL="465138" indent="-465138"/>
            <a:r>
              <a:rPr lang="en-US" dirty="0"/>
              <a:t>Bat algorithm is a metaheuristic optimization algorithms inspired by the echolocation  behavior of microbats</a:t>
            </a:r>
          </a:p>
          <a:p>
            <a:pPr marL="465138" indent="-465138"/>
            <a:r>
              <a:rPr lang="en-US" dirty="0"/>
              <a:t>Echolocation is a process where bats emit sound pulses and listen to echoes to navigate and find prey</a:t>
            </a:r>
          </a:p>
          <a:p>
            <a:pPr marL="465138" indent="-465138"/>
            <a:r>
              <a:rPr lang="en-US" b="1" dirty="0"/>
              <a:t>Key characteristics</a:t>
            </a:r>
          </a:p>
          <a:p>
            <a:pPr marL="465138" indent="-465138"/>
            <a:r>
              <a:rPr lang="en-US" dirty="0"/>
              <a:t>Population-based search algorithm</a:t>
            </a:r>
          </a:p>
          <a:p>
            <a:pPr marL="465138" indent="-465138"/>
            <a:r>
              <a:rPr lang="en-US" dirty="0"/>
              <a:t>Combines global exploration and local exploitation</a:t>
            </a:r>
          </a:p>
          <a:p>
            <a:pPr marL="465138" indent="-465138"/>
            <a:r>
              <a:rPr lang="en-US" dirty="0"/>
              <a:t>Automatic switching between exploration and exploitation</a:t>
            </a:r>
          </a:p>
          <a:p>
            <a:pPr marL="465138" indent="-465138"/>
            <a:r>
              <a:rPr lang="en-US" dirty="0"/>
              <a:t>Classification is nature-inspired swarm intelligence algorithm</a:t>
            </a:r>
          </a:p>
          <a:p>
            <a:pPr marL="465138" indent="-465138"/>
            <a:r>
              <a:rPr lang="en-US" dirty="0"/>
              <a:t>Core principles is mimics how bats use sonar to detect prey and avoid obstacles in complete darkness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04DBC-30FE-CD2A-AD6D-97D4DCA4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8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D8CB-FAF1-A574-C986-385BFAC8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4687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78BAF-E35D-30AD-E4CB-8902ED93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404"/>
            <a:ext cx="10515600" cy="5293559"/>
          </a:xfrm>
        </p:spPr>
        <p:txBody>
          <a:bodyPr>
            <a:normAutofit/>
          </a:bodyPr>
          <a:lstStyle/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dirty="0"/>
              <a:t>First proposed by Xin She Yang in 2010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dirty="0"/>
              <a:t>A new metaheuristic Bat-Inspired Algorithm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dirty="0"/>
              <a:t>Inspiration by Yang's observations of microbats and their remarkable echolocation abilities 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b="1" dirty="0"/>
              <a:t>Evolution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b="1" dirty="0"/>
              <a:t>2010</a:t>
            </a:r>
            <a:r>
              <a:rPr lang="en-US" sz="2400" dirty="0"/>
              <a:t>  Basic Bat Algorithm introduced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b="1" dirty="0"/>
              <a:t>2011 </a:t>
            </a:r>
            <a:r>
              <a:rPr lang="en-US" sz="2400" dirty="0"/>
              <a:t>Multi-objective bat algorithm developed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b="1" dirty="0"/>
              <a:t>2012-2014 </a:t>
            </a:r>
            <a:r>
              <a:rPr lang="en-US" sz="2400" dirty="0"/>
              <a:t>Various modifications and hybrid versions proposed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b="1" dirty="0"/>
              <a:t>2015-Present  </a:t>
            </a:r>
            <a:r>
              <a:rPr lang="en-US" sz="2400" dirty="0"/>
              <a:t>Advanced variants including binary, chaotic, and fuzzy bat algorithms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sz="2400" b="1" dirty="0"/>
              <a:t>Research Impact is </a:t>
            </a:r>
            <a:r>
              <a:rPr lang="en-US" sz="2400" dirty="0"/>
              <a:t>Thousands of citations and applications across multiple disciplines</a:t>
            </a:r>
            <a:endParaRPr lang="en-US" sz="2400" b="1" dirty="0"/>
          </a:p>
          <a:p>
            <a:pPr marL="465138" indent="-465138">
              <a:buFont typeface="Wingdings" panose="05000000000000000000" pitchFamily="2" charset="2"/>
              <a:buChar char="Ø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53B27-395F-6E6B-2F19-B6CAD49C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9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0395-826F-7DE9-0A31-8719023E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4687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WORKING AND CONSTRUCTIONS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DEEE4-039D-0A25-9CC8-62D10ADEB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404"/>
            <a:ext cx="10515600" cy="5293559"/>
          </a:xfrm>
        </p:spPr>
        <p:txBody>
          <a:bodyPr>
            <a:normAutofit lnSpcReduction="10000"/>
          </a:bodyPr>
          <a:lstStyle/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b="1" dirty="0"/>
              <a:t>Algorithm Structure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dirty="0"/>
              <a:t>Population of virtual "bats" (candidate solutions)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dirty="0"/>
              <a:t>Each bat has position, velocity, frequency, loudness, and pulse rate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dirty="0"/>
              <a:t>Bats "fly" through solution space searching for best prey (optimal solution)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b="1" dirty="0"/>
              <a:t>Key Mechanisms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b="1" dirty="0"/>
              <a:t>Echolocation </a:t>
            </a:r>
            <a:r>
              <a:rPr lang="en-US" dirty="0"/>
              <a:t> Controls distance and range of search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b="1" dirty="0"/>
              <a:t>Frequency Adjustment  </a:t>
            </a:r>
            <a:r>
              <a:rPr lang="en-US" dirty="0"/>
              <a:t>Tunes search range and speed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b="1" dirty="0"/>
              <a:t>Loudness</a:t>
            </a:r>
            <a:r>
              <a:rPr lang="en-US" dirty="0"/>
              <a:t> Represents solution acceptance</a:t>
            </a:r>
          </a:p>
          <a:p>
            <a:pPr marL="341313" indent="-341313">
              <a:buFont typeface="Wingdings" panose="05000000000000000000" pitchFamily="2" charset="2"/>
              <a:buChar char="ü"/>
            </a:pPr>
            <a:r>
              <a:rPr lang="en-US" b="1" dirty="0"/>
              <a:t>Pulse Rate</a:t>
            </a:r>
            <a:r>
              <a:rPr lang="en-US" dirty="0"/>
              <a:t>: Controls local search intensity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1A73E-9B6E-4E4C-9B8C-4FE31A01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5DB9-5F4F-C5C1-9C84-B3F56B82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3BE6-3CFC-47C5-E2A7-939D8C1C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4687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WORKING AND CONSTRUCTIONS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2F5FC-2060-ED83-F276-FF1DB7FE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404"/>
            <a:ext cx="10515600" cy="5293559"/>
          </a:xfrm>
        </p:spPr>
        <p:txBody>
          <a:bodyPr>
            <a:normAutofit/>
          </a:bodyPr>
          <a:lstStyle/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b="1" dirty="0"/>
              <a:t>Control Parameters</a:t>
            </a:r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Population size</a:t>
            </a:r>
            <a:endParaRPr lang="en-US" b="1" dirty="0"/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Loudness reduction factor (</a:t>
            </a:r>
            <a:r>
              <a:rPr lang="el-GR" dirty="0"/>
              <a:t>α)</a:t>
            </a:r>
            <a:endParaRPr lang="en-US" b="1" dirty="0"/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Pulse rate increase factor (γ)</a:t>
            </a:r>
            <a:endParaRPr lang="en-US" b="1" dirty="0"/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Minimum/maximum frequency range</a:t>
            </a:r>
            <a:endParaRPr lang="en-US" b="1" dirty="0"/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b="1" dirty="0"/>
              <a:t>Search Process</a:t>
            </a:r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Global exploration (low pulse rate)</a:t>
            </a:r>
            <a:endParaRPr lang="en-US" b="1" dirty="0"/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Local exploitation (high pulse rate)</a:t>
            </a:r>
            <a:endParaRPr lang="en-US" b="1" dirty="0"/>
          </a:p>
          <a:p>
            <a:pPr marL="573088" indent="-573088">
              <a:buFont typeface="Wingdings" panose="05000000000000000000" pitchFamily="2" charset="2"/>
              <a:buChar char="ü"/>
            </a:pPr>
            <a:r>
              <a:rPr lang="en-US" dirty="0"/>
              <a:t>Automatic balancing between the two modes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1E7DC-9460-A79F-2B6A-7A0FCE52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4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7CF4-F1D1-9051-71E1-CD41C030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7003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MATHEMATICAL DERIVATIONS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6C92-8123-4273-E59F-E10443F69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907"/>
            <a:ext cx="10515600" cy="5340056"/>
          </a:xfrm>
        </p:spPr>
        <p:txBody>
          <a:bodyPr/>
          <a:lstStyle/>
          <a:p>
            <a:pPr marL="403225" indent="-403225"/>
            <a:r>
              <a:rPr lang="en-US" dirty="0"/>
              <a:t>Mathematical Derivations - Basic Equations</a:t>
            </a:r>
          </a:p>
          <a:p>
            <a:pPr marL="403225" indent="-403225"/>
            <a:r>
              <a:rPr lang="en-US" b="1" dirty="0"/>
              <a:t>Frequency Adjustment</a:t>
            </a:r>
          </a:p>
          <a:p>
            <a:pPr marL="403225" indent="-403225"/>
            <a:r>
              <a:rPr lang="da-DK" dirty="0"/>
              <a:t>f_i = f_min + (f_max - f_min)β</a:t>
            </a:r>
          </a:p>
          <a:p>
            <a:pPr marL="403225" indent="-403225"/>
            <a:r>
              <a:rPr lang="en-US" dirty="0"/>
              <a:t>Where β is a random value from uniform distribution [0,1]</a:t>
            </a:r>
            <a:endParaRPr lang="da-DK" dirty="0"/>
          </a:p>
          <a:p>
            <a:pPr marL="403225" indent="-403225"/>
            <a:r>
              <a:rPr lang="en-US" b="1" dirty="0"/>
              <a:t>Velocity Update</a:t>
            </a:r>
          </a:p>
          <a:p>
            <a:pPr marL="403225" indent="-403225"/>
            <a:r>
              <a:rPr lang="nn-NO" dirty="0"/>
              <a:t>v_i^t = v_i^{t-1} + (x_i^{t-1} - x_*)f_i</a:t>
            </a:r>
            <a:endParaRPr lang="en-US" dirty="0"/>
          </a:p>
          <a:p>
            <a:pPr marL="403225" indent="-403225"/>
            <a:r>
              <a:rPr lang="en-US" dirty="0"/>
              <a:t>Where x_* is the current global best solution</a:t>
            </a:r>
            <a:endParaRPr lang="en-US" b="1" dirty="0"/>
          </a:p>
          <a:p>
            <a:pPr marL="403225" indent="-403225"/>
            <a:r>
              <a:rPr lang="en-US" b="1" dirty="0"/>
              <a:t>Position Update</a:t>
            </a:r>
          </a:p>
          <a:p>
            <a:pPr marL="403225" indent="-403225"/>
            <a:r>
              <a:rPr lang="nn-NO" b="1" dirty="0"/>
              <a:t>x_i^t = x_i^{t-1} + v_i^t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56E04-FAC8-24C7-1B01-FA877CE4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0699-F01F-FF63-1566-210E734B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419E-820D-5C07-D27E-26A51DEC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4"/>
            <a:ext cx="10515600" cy="7003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MATHEMATICAL DERIVATIONS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08B66-0D59-221D-C12F-D516A921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907"/>
            <a:ext cx="10515600" cy="5340056"/>
          </a:xfrm>
        </p:spPr>
        <p:txBody>
          <a:bodyPr>
            <a:normAutofit lnSpcReduction="10000"/>
          </a:bodyPr>
          <a:lstStyle/>
          <a:p>
            <a:pPr marL="403225" indent="-403225"/>
            <a:r>
              <a:rPr lang="en-US" sz="2400" dirty="0"/>
              <a:t>Mathematical Derivations - Advanced Mechanisms</a:t>
            </a:r>
          </a:p>
          <a:p>
            <a:pPr marL="403225" indent="-403225"/>
            <a:r>
              <a:rPr lang="en-US" sz="2400" b="1" dirty="0"/>
              <a:t>Local Search</a:t>
            </a:r>
          </a:p>
          <a:p>
            <a:pPr marL="403225" indent="-403225"/>
            <a:r>
              <a:rPr lang="en-US" sz="2400" b="1" dirty="0" err="1"/>
              <a:t>x_new</a:t>
            </a:r>
            <a:r>
              <a:rPr lang="en-US" sz="2400" b="1" dirty="0"/>
              <a:t> = </a:t>
            </a:r>
            <a:r>
              <a:rPr lang="en-US" sz="2400" b="1" dirty="0" err="1"/>
              <a:t>x_old</a:t>
            </a:r>
            <a:r>
              <a:rPr lang="en-US" sz="2400" b="1" dirty="0"/>
              <a:t> + </a:t>
            </a:r>
            <a:r>
              <a:rPr lang="en-US" sz="2400" b="1" dirty="0" err="1"/>
              <a:t>εA^t</a:t>
            </a:r>
            <a:endParaRPr lang="en-US" sz="2400" b="1" dirty="0"/>
          </a:p>
          <a:p>
            <a:pPr marL="403225" indent="-403225"/>
            <a:r>
              <a:rPr lang="en-US" sz="2400" dirty="0"/>
              <a:t>here: ε is a random number in range [-1,1] </a:t>
            </a:r>
          </a:p>
          <a:p>
            <a:pPr marL="403225" indent="-403225"/>
            <a:r>
              <a:rPr lang="en-US" sz="2400" dirty="0" err="1"/>
              <a:t>A^t</a:t>
            </a:r>
            <a:r>
              <a:rPr lang="en-US" sz="2400" dirty="0"/>
              <a:t> is the average loudness of all bats at time t</a:t>
            </a:r>
          </a:p>
          <a:p>
            <a:pPr marL="403225" indent="-403225"/>
            <a:r>
              <a:rPr lang="en-US" sz="2400" b="1" dirty="0"/>
              <a:t>Loudness Update</a:t>
            </a:r>
          </a:p>
          <a:p>
            <a:pPr marL="403225" indent="-403225"/>
            <a:r>
              <a:rPr lang="en-US" sz="2400" dirty="0" err="1"/>
              <a:t>A_i</a:t>
            </a:r>
            <a:r>
              <a:rPr lang="en-US" sz="2400" dirty="0"/>
              <a:t>^{t+1} = </a:t>
            </a:r>
            <a:r>
              <a:rPr lang="el-GR" sz="2400" dirty="0"/>
              <a:t>α</a:t>
            </a:r>
            <a:r>
              <a:rPr lang="en-US" sz="2400" dirty="0" err="1"/>
              <a:t>A_i^t</a:t>
            </a:r>
            <a:endParaRPr lang="en-US" sz="2400" dirty="0"/>
          </a:p>
          <a:p>
            <a:pPr marL="403225" indent="-403225"/>
            <a:r>
              <a:rPr lang="en-US" sz="2400" dirty="0"/>
              <a:t>Where α is a constant (0 &lt; α &lt; 1)</a:t>
            </a:r>
          </a:p>
          <a:p>
            <a:pPr marL="403225" indent="-403225"/>
            <a:r>
              <a:rPr lang="en-US" sz="2400" b="1" dirty="0"/>
              <a:t>Pulse Rate Update</a:t>
            </a:r>
          </a:p>
          <a:p>
            <a:pPr marL="403225" indent="-403225"/>
            <a:r>
              <a:rPr lang="pt-BR" sz="2400" dirty="0"/>
              <a:t>r_i^{t+1} = r_i^0[1-exp(-γt)] </a:t>
            </a:r>
          </a:p>
          <a:p>
            <a:pPr marL="403225" indent="-403225"/>
            <a:r>
              <a:rPr lang="en-US" sz="2400" dirty="0"/>
              <a:t>Where: r_i^0 is the initial pulse rate</a:t>
            </a:r>
          </a:p>
          <a:p>
            <a:pPr marL="403225" indent="-403225"/>
            <a:r>
              <a:rPr lang="en-US" sz="2400" dirty="0"/>
              <a:t>γ is a constant</a:t>
            </a:r>
          </a:p>
          <a:p>
            <a:pPr marL="403225" indent="-403225"/>
            <a:endParaRPr lang="pt-BR" sz="2400" dirty="0"/>
          </a:p>
          <a:p>
            <a:pPr marL="403225" indent="-403225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BEE15-C1D9-8503-C151-E9ADC2DC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8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8E2D-767F-EB13-DA4D-02B05F3B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4687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USES AND APPLICATIONS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6A254-B1EB-2415-261C-06EAC95C5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1892"/>
            <a:ext cx="10515600" cy="518507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Specialized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Continuous Optimization Problems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Function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Constrained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Multi-objective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Engineering Design</a:t>
            </a:r>
            <a:r>
              <a:rPr lang="en-US" dirty="0"/>
              <a:t>: Structural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Mechanical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 estimation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30E12-F46C-5DD7-5457-F07F1A1F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6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36DA-B3A4-2CE0-6D88-9C23A3F7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1588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0C1F6-4F66-164B-2E8A-F86973632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408"/>
            <a:ext cx="10515600" cy="5324555"/>
          </a:xfrm>
        </p:spPr>
        <p:txBody>
          <a:bodyPr/>
          <a:lstStyle/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b="1" dirty="0"/>
              <a:t>Strengths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dirty="0"/>
              <a:t> Simplicity in concept and implementation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dirty="0"/>
              <a:t>Automatic balance of exploration and exploitation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 tuning can be challenging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converge prematurely in some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Directions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Self-adaptive parameter mechanisms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Hybridization with other algorithms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dirty="0"/>
          </a:p>
          <a:p>
            <a:pPr marL="341313" indent="-341313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E668A-0965-0365-D4D8-DBF4246C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4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6ADD-3DB6-01C8-49E1-366E49606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471"/>
            <a:ext cx="10515600" cy="82141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59B6-C1B7-0BC4-0AE2-CE94BE62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366"/>
            <a:ext cx="10515600" cy="4952597"/>
          </a:xfrm>
        </p:spPr>
        <p:txBody>
          <a:bodyPr>
            <a:normAutofit lnSpcReduction="10000"/>
          </a:bodyPr>
          <a:lstStyle/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Yang, X. S. (2010). "A new metaheuristic bat-inspired algorithm." In Nature Inspired Cooperative Strategies for Optimization (NICSO 2010) (pp. 65-74). Springer.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Yang, X. S. (2011). "Bat algorithm for multi-objective optimization." International Journal of Bio-Inspired Computation, 3(5), 267-274.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 err="1"/>
              <a:t>Gandomi</a:t>
            </a:r>
            <a:r>
              <a:rPr lang="en-US" dirty="0"/>
              <a:t>, A. H., Yang, X. S., Alavi, A. H., &amp; </a:t>
            </a:r>
            <a:r>
              <a:rPr lang="en-US" dirty="0" err="1"/>
              <a:t>Talatahari</a:t>
            </a:r>
            <a:r>
              <a:rPr lang="en-US" dirty="0"/>
              <a:t>, S. (2013). "Bat algorithm for constrained optimization tasks." Neural Computing and Applications, 22(6), 1239-1255.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r>
              <a:rPr lang="en-US" dirty="0"/>
              <a:t>Fister, I., Fister Jr, I., Yang, X. S., &amp; Brest, J. (2013). "A comprehensive review of bat algorithms and their applications." Neural Computing and Applications, 25(3-4), 772-775.</a:t>
            </a:r>
          </a:p>
          <a:p>
            <a:pPr marL="465138" indent="-465138">
              <a:buFont typeface="Wingdings" panose="05000000000000000000" pitchFamily="2" charset="2"/>
              <a:buChar char="Ø"/>
            </a:pPr>
            <a:endParaRPr lang="en-US" dirty="0"/>
          </a:p>
          <a:p>
            <a:pPr marL="465138" indent="-465138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A3E5-A2B8-1788-30F3-B69918E6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0AA30-3663-426F-9492-508B24D9AA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0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709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ARTIFICIAL INTELLIGENCE BAT ALGORTHIM</vt:lpstr>
      <vt:lpstr>OUTLINES</vt:lpstr>
      <vt:lpstr>INTRODUCTION</vt:lpstr>
      <vt:lpstr>HISTORY</vt:lpstr>
      <vt:lpstr>WORKING AND CONSTRUCTIONS</vt:lpstr>
      <vt:lpstr>WORKING AND CONSTRUCTIONS</vt:lpstr>
      <vt:lpstr>MATHEMATICAL DERIVATIONS</vt:lpstr>
      <vt:lpstr>MATHEMATICAL DERIVATIONS</vt:lpstr>
      <vt:lpstr>USES AND APPLICATIONS</vt:lpstr>
      <vt:lpstr>Conclusion</vt:lpstr>
      <vt:lpstr>REFERENCES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shahbaz</dc:creator>
  <cp:lastModifiedBy>huzaifa shahbaz</cp:lastModifiedBy>
  <cp:revision>1</cp:revision>
  <dcterms:created xsi:type="dcterms:W3CDTF">2025-03-11T03:34:18Z</dcterms:created>
  <dcterms:modified xsi:type="dcterms:W3CDTF">2025-03-15T08:57:35Z</dcterms:modified>
</cp:coreProperties>
</file>