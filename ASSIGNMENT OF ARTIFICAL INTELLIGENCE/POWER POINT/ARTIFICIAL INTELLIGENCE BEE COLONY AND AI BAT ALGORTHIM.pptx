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6"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162436-7415-4078-B807-F07E4874748D}" v="12" dt="2025-03-11T03:32:18.1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2" autoAdjust="0"/>
    <p:restoredTop sz="94660"/>
  </p:normalViewPr>
  <p:slideViewPr>
    <p:cSldViewPr snapToGrid="0">
      <p:cViewPr varScale="1">
        <p:scale>
          <a:sx n="62" d="100"/>
          <a:sy n="62" d="100"/>
        </p:scale>
        <p:origin x="1050" y="66"/>
      </p:cViewPr>
      <p:guideLst/>
    </p:cSldViewPr>
  </p:slideViewPr>
  <p:notesTextViewPr>
    <p:cViewPr>
      <p:scale>
        <a:sx n="1" d="1"/>
        <a:sy n="1" d="1"/>
      </p:scale>
      <p:origin x="0" y="0"/>
    </p:cViewPr>
  </p:notesTextViewPr>
  <p:sorterViewPr>
    <p:cViewPr>
      <p:scale>
        <a:sx n="100" d="100"/>
        <a:sy n="100" d="100"/>
      </p:scale>
      <p:origin x="0" y="-4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6C83A9-EC99-4D9F-8358-755CE8EB9CD7}" type="datetimeFigureOut">
              <a:rPr lang="en-US" smtClean="0"/>
              <a:t>17-Mar-25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A0C60D-EDE1-42CB-A1F7-CB3DF4F330C7}" type="slidenum">
              <a:rPr lang="en-US" smtClean="0"/>
              <a:t>‹#›</a:t>
            </a:fld>
            <a:endParaRPr lang="en-US"/>
          </a:p>
        </p:txBody>
      </p:sp>
    </p:spTree>
    <p:extLst>
      <p:ext uri="{BB962C8B-B14F-4D97-AF65-F5344CB8AC3E}">
        <p14:creationId xmlns:p14="http://schemas.microsoft.com/office/powerpoint/2010/main" val="4047823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Traction means </a:t>
            </a:r>
            <a:r>
              <a:rPr lang="en-US" b="0" i="0" dirty="0">
                <a:solidFill>
                  <a:srgbClr val="EEF0FF"/>
                </a:solidFill>
                <a:effectLst/>
                <a:latin typeface="Google Sans"/>
              </a:rPr>
              <a:t>the measurable progress or momentum a company or project is gaining, including acquiring users, increasing revenue, or achieving milestones, indicating that the product or service resonates with its target audience and is finding acceptance. </a:t>
            </a:r>
          </a:p>
          <a:p>
            <a:r>
              <a:rPr lang="en-US" b="0" i="0" dirty="0">
                <a:solidFill>
                  <a:srgbClr val="333333"/>
                </a:solidFill>
                <a:effectLst/>
                <a:latin typeface="HelveticaNeue Regular"/>
              </a:rPr>
              <a:t>Dervis </a:t>
            </a:r>
            <a:r>
              <a:rPr lang="en-US" b="0" i="0" dirty="0" err="1">
                <a:solidFill>
                  <a:srgbClr val="333333"/>
                </a:solidFill>
                <a:effectLst/>
                <a:latin typeface="HelveticaNeue Regular"/>
              </a:rPr>
              <a:t>Karaboga</a:t>
            </a:r>
            <a:r>
              <a:rPr lang="en-US" b="0" i="0" dirty="0">
                <a:solidFill>
                  <a:srgbClr val="333333"/>
                </a:solidFill>
                <a:effectLst/>
                <a:latin typeface="HelveticaNeue Regular"/>
              </a:rPr>
              <a:t> received the B.Sc. degree from the Department of Electronic Engineering Erciyes University, Kayseri, Turkey, in 1983, the M.Sc. degree in electronics and communications engineering from the Technical University of Istanbul, Istanbul, Turkey, in 1988, and the Ph.D. degree from Systems Engineering Department, University of Wales, College of Cardiff, Cardiff, U.K., in 1994.</a:t>
            </a:r>
          </a:p>
          <a:p>
            <a:r>
              <a:rPr lang="en-US" b="0" i="0" dirty="0" err="1">
                <a:solidFill>
                  <a:srgbClr val="333333"/>
                </a:solidFill>
                <a:effectLst/>
                <a:latin typeface="HelveticaNeue Regular"/>
              </a:rPr>
              <a:t>Bahriye</a:t>
            </a:r>
            <a:r>
              <a:rPr lang="en-US" b="0" i="0" dirty="0">
                <a:solidFill>
                  <a:srgbClr val="333333"/>
                </a:solidFill>
                <a:effectLst/>
                <a:latin typeface="HelveticaNeue Regular"/>
              </a:rPr>
              <a:t> Akay received the B.Sc., M.Sc., and Ph.D. degrees in computer engineering from Erciyes University, Türkiye, in 2003, 2005, and 2009, respectively, and the Postdoctoral degree from the University of Birmingham, U.K., in 2011. She is currently a Professor with the Department of Computer Engineering, Erciyes University. She was selected as a Highly Cited Researcher by Clarivate Analytics, in 2018. Her research interests include artificial intelligence, evolutionary computation, swarm intelligence techniques, and software engineering.</a:t>
            </a:r>
          </a:p>
          <a:p>
            <a:r>
              <a:rPr lang="en-US" dirty="0"/>
              <a:t>Prof. Dr. Pınar </a:t>
            </a:r>
            <a:r>
              <a:rPr lang="en-US" dirty="0" err="1"/>
              <a:t>Çivicioğlu</a:t>
            </a:r>
            <a:r>
              <a:rPr lang="en-US" dirty="0"/>
              <a:t> </a:t>
            </a:r>
            <a:r>
              <a:rPr lang="en-US" dirty="0" err="1"/>
              <a:t>Beşdok</a:t>
            </a:r>
            <a:r>
              <a:rPr lang="en-US" dirty="0"/>
              <a:t> is a distinguished academic in the field of computer science, specializing in artificial intelligence and computational intelligence. She completed her Bachelor of Engineering, Master's, and Ph.D. degrees at Erciyes University in Kayseri, Turkey, in 1997, 2000, and 2004, respectively. </a:t>
            </a:r>
            <a:endParaRPr lang="en-US" b="0" i="0" dirty="0">
              <a:solidFill>
                <a:srgbClr val="333333"/>
              </a:solidFill>
              <a:effectLst/>
              <a:latin typeface="HelveticaNeue Regular"/>
            </a:endParaRPr>
          </a:p>
          <a:p>
            <a:endParaRPr lang="en-US" b="0" i="0" dirty="0">
              <a:solidFill>
                <a:srgbClr val="333333"/>
              </a:solidFill>
              <a:effectLst/>
              <a:latin typeface="HelveticaNeue Regular"/>
            </a:endParaRPr>
          </a:p>
          <a:p>
            <a:endParaRPr lang="en-US" dirty="0"/>
          </a:p>
        </p:txBody>
      </p:sp>
      <p:sp>
        <p:nvSpPr>
          <p:cNvPr id="4" name="Slide Number Placeholder 3"/>
          <p:cNvSpPr>
            <a:spLocks noGrp="1"/>
          </p:cNvSpPr>
          <p:nvPr>
            <p:ph type="sldNum" sz="quarter" idx="5"/>
          </p:nvPr>
        </p:nvSpPr>
        <p:spPr/>
        <p:txBody>
          <a:bodyPr/>
          <a:lstStyle/>
          <a:p>
            <a:fld id="{B1A0C60D-EDE1-42CB-A1F7-CB3DF4F330C7}" type="slidenum">
              <a:rPr lang="en-US" smtClean="0"/>
              <a:t>5</a:t>
            </a:fld>
            <a:endParaRPr lang="en-US"/>
          </a:p>
        </p:txBody>
      </p:sp>
    </p:spTree>
    <p:extLst>
      <p:ext uri="{BB962C8B-B14F-4D97-AF65-F5344CB8AC3E}">
        <p14:creationId xmlns:p14="http://schemas.microsoft.com/office/powerpoint/2010/main" val="3674037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D4459-EF82-F569-94E8-4BEC586FD3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C60A6D-C32A-C375-FB3E-8609BB7B87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7A920D-FCBF-E315-381F-C9E291AAAAE5}"/>
              </a:ext>
            </a:extLst>
          </p:cNvPr>
          <p:cNvSpPr>
            <a:spLocks noGrp="1"/>
          </p:cNvSpPr>
          <p:nvPr>
            <p:ph type="dt" sz="half" idx="10"/>
          </p:nvPr>
        </p:nvSpPr>
        <p:spPr/>
        <p:txBody>
          <a:bodyPr/>
          <a:lstStyle/>
          <a:p>
            <a:fld id="{D074151C-CC1C-42DC-9420-0AA5CBCC1F8C}" type="datetime1">
              <a:rPr lang="en-US" smtClean="0"/>
              <a:t>17-Mar-25</a:t>
            </a:fld>
            <a:endParaRPr lang="en-US"/>
          </a:p>
        </p:txBody>
      </p:sp>
      <p:sp>
        <p:nvSpPr>
          <p:cNvPr id="5" name="Footer Placeholder 4">
            <a:extLst>
              <a:ext uri="{FF2B5EF4-FFF2-40B4-BE49-F238E27FC236}">
                <a16:creationId xmlns:a16="http://schemas.microsoft.com/office/drawing/2014/main" id="{0BB1B2A8-9310-2B02-57F6-DE326486CD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EB97F7-01E2-498E-94AF-5F55AA8BFF1F}"/>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1013941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4E17-7A13-69F6-B8FF-669BAF1704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41357E-1204-C3D1-8237-260BEDC9D0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E1D6D-B370-D6A6-2A2A-5C28117457F7}"/>
              </a:ext>
            </a:extLst>
          </p:cNvPr>
          <p:cNvSpPr>
            <a:spLocks noGrp="1"/>
          </p:cNvSpPr>
          <p:nvPr>
            <p:ph type="dt" sz="half" idx="10"/>
          </p:nvPr>
        </p:nvSpPr>
        <p:spPr/>
        <p:txBody>
          <a:bodyPr/>
          <a:lstStyle/>
          <a:p>
            <a:fld id="{D5D07B12-537D-439B-A607-7D5B2E91CF01}" type="datetime1">
              <a:rPr lang="en-US" smtClean="0"/>
              <a:t>17-Mar-25</a:t>
            </a:fld>
            <a:endParaRPr lang="en-US"/>
          </a:p>
        </p:txBody>
      </p:sp>
      <p:sp>
        <p:nvSpPr>
          <p:cNvPr id="5" name="Footer Placeholder 4">
            <a:extLst>
              <a:ext uri="{FF2B5EF4-FFF2-40B4-BE49-F238E27FC236}">
                <a16:creationId xmlns:a16="http://schemas.microsoft.com/office/drawing/2014/main" id="{64395976-9BBE-76EE-2F7E-F1E6FD1A6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891B4-A4BD-9CAD-8199-186A781F0FE1}"/>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1841703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3025C-E10E-E017-B974-8F4352CA8A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9125A1-F174-EA0B-7466-BCC3BA8C41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878D30-84DE-D85A-6220-675E1E20B1F1}"/>
              </a:ext>
            </a:extLst>
          </p:cNvPr>
          <p:cNvSpPr>
            <a:spLocks noGrp="1"/>
          </p:cNvSpPr>
          <p:nvPr>
            <p:ph type="dt" sz="half" idx="10"/>
          </p:nvPr>
        </p:nvSpPr>
        <p:spPr/>
        <p:txBody>
          <a:bodyPr/>
          <a:lstStyle/>
          <a:p>
            <a:fld id="{2EFE08A1-5AE4-45A6-BC1E-52FB0BED01E3}" type="datetime1">
              <a:rPr lang="en-US" smtClean="0"/>
              <a:t>17-Mar-25</a:t>
            </a:fld>
            <a:endParaRPr lang="en-US"/>
          </a:p>
        </p:txBody>
      </p:sp>
      <p:sp>
        <p:nvSpPr>
          <p:cNvPr id="5" name="Footer Placeholder 4">
            <a:extLst>
              <a:ext uri="{FF2B5EF4-FFF2-40B4-BE49-F238E27FC236}">
                <a16:creationId xmlns:a16="http://schemas.microsoft.com/office/drawing/2014/main" id="{146F2233-87FF-891D-F026-473CABBA8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2243EA-A341-21BF-2E78-15F12E7E92B8}"/>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2256866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E8667-63D3-044E-B380-20C0F8B3BC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80B56B-ECF3-13F6-F265-F23E3A3508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14B192-5300-6E23-7CDF-B1BE434BBA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7AEF29-F529-B584-1B11-7BCDCCCA68F2}"/>
              </a:ext>
            </a:extLst>
          </p:cNvPr>
          <p:cNvSpPr>
            <a:spLocks noGrp="1"/>
          </p:cNvSpPr>
          <p:nvPr>
            <p:ph type="dt" sz="half" idx="10"/>
          </p:nvPr>
        </p:nvSpPr>
        <p:spPr/>
        <p:txBody>
          <a:bodyPr/>
          <a:lstStyle/>
          <a:p>
            <a:fld id="{42DFBEC7-6992-48C1-9EDB-9EF9125E70A6}" type="datetime1">
              <a:rPr lang="en-US" smtClean="0"/>
              <a:t>17-Mar-25</a:t>
            </a:fld>
            <a:endParaRPr lang="en-US"/>
          </a:p>
        </p:txBody>
      </p:sp>
      <p:sp>
        <p:nvSpPr>
          <p:cNvPr id="6" name="Footer Placeholder 5">
            <a:extLst>
              <a:ext uri="{FF2B5EF4-FFF2-40B4-BE49-F238E27FC236}">
                <a16:creationId xmlns:a16="http://schemas.microsoft.com/office/drawing/2014/main" id="{9DF04211-913E-A4B0-E32C-2E078DB3E1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B326BF-EB73-3B99-9C86-2BEB8B5ADFB2}"/>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1970483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7B9D3-D9AE-9096-735B-2BB7A489CD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5C7D40-43D2-76D9-31C0-7FEAF56B8F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2CA50B-9F11-958B-A982-3FC5F61BE5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B77A50-E3C7-39C8-A6DF-04EFD6ED37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D9E5EA-4E48-0337-9855-C6F088C2E5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E38B80-BD08-5E8E-FDED-C00A6F26F8B5}"/>
              </a:ext>
            </a:extLst>
          </p:cNvPr>
          <p:cNvSpPr>
            <a:spLocks noGrp="1"/>
          </p:cNvSpPr>
          <p:nvPr>
            <p:ph type="dt" sz="half" idx="10"/>
          </p:nvPr>
        </p:nvSpPr>
        <p:spPr/>
        <p:txBody>
          <a:bodyPr/>
          <a:lstStyle/>
          <a:p>
            <a:fld id="{26D28E0D-9719-4064-9AC6-E6AC130AD8D9}" type="datetime1">
              <a:rPr lang="en-US" smtClean="0"/>
              <a:t>17-Mar-25</a:t>
            </a:fld>
            <a:endParaRPr lang="en-US"/>
          </a:p>
        </p:txBody>
      </p:sp>
      <p:sp>
        <p:nvSpPr>
          <p:cNvPr id="8" name="Footer Placeholder 7">
            <a:extLst>
              <a:ext uri="{FF2B5EF4-FFF2-40B4-BE49-F238E27FC236}">
                <a16:creationId xmlns:a16="http://schemas.microsoft.com/office/drawing/2014/main" id="{85DF320C-CF41-12F4-EC7C-B7C25A0D95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3C3590-1C73-3897-7437-4049ABD566D3}"/>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700434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A9FED-27B6-0E72-9E0B-CDC2603FA7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74FF22-84C8-FA6D-CB6C-D569A5D3A183}"/>
              </a:ext>
            </a:extLst>
          </p:cNvPr>
          <p:cNvSpPr>
            <a:spLocks noGrp="1"/>
          </p:cNvSpPr>
          <p:nvPr>
            <p:ph type="dt" sz="half" idx="10"/>
          </p:nvPr>
        </p:nvSpPr>
        <p:spPr/>
        <p:txBody>
          <a:bodyPr/>
          <a:lstStyle/>
          <a:p>
            <a:fld id="{BD5484BE-B553-46A6-9A73-B2ED515F96D5}" type="datetime1">
              <a:rPr lang="en-US" smtClean="0"/>
              <a:t>17-Mar-25</a:t>
            </a:fld>
            <a:endParaRPr lang="en-US"/>
          </a:p>
        </p:txBody>
      </p:sp>
      <p:sp>
        <p:nvSpPr>
          <p:cNvPr id="4" name="Footer Placeholder 3">
            <a:extLst>
              <a:ext uri="{FF2B5EF4-FFF2-40B4-BE49-F238E27FC236}">
                <a16:creationId xmlns:a16="http://schemas.microsoft.com/office/drawing/2014/main" id="{0DE6BEED-D7CC-A4B2-49DB-081E2E172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1B9902-386B-D274-FD20-C47964B6087F}"/>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3430980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CA2D12-82F2-C220-7507-45BC69116676}"/>
              </a:ext>
            </a:extLst>
          </p:cNvPr>
          <p:cNvSpPr>
            <a:spLocks noGrp="1"/>
          </p:cNvSpPr>
          <p:nvPr>
            <p:ph type="dt" sz="half" idx="10"/>
          </p:nvPr>
        </p:nvSpPr>
        <p:spPr/>
        <p:txBody>
          <a:bodyPr/>
          <a:lstStyle/>
          <a:p>
            <a:fld id="{6EE3925D-3844-470E-8087-318B2AE99E1F}" type="datetime1">
              <a:rPr lang="en-US" smtClean="0"/>
              <a:t>17-Mar-25</a:t>
            </a:fld>
            <a:endParaRPr lang="en-US"/>
          </a:p>
        </p:txBody>
      </p:sp>
      <p:sp>
        <p:nvSpPr>
          <p:cNvPr id="3" name="Footer Placeholder 2">
            <a:extLst>
              <a:ext uri="{FF2B5EF4-FFF2-40B4-BE49-F238E27FC236}">
                <a16:creationId xmlns:a16="http://schemas.microsoft.com/office/drawing/2014/main" id="{3B7CF6A8-B2A6-A56B-492B-69122AB444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C78207-3B62-4E43-5270-397E07545745}"/>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38733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3DB30-6A46-F63F-ED5D-E5E37A7755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E4F025-5E9F-CE7F-7EEE-BC46755510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65E279-9133-D6BF-17E7-3DE7DC1347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2E87B7-661C-7DB1-4FBA-8FFEA17862A1}"/>
              </a:ext>
            </a:extLst>
          </p:cNvPr>
          <p:cNvSpPr>
            <a:spLocks noGrp="1"/>
          </p:cNvSpPr>
          <p:nvPr>
            <p:ph type="dt" sz="half" idx="10"/>
          </p:nvPr>
        </p:nvSpPr>
        <p:spPr/>
        <p:txBody>
          <a:bodyPr/>
          <a:lstStyle/>
          <a:p>
            <a:fld id="{05FFBA15-6E09-40DA-B43B-3CD3C151DAAA}" type="datetime1">
              <a:rPr lang="en-US" smtClean="0"/>
              <a:t>17-Mar-25</a:t>
            </a:fld>
            <a:endParaRPr lang="en-US"/>
          </a:p>
        </p:txBody>
      </p:sp>
      <p:sp>
        <p:nvSpPr>
          <p:cNvPr id="6" name="Footer Placeholder 5">
            <a:extLst>
              <a:ext uri="{FF2B5EF4-FFF2-40B4-BE49-F238E27FC236}">
                <a16:creationId xmlns:a16="http://schemas.microsoft.com/office/drawing/2014/main" id="{F9E4C476-359F-ABD9-7FAA-677C3AE2F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92246D-AF22-53A8-E8A8-8BAF7989A394}"/>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2277363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F1B04-57EB-4267-17C1-310627105A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37326E-2755-7552-3E86-AB15321B7E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2EE61B-4916-8175-145C-6113E51D46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DCC836-8F87-8ABD-DA03-0CC5E20CAC4A}"/>
              </a:ext>
            </a:extLst>
          </p:cNvPr>
          <p:cNvSpPr>
            <a:spLocks noGrp="1"/>
          </p:cNvSpPr>
          <p:nvPr>
            <p:ph type="dt" sz="half" idx="10"/>
          </p:nvPr>
        </p:nvSpPr>
        <p:spPr/>
        <p:txBody>
          <a:bodyPr/>
          <a:lstStyle/>
          <a:p>
            <a:fld id="{6B628B24-7124-4371-9AF0-49AF208AE460}" type="datetime1">
              <a:rPr lang="en-US" smtClean="0"/>
              <a:t>17-Mar-25</a:t>
            </a:fld>
            <a:endParaRPr lang="en-US"/>
          </a:p>
        </p:txBody>
      </p:sp>
      <p:sp>
        <p:nvSpPr>
          <p:cNvPr id="6" name="Footer Placeholder 5">
            <a:extLst>
              <a:ext uri="{FF2B5EF4-FFF2-40B4-BE49-F238E27FC236}">
                <a16:creationId xmlns:a16="http://schemas.microsoft.com/office/drawing/2014/main" id="{38325C7A-FA36-B53D-61FD-6D4DAA2B1F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5A287F-C2B4-768A-C558-9B479CE9E7A8}"/>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3415922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71F95-96F0-9297-4889-BC48011D6C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7C9D53-8FCC-FE0A-70F1-1664FF345D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5EF6F-43A9-267F-718C-49A71E188BC1}"/>
              </a:ext>
            </a:extLst>
          </p:cNvPr>
          <p:cNvSpPr>
            <a:spLocks noGrp="1"/>
          </p:cNvSpPr>
          <p:nvPr>
            <p:ph type="dt" sz="half" idx="10"/>
          </p:nvPr>
        </p:nvSpPr>
        <p:spPr/>
        <p:txBody>
          <a:bodyPr/>
          <a:lstStyle/>
          <a:p>
            <a:fld id="{1B499799-B0AA-41E3-98E6-2DFC1BF726C4}" type="datetime1">
              <a:rPr lang="en-US" smtClean="0"/>
              <a:t>17-Mar-25</a:t>
            </a:fld>
            <a:endParaRPr lang="en-US"/>
          </a:p>
        </p:txBody>
      </p:sp>
      <p:sp>
        <p:nvSpPr>
          <p:cNvPr id="5" name="Footer Placeholder 4">
            <a:extLst>
              <a:ext uri="{FF2B5EF4-FFF2-40B4-BE49-F238E27FC236}">
                <a16:creationId xmlns:a16="http://schemas.microsoft.com/office/drawing/2014/main" id="{AA44777F-4EA6-2F35-2E05-9FA007FA83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CEB949-6BAE-8AA9-4585-029663B57EF3}"/>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687575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770EC0-57C7-1995-B3CA-66168971A0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F575E9-05E2-3F23-7480-F7CDE06265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FDC9B6-E2B6-B85C-D507-318373780EB6}"/>
              </a:ext>
            </a:extLst>
          </p:cNvPr>
          <p:cNvSpPr>
            <a:spLocks noGrp="1"/>
          </p:cNvSpPr>
          <p:nvPr>
            <p:ph type="dt" sz="half" idx="10"/>
          </p:nvPr>
        </p:nvSpPr>
        <p:spPr/>
        <p:txBody>
          <a:bodyPr/>
          <a:lstStyle/>
          <a:p>
            <a:fld id="{1B255C9D-15FF-4455-832F-33C2AF7D5255}" type="datetime1">
              <a:rPr lang="en-US" smtClean="0"/>
              <a:t>17-Mar-25</a:t>
            </a:fld>
            <a:endParaRPr lang="en-US"/>
          </a:p>
        </p:txBody>
      </p:sp>
      <p:sp>
        <p:nvSpPr>
          <p:cNvPr id="5" name="Footer Placeholder 4">
            <a:extLst>
              <a:ext uri="{FF2B5EF4-FFF2-40B4-BE49-F238E27FC236}">
                <a16:creationId xmlns:a16="http://schemas.microsoft.com/office/drawing/2014/main" id="{4703B1F6-D455-2D2C-A262-490403F89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BD1B5-D600-CC73-D83C-37CC65E1293D}"/>
              </a:ext>
            </a:extLst>
          </p:cNvPr>
          <p:cNvSpPr>
            <a:spLocks noGrp="1"/>
          </p:cNvSpPr>
          <p:nvPr>
            <p:ph type="sldNum" sz="quarter" idx="12"/>
          </p:nvPr>
        </p:nvSpPr>
        <p:spPr/>
        <p:txBody>
          <a:bodyPr/>
          <a:lstStyle/>
          <a:p>
            <a:fld id="{5D1DE694-C67F-452B-96F1-A9F236BF5C76}" type="slidenum">
              <a:rPr lang="en-US" smtClean="0"/>
              <a:t>‹#›</a:t>
            </a:fld>
            <a:endParaRPr lang="en-US"/>
          </a:p>
        </p:txBody>
      </p:sp>
    </p:spTree>
    <p:extLst>
      <p:ext uri="{BB962C8B-B14F-4D97-AF65-F5344CB8AC3E}">
        <p14:creationId xmlns:p14="http://schemas.microsoft.com/office/powerpoint/2010/main" val="3715188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17E110-F981-A975-B54B-D10E2F6FE7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1EC610-A234-E57C-0F75-FB4709832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D492EB-6100-407F-096E-BC987BF16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35679F-EE6A-4795-9869-D72663B75306}" type="datetime1">
              <a:rPr lang="en-US" smtClean="0"/>
              <a:t>17-Mar-25</a:t>
            </a:fld>
            <a:endParaRPr lang="en-US"/>
          </a:p>
        </p:txBody>
      </p:sp>
      <p:sp>
        <p:nvSpPr>
          <p:cNvPr id="5" name="Footer Placeholder 4">
            <a:extLst>
              <a:ext uri="{FF2B5EF4-FFF2-40B4-BE49-F238E27FC236}">
                <a16:creationId xmlns:a16="http://schemas.microsoft.com/office/drawing/2014/main" id="{84E846D1-2BDC-CB85-FDEE-7A67DB6ACB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89AA52-56BF-B5D5-1935-99EC893D4A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1DE694-C67F-452B-96F1-A9F236BF5C76}" type="slidenum">
              <a:rPr lang="en-US" smtClean="0"/>
              <a:t>‹#›</a:t>
            </a:fld>
            <a:endParaRPr lang="en-US"/>
          </a:p>
        </p:txBody>
      </p:sp>
    </p:spTree>
    <p:extLst>
      <p:ext uri="{BB962C8B-B14F-4D97-AF65-F5344CB8AC3E}">
        <p14:creationId xmlns:p14="http://schemas.microsoft.com/office/powerpoint/2010/main" val="2116687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510D4-6027-3A0F-A652-27D5E52E3AC5}"/>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1CBCD358-8B8C-85CF-C545-DE18B79ED685}"/>
              </a:ext>
            </a:extLst>
          </p:cNvPr>
          <p:cNvSpPr>
            <a:spLocks noGrp="1"/>
          </p:cNvSpPr>
          <p:nvPr>
            <p:ph type="subTitle" idx="1"/>
          </p:nvPr>
        </p:nvSpPr>
        <p:spPr/>
        <p:txBody>
          <a:bodyPr/>
          <a:lstStyle/>
          <a:p>
            <a:endParaRPr lang="en-US" dirty="0"/>
          </a:p>
        </p:txBody>
      </p:sp>
      <p:pic>
        <p:nvPicPr>
          <p:cNvPr id="6" name="Picture 2">
            <a:extLst>
              <a:ext uri="{FF2B5EF4-FFF2-40B4-BE49-F238E27FC236}">
                <a16:creationId xmlns:a16="http://schemas.microsoft.com/office/drawing/2014/main" id="{E9767086-0093-D716-D8AC-3C05EB85BF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047"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a:extLst>
              <a:ext uri="{FF2B5EF4-FFF2-40B4-BE49-F238E27FC236}">
                <a16:creationId xmlns:a16="http://schemas.microsoft.com/office/drawing/2014/main" id="{AA9A4D46-300D-BC28-7AE9-E8E6EBCFF183}"/>
              </a:ext>
            </a:extLst>
          </p:cNvPr>
          <p:cNvSpPr>
            <a:spLocks noGrp="1"/>
          </p:cNvSpPr>
          <p:nvPr>
            <p:ph type="sldNum" sz="quarter" idx="12"/>
          </p:nvPr>
        </p:nvSpPr>
        <p:spPr/>
        <p:txBody>
          <a:bodyPr/>
          <a:lstStyle/>
          <a:p>
            <a:fld id="{5D1DE694-C67F-452B-96F1-A9F236BF5C76}" type="slidenum">
              <a:rPr lang="en-US" smtClean="0"/>
              <a:t>1</a:t>
            </a:fld>
            <a:endParaRPr lang="en-US"/>
          </a:p>
        </p:txBody>
      </p:sp>
    </p:spTree>
    <p:extLst>
      <p:ext uri="{BB962C8B-B14F-4D97-AF65-F5344CB8AC3E}">
        <p14:creationId xmlns:p14="http://schemas.microsoft.com/office/powerpoint/2010/main" val="25167205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76281A-AF21-B036-4AA6-AE60C47EF0D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16" name="Picture 15" descr="Bee depositing into a honeycomb">
            <a:extLst>
              <a:ext uri="{FF2B5EF4-FFF2-40B4-BE49-F238E27FC236}">
                <a16:creationId xmlns:a16="http://schemas.microsoft.com/office/drawing/2014/main" id="{E553332E-1331-8C66-34C4-664C345B822E}"/>
              </a:ext>
            </a:extLst>
          </p:cNvPr>
          <p:cNvPicPr>
            <a:picLocks noChangeAspect="1"/>
          </p:cNvPicPr>
          <p:nvPr/>
        </p:nvPicPr>
        <p:blipFill>
          <a:blip r:embed="rId2">
            <a:alphaModFix amt="60000"/>
          </a:blip>
          <a:srcRect t="7922" b="7809"/>
          <a:stretch/>
        </p:blipFill>
        <p:spPr>
          <a:xfrm>
            <a:off x="-1" y="10"/>
            <a:ext cx="12192001" cy="6857990"/>
          </a:xfrm>
          <a:prstGeom prst="rect">
            <a:avLst/>
          </a:prstGeom>
        </p:spPr>
      </p:pic>
      <p:sp>
        <p:nvSpPr>
          <p:cNvPr id="2" name="Title 1">
            <a:extLst>
              <a:ext uri="{FF2B5EF4-FFF2-40B4-BE49-F238E27FC236}">
                <a16:creationId xmlns:a16="http://schemas.microsoft.com/office/drawing/2014/main" id="{B5620903-5C30-8C20-27D0-283FF9CD6D4E}"/>
              </a:ext>
            </a:extLst>
          </p:cNvPr>
          <p:cNvSpPr>
            <a:spLocks noGrp="1"/>
          </p:cNvSpPr>
          <p:nvPr>
            <p:ph type="ctrTitle"/>
          </p:nvPr>
        </p:nvSpPr>
        <p:spPr>
          <a:xfrm>
            <a:off x="1198181" y="1122363"/>
            <a:ext cx="9795637" cy="2220775"/>
          </a:xfrm>
        </p:spPr>
        <p:txBody>
          <a:bodyPr>
            <a:normAutofit/>
          </a:bodyPr>
          <a:lstStyle/>
          <a:p>
            <a:r>
              <a:rPr lang="en-US" sz="5200" b="1" dirty="0">
                <a:solidFill>
                  <a:srgbClr val="FFFFFF"/>
                </a:solidFill>
              </a:rPr>
              <a:t>ARTIFICIAL INTELLIGENCE BEE COLONY AND AI BAT ALGORTHIM</a:t>
            </a:r>
          </a:p>
        </p:txBody>
      </p:sp>
      <p:sp>
        <p:nvSpPr>
          <p:cNvPr id="3" name="Subtitle 2">
            <a:extLst>
              <a:ext uri="{FF2B5EF4-FFF2-40B4-BE49-F238E27FC236}">
                <a16:creationId xmlns:a16="http://schemas.microsoft.com/office/drawing/2014/main" id="{81EFE0E7-6F92-778A-9074-B3E7A1FD2871}"/>
              </a:ext>
            </a:extLst>
          </p:cNvPr>
          <p:cNvSpPr>
            <a:spLocks noGrp="1"/>
          </p:cNvSpPr>
          <p:nvPr>
            <p:ph type="subTitle" idx="1"/>
          </p:nvPr>
        </p:nvSpPr>
        <p:spPr>
          <a:xfrm>
            <a:off x="1198181" y="3514853"/>
            <a:ext cx="9795637" cy="2220775"/>
          </a:xfrm>
        </p:spPr>
        <p:txBody>
          <a:bodyPr>
            <a:normAutofit lnSpcReduction="10000"/>
          </a:bodyPr>
          <a:lstStyle/>
          <a:p>
            <a:r>
              <a:rPr lang="en-US" dirty="0">
                <a:solidFill>
                  <a:srgbClr val="FFFFFF"/>
                </a:solidFill>
              </a:rPr>
              <a:t>PRESENTED BY</a:t>
            </a:r>
          </a:p>
          <a:p>
            <a:r>
              <a:rPr lang="en-US" dirty="0">
                <a:solidFill>
                  <a:srgbClr val="FFFFFF"/>
                </a:solidFill>
              </a:rPr>
              <a:t>HUZAIFA SHAHBAZ</a:t>
            </a:r>
          </a:p>
          <a:p>
            <a:r>
              <a:rPr lang="en-US" dirty="0">
                <a:solidFill>
                  <a:srgbClr val="FFFFFF"/>
                </a:solidFill>
              </a:rPr>
              <a:t>21-CE-009</a:t>
            </a:r>
          </a:p>
          <a:p>
            <a:r>
              <a:rPr lang="en-US" dirty="0">
                <a:solidFill>
                  <a:srgbClr val="FFFFFF"/>
                </a:solidFill>
              </a:rPr>
              <a:t>PRESENTED TO</a:t>
            </a:r>
          </a:p>
          <a:p>
            <a:r>
              <a:rPr lang="en-US" dirty="0">
                <a:solidFill>
                  <a:srgbClr val="FFFFFF"/>
                </a:solidFill>
              </a:rPr>
              <a:t>MAAM KAYYNAT RANA</a:t>
            </a:r>
          </a:p>
        </p:txBody>
      </p:sp>
      <p:sp>
        <p:nvSpPr>
          <p:cNvPr id="4" name="Slide Number Placeholder 3">
            <a:extLst>
              <a:ext uri="{FF2B5EF4-FFF2-40B4-BE49-F238E27FC236}">
                <a16:creationId xmlns:a16="http://schemas.microsoft.com/office/drawing/2014/main" id="{005E83D2-514B-6B0B-9E7B-67A27CBCFC82}"/>
              </a:ext>
            </a:extLst>
          </p:cNvPr>
          <p:cNvSpPr>
            <a:spLocks noGrp="1"/>
          </p:cNvSpPr>
          <p:nvPr>
            <p:ph type="sldNum" sz="quarter" idx="12"/>
          </p:nvPr>
        </p:nvSpPr>
        <p:spPr>
          <a:xfrm>
            <a:off x="8610600" y="6356350"/>
            <a:ext cx="2743200" cy="365125"/>
          </a:xfrm>
        </p:spPr>
        <p:txBody>
          <a:bodyPr>
            <a:normAutofit/>
          </a:bodyPr>
          <a:lstStyle/>
          <a:p>
            <a:pPr>
              <a:spcAft>
                <a:spcPts val="600"/>
              </a:spcAft>
            </a:pPr>
            <a:fld id="{5D1DE694-C67F-452B-96F1-A9F236BF5C76}" type="slidenum">
              <a:rPr lang="en-US">
                <a:solidFill>
                  <a:srgbClr val="FFFFFF"/>
                </a:solidFill>
              </a:rPr>
              <a:pPr>
                <a:spcAft>
                  <a:spcPts val="600"/>
                </a:spcAft>
              </a:pPr>
              <a:t>2</a:t>
            </a:fld>
            <a:endParaRPr lang="en-US">
              <a:solidFill>
                <a:srgbClr val="FFFFFF"/>
              </a:solidFill>
            </a:endParaRPr>
          </a:p>
        </p:txBody>
      </p:sp>
    </p:spTree>
    <p:extLst>
      <p:ext uri="{BB962C8B-B14F-4D97-AF65-F5344CB8AC3E}">
        <p14:creationId xmlns:p14="http://schemas.microsoft.com/office/powerpoint/2010/main" val="17372441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E511A-EE2B-38B9-35A0-81F13DAF6B21}"/>
              </a:ext>
            </a:extLst>
          </p:cNvPr>
          <p:cNvSpPr>
            <a:spLocks noGrp="1"/>
          </p:cNvSpPr>
          <p:nvPr>
            <p:ph type="title"/>
          </p:nvPr>
        </p:nvSpPr>
        <p:spPr>
          <a:xfrm>
            <a:off x="838200" y="325464"/>
            <a:ext cx="10515600" cy="759418"/>
          </a:xfrm>
        </p:spPr>
        <p:txBody>
          <a:bodyPr>
            <a:normAutofit/>
          </a:bodyPr>
          <a:lstStyle/>
          <a:p>
            <a:pPr algn="ctr"/>
            <a:r>
              <a:rPr lang="en-US" sz="4000" b="1" dirty="0"/>
              <a:t>OUTLINES</a:t>
            </a:r>
          </a:p>
        </p:txBody>
      </p:sp>
      <p:sp>
        <p:nvSpPr>
          <p:cNvPr id="3" name="Content Placeholder 2">
            <a:extLst>
              <a:ext uri="{FF2B5EF4-FFF2-40B4-BE49-F238E27FC236}">
                <a16:creationId xmlns:a16="http://schemas.microsoft.com/office/drawing/2014/main" id="{07123C4E-6AA0-C421-103E-0781657C76A3}"/>
              </a:ext>
            </a:extLst>
          </p:cNvPr>
          <p:cNvSpPr>
            <a:spLocks noGrp="1"/>
          </p:cNvSpPr>
          <p:nvPr>
            <p:ph idx="1"/>
          </p:nvPr>
        </p:nvSpPr>
        <p:spPr>
          <a:xfrm>
            <a:off x="838200" y="1255363"/>
            <a:ext cx="10515600" cy="4921600"/>
          </a:xfrm>
        </p:spPr>
        <p:txBody>
          <a:bodyPr>
            <a:normAutofit/>
          </a:bodyPr>
          <a:lstStyle/>
          <a:p>
            <a:pPr marL="465138" indent="-465138"/>
            <a:r>
              <a:rPr lang="en-US" sz="3200" b="0" i="0" dirty="0">
                <a:effectLst/>
              </a:rPr>
              <a:t>INTRODUCTION </a:t>
            </a:r>
          </a:p>
          <a:p>
            <a:pPr marL="465138" indent="-465138"/>
            <a:r>
              <a:rPr lang="en-US" sz="3200" b="0" i="0" dirty="0">
                <a:effectLst/>
              </a:rPr>
              <a:t>HISTORY </a:t>
            </a:r>
          </a:p>
          <a:p>
            <a:pPr marL="465138" indent="-465138"/>
            <a:r>
              <a:rPr lang="en-US" sz="3200" b="0" i="0" dirty="0">
                <a:effectLst/>
              </a:rPr>
              <a:t>WORKING AND CONSTRUCTION </a:t>
            </a:r>
          </a:p>
          <a:p>
            <a:pPr marL="465138" indent="-465138"/>
            <a:r>
              <a:rPr lang="en-US" sz="3200" b="0" i="0" dirty="0">
                <a:effectLst/>
              </a:rPr>
              <a:t>MATHEMATICAL DERIVATIONS </a:t>
            </a:r>
          </a:p>
          <a:p>
            <a:pPr marL="465138" indent="-465138"/>
            <a:r>
              <a:rPr lang="en-US" sz="3200" b="0" i="0" dirty="0">
                <a:effectLst/>
              </a:rPr>
              <a:t>USES AND APPLICATIONS </a:t>
            </a:r>
          </a:p>
          <a:p>
            <a:pPr marL="465138" indent="-465138"/>
            <a:r>
              <a:rPr lang="en-US" sz="3200" b="0" i="0" dirty="0">
                <a:effectLst/>
              </a:rPr>
              <a:t>CONCLUSIONS</a:t>
            </a:r>
          </a:p>
          <a:p>
            <a:pPr marL="465138" indent="-465138"/>
            <a:r>
              <a:rPr lang="en-US" sz="3200" dirty="0"/>
              <a:t>REFERENCES</a:t>
            </a:r>
          </a:p>
        </p:txBody>
      </p:sp>
      <p:sp>
        <p:nvSpPr>
          <p:cNvPr id="4" name="Slide Number Placeholder 3">
            <a:extLst>
              <a:ext uri="{FF2B5EF4-FFF2-40B4-BE49-F238E27FC236}">
                <a16:creationId xmlns:a16="http://schemas.microsoft.com/office/drawing/2014/main" id="{CAA8877E-8D80-139A-934D-327E4243707C}"/>
              </a:ext>
            </a:extLst>
          </p:cNvPr>
          <p:cNvSpPr>
            <a:spLocks noGrp="1"/>
          </p:cNvSpPr>
          <p:nvPr>
            <p:ph type="sldNum" sz="quarter" idx="12"/>
          </p:nvPr>
        </p:nvSpPr>
        <p:spPr/>
        <p:txBody>
          <a:bodyPr/>
          <a:lstStyle/>
          <a:p>
            <a:fld id="{5D1DE694-C67F-452B-96F1-A9F236BF5C76}" type="slidenum">
              <a:rPr lang="en-US" smtClean="0"/>
              <a:t>3</a:t>
            </a:fld>
            <a:endParaRPr lang="en-US"/>
          </a:p>
        </p:txBody>
      </p:sp>
    </p:spTree>
    <p:extLst>
      <p:ext uri="{BB962C8B-B14F-4D97-AF65-F5344CB8AC3E}">
        <p14:creationId xmlns:p14="http://schemas.microsoft.com/office/powerpoint/2010/main" val="39606340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79D59-7154-270B-2A49-DE495716A288}"/>
              </a:ext>
            </a:extLst>
          </p:cNvPr>
          <p:cNvSpPr>
            <a:spLocks noGrp="1"/>
          </p:cNvSpPr>
          <p:nvPr>
            <p:ph type="title"/>
          </p:nvPr>
        </p:nvSpPr>
        <p:spPr>
          <a:xfrm>
            <a:off x="838200" y="136525"/>
            <a:ext cx="10515600" cy="777875"/>
          </a:xfrm>
        </p:spPr>
        <p:txBody>
          <a:bodyPr>
            <a:normAutofit/>
          </a:bodyPr>
          <a:lstStyle/>
          <a:p>
            <a:pPr algn="ctr"/>
            <a:r>
              <a:rPr lang="en-US" sz="4000" b="1" dirty="0"/>
              <a:t>INTRODUCTION</a:t>
            </a:r>
          </a:p>
        </p:txBody>
      </p:sp>
      <p:sp>
        <p:nvSpPr>
          <p:cNvPr id="3" name="Content Placeholder 2">
            <a:extLst>
              <a:ext uri="{FF2B5EF4-FFF2-40B4-BE49-F238E27FC236}">
                <a16:creationId xmlns:a16="http://schemas.microsoft.com/office/drawing/2014/main" id="{D0398B07-ACDB-50D5-446C-01373359D3E3}"/>
              </a:ext>
            </a:extLst>
          </p:cNvPr>
          <p:cNvSpPr>
            <a:spLocks noGrp="1"/>
          </p:cNvSpPr>
          <p:nvPr>
            <p:ph idx="1"/>
          </p:nvPr>
        </p:nvSpPr>
        <p:spPr>
          <a:xfrm>
            <a:off x="838200" y="914400"/>
            <a:ext cx="10515600" cy="5262563"/>
          </a:xfrm>
        </p:spPr>
        <p:txBody>
          <a:bodyPr>
            <a:normAutofit/>
          </a:bodyPr>
          <a:lstStyle/>
          <a:p>
            <a:pPr marL="511175" indent="-511175">
              <a:buFont typeface="Wingdings" panose="05000000000000000000" pitchFamily="2" charset="2"/>
              <a:buChar char="Ø"/>
              <a:tabLst>
                <a:tab pos="465138" algn="l"/>
              </a:tabLst>
            </a:pPr>
            <a:r>
              <a:rPr lang="en-US" sz="2000" b="1" dirty="0"/>
              <a:t>Artificial Intelligence  Bee colony    </a:t>
            </a:r>
            <a:r>
              <a:rPr lang="en-US" sz="2000" dirty="0"/>
              <a:t>A computational method that resembles the intelligent foraging behavior of honeybee colonies</a:t>
            </a:r>
          </a:p>
          <a:p>
            <a:pPr marL="511175" indent="-511175">
              <a:buFont typeface="Wingdings" panose="05000000000000000000" pitchFamily="2" charset="2"/>
              <a:buChar char="Ø"/>
              <a:tabLst>
                <a:tab pos="465138" algn="l"/>
              </a:tabLst>
            </a:pPr>
            <a:r>
              <a:rPr lang="en-US" sz="2000" b="1" dirty="0"/>
              <a:t>Swarm Intelligence   </a:t>
            </a:r>
            <a:r>
              <a:rPr lang="en-US" sz="2000" dirty="0"/>
              <a:t> The collective behavior of decentralized, self-organized systems</a:t>
            </a:r>
          </a:p>
          <a:p>
            <a:pPr marL="511175" indent="-511175">
              <a:buFont typeface="Wingdings" panose="05000000000000000000" pitchFamily="2" charset="2"/>
              <a:buChar char="Ø"/>
              <a:tabLst>
                <a:tab pos="465138" algn="l"/>
              </a:tabLst>
            </a:pPr>
            <a:r>
              <a:rPr lang="en-US" sz="2000" b="1" dirty="0"/>
              <a:t>Biomimicry in AI    </a:t>
            </a:r>
            <a:r>
              <a:rPr lang="en-US" sz="2000" dirty="0"/>
              <a:t>The process of learning  from nature’s millions of years of evolutionary optimization</a:t>
            </a:r>
          </a:p>
          <a:p>
            <a:pPr marL="511175" indent="-511175">
              <a:buFont typeface="Wingdings" panose="05000000000000000000" pitchFamily="2" charset="2"/>
              <a:buChar char="Ø"/>
              <a:tabLst>
                <a:tab pos="465138" algn="l"/>
              </a:tabLst>
            </a:pPr>
            <a:r>
              <a:rPr lang="en-US" sz="2000" b="1" dirty="0"/>
              <a:t>Why Bees?</a:t>
            </a:r>
            <a:r>
              <a:rPr lang="en-US" sz="2000" dirty="0"/>
              <a:t>   The complexity of their communication, role specialization and efficient resources allocation make them ideal models for optimization algorithms</a:t>
            </a:r>
          </a:p>
          <a:p>
            <a:pPr marL="465138" indent="-465138"/>
            <a:r>
              <a:rPr lang="en-US" sz="2000" dirty="0"/>
              <a:t>Bat algorithm is a metaheuristic optimization algorithms inspired by the echolocation  behavior of microbats</a:t>
            </a:r>
          </a:p>
          <a:p>
            <a:pPr marL="465138" indent="-465138"/>
            <a:r>
              <a:rPr lang="en-US" sz="2000" dirty="0"/>
              <a:t>Echolocation is a process where bats emit sound pulses and listen to echoes to navigate and find prey</a:t>
            </a:r>
          </a:p>
          <a:p>
            <a:pPr marL="465138" indent="-465138"/>
            <a:r>
              <a:rPr lang="en-US" sz="2000" b="1" dirty="0"/>
              <a:t>Key characteristics</a:t>
            </a:r>
          </a:p>
          <a:p>
            <a:pPr marL="465138" indent="-465138"/>
            <a:r>
              <a:rPr lang="en-US" sz="2000" dirty="0"/>
              <a:t>Population-based search algorithm</a:t>
            </a:r>
          </a:p>
          <a:p>
            <a:pPr marL="465138" indent="-465138"/>
            <a:r>
              <a:rPr lang="en-US" sz="2000" dirty="0"/>
              <a:t>Combines global exploration and local exploitation</a:t>
            </a:r>
          </a:p>
          <a:p>
            <a:pPr marL="0" indent="0">
              <a:buNone/>
              <a:tabLst>
                <a:tab pos="465138" algn="l"/>
              </a:tabLst>
            </a:pPr>
            <a:endParaRPr lang="en-US" sz="2000" dirty="0"/>
          </a:p>
        </p:txBody>
      </p:sp>
      <p:sp>
        <p:nvSpPr>
          <p:cNvPr id="4" name="Slide Number Placeholder 3">
            <a:extLst>
              <a:ext uri="{FF2B5EF4-FFF2-40B4-BE49-F238E27FC236}">
                <a16:creationId xmlns:a16="http://schemas.microsoft.com/office/drawing/2014/main" id="{0EAF2D59-B34E-918F-0306-AE29261A90D0}"/>
              </a:ext>
            </a:extLst>
          </p:cNvPr>
          <p:cNvSpPr>
            <a:spLocks noGrp="1"/>
          </p:cNvSpPr>
          <p:nvPr>
            <p:ph type="sldNum" sz="quarter" idx="12"/>
          </p:nvPr>
        </p:nvSpPr>
        <p:spPr/>
        <p:txBody>
          <a:bodyPr/>
          <a:lstStyle/>
          <a:p>
            <a:fld id="{5D1DE694-C67F-452B-96F1-A9F236BF5C76}" type="slidenum">
              <a:rPr lang="en-US" smtClean="0"/>
              <a:t>4</a:t>
            </a:fld>
            <a:endParaRPr lang="en-US"/>
          </a:p>
        </p:txBody>
      </p:sp>
    </p:spTree>
    <p:extLst>
      <p:ext uri="{BB962C8B-B14F-4D97-AF65-F5344CB8AC3E}">
        <p14:creationId xmlns:p14="http://schemas.microsoft.com/office/powerpoint/2010/main" val="1238161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3E7C4-05D1-DC71-C8E2-DC5AFF498968}"/>
              </a:ext>
            </a:extLst>
          </p:cNvPr>
          <p:cNvSpPr>
            <a:spLocks noGrp="1"/>
          </p:cNvSpPr>
          <p:nvPr>
            <p:ph type="title"/>
          </p:nvPr>
        </p:nvSpPr>
        <p:spPr>
          <a:xfrm>
            <a:off x="838200" y="136526"/>
            <a:ext cx="10515600" cy="746878"/>
          </a:xfrm>
        </p:spPr>
        <p:txBody>
          <a:bodyPr>
            <a:normAutofit/>
          </a:bodyPr>
          <a:lstStyle/>
          <a:p>
            <a:pPr algn="ctr"/>
            <a:r>
              <a:rPr lang="en-US" sz="4000" b="1" dirty="0"/>
              <a:t>HISTORY</a:t>
            </a:r>
          </a:p>
        </p:txBody>
      </p:sp>
      <p:sp>
        <p:nvSpPr>
          <p:cNvPr id="3" name="Content Placeholder 2">
            <a:extLst>
              <a:ext uri="{FF2B5EF4-FFF2-40B4-BE49-F238E27FC236}">
                <a16:creationId xmlns:a16="http://schemas.microsoft.com/office/drawing/2014/main" id="{8F0FA5E3-5A1F-1CEE-E76A-B36A824CA6E4}"/>
              </a:ext>
            </a:extLst>
          </p:cNvPr>
          <p:cNvSpPr>
            <a:spLocks noGrp="1"/>
          </p:cNvSpPr>
          <p:nvPr>
            <p:ph idx="1"/>
          </p:nvPr>
        </p:nvSpPr>
        <p:spPr>
          <a:xfrm>
            <a:off x="838200" y="883404"/>
            <a:ext cx="10515600" cy="5293559"/>
          </a:xfrm>
        </p:spPr>
        <p:txBody>
          <a:bodyPr>
            <a:normAutofit lnSpcReduction="10000"/>
          </a:bodyPr>
          <a:lstStyle/>
          <a:p>
            <a:pPr marL="465138" indent="-465138">
              <a:buFont typeface="Wingdings" panose="05000000000000000000" pitchFamily="2" charset="2"/>
              <a:buChar char="ü"/>
            </a:pPr>
            <a:r>
              <a:rPr lang="en-US" sz="1800" b="1" dirty="0"/>
              <a:t>1990s       </a:t>
            </a:r>
            <a:r>
              <a:rPr lang="en-US" sz="1800" dirty="0"/>
              <a:t>The concept of early swarm intelligence has been gaining  traction</a:t>
            </a:r>
          </a:p>
          <a:p>
            <a:pPr marL="465138" indent="-465138">
              <a:buFont typeface="Wingdings" panose="05000000000000000000" pitchFamily="2" charset="2"/>
              <a:buChar char="ü"/>
            </a:pPr>
            <a:r>
              <a:rPr lang="en-US" sz="1800" b="1" dirty="0"/>
              <a:t>2005   </a:t>
            </a:r>
            <a:r>
              <a:rPr lang="en-US" sz="1800" dirty="0"/>
              <a:t>Dervis Karaboga’s Artificial intelligence  bee colony algorithm  is a proposed method for creating artificial colonies</a:t>
            </a:r>
          </a:p>
          <a:p>
            <a:pPr marL="465138" indent="-465138">
              <a:buFont typeface="Wingdings" panose="05000000000000000000" pitchFamily="2" charset="2"/>
              <a:buChar char="ü"/>
            </a:pPr>
            <a:r>
              <a:rPr lang="en-US" sz="1800" b="1" dirty="0"/>
              <a:t>2006-2010   </a:t>
            </a:r>
            <a:r>
              <a:rPr lang="en-US" sz="1800" dirty="0"/>
              <a:t>The process of refinement and applications of optimization problems</a:t>
            </a:r>
          </a:p>
          <a:p>
            <a:pPr marL="465138" indent="-465138">
              <a:buFont typeface="Wingdings" panose="05000000000000000000" pitchFamily="2" charset="2"/>
              <a:buChar char="ü"/>
            </a:pPr>
            <a:r>
              <a:rPr lang="en-US" sz="1800" b="1" dirty="0"/>
              <a:t>Key Contributors</a:t>
            </a:r>
          </a:p>
          <a:p>
            <a:pPr marL="465138" indent="-465138">
              <a:buFont typeface="Wingdings" panose="05000000000000000000" pitchFamily="2" charset="2"/>
              <a:buChar char="ü"/>
            </a:pPr>
            <a:r>
              <a:rPr lang="en-US" sz="1800" dirty="0"/>
              <a:t>Dervis </a:t>
            </a:r>
            <a:r>
              <a:rPr lang="en-US" sz="1800" dirty="0" err="1"/>
              <a:t>Karaboga</a:t>
            </a:r>
            <a:endParaRPr lang="en-US" sz="1800" dirty="0"/>
          </a:p>
          <a:p>
            <a:pPr marL="465138" indent="-465138">
              <a:buFont typeface="Wingdings" panose="05000000000000000000" pitchFamily="2" charset="2"/>
              <a:buChar char="ü"/>
            </a:pPr>
            <a:r>
              <a:rPr lang="en-US" sz="1800" dirty="0" err="1"/>
              <a:t>Bahriye</a:t>
            </a:r>
            <a:r>
              <a:rPr lang="en-US" sz="1800" dirty="0"/>
              <a:t> Akay</a:t>
            </a:r>
          </a:p>
          <a:p>
            <a:pPr marL="465138" indent="-465138">
              <a:buFont typeface="Wingdings" panose="05000000000000000000" pitchFamily="2" charset="2"/>
              <a:buChar char="ü"/>
            </a:pPr>
            <a:r>
              <a:rPr lang="en-US" sz="1800" dirty="0"/>
              <a:t>Pinar </a:t>
            </a:r>
            <a:r>
              <a:rPr lang="en-US" sz="1800" dirty="0" err="1"/>
              <a:t>Civicioglu</a:t>
            </a:r>
            <a:endParaRPr lang="en-US" sz="1800" dirty="0"/>
          </a:p>
          <a:p>
            <a:pPr marL="465138" indent="-465138">
              <a:buFont typeface="Wingdings" panose="05000000000000000000" pitchFamily="2" charset="2"/>
              <a:buChar char="ü"/>
            </a:pPr>
            <a:r>
              <a:rPr lang="en-US" sz="1800" b="1" dirty="0"/>
              <a:t>Evolution  </a:t>
            </a:r>
            <a:r>
              <a:rPr lang="en-US" sz="1800" dirty="0"/>
              <a:t>The integration of bee colony principles with other AI approaches is being explored in various models and hybrid algorithms</a:t>
            </a:r>
            <a:endParaRPr lang="en-US" sz="1800" b="1" dirty="0"/>
          </a:p>
          <a:p>
            <a:pPr marL="465138" indent="-465138">
              <a:buFont typeface="Wingdings" panose="05000000000000000000" pitchFamily="2" charset="2"/>
              <a:buChar char="Ø"/>
            </a:pPr>
            <a:r>
              <a:rPr lang="en-US" sz="1800" b="1" dirty="0"/>
              <a:t>Evolution</a:t>
            </a:r>
          </a:p>
          <a:p>
            <a:pPr marL="465138" indent="-465138">
              <a:buFont typeface="Wingdings" panose="05000000000000000000" pitchFamily="2" charset="2"/>
              <a:buChar char="Ø"/>
            </a:pPr>
            <a:r>
              <a:rPr lang="en-US" sz="1800" b="1" dirty="0"/>
              <a:t>2010</a:t>
            </a:r>
            <a:r>
              <a:rPr lang="en-US" sz="1800" dirty="0"/>
              <a:t>  Basic Bat Algorithm introduced</a:t>
            </a:r>
          </a:p>
          <a:p>
            <a:pPr marL="465138" indent="-465138">
              <a:buFont typeface="Wingdings" panose="05000000000000000000" pitchFamily="2" charset="2"/>
              <a:buChar char="Ø"/>
            </a:pPr>
            <a:r>
              <a:rPr lang="en-US" sz="1800" b="1" dirty="0"/>
              <a:t>2011 </a:t>
            </a:r>
            <a:r>
              <a:rPr lang="en-US" sz="1800" dirty="0"/>
              <a:t>Multi-objective bat algorithm developed</a:t>
            </a:r>
          </a:p>
          <a:p>
            <a:pPr marL="465138" indent="-465138">
              <a:buFont typeface="Wingdings" panose="05000000000000000000" pitchFamily="2" charset="2"/>
              <a:buChar char="Ø"/>
            </a:pPr>
            <a:r>
              <a:rPr lang="en-US" sz="1800" b="1" dirty="0"/>
              <a:t>2012-2014 </a:t>
            </a:r>
            <a:r>
              <a:rPr lang="en-US" sz="1800" dirty="0"/>
              <a:t>Various modifications and hybrid versions proposed</a:t>
            </a:r>
          </a:p>
          <a:p>
            <a:pPr marL="465138" indent="-465138">
              <a:buFont typeface="Wingdings" panose="05000000000000000000" pitchFamily="2" charset="2"/>
              <a:buChar char="Ø"/>
            </a:pPr>
            <a:r>
              <a:rPr lang="en-US" sz="1800" b="1" dirty="0"/>
              <a:t>2015-Present  </a:t>
            </a:r>
            <a:r>
              <a:rPr lang="en-US" sz="1800" dirty="0"/>
              <a:t>Advanced variants including binary, chaotic, and fuzzy bat algorithms</a:t>
            </a:r>
          </a:p>
          <a:p>
            <a:pPr marL="465138" indent="-465138">
              <a:buFont typeface="Wingdings" panose="05000000000000000000" pitchFamily="2" charset="2"/>
              <a:buChar char="ü"/>
            </a:pPr>
            <a:endParaRPr lang="en-US" sz="1800" b="1" dirty="0"/>
          </a:p>
          <a:p>
            <a:pPr marL="465138" indent="-465138">
              <a:buFont typeface="Wingdings" panose="05000000000000000000" pitchFamily="2" charset="2"/>
              <a:buChar char="ü"/>
            </a:pPr>
            <a:endParaRPr lang="en-US" sz="1800" b="1" dirty="0"/>
          </a:p>
        </p:txBody>
      </p:sp>
      <p:sp>
        <p:nvSpPr>
          <p:cNvPr id="4" name="Slide Number Placeholder 3">
            <a:extLst>
              <a:ext uri="{FF2B5EF4-FFF2-40B4-BE49-F238E27FC236}">
                <a16:creationId xmlns:a16="http://schemas.microsoft.com/office/drawing/2014/main" id="{83BFBFBD-A3F0-6B2D-4063-24BABE801525}"/>
              </a:ext>
            </a:extLst>
          </p:cNvPr>
          <p:cNvSpPr>
            <a:spLocks noGrp="1"/>
          </p:cNvSpPr>
          <p:nvPr>
            <p:ph type="sldNum" sz="quarter" idx="12"/>
          </p:nvPr>
        </p:nvSpPr>
        <p:spPr/>
        <p:txBody>
          <a:bodyPr/>
          <a:lstStyle/>
          <a:p>
            <a:fld id="{5D1DE694-C67F-452B-96F1-A9F236BF5C76}" type="slidenum">
              <a:rPr lang="en-US" smtClean="0"/>
              <a:t>5</a:t>
            </a:fld>
            <a:endParaRPr lang="en-US"/>
          </a:p>
        </p:txBody>
      </p:sp>
    </p:spTree>
    <p:extLst>
      <p:ext uri="{BB962C8B-B14F-4D97-AF65-F5344CB8AC3E}">
        <p14:creationId xmlns:p14="http://schemas.microsoft.com/office/powerpoint/2010/main" val="36743579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331F-72E7-1EF4-7D3C-0F8A04A3747F}"/>
              </a:ext>
            </a:extLst>
          </p:cNvPr>
          <p:cNvSpPr>
            <a:spLocks noGrp="1"/>
          </p:cNvSpPr>
          <p:nvPr>
            <p:ph type="title"/>
          </p:nvPr>
        </p:nvSpPr>
        <p:spPr>
          <a:xfrm>
            <a:off x="838200" y="136526"/>
            <a:ext cx="10515600" cy="715882"/>
          </a:xfrm>
        </p:spPr>
        <p:txBody>
          <a:bodyPr>
            <a:normAutofit/>
          </a:bodyPr>
          <a:lstStyle/>
          <a:p>
            <a:pPr algn="ctr"/>
            <a:r>
              <a:rPr lang="en-US" sz="4000" b="1" dirty="0"/>
              <a:t>WORKING AND CONSTRUCTIONS</a:t>
            </a:r>
          </a:p>
        </p:txBody>
      </p:sp>
      <p:sp>
        <p:nvSpPr>
          <p:cNvPr id="3" name="Content Placeholder 2">
            <a:extLst>
              <a:ext uri="{FF2B5EF4-FFF2-40B4-BE49-F238E27FC236}">
                <a16:creationId xmlns:a16="http://schemas.microsoft.com/office/drawing/2014/main" id="{1B1BDD0D-8CEC-1B4C-5546-9C78A3E47D4E}"/>
              </a:ext>
            </a:extLst>
          </p:cNvPr>
          <p:cNvSpPr>
            <a:spLocks noGrp="1"/>
          </p:cNvSpPr>
          <p:nvPr>
            <p:ph idx="1"/>
          </p:nvPr>
        </p:nvSpPr>
        <p:spPr>
          <a:xfrm>
            <a:off x="838200" y="852408"/>
            <a:ext cx="10515600" cy="5324555"/>
          </a:xfrm>
        </p:spPr>
        <p:txBody>
          <a:bodyPr>
            <a:normAutofit fontScale="92500" lnSpcReduction="10000"/>
          </a:bodyPr>
          <a:lstStyle/>
          <a:p>
            <a:pPr marL="403225" indent="-341313"/>
            <a:r>
              <a:rPr lang="en-US" sz="2400" dirty="0"/>
              <a:t>Algorithm fundamentals</a:t>
            </a:r>
          </a:p>
          <a:p>
            <a:pPr marL="403225" indent="-341313"/>
            <a:r>
              <a:rPr lang="en-US" sz="2400" dirty="0"/>
              <a:t>Bee roles</a:t>
            </a:r>
          </a:p>
          <a:p>
            <a:pPr marL="403225" indent="-341313"/>
            <a:r>
              <a:rPr lang="en-US" sz="2400" b="1" dirty="0"/>
              <a:t>Employed bees   </a:t>
            </a:r>
            <a:r>
              <a:rPr lang="en-US" sz="2400" dirty="0"/>
              <a:t>Is to exploit the existing food sources</a:t>
            </a:r>
          </a:p>
          <a:p>
            <a:pPr marL="403225" indent="-341313"/>
            <a:r>
              <a:rPr lang="en-US" sz="2400" b="1" dirty="0"/>
              <a:t>Onlooker bees     </a:t>
            </a:r>
            <a:r>
              <a:rPr lang="en-US" sz="2400" dirty="0"/>
              <a:t>Select food sources based on their quality</a:t>
            </a:r>
          </a:p>
          <a:p>
            <a:pPr marL="403225" indent="-341313"/>
            <a:r>
              <a:rPr lang="en-US" sz="2400" b="1" dirty="0"/>
              <a:t>Scout bees    </a:t>
            </a:r>
            <a:r>
              <a:rPr lang="en-US" sz="2400" dirty="0"/>
              <a:t>To exploring new solutions</a:t>
            </a:r>
          </a:p>
          <a:p>
            <a:pPr marL="341313" indent="-341313">
              <a:buFont typeface="Wingdings" panose="05000000000000000000" pitchFamily="2" charset="2"/>
              <a:buChar char="ü"/>
            </a:pPr>
            <a:r>
              <a:rPr lang="en-US" sz="2400" b="1" dirty="0"/>
              <a:t>Algorithm Structure</a:t>
            </a:r>
          </a:p>
          <a:p>
            <a:pPr marL="341313" indent="-341313">
              <a:buFont typeface="Wingdings" panose="05000000000000000000" pitchFamily="2" charset="2"/>
              <a:buChar char="ü"/>
            </a:pPr>
            <a:r>
              <a:rPr lang="en-US" sz="2400" dirty="0"/>
              <a:t>Population of virtual "bats" (candidate solutions)</a:t>
            </a:r>
          </a:p>
          <a:p>
            <a:pPr marL="341313" indent="-341313">
              <a:buFont typeface="Wingdings" panose="05000000000000000000" pitchFamily="2" charset="2"/>
              <a:buChar char="ü"/>
            </a:pPr>
            <a:r>
              <a:rPr lang="en-US" sz="2400" dirty="0"/>
              <a:t>Each bat has position, velocity, frequency, loudness, and pulse rate</a:t>
            </a:r>
          </a:p>
          <a:p>
            <a:pPr marL="341313" indent="-341313">
              <a:buFont typeface="Wingdings" panose="05000000000000000000" pitchFamily="2" charset="2"/>
              <a:buChar char="ü"/>
            </a:pPr>
            <a:r>
              <a:rPr lang="en-US" sz="2400" dirty="0"/>
              <a:t>Bats "fly" through solution space searching for best prey (optimal solution)</a:t>
            </a:r>
          </a:p>
          <a:p>
            <a:pPr marL="573088" indent="-573088">
              <a:buFont typeface="Wingdings" panose="05000000000000000000" pitchFamily="2" charset="2"/>
              <a:buChar char="ü"/>
            </a:pPr>
            <a:r>
              <a:rPr lang="en-US" sz="2400" b="1" dirty="0"/>
              <a:t>Search Process</a:t>
            </a:r>
          </a:p>
          <a:p>
            <a:pPr marL="573088" indent="-573088">
              <a:buFont typeface="Wingdings" panose="05000000000000000000" pitchFamily="2" charset="2"/>
              <a:buChar char="ü"/>
            </a:pPr>
            <a:r>
              <a:rPr lang="en-US" sz="2400" dirty="0"/>
              <a:t>Global exploration (low pulse rate)</a:t>
            </a:r>
            <a:endParaRPr lang="en-US" sz="2400" b="1" dirty="0"/>
          </a:p>
          <a:p>
            <a:pPr marL="573088" indent="-573088">
              <a:buFont typeface="Wingdings" panose="05000000000000000000" pitchFamily="2" charset="2"/>
              <a:buChar char="ü"/>
            </a:pPr>
            <a:r>
              <a:rPr lang="en-US" sz="2400" dirty="0"/>
              <a:t>Local exploitation (high pulse rate)</a:t>
            </a:r>
            <a:endParaRPr lang="en-US" sz="2400" b="1" dirty="0"/>
          </a:p>
          <a:p>
            <a:pPr marL="573088" indent="-573088">
              <a:buFont typeface="Wingdings" panose="05000000000000000000" pitchFamily="2" charset="2"/>
              <a:buChar char="ü"/>
            </a:pPr>
            <a:r>
              <a:rPr lang="en-US" sz="2400" dirty="0"/>
              <a:t>Automatic balancing between the two modes</a:t>
            </a:r>
            <a:endParaRPr lang="en-US" sz="2400" b="1" dirty="0"/>
          </a:p>
          <a:p>
            <a:pPr marL="0" indent="0">
              <a:buNone/>
            </a:pPr>
            <a:endParaRPr lang="en-US" sz="2400" dirty="0"/>
          </a:p>
          <a:p>
            <a:pPr marL="61912" indent="0">
              <a:buNone/>
            </a:pPr>
            <a:endParaRPr lang="en-US"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03225" indent="-341313"/>
            <a:endParaRPr lang="en-US" sz="2400" b="0" i="0" dirty="0">
              <a:effectLst/>
            </a:endParaRPr>
          </a:p>
          <a:p>
            <a:pPr marL="403225" indent="-341313"/>
            <a:endParaRPr lang="en-US" sz="2400" dirty="0"/>
          </a:p>
          <a:p>
            <a:pPr marL="403225" indent="-341313"/>
            <a:endParaRPr lang="en-US" sz="2400" dirty="0"/>
          </a:p>
        </p:txBody>
      </p:sp>
      <p:sp>
        <p:nvSpPr>
          <p:cNvPr id="4" name="Slide Number Placeholder 3">
            <a:extLst>
              <a:ext uri="{FF2B5EF4-FFF2-40B4-BE49-F238E27FC236}">
                <a16:creationId xmlns:a16="http://schemas.microsoft.com/office/drawing/2014/main" id="{B1389A89-A158-91D7-FEA1-403BF9342D55}"/>
              </a:ext>
            </a:extLst>
          </p:cNvPr>
          <p:cNvSpPr>
            <a:spLocks noGrp="1"/>
          </p:cNvSpPr>
          <p:nvPr>
            <p:ph type="sldNum" sz="quarter" idx="12"/>
          </p:nvPr>
        </p:nvSpPr>
        <p:spPr/>
        <p:txBody>
          <a:bodyPr/>
          <a:lstStyle/>
          <a:p>
            <a:fld id="{5D1DE694-C67F-452B-96F1-A9F236BF5C76}" type="slidenum">
              <a:rPr lang="en-US" smtClean="0"/>
              <a:t>6</a:t>
            </a:fld>
            <a:endParaRPr lang="en-US"/>
          </a:p>
        </p:txBody>
      </p:sp>
    </p:spTree>
    <p:extLst>
      <p:ext uri="{BB962C8B-B14F-4D97-AF65-F5344CB8AC3E}">
        <p14:creationId xmlns:p14="http://schemas.microsoft.com/office/powerpoint/2010/main" val="4113763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1AE24-6C87-1E9E-18E5-47019BCB1FDE}"/>
              </a:ext>
            </a:extLst>
          </p:cNvPr>
          <p:cNvSpPr>
            <a:spLocks noGrp="1"/>
          </p:cNvSpPr>
          <p:nvPr>
            <p:ph type="title"/>
          </p:nvPr>
        </p:nvSpPr>
        <p:spPr>
          <a:xfrm>
            <a:off x="838200" y="136526"/>
            <a:ext cx="10515600" cy="544512"/>
          </a:xfrm>
        </p:spPr>
        <p:txBody>
          <a:bodyPr>
            <a:normAutofit fontScale="90000"/>
          </a:bodyPr>
          <a:lstStyle/>
          <a:p>
            <a:pPr algn="ctr"/>
            <a:r>
              <a:rPr lang="en-US" sz="4000" b="1" dirty="0"/>
              <a:t>MATHEMATICAL DERIVATIONS</a:t>
            </a:r>
          </a:p>
        </p:txBody>
      </p:sp>
      <p:sp>
        <p:nvSpPr>
          <p:cNvPr id="3" name="Content Placeholder 2">
            <a:extLst>
              <a:ext uri="{FF2B5EF4-FFF2-40B4-BE49-F238E27FC236}">
                <a16:creationId xmlns:a16="http://schemas.microsoft.com/office/drawing/2014/main" id="{72D16F4F-3AF1-5A1C-FEAC-780325038404}"/>
              </a:ext>
            </a:extLst>
          </p:cNvPr>
          <p:cNvSpPr>
            <a:spLocks noGrp="1"/>
          </p:cNvSpPr>
          <p:nvPr>
            <p:ph idx="1"/>
          </p:nvPr>
        </p:nvSpPr>
        <p:spPr>
          <a:xfrm>
            <a:off x="838200" y="681038"/>
            <a:ext cx="10515600" cy="5495925"/>
          </a:xfrm>
        </p:spPr>
        <p:txBody>
          <a:bodyPr>
            <a:normAutofit/>
          </a:bodyPr>
          <a:lstStyle/>
          <a:p>
            <a:pPr marL="465138" indent="-465138">
              <a:buFont typeface="Wingdings" panose="05000000000000000000" pitchFamily="2" charset="2"/>
              <a:buChar char="Ø"/>
            </a:pPr>
            <a:r>
              <a:rPr lang="en-US" sz="2400" b="1" dirty="0"/>
              <a:t>Objective Function   </a:t>
            </a:r>
            <a:r>
              <a:rPr lang="en-US" sz="2400" dirty="0"/>
              <a:t>The measure focuses on evaluating the quality of food sources</a:t>
            </a:r>
          </a:p>
          <a:p>
            <a:pPr marL="465138" indent="-465138">
              <a:buFont typeface="Wingdings" panose="05000000000000000000" pitchFamily="2" charset="2"/>
              <a:buChar char="Ø"/>
            </a:pPr>
            <a:r>
              <a:rPr lang="en-US" sz="2400" b="1" dirty="0"/>
              <a:t>Position Update Formula</a:t>
            </a:r>
          </a:p>
          <a:p>
            <a:pPr marL="465138" indent="-465138">
              <a:buFont typeface="Wingdings" panose="05000000000000000000" pitchFamily="2" charset="2"/>
              <a:buChar char="Ø"/>
            </a:pPr>
            <a:r>
              <a:rPr lang="nl-NL" sz="2400" b="1" kern="100" dirty="0">
                <a:effectLst/>
                <a:ea typeface="Calibri" panose="020F0502020204030204" pitchFamily="34" charset="0"/>
                <a:cs typeface="Times New Roman" panose="02020603050405020304" pitchFamily="18" charset="0"/>
              </a:rPr>
              <a:t>v</a:t>
            </a:r>
            <a:r>
              <a:rPr lang="nl-NL" sz="2400" b="1" kern="100" baseline="-25000" dirty="0">
                <a:effectLst/>
                <a:ea typeface="Calibri" panose="020F0502020204030204" pitchFamily="34" charset="0"/>
                <a:cs typeface="Times New Roman" panose="02020603050405020304" pitchFamily="18" charset="0"/>
              </a:rPr>
              <a:t>ij</a:t>
            </a:r>
            <a:r>
              <a:rPr lang="nl-NL" sz="2400" b="1" kern="100" dirty="0">
                <a:effectLst/>
                <a:ea typeface="Calibri" panose="020F0502020204030204" pitchFamily="34" charset="0"/>
                <a:cs typeface="Times New Roman" panose="02020603050405020304" pitchFamily="18" charset="0"/>
              </a:rPr>
              <a:t> = x</a:t>
            </a:r>
            <a:r>
              <a:rPr lang="nl-NL" sz="2400" b="1" kern="100" baseline="-25000" dirty="0">
                <a:effectLst/>
                <a:ea typeface="Calibri" panose="020F0502020204030204" pitchFamily="34" charset="0"/>
                <a:cs typeface="Times New Roman" panose="02020603050405020304" pitchFamily="18" charset="0"/>
              </a:rPr>
              <a:t>ij</a:t>
            </a:r>
            <a:r>
              <a:rPr lang="nl-NL" sz="2400" b="1" kern="100" dirty="0">
                <a:effectLst/>
                <a:ea typeface="Calibri" panose="020F0502020204030204" pitchFamily="34" charset="0"/>
                <a:cs typeface="Times New Roman" panose="02020603050405020304" pitchFamily="18" charset="0"/>
              </a:rPr>
              <a:t> + φ</a:t>
            </a:r>
            <a:r>
              <a:rPr lang="nl-NL" sz="2400" b="1" kern="100" baseline="-25000" dirty="0">
                <a:effectLst/>
                <a:ea typeface="Calibri" panose="020F0502020204030204" pitchFamily="34" charset="0"/>
                <a:cs typeface="Times New Roman" panose="02020603050405020304" pitchFamily="18" charset="0"/>
              </a:rPr>
              <a:t>ij</a:t>
            </a:r>
            <a:r>
              <a:rPr lang="nl-NL" sz="2400" b="1" kern="100" dirty="0">
                <a:effectLst/>
                <a:ea typeface="Calibri" panose="020F0502020204030204" pitchFamily="34" charset="0"/>
                <a:cs typeface="Times New Roman" panose="02020603050405020304" pitchFamily="18" charset="0"/>
              </a:rPr>
              <a:t>(x</a:t>
            </a:r>
            <a:r>
              <a:rPr lang="nl-NL" sz="2400" b="1" kern="100" baseline="-25000" dirty="0">
                <a:effectLst/>
                <a:ea typeface="Calibri" panose="020F0502020204030204" pitchFamily="34" charset="0"/>
                <a:cs typeface="Times New Roman" panose="02020603050405020304" pitchFamily="18" charset="0"/>
              </a:rPr>
              <a:t>ij</a:t>
            </a:r>
            <a:r>
              <a:rPr lang="nl-NL" sz="2400" b="1" kern="100" dirty="0">
                <a:effectLst/>
                <a:ea typeface="Calibri" panose="020F0502020204030204" pitchFamily="34" charset="0"/>
                <a:cs typeface="Times New Roman" panose="02020603050405020304" pitchFamily="18" charset="0"/>
              </a:rPr>
              <a:t> - x</a:t>
            </a:r>
            <a:r>
              <a:rPr lang="nl-NL" sz="2400" b="1" kern="100" baseline="-25000" dirty="0">
                <a:effectLst/>
                <a:ea typeface="Calibri" panose="020F0502020204030204" pitchFamily="34" charset="0"/>
                <a:cs typeface="Times New Roman" panose="02020603050405020304" pitchFamily="18" charset="0"/>
              </a:rPr>
              <a:t>kj</a:t>
            </a:r>
            <a:r>
              <a:rPr lang="nl-NL" sz="2400" b="1" kern="100" dirty="0">
                <a:effectLst/>
                <a:ea typeface="Calibri" panose="020F0502020204030204" pitchFamily="34" charset="0"/>
                <a:cs typeface="Times New Roman" panose="02020603050405020304" pitchFamily="18" charset="0"/>
              </a:rPr>
              <a:t>) </a:t>
            </a:r>
          </a:p>
          <a:p>
            <a:pPr marL="465138" indent="-465138">
              <a:buFont typeface="Wingdings" panose="05000000000000000000" pitchFamily="2" charset="2"/>
              <a:buChar char="Ø"/>
            </a:pPr>
            <a:r>
              <a:rPr lang="en-US" sz="2400" dirty="0"/>
              <a:t>Where </a:t>
            </a:r>
          </a:p>
          <a:p>
            <a:pPr marL="465138" indent="-465138">
              <a:buFont typeface="Wingdings" panose="05000000000000000000" pitchFamily="2" charset="2"/>
              <a:buChar char="Ø"/>
            </a:pPr>
            <a:r>
              <a:rPr lang="nl-NL" sz="2400" b="1" kern="100" dirty="0">
                <a:effectLst/>
                <a:ea typeface="Calibri" panose="020F0502020204030204" pitchFamily="34" charset="0"/>
                <a:cs typeface="Times New Roman" panose="02020603050405020304" pitchFamily="18" charset="0"/>
              </a:rPr>
              <a:t>v</a:t>
            </a:r>
            <a:r>
              <a:rPr lang="nl-NL" sz="2400" b="1" kern="100" baseline="-25000" dirty="0">
                <a:effectLst/>
                <a:ea typeface="Calibri" panose="020F0502020204030204" pitchFamily="34" charset="0"/>
                <a:cs typeface="Times New Roman" panose="02020603050405020304" pitchFamily="18" charset="0"/>
              </a:rPr>
              <a:t>ij</a:t>
            </a:r>
            <a:r>
              <a:rPr lang="en-US" sz="2400" dirty="0"/>
              <a:t> = New candidate solution. </a:t>
            </a:r>
          </a:p>
          <a:p>
            <a:pPr marL="465138" indent="-465138">
              <a:buFont typeface="Wingdings" panose="05000000000000000000" pitchFamily="2" charset="2"/>
              <a:buChar char="Ø"/>
            </a:pPr>
            <a:r>
              <a:rPr lang="en-US" sz="2400" dirty="0"/>
              <a:t> </a:t>
            </a:r>
            <a:r>
              <a:rPr lang="nl-NL" sz="2400" b="1" kern="100" dirty="0">
                <a:effectLst/>
                <a:ea typeface="Calibri" panose="020F0502020204030204" pitchFamily="34" charset="0"/>
                <a:cs typeface="Times New Roman" panose="02020603050405020304" pitchFamily="18" charset="0"/>
              </a:rPr>
              <a:t>x</a:t>
            </a:r>
            <a:r>
              <a:rPr lang="nl-NL" sz="2400" b="1" kern="100" baseline="-25000" dirty="0">
                <a:effectLst/>
                <a:ea typeface="Calibri" panose="020F0502020204030204" pitchFamily="34" charset="0"/>
                <a:cs typeface="Times New Roman" panose="02020603050405020304" pitchFamily="18" charset="0"/>
              </a:rPr>
              <a:t>ij </a:t>
            </a:r>
            <a:r>
              <a:rPr lang="en-US" sz="2400" dirty="0"/>
              <a:t>= Current solution. </a:t>
            </a:r>
          </a:p>
          <a:p>
            <a:pPr marL="465138" indent="-465138">
              <a:buFont typeface="Wingdings" panose="05000000000000000000" pitchFamily="2" charset="2"/>
              <a:buChar char="Ø"/>
            </a:pPr>
            <a:r>
              <a:rPr lang="el-GR" sz="2400" dirty="0"/>
              <a:t>ϕ</a:t>
            </a:r>
            <a:r>
              <a:rPr lang="nl-NL" sz="2400" b="1" kern="100" baseline="-25000" dirty="0">
                <a:effectLst/>
                <a:ea typeface="Calibri" panose="020F0502020204030204" pitchFamily="34" charset="0"/>
                <a:cs typeface="Times New Roman" panose="02020603050405020304" pitchFamily="18" charset="0"/>
              </a:rPr>
              <a:t>ij</a:t>
            </a:r>
            <a:r>
              <a:rPr lang="en-US" sz="2400" dirty="0"/>
              <a:t>​ = Random number in [-1,1]. </a:t>
            </a:r>
          </a:p>
          <a:p>
            <a:pPr marL="465138" indent="-465138">
              <a:buFont typeface="Wingdings" panose="05000000000000000000" pitchFamily="2" charset="2"/>
              <a:buChar char="Ø"/>
            </a:pPr>
            <a:r>
              <a:rPr lang="en-US" sz="2400" dirty="0"/>
              <a:t>x</a:t>
            </a:r>
            <a:r>
              <a:rPr lang="nl-NL" sz="2400" b="1" kern="100" baseline="-25000" dirty="0">
                <a:effectLst/>
                <a:ea typeface="Calibri" panose="020F0502020204030204" pitchFamily="34" charset="0"/>
                <a:cs typeface="Times New Roman" panose="02020603050405020304" pitchFamily="18" charset="0"/>
              </a:rPr>
              <a:t>kj</a:t>
            </a:r>
            <a:r>
              <a:rPr lang="en-US" sz="2400" dirty="0"/>
              <a:t>​ = Another solution for diversity.</a:t>
            </a:r>
          </a:p>
          <a:p>
            <a:pPr marL="465138" indent="-465138">
              <a:buFont typeface="Wingdings" panose="05000000000000000000" pitchFamily="2" charset="2"/>
              <a:buChar char="Ø"/>
            </a:pPr>
            <a:r>
              <a:rPr lang="en-US" sz="2400" dirty="0"/>
              <a:t>Probability Selection</a:t>
            </a:r>
          </a:p>
          <a:p>
            <a:pPr marL="465138" indent="-465138">
              <a:buFont typeface="Wingdings" panose="05000000000000000000" pitchFamily="2" charset="2"/>
              <a:buChar char="Ø"/>
            </a:pPr>
            <a:r>
              <a:rPr lang="en-US" sz="2400" dirty="0" err="1"/>
              <a:t>p_i</a:t>
            </a:r>
            <a:r>
              <a:rPr lang="en-US" sz="2400" dirty="0"/>
              <a:t> = </a:t>
            </a:r>
            <a:r>
              <a:rPr lang="en-US" sz="2400" dirty="0" err="1"/>
              <a:t>fitness_i</a:t>
            </a:r>
            <a:r>
              <a:rPr lang="en-US" sz="2400" dirty="0"/>
              <a:t> / Σ </a:t>
            </a:r>
            <a:r>
              <a:rPr lang="en-US" sz="2400" dirty="0" err="1"/>
              <a:t>fitness_n</a:t>
            </a:r>
            <a:endParaRPr lang="en-US" sz="2400" dirty="0"/>
          </a:p>
          <a:p>
            <a:pPr marL="465138" indent="-465138">
              <a:buFont typeface="Wingdings" panose="05000000000000000000" pitchFamily="2" charset="2"/>
              <a:buChar char="Ø"/>
            </a:pPr>
            <a:r>
              <a:rPr lang="en-US" sz="2400" b="1" dirty="0"/>
              <a:t>Limit parameter   </a:t>
            </a:r>
            <a:r>
              <a:rPr lang="en-US" sz="2400" dirty="0"/>
              <a:t>Controls when to abandon solutions</a:t>
            </a:r>
          </a:p>
          <a:p>
            <a:pPr marL="465138" indent="-465138">
              <a:buFont typeface="Wingdings" panose="05000000000000000000" pitchFamily="2" charset="2"/>
              <a:buChar char="Ø"/>
            </a:pPr>
            <a:endParaRPr lang="en-US" sz="2400" kern="100" dirty="0">
              <a:effectLst/>
              <a:ea typeface="Calibri" panose="020F0502020204030204" pitchFamily="34" charset="0"/>
              <a:cs typeface="Times New Roman" panose="02020603050405020304" pitchFamily="18" charset="0"/>
            </a:endParaRPr>
          </a:p>
          <a:p>
            <a:pPr marL="465138" indent="-465138">
              <a:buFont typeface="Wingdings" panose="05000000000000000000" pitchFamily="2" charset="2"/>
              <a:buChar char="Ø"/>
            </a:pPr>
            <a:endParaRPr lang="en-US" sz="2400" b="1" dirty="0"/>
          </a:p>
          <a:p>
            <a:pPr marL="465138" indent="-465138">
              <a:buFont typeface="Wingdings" panose="05000000000000000000" pitchFamily="2" charset="2"/>
              <a:buChar char="Ø"/>
            </a:pPr>
            <a:endParaRPr lang="en-US" sz="2400" b="1" dirty="0"/>
          </a:p>
          <a:p>
            <a:pPr marL="465138" indent="-465138">
              <a:buFont typeface="Wingdings" panose="05000000000000000000" pitchFamily="2" charset="2"/>
              <a:buChar char="Ø"/>
            </a:pPr>
            <a:endParaRPr lang="en-US" sz="2400" dirty="0"/>
          </a:p>
        </p:txBody>
      </p:sp>
      <p:sp>
        <p:nvSpPr>
          <p:cNvPr id="4" name="Slide Number Placeholder 3">
            <a:extLst>
              <a:ext uri="{FF2B5EF4-FFF2-40B4-BE49-F238E27FC236}">
                <a16:creationId xmlns:a16="http://schemas.microsoft.com/office/drawing/2014/main" id="{334FAD12-7B24-34FD-D2DA-36E7E36958A1}"/>
              </a:ext>
            </a:extLst>
          </p:cNvPr>
          <p:cNvSpPr>
            <a:spLocks noGrp="1"/>
          </p:cNvSpPr>
          <p:nvPr>
            <p:ph type="sldNum" sz="quarter" idx="12"/>
          </p:nvPr>
        </p:nvSpPr>
        <p:spPr/>
        <p:txBody>
          <a:bodyPr/>
          <a:lstStyle/>
          <a:p>
            <a:fld id="{5D1DE694-C67F-452B-96F1-A9F236BF5C76}" type="slidenum">
              <a:rPr lang="en-US" smtClean="0"/>
              <a:t>7</a:t>
            </a:fld>
            <a:endParaRPr lang="en-US"/>
          </a:p>
        </p:txBody>
      </p:sp>
    </p:spTree>
    <p:extLst>
      <p:ext uri="{BB962C8B-B14F-4D97-AF65-F5344CB8AC3E}">
        <p14:creationId xmlns:p14="http://schemas.microsoft.com/office/powerpoint/2010/main" val="30557680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45809-7D58-5506-1042-B1982BA62E06}"/>
              </a:ext>
            </a:extLst>
          </p:cNvPr>
          <p:cNvSpPr>
            <a:spLocks noGrp="1"/>
          </p:cNvSpPr>
          <p:nvPr>
            <p:ph type="title"/>
          </p:nvPr>
        </p:nvSpPr>
        <p:spPr/>
        <p:txBody>
          <a:bodyPr/>
          <a:lstStyle/>
          <a:p>
            <a:pPr algn="ctr"/>
            <a:r>
              <a:rPr lang="en-US" sz="4400" b="1" dirty="0"/>
              <a:t>MATHEMATICAL DERIVATIONS</a:t>
            </a:r>
            <a:endParaRPr lang="en-US" dirty="0"/>
          </a:p>
        </p:txBody>
      </p:sp>
      <p:sp>
        <p:nvSpPr>
          <p:cNvPr id="3" name="Content Placeholder 2">
            <a:extLst>
              <a:ext uri="{FF2B5EF4-FFF2-40B4-BE49-F238E27FC236}">
                <a16:creationId xmlns:a16="http://schemas.microsoft.com/office/drawing/2014/main" id="{5DC9359C-53E9-61BE-9582-38989B35BB0C}"/>
              </a:ext>
            </a:extLst>
          </p:cNvPr>
          <p:cNvSpPr>
            <a:spLocks noGrp="1"/>
          </p:cNvSpPr>
          <p:nvPr>
            <p:ph idx="1"/>
          </p:nvPr>
        </p:nvSpPr>
        <p:spPr/>
        <p:txBody>
          <a:bodyPr>
            <a:normAutofit fontScale="77500" lnSpcReduction="20000"/>
          </a:bodyPr>
          <a:lstStyle/>
          <a:p>
            <a:pPr marL="403225" indent="-403225"/>
            <a:r>
              <a:rPr lang="en-US" sz="2800" dirty="0"/>
              <a:t>Mathematical Derivations - Advanced Mechanisms</a:t>
            </a:r>
          </a:p>
          <a:p>
            <a:pPr marL="403225" indent="-403225"/>
            <a:r>
              <a:rPr lang="en-US" sz="2800" b="1" dirty="0"/>
              <a:t>Local Search</a:t>
            </a:r>
          </a:p>
          <a:p>
            <a:pPr marL="403225" indent="-403225"/>
            <a:r>
              <a:rPr lang="en-US" sz="2800" b="1" dirty="0" err="1"/>
              <a:t>x_new</a:t>
            </a:r>
            <a:r>
              <a:rPr lang="en-US" sz="2800" b="1" dirty="0"/>
              <a:t> = </a:t>
            </a:r>
            <a:r>
              <a:rPr lang="en-US" sz="2800" b="1" dirty="0" err="1"/>
              <a:t>x_old</a:t>
            </a:r>
            <a:r>
              <a:rPr lang="en-US" sz="2800" b="1" dirty="0"/>
              <a:t> + </a:t>
            </a:r>
            <a:r>
              <a:rPr lang="en-US" sz="2800" b="1" dirty="0" err="1"/>
              <a:t>εA^t</a:t>
            </a:r>
            <a:endParaRPr lang="en-US" sz="2800" b="1" dirty="0"/>
          </a:p>
          <a:p>
            <a:pPr marL="403225" indent="-403225"/>
            <a:r>
              <a:rPr lang="en-US" sz="2800" dirty="0"/>
              <a:t>here: ε is a random number in range [-1,1] </a:t>
            </a:r>
          </a:p>
          <a:p>
            <a:pPr marL="403225" indent="-403225"/>
            <a:r>
              <a:rPr lang="en-US" sz="2800" dirty="0" err="1"/>
              <a:t>A^t</a:t>
            </a:r>
            <a:r>
              <a:rPr lang="en-US" sz="2800" dirty="0"/>
              <a:t> is the average loudness of all bats at time t</a:t>
            </a:r>
          </a:p>
          <a:p>
            <a:pPr marL="403225" indent="-403225"/>
            <a:r>
              <a:rPr lang="en-US" sz="2800" b="1" dirty="0"/>
              <a:t>Loudness Update</a:t>
            </a:r>
          </a:p>
          <a:p>
            <a:pPr marL="403225" indent="-403225"/>
            <a:r>
              <a:rPr lang="en-US" sz="2800" dirty="0" err="1"/>
              <a:t>A_i</a:t>
            </a:r>
            <a:r>
              <a:rPr lang="en-US" sz="2800" dirty="0"/>
              <a:t>^{t+1} = </a:t>
            </a:r>
            <a:r>
              <a:rPr lang="el-GR" sz="2800" dirty="0"/>
              <a:t>α</a:t>
            </a:r>
            <a:r>
              <a:rPr lang="en-US" sz="2800" dirty="0" err="1"/>
              <a:t>A_i^t</a:t>
            </a:r>
            <a:endParaRPr lang="en-US" sz="2800" dirty="0"/>
          </a:p>
          <a:p>
            <a:pPr marL="403225" indent="-403225"/>
            <a:r>
              <a:rPr lang="en-US" sz="2800" dirty="0"/>
              <a:t>Where α is a constant (0 &lt; α &lt; 1)</a:t>
            </a:r>
          </a:p>
          <a:p>
            <a:pPr marL="403225" indent="-403225"/>
            <a:r>
              <a:rPr lang="en-US" sz="2800" b="1" dirty="0"/>
              <a:t>Pulse Rate Update</a:t>
            </a:r>
          </a:p>
          <a:p>
            <a:pPr marL="403225" indent="-403225"/>
            <a:r>
              <a:rPr lang="pt-BR" sz="2800" dirty="0"/>
              <a:t>r_i^{t+1} = r_i^0[1-exp(-γt)] </a:t>
            </a:r>
          </a:p>
          <a:p>
            <a:pPr marL="403225" indent="-403225"/>
            <a:r>
              <a:rPr lang="en-US" sz="2800" dirty="0"/>
              <a:t>Where: r_i^0 is the initial pulse rate</a:t>
            </a:r>
          </a:p>
          <a:p>
            <a:pPr marL="403225" indent="-403225"/>
            <a:r>
              <a:rPr lang="en-US" sz="2800" dirty="0"/>
              <a:t>γ is a constant</a:t>
            </a:r>
          </a:p>
          <a:p>
            <a:endParaRPr lang="en-US" dirty="0"/>
          </a:p>
        </p:txBody>
      </p:sp>
      <p:sp>
        <p:nvSpPr>
          <p:cNvPr id="4" name="Slide Number Placeholder 3">
            <a:extLst>
              <a:ext uri="{FF2B5EF4-FFF2-40B4-BE49-F238E27FC236}">
                <a16:creationId xmlns:a16="http://schemas.microsoft.com/office/drawing/2014/main" id="{D696F8B4-D9B1-3FFC-AD6C-21650B3683CF}"/>
              </a:ext>
            </a:extLst>
          </p:cNvPr>
          <p:cNvSpPr>
            <a:spLocks noGrp="1"/>
          </p:cNvSpPr>
          <p:nvPr>
            <p:ph type="sldNum" sz="quarter" idx="12"/>
          </p:nvPr>
        </p:nvSpPr>
        <p:spPr/>
        <p:txBody>
          <a:bodyPr/>
          <a:lstStyle/>
          <a:p>
            <a:fld id="{5D1DE694-C67F-452B-96F1-A9F236BF5C76}" type="slidenum">
              <a:rPr lang="en-US" smtClean="0"/>
              <a:t>8</a:t>
            </a:fld>
            <a:endParaRPr lang="en-US"/>
          </a:p>
        </p:txBody>
      </p:sp>
    </p:spTree>
    <p:extLst>
      <p:ext uri="{BB962C8B-B14F-4D97-AF65-F5344CB8AC3E}">
        <p14:creationId xmlns:p14="http://schemas.microsoft.com/office/powerpoint/2010/main" val="3209910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D9376-E36A-FF26-4AD1-E4D6AA4FA50E}"/>
              </a:ext>
            </a:extLst>
          </p:cNvPr>
          <p:cNvSpPr>
            <a:spLocks noGrp="1"/>
          </p:cNvSpPr>
          <p:nvPr>
            <p:ph type="title"/>
          </p:nvPr>
        </p:nvSpPr>
        <p:spPr>
          <a:xfrm>
            <a:off x="838200" y="136526"/>
            <a:ext cx="10515600" cy="544512"/>
          </a:xfrm>
        </p:spPr>
        <p:txBody>
          <a:bodyPr>
            <a:normAutofit fontScale="90000"/>
          </a:bodyPr>
          <a:lstStyle/>
          <a:p>
            <a:pPr algn="ctr"/>
            <a:r>
              <a:rPr lang="en-US" sz="4000" b="1" dirty="0"/>
              <a:t>USES AND APPLICATIONS</a:t>
            </a:r>
          </a:p>
        </p:txBody>
      </p:sp>
      <p:sp>
        <p:nvSpPr>
          <p:cNvPr id="3" name="Content Placeholder 2">
            <a:extLst>
              <a:ext uri="{FF2B5EF4-FFF2-40B4-BE49-F238E27FC236}">
                <a16:creationId xmlns:a16="http://schemas.microsoft.com/office/drawing/2014/main" id="{AF621423-7601-BBE1-2FC0-07D028FC73F8}"/>
              </a:ext>
            </a:extLst>
          </p:cNvPr>
          <p:cNvSpPr>
            <a:spLocks noGrp="1"/>
          </p:cNvSpPr>
          <p:nvPr>
            <p:ph idx="1"/>
          </p:nvPr>
        </p:nvSpPr>
        <p:spPr>
          <a:xfrm>
            <a:off x="838200" y="681038"/>
            <a:ext cx="10515600" cy="5495925"/>
          </a:xfrm>
        </p:spPr>
        <p:txBody>
          <a:bodyPr>
            <a:normAutofit fontScale="85000" lnSpcReduction="20000"/>
          </a:bodyPr>
          <a:lstStyle/>
          <a:p>
            <a:pPr marL="465138" indent="-465138"/>
            <a:r>
              <a:rPr lang="en-US" sz="2400" b="1" dirty="0"/>
              <a:t>Industry Applications </a:t>
            </a:r>
          </a:p>
          <a:p>
            <a:pPr marL="465138" indent="-465138"/>
            <a:r>
              <a:rPr lang="en-US" sz="2400" dirty="0"/>
              <a:t> Production Scheduling </a:t>
            </a:r>
          </a:p>
          <a:p>
            <a:pPr marL="465138" indent="-465138"/>
            <a:r>
              <a:rPr lang="en-US" sz="2400" dirty="0"/>
              <a:t> Transportation Routing </a:t>
            </a:r>
          </a:p>
          <a:p>
            <a:pPr marL="465138" indent="-465138"/>
            <a:r>
              <a:rPr lang="en-US" sz="2400" dirty="0"/>
              <a:t> Power Grid Optimization </a:t>
            </a:r>
          </a:p>
          <a:p>
            <a:pPr marL="465138" indent="-465138"/>
            <a:r>
              <a:rPr lang="en-US" sz="2400" dirty="0"/>
              <a:t> </a:t>
            </a:r>
            <a:r>
              <a:rPr lang="en-US" sz="2400" b="1" dirty="0"/>
              <a:t>Emerging Fields </a:t>
            </a:r>
          </a:p>
          <a:p>
            <a:pPr marL="465138" indent="-465138"/>
            <a:r>
              <a:rPr lang="en-US" sz="2400" dirty="0"/>
              <a:t> Medical Image Processing </a:t>
            </a:r>
          </a:p>
          <a:p>
            <a:pPr marL="465138" indent="-465138"/>
            <a:r>
              <a:rPr lang="en-US" sz="2400" dirty="0"/>
              <a:t> Renewable Energy Management </a:t>
            </a:r>
          </a:p>
          <a:p>
            <a:pPr marL="465138" indent="-465138"/>
            <a:r>
              <a:rPr lang="en-US" sz="2400" dirty="0"/>
              <a:t> Smart City Planning</a:t>
            </a:r>
          </a:p>
          <a:p>
            <a:pPr>
              <a:buFont typeface="Arial" panose="020B0604020202020204" pitchFamily="34" charset="0"/>
              <a:buChar char="•"/>
            </a:pPr>
            <a:r>
              <a:rPr lang="en-US" sz="2400" b="1" dirty="0"/>
              <a:t>Specialized Applications</a:t>
            </a:r>
          </a:p>
          <a:p>
            <a:pPr>
              <a:buFont typeface="Arial" panose="020B0604020202020204" pitchFamily="34" charset="0"/>
              <a:buChar char="•"/>
            </a:pPr>
            <a:r>
              <a:rPr lang="en-US" sz="2400" b="1" dirty="0"/>
              <a:t>Continuous Optimization Problems </a:t>
            </a:r>
          </a:p>
          <a:p>
            <a:pPr>
              <a:buFont typeface="Arial" panose="020B0604020202020204" pitchFamily="34" charset="0"/>
              <a:buChar char="•"/>
            </a:pPr>
            <a:r>
              <a:rPr lang="en-US" sz="2400" dirty="0"/>
              <a:t> Function optimization</a:t>
            </a:r>
          </a:p>
          <a:p>
            <a:pPr>
              <a:buFont typeface="Arial" panose="020B0604020202020204" pitchFamily="34" charset="0"/>
              <a:buChar char="•"/>
            </a:pPr>
            <a:r>
              <a:rPr lang="en-US" sz="2400" dirty="0"/>
              <a:t>Constrained optimization</a:t>
            </a:r>
          </a:p>
          <a:p>
            <a:pPr>
              <a:buFont typeface="Arial" panose="020B0604020202020204" pitchFamily="34" charset="0"/>
              <a:buChar char="•"/>
            </a:pPr>
            <a:r>
              <a:rPr lang="en-US" sz="2400" dirty="0"/>
              <a:t>Multi-objective optimization</a:t>
            </a:r>
          </a:p>
          <a:p>
            <a:pPr>
              <a:buFont typeface="Arial" panose="020B0604020202020204" pitchFamily="34" charset="0"/>
              <a:buChar char="•"/>
            </a:pPr>
            <a:r>
              <a:rPr lang="en-US" sz="2400" b="1" dirty="0"/>
              <a:t>Engineering Design</a:t>
            </a:r>
            <a:r>
              <a:rPr lang="en-US" sz="2400" dirty="0"/>
              <a:t>: Structural optimization</a:t>
            </a:r>
          </a:p>
          <a:p>
            <a:pPr>
              <a:buFont typeface="Arial" panose="020B0604020202020204" pitchFamily="34" charset="0"/>
              <a:buChar char="•"/>
            </a:pPr>
            <a:r>
              <a:rPr lang="en-US" sz="2400" dirty="0"/>
              <a:t>Mechanical design</a:t>
            </a:r>
          </a:p>
          <a:p>
            <a:pPr>
              <a:buFont typeface="Arial" panose="020B0604020202020204" pitchFamily="34" charset="0"/>
              <a:buChar char="•"/>
            </a:pPr>
            <a:r>
              <a:rPr lang="en-US" sz="2400" dirty="0"/>
              <a:t>Parameter estimation</a:t>
            </a:r>
          </a:p>
          <a:p>
            <a:pPr marL="0" indent="0">
              <a:buNone/>
            </a:pPr>
            <a:endParaRPr lang="en-US" sz="2400" dirty="0"/>
          </a:p>
          <a:p>
            <a:pPr marL="465138" indent="-465138"/>
            <a:endParaRPr lang="en-US" sz="2400" dirty="0"/>
          </a:p>
          <a:p>
            <a:pPr marL="465138" indent="-465138"/>
            <a:endParaRPr lang="en-US" sz="2400" dirty="0"/>
          </a:p>
          <a:p>
            <a:pPr marL="465138" indent="-465138"/>
            <a:endParaRPr lang="en-US" sz="2400" dirty="0"/>
          </a:p>
        </p:txBody>
      </p:sp>
      <p:sp>
        <p:nvSpPr>
          <p:cNvPr id="4" name="Slide Number Placeholder 3">
            <a:extLst>
              <a:ext uri="{FF2B5EF4-FFF2-40B4-BE49-F238E27FC236}">
                <a16:creationId xmlns:a16="http://schemas.microsoft.com/office/drawing/2014/main" id="{0E38EE1E-2A60-4C9A-8560-287226877F35}"/>
              </a:ext>
            </a:extLst>
          </p:cNvPr>
          <p:cNvSpPr>
            <a:spLocks noGrp="1"/>
          </p:cNvSpPr>
          <p:nvPr>
            <p:ph type="sldNum" sz="quarter" idx="12"/>
          </p:nvPr>
        </p:nvSpPr>
        <p:spPr/>
        <p:txBody>
          <a:bodyPr/>
          <a:lstStyle/>
          <a:p>
            <a:fld id="{5D1DE694-C67F-452B-96F1-A9F236BF5C76}" type="slidenum">
              <a:rPr lang="en-US" smtClean="0"/>
              <a:t>9</a:t>
            </a:fld>
            <a:endParaRPr lang="en-US"/>
          </a:p>
        </p:txBody>
      </p:sp>
      <p:sp>
        <p:nvSpPr>
          <p:cNvPr id="5" name="Rectangle 1">
            <a:extLst>
              <a:ext uri="{FF2B5EF4-FFF2-40B4-BE49-F238E27FC236}">
                <a16:creationId xmlns:a16="http://schemas.microsoft.com/office/drawing/2014/main" id="{4E48E49D-4BE6-EAA8-2617-0AC1F4C2725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83159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69FF8-20BF-33EC-A654-8870120B7E40}"/>
              </a:ext>
            </a:extLst>
          </p:cNvPr>
          <p:cNvSpPr>
            <a:spLocks noGrp="1"/>
          </p:cNvSpPr>
          <p:nvPr>
            <p:ph type="title"/>
          </p:nvPr>
        </p:nvSpPr>
        <p:spPr>
          <a:xfrm>
            <a:off x="838200" y="136526"/>
            <a:ext cx="10515600" cy="544512"/>
          </a:xfrm>
        </p:spPr>
        <p:txBody>
          <a:bodyPr>
            <a:normAutofit fontScale="90000"/>
          </a:bodyPr>
          <a:lstStyle/>
          <a:p>
            <a:pPr algn="ctr"/>
            <a:r>
              <a:rPr lang="en-US" sz="4000" b="1" dirty="0"/>
              <a:t>Conclusion</a:t>
            </a:r>
            <a:endParaRPr lang="en-US" b="1" dirty="0"/>
          </a:p>
        </p:txBody>
      </p:sp>
      <p:sp>
        <p:nvSpPr>
          <p:cNvPr id="3" name="Content Placeholder 2">
            <a:extLst>
              <a:ext uri="{FF2B5EF4-FFF2-40B4-BE49-F238E27FC236}">
                <a16:creationId xmlns:a16="http://schemas.microsoft.com/office/drawing/2014/main" id="{4BFEEB40-B1AC-1995-ABBE-1BCBC154E7B6}"/>
              </a:ext>
            </a:extLst>
          </p:cNvPr>
          <p:cNvSpPr>
            <a:spLocks noGrp="1"/>
          </p:cNvSpPr>
          <p:nvPr>
            <p:ph idx="1"/>
          </p:nvPr>
        </p:nvSpPr>
        <p:spPr>
          <a:xfrm>
            <a:off x="838200" y="850232"/>
            <a:ext cx="10515600" cy="5326731"/>
          </a:xfrm>
        </p:spPr>
        <p:txBody>
          <a:bodyPr/>
          <a:lstStyle/>
          <a:p>
            <a:r>
              <a:rPr lang="en-US" dirty="0"/>
              <a:t>Simple concepts, easy implementation, effective for complex optimization</a:t>
            </a:r>
          </a:p>
          <a:p>
            <a:r>
              <a:rPr lang="en-US" dirty="0"/>
              <a:t>Limitations is parameter sensitivity, potential local optima trapping</a:t>
            </a:r>
          </a:p>
          <a:p>
            <a:r>
              <a:rPr lang="en-US" dirty="0"/>
              <a:t>Impact bridges natural system and computational intelligence, providing efficient solutions to complex problems</a:t>
            </a:r>
          </a:p>
        </p:txBody>
      </p:sp>
      <p:sp>
        <p:nvSpPr>
          <p:cNvPr id="4" name="Slide Number Placeholder 3">
            <a:extLst>
              <a:ext uri="{FF2B5EF4-FFF2-40B4-BE49-F238E27FC236}">
                <a16:creationId xmlns:a16="http://schemas.microsoft.com/office/drawing/2014/main" id="{95F5CC2E-2661-4754-4C47-6AE77FE75B76}"/>
              </a:ext>
            </a:extLst>
          </p:cNvPr>
          <p:cNvSpPr>
            <a:spLocks noGrp="1"/>
          </p:cNvSpPr>
          <p:nvPr>
            <p:ph type="sldNum" sz="quarter" idx="12"/>
          </p:nvPr>
        </p:nvSpPr>
        <p:spPr/>
        <p:txBody>
          <a:bodyPr/>
          <a:lstStyle/>
          <a:p>
            <a:fld id="{5D1DE694-C67F-452B-96F1-A9F236BF5C76}" type="slidenum">
              <a:rPr lang="en-US" smtClean="0"/>
              <a:t>10</a:t>
            </a:fld>
            <a:endParaRPr lang="en-US"/>
          </a:p>
        </p:txBody>
      </p:sp>
    </p:spTree>
    <p:extLst>
      <p:ext uri="{BB962C8B-B14F-4D97-AF65-F5344CB8AC3E}">
        <p14:creationId xmlns:p14="http://schemas.microsoft.com/office/powerpoint/2010/main" val="25923585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76E44-7FD7-5E45-DE4E-D1DA1523184A}"/>
              </a:ext>
            </a:extLst>
          </p:cNvPr>
          <p:cNvSpPr>
            <a:spLocks noGrp="1"/>
          </p:cNvSpPr>
          <p:nvPr>
            <p:ph type="title"/>
          </p:nvPr>
        </p:nvSpPr>
        <p:spPr>
          <a:xfrm>
            <a:off x="838200" y="256674"/>
            <a:ext cx="10515600" cy="673768"/>
          </a:xfrm>
        </p:spPr>
        <p:txBody>
          <a:bodyPr>
            <a:normAutofit/>
          </a:bodyPr>
          <a:lstStyle/>
          <a:p>
            <a:pPr algn="ctr"/>
            <a:r>
              <a:rPr lang="en-US" sz="4000" dirty="0"/>
              <a:t>REFERENCES</a:t>
            </a:r>
            <a:endParaRPr lang="en-US" sz="4000" b="1" dirty="0"/>
          </a:p>
        </p:txBody>
      </p:sp>
      <p:sp>
        <p:nvSpPr>
          <p:cNvPr id="3" name="Content Placeholder 2">
            <a:extLst>
              <a:ext uri="{FF2B5EF4-FFF2-40B4-BE49-F238E27FC236}">
                <a16:creationId xmlns:a16="http://schemas.microsoft.com/office/drawing/2014/main" id="{299998EE-B13A-91B7-DE97-3277468990E8}"/>
              </a:ext>
            </a:extLst>
          </p:cNvPr>
          <p:cNvSpPr>
            <a:spLocks noGrp="1"/>
          </p:cNvSpPr>
          <p:nvPr>
            <p:ph idx="1"/>
          </p:nvPr>
        </p:nvSpPr>
        <p:spPr>
          <a:xfrm>
            <a:off x="838200" y="930442"/>
            <a:ext cx="10515600" cy="5246521"/>
          </a:xfrm>
        </p:spPr>
        <p:txBody>
          <a:bodyPr/>
          <a:lstStyle/>
          <a:p>
            <a:r>
              <a:rPr lang="en-US" dirty="0" err="1"/>
              <a:t>Karaboga</a:t>
            </a:r>
            <a:r>
              <a:rPr lang="en-US" dirty="0"/>
              <a:t>, D. (2005). "An idea based on honeybee swarm for numerical optimization." Technical Report TR06, Erciyes University.</a:t>
            </a:r>
          </a:p>
          <a:p>
            <a:r>
              <a:rPr lang="en-US" dirty="0" err="1"/>
              <a:t>Karaboga</a:t>
            </a:r>
            <a:r>
              <a:rPr lang="en-US" dirty="0"/>
              <a:t>, D., &amp; </a:t>
            </a:r>
            <a:r>
              <a:rPr lang="en-US" dirty="0" err="1"/>
              <a:t>Basturk</a:t>
            </a:r>
            <a:r>
              <a:rPr lang="en-US" dirty="0"/>
              <a:t>, B. (2007). "A powerful and efficient algorithm for numerical function optimization: Artificial Bee Colony (ABC) algorithm." Journal of Global Optimization.</a:t>
            </a:r>
          </a:p>
          <a:p>
            <a:r>
              <a:rPr lang="en-US" dirty="0" err="1"/>
              <a:t>Karaboga</a:t>
            </a:r>
            <a:r>
              <a:rPr lang="en-US" dirty="0"/>
              <a:t>, D., &amp; Akay, B. (2009). "A comparative study of Artificial Bee Colony algorithm." Applied Mathematics and Computation.</a:t>
            </a:r>
          </a:p>
          <a:p>
            <a:r>
              <a:rPr lang="en-US" dirty="0"/>
              <a:t>Akay, B., &amp; </a:t>
            </a:r>
            <a:r>
              <a:rPr lang="en-US" dirty="0" err="1"/>
              <a:t>Karaboga</a:t>
            </a:r>
            <a:r>
              <a:rPr lang="en-US" dirty="0"/>
              <a:t>, D. (2015). "A survey on the applications of artificial bee colony in signal, image, and video processing." Signal, Image and Video Processing.</a:t>
            </a:r>
          </a:p>
        </p:txBody>
      </p:sp>
      <p:sp>
        <p:nvSpPr>
          <p:cNvPr id="4" name="Slide Number Placeholder 3">
            <a:extLst>
              <a:ext uri="{FF2B5EF4-FFF2-40B4-BE49-F238E27FC236}">
                <a16:creationId xmlns:a16="http://schemas.microsoft.com/office/drawing/2014/main" id="{DD2D5FD2-220B-E6C6-EDBD-C7F110E13653}"/>
              </a:ext>
            </a:extLst>
          </p:cNvPr>
          <p:cNvSpPr>
            <a:spLocks noGrp="1"/>
          </p:cNvSpPr>
          <p:nvPr>
            <p:ph type="sldNum" sz="quarter" idx="12"/>
          </p:nvPr>
        </p:nvSpPr>
        <p:spPr/>
        <p:txBody>
          <a:bodyPr/>
          <a:lstStyle/>
          <a:p>
            <a:fld id="{5D1DE694-C67F-452B-96F1-A9F236BF5C76}" type="slidenum">
              <a:rPr lang="en-US" smtClean="0"/>
              <a:t>11</a:t>
            </a:fld>
            <a:endParaRPr lang="en-US"/>
          </a:p>
        </p:txBody>
      </p:sp>
    </p:spTree>
    <p:extLst>
      <p:ext uri="{BB962C8B-B14F-4D97-AF65-F5344CB8AC3E}">
        <p14:creationId xmlns:p14="http://schemas.microsoft.com/office/powerpoint/2010/main" val="30487315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1282</TotalTime>
  <Words>1023</Words>
  <Application>Microsoft Office PowerPoint</Application>
  <PresentationFormat>Widescreen</PresentationFormat>
  <Paragraphs>127</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Aptos Display</vt:lpstr>
      <vt:lpstr>Arial</vt:lpstr>
      <vt:lpstr>Calibri</vt:lpstr>
      <vt:lpstr>Google Sans</vt:lpstr>
      <vt:lpstr>HelveticaNeue Regular</vt:lpstr>
      <vt:lpstr>Wingdings</vt:lpstr>
      <vt:lpstr>Office Theme</vt:lpstr>
      <vt:lpstr>PowerPoint Presentation</vt:lpstr>
      <vt:lpstr>ARTIFICIAL INTELLIGENCE BEE COLONY AND AI BAT ALGORTHIM</vt:lpstr>
      <vt:lpstr>OUTLINES</vt:lpstr>
      <vt:lpstr>INTRODUCTION</vt:lpstr>
      <vt:lpstr>HISTORY</vt:lpstr>
      <vt:lpstr>WORKING AND CONSTRUCTIONS</vt:lpstr>
      <vt:lpstr>MATHEMATICAL DERIVATIONS</vt:lpstr>
      <vt:lpstr>MATHEMATICAL DERIVATIONS</vt:lpstr>
      <vt:lpstr>USES AND APPLICATIONS</vt:lpstr>
      <vt:lpstr>Conclusion</vt:lpstr>
      <vt:lpstr>REFERENCES</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huzaifa shahbaz</dc:creator>
  <cp:lastModifiedBy>huzaifa shahbaz</cp:lastModifiedBy>
  <cp:revision>3</cp:revision>
  <dcterms:created xsi:type="dcterms:W3CDTF">2025-03-10T18:34:40Z</dcterms:created>
  <dcterms:modified xsi:type="dcterms:W3CDTF">2025-03-18T06:40:16Z</dcterms:modified>
</cp:coreProperties>
</file>