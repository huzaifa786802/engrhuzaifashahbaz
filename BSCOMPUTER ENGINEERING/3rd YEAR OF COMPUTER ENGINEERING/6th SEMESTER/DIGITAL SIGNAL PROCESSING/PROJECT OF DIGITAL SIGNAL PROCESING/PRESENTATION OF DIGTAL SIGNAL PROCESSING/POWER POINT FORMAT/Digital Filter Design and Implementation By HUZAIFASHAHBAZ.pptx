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80" r:id="rId22"/>
    <p:sldId id="281" r:id="rId23"/>
    <p:sldId id="282" r:id="rId24"/>
    <p:sldId id="283" r:id="rId25"/>
    <p:sldId id="287" r:id="rId26"/>
    <p:sldId id="288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370" autoAdjust="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outlineViewPr>
    <p:cViewPr>
      <p:scale>
        <a:sx n="33" d="100"/>
        <a:sy n="33" d="100"/>
      </p:scale>
      <p:origin x="0" y="-5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56"/>
    </p:cViewPr>
  </p:sorter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C94AE-3AB5-4122-89BF-3E8B1C07163C}" type="datetimeFigureOut">
              <a:rPr lang="en-US" smtClean="0"/>
              <a:t>27-May-24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476F8-423F-4E28-90D0-82BF78BEE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1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476F8-423F-4E28-90D0-82BF78BEE5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7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179F-3395-9D2E-398F-BA53EB741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FBFFA-DFC9-866D-1A6D-4CC25FEFC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5AF22-FE28-4AAC-0A0E-D5E2AC63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DEB22-8E55-403A-926E-75AEC79850DD}" type="datetime1">
              <a:rPr lang="en-US" smtClean="0"/>
              <a:t>27-May-24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21EC9-D9AE-93E4-1967-6A8C24AB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71CF-5ECA-B02A-BEDD-D6AD7E93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7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1C71-C4F2-61E6-D6BA-A72BAB49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7B35-A016-957E-C950-665B13F8F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3078-8BE5-FD90-BA6E-5DFED64E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CA33-9A9D-4A6D-ADF3-258C6C9794FC}" type="datetime1">
              <a:rPr lang="en-US" smtClean="0"/>
              <a:t>27-May-24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65E8-137A-C4BE-00AA-A8418C76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F6B-D3EA-49DC-5986-B603EE21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0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8263-D8DA-F3CB-177E-5557547A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54A33-0B4C-E672-8E4C-414EE4C9A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1A21E-44E7-AA66-092C-2E152394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34FC-022B-44AB-9EB0-4896DE7D6375}" type="datetime1">
              <a:rPr lang="en-US" smtClean="0"/>
              <a:t>27-May-24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9C3B6-CDDA-4D3F-0051-A203FD26E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55859-3E76-8994-10E1-66D2C4F3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0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3144-DF65-81E1-8D55-2DCC588F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C25C-9CF9-8260-5CB8-C679B36F5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DC9FB-DE90-1BEC-8EC1-5CDA2A7F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4A0D3-0D81-B933-4CFC-D3FC1C9D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FB65-534B-463C-BC61-09843185C140}" type="datetime1">
              <a:rPr lang="en-US" smtClean="0"/>
              <a:t>27-May-24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54171-ACB8-3461-47AD-09C630C08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87424-4E4D-121A-F464-520187AB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4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33BD-332B-BC89-1081-61672E6A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67522-2C59-E5F5-6735-D98C3E75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E34B3-89A7-B62A-F0CE-47A522923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4CACB-9423-DBBE-EAFB-848268D02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278BE-AA13-E678-C1FF-487732E0F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47E37-CE3A-BFA8-E3D9-7D664C18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6460D-B8E5-4C0A-AD55-A53D1A2EF16C}" type="datetime1">
              <a:rPr lang="en-US" smtClean="0"/>
              <a:t>27-May-24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D7150-0062-5963-B8EE-6CB37A82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4EB1D6-78AB-8686-C629-73087982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0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6D79-C410-A0C5-7127-2AA78AC2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5EC70-29FD-07E9-6ECF-27A1671C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D3C74-F5AF-46CB-93F2-09E39E19454B}" type="datetime1">
              <a:rPr lang="en-US" smtClean="0"/>
              <a:t>27-May-24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71802-2149-5BED-2877-230E328E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7328E-690F-02F5-9B74-5199C2DB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8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91A1D-D76A-9AA9-2F4A-1FE7B7BD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5E3A7-CA4E-4F33-94A2-AC3E3604CDC8}" type="datetime1">
              <a:rPr lang="en-US" smtClean="0"/>
              <a:t>27-May-24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36B9D-3A87-D3AC-23DC-EAFC24DE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47377-BD0B-083C-35C3-D40441FF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7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9354-8181-2493-4A8F-75AA74FF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C2934-F84E-EDBB-EE3B-9449BA5DE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BFB16-C053-BCA4-7782-B86845E0B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B2988-73B2-42C9-0F09-7A618535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22FF7-A4F0-473D-9C9C-A3B5E83666CB}" type="datetime1">
              <a:rPr lang="en-US" smtClean="0"/>
              <a:t>27-May-24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401C6-951C-C837-1CE0-6BF53E7A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1301A-3C20-4E34-20B7-2BBEAA57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5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AB26-46CF-B54F-316D-60F4F7CE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493ED-46C8-74ED-4202-FC103B37B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C6DAC-6537-2B44-D3D6-509B79561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AEC72-F877-3C4F-02D8-73BC74DC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C83D5-E316-4C4F-87AD-6BD271EE2B4F}" type="datetime1">
              <a:rPr lang="en-US" smtClean="0"/>
              <a:t>27-May-24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ACD5D-A8C2-FB3D-F7A7-A22F38CD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E2B49-5D92-C167-E2E1-8BE0B448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7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F1DE-1FBD-6BC9-E4D8-5FCFC358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8D99C-6E20-74FB-79F3-385F28F2E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C77A8-5323-77FB-EA0A-F904DD0D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DDFD-34B6-4F22-B984-AFE4BE6D47BB}" type="datetime1">
              <a:rPr lang="en-US" smtClean="0"/>
              <a:t>27-May-24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49E47-EE75-2BE6-2F48-7BB32522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B31E-D6F8-FD79-FC7C-342AB951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9A930F-D4A0-DD82-7011-844799501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8F29-AF5B-9A19-BBD4-89C0B2133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56310-51EA-1049-1E3E-41C0625D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A2F5-0240-4904-8339-245ABCE27D32}" type="datetime1">
              <a:rPr lang="en-US" smtClean="0"/>
              <a:t>27-May-24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55E6-0342-2B10-A48D-B16A1388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9A911-4936-27D4-5590-166B4D32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7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87E1F-B6C4-AA3B-2F6E-BD00A091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797BE-4E2A-11D4-D31E-1A04B8663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B9F6E-6A79-CBD5-7B24-1422479B0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0ED3E-3483-4033-9D14-76639B56ABCD}" type="datetime1">
              <a:rPr lang="en-US" smtClean="0"/>
              <a:t>27-May-24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DBA2F-353A-5E3D-0B59-BA9A2FD75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C157-C5EA-81E5-B210-C960EE61D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04EE0-61A9-4852-B809-51E08A00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ECB999-2598-3F84-5536-2734C0B0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86FADC-3696-7860-DB81-31D525A5A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474" y="0"/>
            <a:ext cx="12290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33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78AA-444E-0311-9712-8146F3CFD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023672"/>
          </a:xfrm>
        </p:spPr>
        <p:txBody>
          <a:bodyPr>
            <a:noAutofit/>
          </a:bodyPr>
          <a:lstStyle/>
          <a:p>
            <a:r>
              <a:rPr lang="en-US" sz="6600" b="1" dirty="0"/>
              <a:t>Digital Filter design and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F9772-FB67-D27F-7500-AF3C8B89C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42867"/>
            <a:ext cx="12192000" cy="5015131"/>
          </a:xfrm>
        </p:spPr>
        <p:txBody>
          <a:bodyPr>
            <a:normAutofit/>
          </a:bodyPr>
          <a:lstStyle/>
          <a:p>
            <a:pPr algn="l"/>
            <a:r>
              <a:rPr lang="en-US" sz="11500" b="1" dirty="0"/>
              <a:t>Presented By:</a:t>
            </a:r>
          </a:p>
          <a:p>
            <a:pPr algn="l"/>
            <a:r>
              <a:rPr lang="en-US" sz="11500" dirty="0"/>
              <a:t>Huzaifa Shahbaz (21-CE-009)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074EB-D01A-6A0E-93AE-80266FFE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0446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352B-F0A5-3EC6-4F07-9ACC9EF2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39482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Outlines of Digital filter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CB3-9140-152F-6359-EDDBA3AB6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5926"/>
            <a:ext cx="12192000" cy="6042073"/>
          </a:xfrm>
        </p:spPr>
        <p:txBody>
          <a:bodyPr>
            <a:normAutofit/>
          </a:bodyPr>
          <a:lstStyle/>
          <a:p>
            <a:r>
              <a:rPr lang="en-US" sz="3600" dirty="0"/>
              <a:t>Abstract</a:t>
            </a:r>
          </a:p>
          <a:p>
            <a:r>
              <a:rPr lang="en-US" sz="3600" dirty="0"/>
              <a:t>Introduction</a:t>
            </a:r>
          </a:p>
          <a:p>
            <a:r>
              <a:rPr lang="en-US" sz="3600" dirty="0"/>
              <a:t>Objective</a:t>
            </a:r>
          </a:p>
          <a:p>
            <a:r>
              <a:rPr lang="en-US" sz="3600" dirty="0"/>
              <a:t>Expected Outcome</a:t>
            </a:r>
          </a:p>
          <a:p>
            <a:r>
              <a:rPr lang="en-US" sz="3600" dirty="0"/>
              <a:t>Methodology</a:t>
            </a:r>
          </a:p>
          <a:p>
            <a:r>
              <a:rPr lang="en-US" sz="3600" dirty="0"/>
              <a:t>Component used</a:t>
            </a:r>
          </a:p>
          <a:p>
            <a:r>
              <a:rPr lang="en-US" sz="3600" dirty="0"/>
              <a:t>Digital Filter Design</a:t>
            </a:r>
          </a:p>
          <a:p>
            <a:r>
              <a:rPr lang="en-US" sz="3600" dirty="0"/>
              <a:t>Finite Impulse Response</a:t>
            </a:r>
          </a:p>
          <a:p>
            <a:r>
              <a:rPr lang="en-US" sz="3600" dirty="0"/>
              <a:t>Infinite Impulse Response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5830A-63B4-5B6E-A61B-4E82DF63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9986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352B-F0A5-3EC6-4F07-9ACC9EF2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144"/>
          </a:xfrm>
        </p:spPr>
        <p:txBody>
          <a:bodyPr>
            <a:normAutofit/>
          </a:bodyPr>
          <a:lstStyle/>
          <a:p>
            <a:r>
              <a:rPr lang="en-US" sz="5400" b="1" dirty="0"/>
              <a:t>Outlines of Digital filter design(continued)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CB3-9140-152F-6359-EDDBA3AB6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7792"/>
            <a:ext cx="12192000" cy="6070208"/>
          </a:xfrm>
        </p:spPr>
        <p:txBody>
          <a:bodyPr>
            <a:normAutofit/>
          </a:bodyPr>
          <a:lstStyle/>
          <a:p>
            <a:r>
              <a:rPr lang="en-US" sz="3600" dirty="0"/>
              <a:t>Functional Requirements</a:t>
            </a:r>
          </a:p>
          <a:p>
            <a:r>
              <a:rPr lang="en-US" sz="3600" dirty="0"/>
              <a:t>Frequency Response Specifications</a:t>
            </a:r>
          </a:p>
          <a:p>
            <a:r>
              <a:rPr lang="en-US" sz="3600" dirty="0"/>
              <a:t>Filter Type Selection</a:t>
            </a:r>
          </a:p>
          <a:p>
            <a:r>
              <a:rPr lang="en-US" sz="3600" dirty="0"/>
              <a:t>Filter Order and Complexity</a:t>
            </a:r>
          </a:p>
          <a:p>
            <a:r>
              <a:rPr lang="en-US" sz="3600" dirty="0"/>
              <a:t>Stability and Robustness</a:t>
            </a:r>
          </a:p>
          <a:p>
            <a:r>
              <a:rPr lang="en-US" sz="3600" dirty="0"/>
              <a:t>Transition Bandwidth and Ripple</a:t>
            </a:r>
          </a:p>
          <a:p>
            <a:r>
              <a:rPr lang="en-US" sz="3600" dirty="0"/>
              <a:t>Phase Linearity</a:t>
            </a:r>
          </a:p>
          <a:p>
            <a:r>
              <a:rPr lang="en-US" sz="3600" dirty="0"/>
              <a:t>Implementation Constraints</a:t>
            </a:r>
          </a:p>
          <a:p>
            <a:r>
              <a:rPr lang="en-US" sz="3600" dirty="0"/>
              <a:t>Filter Optimization</a:t>
            </a:r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B2600-CC7B-F333-5DD9-B37303FA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880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352B-F0A5-3EC6-4F07-9ACC9EF2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70080" cy="984737"/>
          </a:xfrm>
        </p:spPr>
        <p:txBody>
          <a:bodyPr>
            <a:normAutofit/>
          </a:bodyPr>
          <a:lstStyle/>
          <a:p>
            <a:r>
              <a:rPr lang="en-US" sz="5400" b="1" dirty="0"/>
              <a:t>Outlines of Digital filter design(continued)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CB3-9140-152F-6359-EDDBA3AB6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7791"/>
            <a:ext cx="12192000" cy="6070207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Filtering Characteristics</a:t>
            </a:r>
          </a:p>
          <a:p>
            <a:r>
              <a:rPr lang="en-US" sz="3600" dirty="0"/>
              <a:t>Validation and testing</a:t>
            </a:r>
          </a:p>
          <a:p>
            <a:r>
              <a:rPr lang="en-US" sz="3600" dirty="0"/>
              <a:t>Non-functional Requirements</a:t>
            </a:r>
          </a:p>
          <a:p>
            <a:r>
              <a:rPr lang="en-US" sz="3600" dirty="0"/>
              <a:t>Performance</a:t>
            </a:r>
          </a:p>
          <a:p>
            <a:r>
              <a:rPr lang="en-US" sz="3600" dirty="0"/>
              <a:t>Scalability</a:t>
            </a:r>
          </a:p>
          <a:p>
            <a:r>
              <a:rPr lang="en-US" sz="3600" dirty="0"/>
              <a:t>Reliability</a:t>
            </a:r>
          </a:p>
          <a:p>
            <a:r>
              <a:rPr lang="en-US" sz="3600" dirty="0"/>
              <a:t>Robustness</a:t>
            </a:r>
          </a:p>
          <a:p>
            <a:r>
              <a:rPr lang="en-US" sz="3600" dirty="0"/>
              <a:t>Compatibility</a:t>
            </a:r>
          </a:p>
          <a:p>
            <a:r>
              <a:rPr lang="en-US" sz="3600" dirty="0"/>
              <a:t>Maintainability</a:t>
            </a:r>
          </a:p>
          <a:p>
            <a:r>
              <a:rPr lang="en-US" sz="3600" dirty="0"/>
              <a:t>Resource Efficiency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23576-7274-F841-2126-095D3BE0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6821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352B-F0A5-3EC6-4F07-9ACC9EF2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79"/>
          </a:xfrm>
        </p:spPr>
        <p:txBody>
          <a:bodyPr>
            <a:normAutofit/>
          </a:bodyPr>
          <a:lstStyle/>
          <a:p>
            <a:r>
              <a:rPr lang="en-US" sz="5400" b="1" dirty="0"/>
              <a:t>Outlines of Digital filter design(continued)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8CB3-9140-152F-6359-EDDBA3AB6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29994"/>
            <a:ext cx="12191999" cy="6028006"/>
          </a:xfrm>
        </p:spPr>
        <p:txBody>
          <a:bodyPr>
            <a:normAutofit/>
          </a:bodyPr>
          <a:lstStyle/>
          <a:p>
            <a:r>
              <a:rPr lang="en-US" sz="4400" dirty="0"/>
              <a:t>Usability</a:t>
            </a:r>
          </a:p>
          <a:p>
            <a:r>
              <a:rPr lang="en-US" sz="4400" dirty="0"/>
              <a:t>Portability</a:t>
            </a:r>
          </a:p>
          <a:p>
            <a:r>
              <a:rPr lang="en-US" sz="4400" dirty="0"/>
              <a:t>Compliance</a:t>
            </a:r>
          </a:p>
          <a:p>
            <a:r>
              <a:rPr lang="en-US" sz="4400" dirty="0"/>
              <a:t>Code</a:t>
            </a:r>
          </a:p>
          <a:p>
            <a:r>
              <a:rPr lang="en-US" sz="4400" dirty="0"/>
              <a:t>Kaiser window</a:t>
            </a:r>
          </a:p>
          <a:p>
            <a:r>
              <a:rPr lang="en-US" sz="4400" dirty="0"/>
              <a:t>Original Signal, Noisy Signal and Filtered Signal</a:t>
            </a:r>
          </a:p>
          <a:p>
            <a:r>
              <a:rPr lang="en-US" sz="4400" dirty="0"/>
              <a:t>Frequency Filtered Response</a:t>
            </a:r>
          </a:p>
          <a:p>
            <a:r>
              <a:rPr lang="en-US" sz="4400" dirty="0"/>
              <a:t>Conclusion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8E08-7B35-164E-81BE-2262CDC8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0747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82CA-E3B6-C765-E82B-D8526B2D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25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800" b="1" dirty="0"/>
              <a:t>Abstract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DEA5B-4002-2115-AE04-FE1D28A79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1520"/>
            <a:ext cx="12192000" cy="6126480"/>
          </a:xfrm>
        </p:spPr>
        <p:txBody>
          <a:bodyPr>
            <a:normAutofit/>
          </a:bodyPr>
          <a:lstStyle/>
          <a:p>
            <a:r>
              <a:rPr lang="en-US" sz="4400" dirty="0"/>
              <a:t>In abstract, we discuss the digital filter design and implementation, distinguishing between finite impulse response(FIR) and infinite impulse response(IIR) filters and </a:t>
            </a:r>
            <a:r>
              <a:rPr lang="en-US" sz="4400" kern="0" dirty="0">
                <a:effectLst/>
                <a:ea typeface="Times New Roman" panose="02020603050405020304" pitchFamily="18" charset="0"/>
              </a:rPr>
              <a:t>highlighting </a:t>
            </a:r>
            <a:r>
              <a:rPr lang="en-US" sz="4400" dirty="0"/>
              <a:t> key design methods like windowing and optimization algorithms. </a:t>
            </a:r>
          </a:p>
          <a:p>
            <a:r>
              <a:rPr lang="en-US" sz="4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It highlights the use of software tools and their applications in audio, communications, and image processing.</a:t>
            </a:r>
            <a:endParaRPr lang="en-US" sz="4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5A0C4-2733-40DC-2601-AE3E5DE1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6912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A772-47AB-D48B-E291-DD98603B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b="1" dirty="0"/>
              <a:t>Introduction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8CA2-6133-7681-9187-755B56B25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5925"/>
            <a:ext cx="12192000" cy="6042073"/>
          </a:xfrm>
        </p:spPr>
        <p:txBody>
          <a:bodyPr>
            <a:normAutofit lnSpcReduction="10000"/>
          </a:bodyPr>
          <a:lstStyle/>
          <a:p>
            <a:r>
              <a:rPr lang="en-US" sz="4000" kern="0" dirty="0">
                <a:effectLst/>
                <a:ea typeface="Times New Roman" panose="02020603050405020304" pitchFamily="18" charset="0"/>
              </a:rPr>
              <a:t>Developing algorithms to process digital signals and eliminate undesirable elements or enhance desired aspects while maintaining signal characteristics is known as digital filter design. </a:t>
            </a:r>
          </a:p>
          <a:p>
            <a:r>
              <a:rPr lang="en-US" sz="4000" kern="0" dirty="0">
                <a:effectLst/>
                <a:ea typeface="Times New Roman" panose="02020603050405020304" pitchFamily="18" charset="0"/>
              </a:rPr>
              <a:t>The impulse response of IIR filters is unlimited, whereas that of FIR filters is finite. </a:t>
            </a:r>
          </a:p>
          <a:p>
            <a:r>
              <a:rPr lang="en-US" sz="4000" kern="0" dirty="0">
                <a:effectLst/>
                <a:ea typeface="Times New Roman" panose="02020603050405020304" pitchFamily="18" charset="0"/>
              </a:rPr>
              <a:t>Windowing, frequency sampling, optimization techniques, and software tools are all used in implementation. </a:t>
            </a:r>
          </a:p>
          <a:p>
            <a:r>
              <a:rPr lang="en-US" sz="4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Image processing, telecommunication, and audio processing are examples of applications.</a:t>
            </a:r>
            <a:endParaRPr lang="en-US" sz="4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kern="0" dirty="0">
              <a:effectLst/>
              <a:ea typeface="Times New Roman" panose="02020603050405020304" pitchFamily="18" charset="0"/>
            </a:endParaRPr>
          </a:p>
          <a:p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3AA0D-6A48-7BDB-8663-4CC19047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3628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4015-0968-D9DF-30A3-EEAB7971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507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3C84-25F7-94A0-8D4C-78E7514EC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9655"/>
            <a:ext cx="12192000" cy="6098344"/>
          </a:xfrm>
        </p:spPr>
        <p:txBody>
          <a:bodyPr>
            <a:normAutofit/>
          </a:bodyPr>
          <a:lstStyle/>
          <a:p>
            <a:r>
              <a:rPr lang="en-US" sz="5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This technology improves signal quality, achieves desired frequency response, optimizes computational efficiency, ensures stability, facilitates parameter tuning, minimizes complexity, and integrates seamlessly into hardware and software platforms for practical deployment.</a:t>
            </a:r>
            <a:endParaRPr lang="en-US" sz="5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90507-F03F-317F-C1DB-F3B1B35AF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0741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D34F-DE48-19C1-0909-26A7C476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15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b="1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B7E06-0DDD-9FE0-8FFD-8B2782591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3046"/>
            <a:ext cx="12191999" cy="6224954"/>
          </a:xfrm>
        </p:spPr>
        <p:txBody>
          <a:bodyPr>
            <a:normAutofit fontScale="92500" lnSpcReduction="10000"/>
          </a:bodyPr>
          <a:lstStyle/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The goal of digital filter design and implementation is to use mathematical methods to obtain desired frequency response characteristics, such as low-pass, high-pass, band-pass, or band-stop. </a:t>
            </a: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The expected result is a filter with the desired frequency domain features, such as attenuation or amplification, within specified passbands and stopbands.</a:t>
            </a: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Implementation often entails programming the filter algorithm in a digital signal processing (DSP) platform or hardware to ensure efficient calculation and real-time performance.</a:t>
            </a: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The end product should show efficient suppression or isolation of specific frequencies while preserving others, thereby improving signal quality or extracting desired information.</a:t>
            </a:r>
          </a:p>
          <a:p>
            <a:r>
              <a:rPr lang="en-US" sz="3200" kern="0" dirty="0">
                <a:effectLst/>
                <a:ea typeface="Times New Roman" panose="02020603050405020304" pitchFamily="18" charset="0"/>
              </a:rPr>
              <a:t>Testing and validation compare the filter's performance to design specifications, verifying that it is appropriate for its intended uses, such as audio processing, image enhancement, or communication systems.</a:t>
            </a:r>
          </a:p>
          <a:p>
            <a:pPr marL="0" indent="0">
              <a:buNone/>
            </a:pPr>
            <a:endParaRPr lang="en-US" sz="3200" kern="0" dirty="0">
              <a:effectLst/>
              <a:ea typeface="Times New Roman" panose="02020603050405020304" pitchFamily="18" charset="0"/>
            </a:endParaRP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BDE23-6C24-7C2A-7FD0-41CC5F5B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9641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1502-94F7-1A59-BE89-BC29967A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694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Expected Outcome(Continued)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ACF5B-56AD-070B-8CFD-AA3DA6FCA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01858"/>
            <a:ext cx="12191999" cy="6056142"/>
          </a:xfrm>
        </p:spPr>
        <p:txBody>
          <a:bodyPr>
            <a:normAutofit/>
          </a:bodyPr>
          <a:lstStyle/>
          <a:p>
            <a:r>
              <a:rPr lang="en-US" sz="72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Continuous refining and optimization can be performed to improve filter efficiency and minimize computational complexity, or adapt to changing requirements.</a:t>
            </a:r>
            <a:endParaRPr lang="en-US" sz="7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73F03-4BB9-27BE-8D4E-CDFF06FF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815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6616-4E47-E805-48BD-3DE05125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473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F46DB-E119-1840-0C7B-2FA9F6BCA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9655"/>
            <a:ext cx="12192000" cy="6098344"/>
          </a:xfrm>
        </p:spPr>
        <p:txBody>
          <a:bodyPr>
            <a:normAutofit/>
          </a:bodyPr>
          <a:lstStyle/>
          <a:p>
            <a:r>
              <a:rPr lang="en-US" sz="5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design a digital filter, define filter specifications, choose a filter type, design an analog prototype, apply frequency transformation, choose sampling frequency and discretization method, implement the digital filter, and verify performance through simulation and testing.</a:t>
            </a: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D79B-8925-5BB5-85B0-5AB24088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3316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D49A-684E-B229-E3B6-F4F4A6C2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128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/>
              <a:t>Component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92216-8446-684D-07BF-F77FD134B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5588"/>
            <a:ext cx="12192000" cy="6112411"/>
          </a:xfrm>
        </p:spPr>
        <p:txBody>
          <a:bodyPr>
            <a:normAutofit fontScale="92500"/>
          </a:bodyPr>
          <a:lstStyle/>
          <a:p>
            <a:r>
              <a:rPr lang="en-US" sz="8000" dirty="0">
                <a:effectLst/>
                <a:ea typeface="Calibri" panose="020F0502020204030204" pitchFamily="34" charset="0"/>
              </a:rPr>
              <a:t>The components used of the digital filter design and implementation are following.</a:t>
            </a:r>
          </a:p>
          <a:p>
            <a:r>
              <a:rPr lang="en-US" sz="8000" dirty="0"/>
              <a:t>Spyder</a:t>
            </a:r>
          </a:p>
          <a:p>
            <a:r>
              <a:rPr lang="en-US" sz="8000" dirty="0"/>
              <a:t>Visual Studio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8E9EA-AC1E-F29B-C26B-B0E2207E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7319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DB1E-35B6-834D-E258-58294FF62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566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/>
              <a:t>Digital Filter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4B4E-F0C4-6AE5-2EC4-2A2BFD268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6604"/>
            <a:ext cx="12192000" cy="5901396"/>
          </a:xfrm>
        </p:spPr>
        <p:txBody>
          <a:bodyPr>
            <a:normAutofit fontScale="92500"/>
          </a:bodyPr>
          <a:lstStyle/>
          <a:p>
            <a:r>
              <a:rPr lang="en-US" sz="4400" dirty="0">
                <a:effectLst/>
                <a:ea typeface="Calibri" panose="020F0502020204030204" pitchFamily="34" charset="0"/>
              </a:rPr>
              <a:t>A digital filter uses a digital processor to perform numerical calculations on sampled values of the signal. </a:t>
            </a:r>
          </a:p>
          <a:p>
            <a:r>
              <a:rPr lang="en-US" sz="4400" dirty="0">
                <a:effectLst/>
                <a:ea typeface="Calibri" panose="020F0502020204030204" pitchFamily="34" charset="0"/>
              </a:rPr>
              <a:t>The processor may be a general-purpose computer such as a PC, or a specialized DSP (Digital Signal Processor) chip.</a:t>
            </a:r>
            <a:endParaRPr lang="en-US" sz="4400" dirty="0">
              <a:ea typeface="Calibri" panose="020F0502020204030204" pitchFamily="34" charset="0"/>
            </a:endParaRPr>
          </a:p>
          <a:p>
            <a:r>
              <a:rPr lang="en-US" sz="4400" dirty="0">
                <a:effectLst/>
                <a:ea typeface="Calibri" panose="020F0502020204030204" pitchFamily="34" charset="0"/>
              </a:rPr>
              <a:t>There are the following types of digital filter design are</a:t>
            </a:r>
          </a:p>
          <a:p>
            <a:r>
              <a:rPr lang="en-US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Finite Impulse Response</a:t>
            </a:r>
          </a:p>
          <a:p>
            <a:r>
              <a:rPr lang="en-US" sz="4400" dirty="0">
                <a:effectLst/>
                <a:ea typeface="Calibri" panose="020F0502020204030204" pitchFamily="34" charset="0"/>
              </a:rPr>
              <a:t>Infinite Impulse Response</a:t>
            </a: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CE81-B4EC-67C2-E488-536E74A3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2858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8019-0B77-CB8A-3A41-038C6E3B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25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dirty="0"/>
              <a:t>Finite Impulse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41CA-24FA-B50A-4C07-3C95E41E8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3384"/>
            <a:ext cx="12192000" cy="6154615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Finite Impulse Response (FIR) filters are a type of digital filter characterized by a finite duration of their impulse response, settling to zero in a finite number of steps. </a:t>
            </a:r>
          </a:p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They exhibit linear phase response, making them suitable for applications requiring phase preservation. </a:t>
            </a:r>
          </a:p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Implementation involves convolution of the input signal with the filter coefficients. 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computational efficiency can be optimized using Fast Fourier Transform (FFT) techniques.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Validation ensures the filter meets performance criteria, providing the expected frequency response and minimal distortion.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E21CC-F9B6-5968-E61D-7B97F854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7960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0452-A3F5-1EEC-7772-438E09FC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10410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dirty="0"/>
              <a:t>Infinite Impulse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61A1F-9AF0-AB54-4234-A6957F6ED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9654"/>
            <a:ext cx="12192000" cy="6098343"/>
          </a:xfrm>
        </p:spPr>
        <p:txBody>
          <a:bodyPr>
            <a:normAutofit/>
          </a:bodyPr>
          <a:lstStyle/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Infinite Impulse Response (IIR) filters are digital filters whose impulse response is theoretically infinite.</a:t>
            </a:r>
          </a:p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They are created using analog filter design approaches such as Butterworth, Chebyshev, or elliptic filters, and then converted to the digital domain using bilinear transformation or matching z-transform. </a:t>
            </a:r>
            <a:endParaRPr lang="en-US" sz="3600" kern="0" dirty="0">
              <a:ea typeface="Times New Roman" panose="02020603050405020304" pitchFamily="18" charset="0"/>
            </a:endParaRPr>
          </a:p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IIR filters use fewer coefficients than FIR filters to obtain comparable frequency response characteristics, making them more computationally efficient.</a:t>
            </a:r>
          </a:p>
          <a:p>
            <a:r>
              <a:rPr lang="en-US" sz="3600" kern="0" dirty="0">
                <a:effectLst/>
                <a:ea typeface="Times New Roman" panose="02020603050405020304" pitchFamily="18" charset="0"/>
              </a:rPr>
              <a:t>However, feedback can cause instability and nonlinear phase response.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22A69-4CA3-EC2B-C81F-A78634D3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3210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0452-A3F5-1EEC-7772-438E09FC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857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Infinite Impulse Response(Continued)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61A1F-9AF0-AB54-4234-A6957F6ED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1858"/>
            <a:ext cx="12192000" cy="6056141"/>
          </a:xfrm>
        </p:spPr>
        <p:txBody>
          <a:bodyPr>
            <a:normAutofit fontScale="92500"/>
          </a:bodyPr>
          <a:lstStyle/>
          <a:p>
            <a:r>
              <a:rPr lang="en-US" sz="5400" kern="0" dirty="0">
                <a:effectLst/>
                <a:ea typeface="Times New Roman" panose="02020603050405020304" pitchFamily="18" charset="0"/>
              </a:rPr>
              <a:t>Implementation entails recursive algorithms with outputs based on both current and previous input and output values.</a:t>
            </a:r>
          </a:p>
          <a:p>
            <a:r>
              <a:rPr lang="en-US" sz="5400" kern="0" dirty="0">
                <a:effectLst/>
                <a:ea typeface="Times New Roman" panose="02020603050405020304" pitchFamily="18" charset="0"/>
              </a:rPr>
              <a:t>Proper design and validation are required to assure stability and compliance with specified criteria.</a:t>
            </a:r>
            <a:endParaRPr lang="en-US" sz="5400" kern="0" dirty="0">
              <a:ea typeface="Times New Roman" panose="02020603050405020304" pitchFamily="18" charset="0"/>
            </a:endParaRPr>
          </a:p>
          <a:p>
            <a:r>
              <a:rPr lang="en-US" sz="5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Applications include audio processing, control systems, and communication.</a:t>
            </a:r>
            <a:endParaRPr lang="en-US" sz="5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22A69-4CA3-EC2B-C81F-A78634D3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7723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3D92-C637-D184-327C-45A8E583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8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Functional Requirements of digital filter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D54FC-C091-42FA-EB2E-6DEDDAD63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3386"/>
            <a:ext cx="12192000" cy="6154614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effectLst/>
                <a:ea typeface="Calibri" panose="020F0502020204030204" pitchFamily="34" charset="0"/>
              </a:rPr>
              <a:t>The functional requirements of digital filter design are.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Frequency Response Specifications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Filter Type Selection</a:t>
            </a:r>
          </a:p>
          <a:p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Filter Order and Complexity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Stability and Robustness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Transition Bandwidth and Ripple</a:t>
            </a:r>
          </a:p>
          <a:p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Phase Linearity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Implementation Constraints</a:t>
            </a:r>
          </a:p>
          <a:p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Filter Optimization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Filtering Characteristics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Validation and testing</a:t>
            </a:r>
          </a:p>
          <a:p>
            <a:pPr marL="0" indent="0">
              <a:buNone/>
            </a:pPr>
            <a:endParaRPr lang="en-US" b="1" dirty="0">
              <a:effectLst/>
              <a:ea typeface="Calibri" panose="020F0502020204030204" pitchFamily="34" charset="0"/>
            </a:endParaRPr>
          </a:p>
          <a:p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>
              <a:effectLst/>
              <a:ea typeface="Calibri" panose="020F0502020204030204" pitchFamily="34" charset="0"/>
            </a:endParaRPr>
          </a:p>
          <a:p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>
              <a:effectLst/>
              <a:ea typeface="Calibri" panose="020F0502020204030204" pitchFamily="34" charset="0"/>
            </a:endParaRPr>
          </a:p>
          <a:p>
            <a:endParaRPr lang="en-US" b="1" dirty="0">
              <a:effectLst/>
              <a:ea typeface="Calibri" panose="020F0502020204030204" pitchFamily="34" charset="0"/>
            </a:endParaRPr>
          </a:p>
          <a:p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349E2-746D-F5E3-1595-2DD8B245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7465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47E7-F23C-F382-DCBE-D794E172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96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A9958-30E7-2D92-ED1E-915C4C7D8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9655"/>
            <a:ext cx="12192000" cy="6098345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non-functional requirements of digital filter design are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</a:rPr>
              <a:t>Performance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</a:rPr>
              <a:t>Scalability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Reliability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Robustness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</a:rPr>
              <a:t>Compatibility</a:t>
            </a:r>
            <a:endParaRPr lang="en-US" sz="3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effectLst/>
                <a:ea typeface="Calibri" panose="020F0502020204030204" pitchFamily="34" charset="0"/>
              </a:rPr>
              <a:t>Maintainability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Resource Efficiency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Usability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Portability</a:t>
            </a:r>
          </a:p>
          <a:p>
            <a:r>
              <a:rPr lang="en-US" sz="3600" b="1" dirty="0">
                <a:effectLst/>
                <a:ea typeface="Calibri" panose="020F0502020204030204" pitchFamily="34" charset="0"/>
              </a:rPr>
              <a:t>Compliance</a:t>
            </a:r>
            <a:endParaRPr lang="en-US" sz="3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b="1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4A89E-B109-3C1F-2726-A8CA5FD8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2646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F4C9-58E2-0BE6-22FB-CCB54F1E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877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/>
              <a:t>Code of digital filter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5AA4-F505-8FE2-1626-45F5B49E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7114"/>
            <a:ext cx="12056011" cy="6210885"/>
          </a:xfrm>
        </p:spPr>
        <p:txBody>
          <a:bodyPr>
            <a:normAutofit lnSpcReduction="10000"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import numpy as np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matplotlib.pyplot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as plt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scipy.signal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import hamming,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lfilter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freqz</a:t>
            </a:r>
            <a:endParaRPr lang="en-US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np.random.seed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(0)  # For reproducibility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fs = 700  # Sampling Frequency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 =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np.linspace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(0, 1.0, fs)  # Time vector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freq1 = 10  # Frequency of the first sine wave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freq2 = 80  # Frequency of the second sine wave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clean_signal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np.sin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(2 *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np.pi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* freq1 * t) +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np.sin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(2 *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np.pi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* freq2 * t)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Add noise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noise =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np.random.normal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(0, 0.5,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clean_signal.shape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noisy_signal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clean_signal</a:t>
            </a:r>
            <a:r>
              <a:rPr lang="en-US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noise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0D6E-FF07-B792-CD01-1C04D50A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5457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F4C9-58E2-0BE6-22FB-CCB54F1E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17451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Code of digital filter design(continued)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5AA4-F505-8FE2-1626-45F5B49E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18978"/>
            <a:ext cx="12191998" cy="6239022"/>
          </a:xfrm>
        </p:spPr>
        <p:txBody>
          <a:bodyPr>
            <a:norm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Step 2: Design the digital filter (low-pass FIR filter using window method)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cutoff = 10  # Desired cutoff frequency of the filter, Hz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nyquist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0.5 * fs  # Nyquist frequency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normal_cutoff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cutoff / 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nyquist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# Normalized cutoff frequency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numtaps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101  # Size of the FIR filter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Use a Hamming window to design the filter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window = hamming(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numtaps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taps = 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np.sinc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(2 * 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normal_cutoff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* (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np.arange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numtaps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- (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numtaps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- 1) / 2)) *window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taps /= </a:t>
            </a:r>
            <a:r>
              <a:rPr lang="en-US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np.sum</a:t>
            </a: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(taps)  # Normalize the filter coefficients</a:t>
            </a: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Step 3: Apply the filter to the noisy signal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0D6E-FF07-B792-CD01-1C04D50A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0986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F4C9-58E2-0BE6-22FB-CCB54F1E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87792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Code of digital filter design(Continued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5AA4-F505-8FE2-1626-45F5B49E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75250"/>
            <a:ext cx="12191998" cy="6182750"/>
          </a:xfrm>
        </p:spPr>
        <p:txBody>
          <a:bodyPr>
            <a:normAutofit fontScale="92500" lnSpcReduction="10000"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filtered_signal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lfilter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(taps, 1.0, 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noisy_signal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Step 4: Plot the results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plt.figure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figsize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=(15, 10))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Original signal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plt.subplot(3, 1, 1)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plt.plot(t, 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clean_signal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plt.title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('Original Signal')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plt.xlabel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('Time [seconds]')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plt.ylabel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('Amplitude’)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# Plot frequency response of the filter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w, h = 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freqz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(taps, 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worN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=8000)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0D6E-FF07-B792-CD01-1C04D50A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4036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F4C9-58E2-0BE6-22FB-CCB54F1E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87792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Code of digital filter design(Continued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5AA4-F505-8FE2-1626-45F5B49E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33046"/>
            <a:ext cx="12191998" cy="6224954"/>
          </a:xfrm>
        </p:spPr>
        <p:txBody>
          <a:bodyPr>
            <a:normAutofit lnSpcReduction="10000"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plt.figure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plt.plot(0.5 * fs * w / </a:t>
            </a: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np.pi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np.abs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(h), 'b')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plt.title('Filter Frequency Response')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plt.xlabel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('Frequency [Hz]')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plt.ylabel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('Gain')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plt.grid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plt.show</a:t>
            </a:r>
            <a:r>
              <a:rPr lang="en-US" sz="4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4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0D6E-FF07-B792-CD01-1C04D50A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07020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5161-EAE9-1994-0B7B-5B47C59DB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81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/>
              <a:t>Kaiser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D50B6-FA02-252C-FE04-6694F7CD5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1520"/>
            <a:ext cx="12191999" cy="6126479"/>
          </a:xfrm>
        </p:spPr>
        <p:txBody>
          <a:bodyPr>
            <a:normAutofit fontScale="92500" lnSpcReduction="20000"/>
          </a:bodyPr>
          <a:lstStyle/>
          <a:p>
            <a:r>
              <a:rPr lang="en-US" sz="6000" dirty="0">
                <a:effectLst/>
                <a:ea typeface="Calibri" panose="020F0502020204030204" pitchFamily="34" charset="0"/>
              </a:rPr>
              <a:t>It is a one-parameter family of window functions used in finite impulse response filter design and spectral analysis.</a:t>
            </a:r>
          </a:p>
          <a:p>
            <a:r>
              <a:rPr lang="en-US" sz="6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Kaiser window approximates the </a:t>
            </a:r>
            <a:r>
              <a:rPr lang="en-US" sz="6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DFAFF"/>
                </a:highlight>
                <a:ea typeface="Calibri" panose="020F0502020204030204" pitchFamily="34" charset="0"/>
                <a:cs typeface="Times New Roman" panose="02020603050405020304" pitchFamily="18" charset="0"/>
              </a:rPr>
              <a:t>Diode Pumped Solid State</a:t>
            </a:r>
            <a:r>
              <a:rPr lang="en-US" sz="6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(DPSS) window which maximizes the energy concentration in the main lobe but which is difficult to compute.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399C8-20F6-06F9-FDC8-7A8DC428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7694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0FD9-1383-3B3F-90F7-9CC0C221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95754"/>
          </a:xfrm>
        </p:spPr>
        <p:txBody>
          <a:bodyPr>
            <a:normAutofit fontScale="90000"/>
          </a:bodyPr>
          <a:lstStyle/>
          <a:p>
            <a:br>
              <a:rPr lang="en-US" sz="4400" b="1" dirty="0"/>
            </a:br>
            <a:r>
              <a:rPr lang="en-US" sz="4400" b="1" dirty="0"/>
              <a:t>Results and graphs of </a:t>
            </a:r>
            <a:r>
              <a:rPr lang="en-US" sz="4400" dirty="0">
                <a:effectLst/>
                <a:ea typeface="Calibri" panose="020F0502020204030204" pitchFamily="34" charset="0"/>
              </a:rPr>
              <a:t>Original Signal, Noisy Signal and Filtered Signal</a:t>
            </a:r>
            <a:br>
              <a:rPr lang="en-US" sz="40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C1D3F-758F-C580-2609-6828D302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25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3A0CC6-0E06-ED5F-4F9A-1B80C77A8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95755"/>
            <a:ext cx="12192000" cy="566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2506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6C3D-0373-1316-DC2D-2FDFA861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28467"/>
          </a:xfrm>
        </p:spPr>
        <p:txBody>
          <a:bodyPr>
            <a:normAutofit fontScale="90000"/>
          </a:bodyPr>
          <a:lstStyle/>
          <a:p>
            <a:br>
              <a:rPr lang="en-US" sz="4400" b="1" dirty="0"/>
            </a:br>
            <a:r>
              <a:rPr lang="en-US" sz="4400" b="1" dirty="0"/>
              <a:t>Results and graphs of </a:t>
            </a:r>
            <a:r>
              <a:rPr lang="en-US" sz="4900" b="1" dirty="0">
                <a:effectLst/>
                <a:ea typeface="Calibri" panose="020F0502020204030204" pitchFamily="34" charset="0"/>
              </a:rPr>
              <a:t>Filter Frequency Response</a:t>
            </a:r>
            <a:br>
              <a:rPr lang="en-US" sz="3600" dirty="0"/>
            </a:br>
            <a:r>
              <a:rPr lang="en-US" sz="4400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F30C9-F480-CA25-0983-6446F7E2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26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A27717-81B1-A18D-C634-1356B24AF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7791"/>
            <a:ext cx="12192000" cy="607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1555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0B26-B1A1-6752-DA80-93276A56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309231" cy="8440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F9192-4AD9-EF3A-0590-2F0547AD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1520"/>
            <a:ext cx="12192000" cy="6126479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ea typeface="Calibri" panose="020F0502020204030204" pitchFamily="34" charset="0"/>
              </a:rPr>
              <a:t>In conclusion, this work gave a thorough approach to digital filter design, including both theoretical and practical aspects. 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The approach used to develop both Finite Impulse Response (FIR) and Infinite Impulse Response (IIR) filters was described, with a focus on their functional and non-functional needs.</a:t>
            </a:r>
            <a:endParaRPr lang="en-US" sz="3200" dirty="0">
              <a:ea typeface="Calibri" panose="020F0502020204030204" pitchFamily="34" charset="0"/>
            </a:endParaRP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The Kaiser Window approach was recognized as an efficient way to improve filter performance.</a:t>
            </a:r>
          </a:p>
          <a:p>
            <a:r>
              <a:rPr lang="en-US" sz="3200" dirty="0">
                <a:effectLst/>
                <a:ea typeface="Calibri" panose="020F0502020204030204" pitchFamily="34" charset="0"/>
              </a:rPr>
              <a:t>Several tests were conducted to confirm the implementation, demonstrating the filter's capacity to effectively reduce noise while keeping signal integrity. </a:t>
            </a:r>
            <a:endParaRPr lang="en-US" sz="3200" dirty="0">
              <a:ea typeface="Calibri" panose="020F0502020204030204" pitchFamily="34" charset="0"/>
            </a:endParaRPr>
          </a:p>
          <a:p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findings and graphs gave a clear visual representation of the filter's performance, verifying the design's success.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63089-7634-D877-600B-F555C535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4EE0-61A9-4852-B809-51E08A00057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9551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1522</Words>
  <Application>Microsoft Office PowerPoint</Application>
  <PresentationFormat>Widescreen</PresentationFormat>
  <Paragraphs>216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Digital Filter design and Implementation</vt:lpstr>
      <vt:lpstr>Outlines of Digital filter design</vt:lpstr>
      <vt:lpstr>Outlines of Digital filter design(continued)</vt:lpstr>
      <vt:lpstr>Outlines of Digital filter design(continued)</vt:lpstr>
      <vt:lpstr>Outlines of Digital filter design(continued)</vt:lpstr>
      <vt:lpstr>Abstract</vt:lpstr>
      <vt:lpstr>Introduction</vt:lpstr>
      <vt:lpstr>Objective</vt:lpstr>
      <vt:lpstr>Expected Outcome</vt:lpstr>
      <vt:lpstr>Expected Outcome(Continued)</vt:lpstr>
      <vt:lpstr>Methodology</vt:lpstr>
      <vt:lpstr>Component used</vt:lpstr>
      <vt:lpstr>Digital Filter Design</vt:lpstr>
      <vt:lpstr>Finite Impulse Response</vt:lpstr>
      <vt:lpstr>Infinite Impulse Response</vt:lpstr>
      <vt:lpstr>Infinite Impulse Response(Continued)</vt:lpstr>
      <vt:lpstr>Functional Requirements of digital filter design</vt:lpstr>
      <vt:lpstr>Non-functional Requirements</vt:lpstr>
      <vt:lpstr>Code of digital filter design</vt:lpstr>
      <vt:lpstr>Code of digital filter design(continued)</vt:lpstr>
      <vt:lpstr>Code of digital filter design(Continued</vt:lpstr>
      <vt:lpstr>Code of digital filter design(Continued</vt:lpstr>
      <vt:lpstr>Kaiser Window</vt:lpstr>
      <vt:lpstr> Results and graphs of Original Signal, Noisy Signal and Filtered Signal </vt:lpstr>
      <vt:lpstr> Results and graphs of Filter Frequency Response  </vt:lpstr>
      <vt:lpstr>Conclusion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huzaifa shahbaz</dc:creator>
  <cp:lastModifiedBy>huzaifa shahbaz</cp:lastModifiedBy>
  <cp:revision>4</cp:revision>
  <dcterms:created xsi:type="dcterms:W3CDTF">2024-05-23T17:09:28Z</dcterms:created>
  <dcterms:modified xsi:type="dcterms:W3CDTF">2024-05-27T06:24:33Z</dcterms:modified>
</cp:coreProperties>
</file>