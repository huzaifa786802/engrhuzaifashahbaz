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299" r:id="rId2"/>
    <p:sldId id="256" r:id="rId3"/>
    <p:sldId id="257" r:id="rId4"/>
    <p:sldId id="258" r:id="rId5"/>
    <p:sldId id="259" r:id="rId6"/>
    <p:sldId id="277" r:id="rId7"/>
    <p:sldId id="260" r:id="rId8"/>
    <p:sldId id="297" r:id="rId9"/>
    <p:sldId id="285" r:id="rId10"/>
    <p:sldId id="288" r:id="rId11"/>
    <p:sldId id="298" r:id="rId12"/>
    <p:sldId id="289" r:id="rId13"/>
    <p:sldId id="290" r:id="rId14"/>
    <p:sldId id="291" r:id="rId15"/>
    <p:sldId id="292" r:id="rId16"/>
    <p:sldId id="295" r:id="rId17"/>
    <p:sldId id="296" r:id="rId18"/>
    <p:sldId id="300" r:id="rId19"/>
    <p:sldId id="302" r:id="rId20"/>
    <p:sldId id="278" r:id="rId21"/>
    <p:sldId id="273" r:id="rId22"/>
    <p:sldId id="264" r:id="rId23"/>
  </p:sldIdLst>
  <p:sldSz cx="12192000" cy="6858000"/>
  <p:notesSz cx="12192000" cy="6858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4786" autoAdjust="0"/>
    <p:restoredTop sz="94660"/>
  </p:normalViewPr>
  <p:slideViewPr>
    <p:cSldViewPr>
      <p:cViewPr varScale="1">
        <p:scale>
          <a:sx n="66" d="100"/>
          <a:sy n="66" d="100"/>
        </p:scale>
        <p:origin x="828" y="6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8172"/>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A3F7C3-14AA-8DC9-CF5C-6C5D0E7E6F1D}"/>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B53378C4-FBDE-D673-F8A6-6137D2FDF52B}"/>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03E30504-739E-4561-9F69-973D8CABB88D}" type="datetime1">
              <a:rPr lang="LID4096" smtClean="0"/>
              <a:t>01/24/2025</a:t>
            </a:fld>
            <a:endParaRPr lang="en-GB" dirty="0"/>
          </a:p>
        </p:txBody>
      </p:sp>
      <p:sp>
        <p:nvSpPr>
          <p:cNvPr id="4" name="Footer Placeholder 3">
            <a:extLst>
              <a:ext uri="{FF2B5EF4-FFF2-40B4-BE49-F238E27FC236}">
                <a16:creationId xmlns:a16="http://schemas.microsoft.com/office/drawing/2014/main" id="{897C6359-A92F-3071-424B-67DA0FF08C06}"/>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68C90CE-6EA1-ACEB-E9A2-0AB7AF0FC8E2}"/>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7557B90D-3A1D-4138-B501-A75153F9B6DD}" type="slidenum">
              <a:rPr lang="en-GB" smtClean="0"/>
              <a:t>‹#›</a:t>
            </a:fld>
            <a:endParaRPr lang="en-GB" dirty="0"/>
          </a:p>
        </p:txBody>
      </p:sp>
    </p:spTree>
    <p:extLst>
      <p:ext uri="{BB962C8B-B14F-4D97-AF65-F5344CB8AC3E}">
        <p14:creationId xmlns:p14="http://schemas.microsoft.com/office/powerpoint/2010/main" val="2941167442"/>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DD7AFF4-43EB-4089-97D3-5EB98DEA6FFA}" type="datetime1">
              <a:rPr lang="LID4096" smtClean="0"/>
              <a:t>01/24/2025</a:t>
            </a:fld>
            <a:endParaRPr lang="en-PK"/>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071FCE99-902C-4F8E-AA98-1ADCE345B4CE}" type="slidenum">
              <a:rPr lang="en-PK" smtClean="0"/>
              <a:t>‹#›</a:t>
            </a:fld>
            <a:endParaRPr lang="en-PK"/>
          </a:p>
        </p:txBody>
      </p:sp>
    </p:spTree>
    <p:extLst>
      <p:ext uri="{BB962C8B-B14F-4D97-AF65-F5344CB8AC3E}">
        <p14:creationId xmlns:p14="http://schemas.microsoft.com/office/powerpoint/2010/main" val="1818675249"/>
      </p:ext>
    </p:extLst>
  </p:cSld>
  <p:clrMap bg1="lt1" tx1="dk1" bg2="lt2" tx2="dk2" accent1="accent1" accent2="accent2" accent3="accent3" accent4="accent4" accent5="accent5" accent6="accent6" hlink="hlink" folHlink="folHlink"/>
  <p:hf hd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E5BFB464-DC01-4359-8E96-24E0A677C0C5}" type="datetime1">
              <a:rPr lang="LID4096" spc="-5" smtClean="0"/>
              <a:t>01/24/2025</a:t>
            </a:fld>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2800" b="0" i="0">
                <a:solidFill>
                  <a:srgbClr val="FF0000"/>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F5A67A72-DD21-47D0-BFC8-786960314E02}" type="datetime1">
              <a:rPr lang="LID4096" spc="-5" smtClean="0"/>
              <a:t>01/24/2025</a:t>
            </a:fld>
            <a:endParaRPr spc="-5" dirty="0"/>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AD4AF974-EFD6-4AD8-8220-0AFA99F85E84}" type="datetime1">
              <a:rPr lang="LID4096" spc="-5" smtClean="0"/>
              <a:t>01/24/2025</a:t>
            </a:fld>
            <a:endParaRPr spc="-5" dirty="0"/>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CD8DADA5-1412-481B-B0E9-D56AC8F033ED}" type="datetime1">
              <a:rPr lang="LID4096" spc="-5" smtClean="0"/>
              <a:t>01/24/2025</a:t>
            </a:fld>
            <a:endParaRPr spc="-5" dirty="0"/>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fld id="{30A46687-8D2F-4F5B-9389-654AB3B55471}" type="datetime1">
              <a:rPr lang="LID4096" spc="-5" smtClean="0"/>
              <a:t>01/24/2025</a:t>
            </a:fld>
            <a:endParaRPr spc="-5" dirty="0"/>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017780" y="2610587"/>
            <a:ext cx="2156439" cy="1244600"/>
          </a:xfrm>
          <a:prstGeom prst="rect">
            <a:avLst/>
          </a:prstGeom>
        </p:spPr>
        <p:txBody>
          <a:bodyPr wrap="square" lIns="0" tIns="0" rIns="0" bIns="0">
            <a:spAutoFit/>
          </a:bodyPr>
          <a:lstStyle>
            <a:lvl1pPr>
              <a:defRPr sz="4000" b="0" i="0">
                <a:solidFill>
                  <a:schemeClr val="tx1"/>
                </a:solidFill>
                <a:latin typeface="Calibri"/>
                <a:cs typeface="Calibri"/>
              </a:defRPr>
            </a:lvl1pPr>
          </a:lstStyle>
          <a:p>
            <a:endParaRPr/>
          </a:p>
        </p:txBody>
      </p:sp>
      <p:sp>
        <p:nvSpPr>
          <p:cNvPr id="3" name="Holder 3"/>
          <p:cNvSpPr>
            <a:spLocks noGrp="1"/>
          </p:cNvSpPr>
          <p:nvPr>
            <p:ph type="body" idx="1"/>
          </p:nvPr>
        </p:nvSpPr>
        <p:spPr>
          <a:xfrm>
            <a:off x="942357" y="1802663"/>
            <a:ext cx="10307285" cy="4286885"/>
          </a:xfrm>
          <a:prstGeom prst="rect">
            <a:avLst/>
          </a:prstGeom>
        </p:spPr>
        <p:txBody>
          <a:bodyPr wrap="square" lIns="0" tIns="0" rIns="0" bIns="0">
            <a:spAutoFit/>
          </a:bodyPr>
          <a:lstStyle>
            <a:lvl1pPr>
              <a:defRPr sz="2800" b="0" i="0">
                <a:solidFill>
                  <a:srgbClr val="FF0000"/>
                </a:solidFill>
                <a:latin typeface="Calibri"/>
                <a:cs typeface="Calibri"/>
              </a:defRPr>
            </a:lvl1pPr>
          </a:lstStyle>
          <a:p>
            <a:endParaRPr/>
          </a:p>
        </p:txBody>
      </p:sp>
      <p:sp>
        <p:nvSpPr>
          <p:cNvPr id="4" name="Holder 4"/>
          <p:cNvSpPr>
            <a:spLocks noGrp="1"/>
          </p:cNvSpPr>
          <p:nvPr>
            <p:ph type="ftr" sz="quarter" idx="5"/>
          </p:nvPr>
        </p:nvSpPr>
        <p:spPr>
          <a:xfrm>
            <a:off x="911225" y="6466776"/>
            <a:ext cx="68326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lang="en-PK" spc="-5"/>
              <a:t>3/10/2023</a:t>
            </a:r>
            <a:endParaRPr spc="-5" dirty="0"/>
          </a:p>
        </p:txBody>
      </p:sp>
      <p:sp>
        <p:nvSpPr>
          <p:cNvPr id="5" name="Holder 5"/>
          <p:cNvSpPr>
            <a:spLocks noGrp="1"/>
          </p:cNvSpPr>
          <p:nvPr>
            <p:ph type="dt" sz="half" idx="6"/>
          </p:nvPr>
        </p:nvSpPr>
        <p:spPr>
          <a:xfrm>
            <a:off x="3692971" y="6466775"/>
            <a:ext cx="3886834"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1AEFD390-4FA4-4A9A-B835-9E03BDD82D25}" type="datetime1">
              <a:rPr lang="LID4096" spc="-5" smtClean="0"/>
              <a:t>01/24/2025</a:t>
            </a:fld>
            <a:endParaRPr spc="-5" dirty="0"/>
          </a:p>
        </p:txBody>
      </p:sp>
      <p:sp>
        <p:nvSpPr>
          <p:cNvPr id="6" name="Holder 6"/>
          <p:cNvSpPr>
            <a:spLocks noGrp="1"/>
          </p:cNvSpPr>
          <p:nvPr>
            <p:ph type="sldNum" sz="quarter" idx="7"/>
          </p:nvPr>
        </p:nvSpPr>
        <p:spPr>
          <a:xfrm>
            <a:off x="11152733" y="6466776"/>
            <a:ext cx="153670" cy="191134"/>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oi.org/10.1109/ICCEBS58601.2023.10448896" TargetMode="External"/><Relationship Id="rId2" Type="http://schemas.openxmlformats.org/officeDocument/2006/relationships/hyperlink" Target="https://doi.org/10.1088/1742-6596/1964/6/062081" TargetMode="Externa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hyperlink" Target="https://ieeexplore.ieee.org/document/9781937" TargetMode="External"/><Relationship Id="rId4" Type="http://schemas.openxmlformats.org/officeDocument/2006/relationships/hyperlink" Target="https://doi.org/10.1109/CSPA55076.2022.9781937"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www.researchgate.net/profile/Danny-Munera?_tp=eyJjb250ZXh0Ijp7ImZpcnN0UGFnZSI6InB1YmxpY2F0aW9uIiwicGFnZSI6InB1YmxpY2F0aW9uIn19" TargetMode="External"/><Relationship Id="rId13" Type="http://schemas.openxmlformats.org/officeDocument/2006/relationships/hyperlink" Target="https://ieeexplore.ieee.org/author/37089025777" TargetMode="External"/><Relationship Id="rId18" Type="http://schemas.openxmlformats.org/officeDocument/2006/relationships/hyperlink" Target="https://www.youtube.com/watch?v=Ub1ciur95Nk" TargetMode="External"/><Relationship Id="rId3" Type="http://schemas.openxmlformats.org/officeDocument/2006/relationships/hyperlink" Target="https://ieeexplore.ieee.org/author/37088597650" TargetMode="External"/><Relationship Id="rId7" Type="http://schemas.openxmlformats.org/officeDocument/2006/relationships/hyperlink" Target="https://ieeexplore.ieee.org/document/9298176/references#references" TargetMode="External"/><Relationship Id="rId12" Type="http://schemas.openxmlformats.org/officeDocument/2006/relationships/hyperlink" Target="https://www.researchgate.net/publication/350823548_IoT-based_air_quality_monitoring_systems_for_smart_cities_A_systematic_mapping_study" TargetMode="External"/><Relationship Id="rId17" Type="http://schemas.openxmlformats.org/officeDocument/2006/relationships/hyperlink" Target="https://ieeexplore.ieee.org/document/10152272" TargetMode="External"/><Relationship Id="rId2" Type="http://schemas.openxmlformats.org/officeDocument/2006/relationships/hyperlink" Target="https://www.ijfmr.com/papers/2023/2/2260.pdf" TargetMode="External"/><Relationship Id="rId16" Type="http://schemas.openxmlformats.org/officeDocument/2006/relationships/hyperlink" Target="https://ieeexplore.ieee.org/author/37409477600" TargetMode="External"/><Relationship Id="rId1" Type="http://schemas.openxmlformats.org/officeDocument/2006/relationships/slideLayout" Target="../slideLayouts/slideLayout2.xml"/><Relationship Id="rId6" Type="http://schemas.openxmlformats.org/officeDocument/2006/relationships/hyperlink" Target="https://ieeexplore.ieee.org/author/37088551217" TargetMode="External"/><Relationship Id="rId11" Type="http://schemas.openxmlformats.org/officeDocument/2006/relationships/hyperlink" Target="https://www.researchgate.net/profile/Natalia-Gaviria?_tp=eyJjb250ZXh0Ijp7ImZpcnN0UGFnZSI6InB1YmxpY2F0aW9uIiwicGFnZSI6InB1YmxpY2F0aW9uIn19" TargetMode="External"/><Relationship Id="rId5" Type="http://schemas.openxmlformats.org/officeDocument/2006/relationships/hyperlink" Target="https://ieeexplore.ieee.org/author/37085829946" TargetMode="External"/><Relationship Id="rId15" Type="http://schemas.openxmlformats.org/officeDocument/2006/relationships/hyperlink" Target="https://ieeexplore.ieee.org/author/37089882651" TargetMode="External"/><Relationship Id="rId10" Type="http://schemas.openxmlformats.org/officeDocument/2006/relationships/hyperlink" Target="https://www.researchgate.net/scientific-contributions/Johnny-Aguirre-2030222276?_tp=eyJjb250ZXh0Ijp7ImZpcnN0UGFnZSI6InB1YmxpY2F0aW9uIiwicGFnZSI6InB1YmxpY2F0aW9uIn19" TargetMode="External"/><Relationship Id="rId19" Type="http://schemas.openxmlformats.org/officeDocument/2006/relationships/image" Target="../media/image2.png"/><Relationship Id="rId4" Type="http://schemas.openxmlformats.org/officeDocument/2006/relationships/hyperlink" Target="https://ieeexplore.ieee.org/author/37297914500" TargetMode="External"/><Relationship Id="rId9" Type="http://schemas.openxmlformats.org/officeDocument/2006/relationships/hyperlink" Target="https://www.researchgate.net/scientific-contributions/Diana-P-Tobon-V-2196807445?_tp=eyJjb250ZXh0Ijp7ImZpcnN0UGFnZSI6InB1YmxpY2F0aW9uIiwicGFnZSI6InB1YmxpY2F0aW9uIn19" TargetMode="External"/><Relationship Id="rId14" Type="http://schemas.openxmlformats.org/officeDocument/2006/relationships/hyperlink" Target="https://ieeexplore.ieee.org/author/37089026324"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1B9B-97F0-33F0-1076-B50389724AD0}"/>
              </a:ext>
            </a:extLst>
          </p:cNvPr>
          <p:cNvSpPr>
            <a:spLocks noGrp="1"/>
          </p:cNvSpPr>
          <p:nvPr>
            <p:ph type="title"/>
          </p:nvPr>
        </p:nvSpPr>
        <p:spPr>
          <a:xfrm>
            <a:off x="5017780" y="2610587"/>
            <a:ext cx="2156439" cy="615553"/>
          </a:xfrm>
        </p:spPr>
        <p:txBody>
          <a:bodyPr/>
          <a:lstStyle/>
          <a:p>
            <a:r>
              <a:rPr lang="en-GB" dirty="0"/>
              <a:t> </a:t>
            </a:r>
          </a:p>
        </p:txBody>
      </p:sp>
      <p:sp>
        <p:nvSpPr>
          <p:cNvPr id="3" name="Text Placeholder 2">
            <a:extLst>
              <a:ext uri="{FF2B5EF4-FFF2-40B4-BE49-F238E27FC236}">
                <a16:creationId xmlns:a16="http://schemas.microsoft.com/office/drawing/2014/main" id="{16A4D347-3729-4D01-41D4-2F7B79346C62}"/>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D74735D-4921-B815-6654-450FB1DF0D72}"/>
              </a:ext>
            </a:extLst>
          </p:cNvPr>
          <p:cNvSpPr>
            <a:spLocks noGrp="1"/>
          </p:cNvSpPr>
          <p:nvPr>
            <p:ph type="dt" sz="half" idx="6"/>
          </p:nvPr>
        </p:nvSpPr>
        <p:spPr>
          <a:xfrm>
            <a:off x="3692971" y="6466775"/>
            <a:ext cx="3886834" cy="156068"/>
          </a:xfrm>
        </p:spPr>
        <p:txBody>
          <a:bodyPr/>
          <a:lstStyle/>
          <a:p>
            <a:pPr marL="12700">
              <a:lnSpc>
                <a:spcPts val="1240"/>
              </a:lnSpc>
            </a:pPr>
            <a:r>
              <a:rPr lang="en-GB" spc="-5" dirty="0"/>
              <a:t> </a:t>
            </a:r>
          </a:p>
        </p:txBody>
      </p:sp>
      <p:sp>
        <p:nvSpPr>
          <p:cNvPr id="5" name="Slide Number Placeholder 4">
            <a:extLst>
              <a:ext uri="{FF2B5EF4-FFF2-40B4-BE49-F238E27FC236}">
                <a16:creationId xmlns:a16="http://schemas.microsoft.com/office/drawing/2014/main" id="{2C932ADA-4F83-F44B-677D-5DAB0DAC0815}"/>
              </a:ext>
            </a:extLst>
          </p:cNvPr>
          <p:cNvSpPr>
            <a:spLocks noGrp="1"/>
          </p:cNvSpPr>
          <p:nvPr>
            <p:ph type="sldNum" sz="quarter" idx="7"/>
          </p:nvPr>
        </p:nvSpPr>
        <p:spPr>
          <a:xfrm>
            <a:off x="11152733" y="6466776"/>
            <a:ext cx="153670" cy="156068"/>
          </a:xfrm>
        </p:spPr>
        <p:txBody>
          <a:bodyPr/>
          <a:lstStyle/>
          <a:p>
            <a:pPr marL="38100">
              <a:lnSpc>
                <a:spcPts val="1240"/>
              </a:lnSpc>
            </a:pPr>
            <a:r>
              <a:rPr lang="en-GB" dirty="0"/>
              <a:t> </a:t>
            </a:r>
          </a:p>
        </p:txBody>
      </p:sp>
      <p:pic>
        <p:nvPicPr>
          <p:cNvPr id="11" name="Picture 10">
            <a:extLst>
              <a:ext uri="{FF2B5EF4-FFF2-40B4-BE49-F238E27FC236}">
                <a16:creationId xmlns:a16="http://schemas.microsoft.com/office/drawing/2014/main" id="{54C19BF5-96D3-C7DD-56D7-21851D5AB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765" y="-2448234"/>
            <a:ext cx="11754468" cy="11754468"/>
          </a:xfrm>
          <a:prstGeom prst="rect">
            <a:avLst/>
          </a:prstGeom>
        </p:spPr>
      </p:pic>
    </p:spTree>
    <p:extLst>
      <p:ext uri="{BB962C8B-B14F-4D97-AF65-F5344CB8AC3E}">
        <p14:creationId xmlns:p14="http://schemas.microsoft.com/office/powerpoint/2010/main" val="172659303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0764" y="1251469"/>
            <a:ext cx="11966022" cy="2505814"/>
          </a:xfrm>
          <a:prstGeom prst="rect">
            <a:avLst/>
          </a:prstGeom>
        </p:spPr>
        <p:txBody>
          <a:bodyPr vert="horz" wrap="square" lIns="0" tIns="12700" rIns="0" bIns="0" rtlCol="0">
            <a:spAutoFit/>
          </a:bodyPr>
          <a:lstStyle/>
          <a:p>
            <a:pPr marL="12700" algn="ctr">
              <a:lnSpc>
                <a:spcPct val="100000"/>
              </a:lnSpc>
              <a:spcBef>
                <a:spcPts val="100"/>
              </a:spcBef>
            </a:pPr>
            <a:r>
              <a:rPr lang="en-US" sz="5400" dirty="0">
                <a:latin typeface="Times New Roman" panose="02020603050405020304" pitchFamily="18" charset="0"/>
                <a:cs typeface="Times New Roman" panose="02020603050405020304" pitchFamily="18" charset="0"/>
              </a:rPr>
              <a:t>IOT-Based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Air Quality </a:t>
            </a:r>
            <a:br>
              <a:rPr lang="en-US" sz="5400" dirty="0">
                <a:latin typeface="Times New Roman" panose="02020603050405020304" pitchFamily="18" charset="0"/>
                <a:cs typeface="Times New Roman" panose="02020603050405020304" pitchFamily="18" charset="0"/>
              </a:rPr>
            </a:br>
            <a:r>
              <a:rPr lang="en-US" sz="5400" dirty="0">
                <a:latin typeface="Times New Roman" panose="02020603050405020304" pitchFamily="18" charset="0"/>
                <a:cs typeface="Times New Roman" panose="02020603050405020304" pitchFamily="18" charset="0"/>
              </a:rPr>
              <a:t>Index Meter System</a:t>
            </a:r>
            <a:endParaRPr lang="en-GB" sz="5400" dirty="0">
              <a:latin typeface="Times New Roman" panose="02020603050405020304" pitchFamily="18" charset="0"/>
              <a:cs typeface="Times New Roman" panose="02020603050405020304" pitchFamily="18" charset="0"/>
            </a:endParaRPr>
          </a:p>
        </p:txBody>
      </p:sp>
      <p:sp>
        <p:nvSpPr>
          <p:cNvPr id="3" name="object 3"/>
          <p:cNvSpPr txBox="1"/>
          <p:nvPr/>
        </p:nvSpPr>
        <p:spPr>
          <a:xfrm>
            <a:off x="1371600" y="3657600"/>
            <a:ext cx="9404350" cy="2359492"/>
          </a:xfrm>
          <a:prstGeom prst="rect">
            <a:avLst/>
          </a:prstGeom>
        </p:spPr>
        <p:txBody>
          <a:bodyPr vert="horz" wrap="square" lIns="0" tIns="40640" rIns="0" bIns="0" rtlCol="0">
            <a:spAutoFit/>
          </a:bodyPr>
          <a:lstStyle/>
          <a:p>
            <a:pPr marL="7620" algn="ctr">
              <a:lnSpc>
                <a:spcPct val="100000"/>
              </a:lnSpc>
              <a:spcBef>
                <a:spcPts val="320"/>
              </a:spcBef>
            </a:pPr>
            <a:endParaRPr lang="en-GB" sz="2200" spc="5" dirty="0">
              <a:latin typeface="Calibri"/>
              <a:cs typeface="Calibri"/>
            </a:endParaRPr>
          </a:p>
          <a:p>
            <a:pPr marL="7620" algn="ctr">
              <a:lnSpc>
                <a:spcPct val="100000"/>
              </a:lnSpc>
              <a:spcBef>
                <a:spcPts val="320"/>
              </a:spcBef>
            </a:pPr>
            <a:r>
              <a:rPr sz="2200" spc="5" dirty="0">
                <a:latin typeface="Calibri"/>
                <a:cs typeface="Calibri"/>
              </a:rPr>
              <a:t>By</a:t>
            </a:r>
            <a:endParaRPr lang="en-US" sz="2200" dirty="0">
              <a:latin typeface="Calibri"/>
              <a:cs typeface="Calibri"/>
            </a:endParaRPr>
          </a:p>
          <a:p>
            <a:pPr marL="7620" algn="ctr">
              <a:lnSpc>
                <a:spcPct val="100000"/>
              </a:lnSpc>
              <a:spcBef>
                <a:spcPts val="320"/>
              </a:spcBef>
            </a:pPr>
            <a:r>
              <a:rPr lang="en-US" sz="2400" i="1" dirty="0">
                <a:latin typeface="Times New Roman" panose="02020603050405020304" pitchFamily="18" charset="0"/>
                <a:cs typeface="Times New Roman" panose="02020603050405020304" pitchFamily="18" charset="0"/>
              </a:rPr>
              <a:t>Huzaifa Shahbaz </a:t>
            </a:r>
            <a:r>
              <a:rPr sz="2200" spc="10" dirty="0">
                <a:latin typeface="Times New Roman" panose="02020603050405020304" pitchFamily="18" charset="0"/>
                <a:cs typeface="Times New Roman" panose="02020603050405020304" pitchFamily="18" charset="0"/>
              </a:rPr>
              <a:t>–</a:t>
            </a:r>
            <a:r>
              <a:rPr sz="2200" spc="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21</a:t>
            </a:r>
            <a:r>
              <a:rPr sz="2200" dirty="0">
                <a:latin typeface="Times New Roman" panose="02020603050405020304" pitchFamily="18" charset="0"/>
                <a:cs typeface="Times New Roman" panose="02020603050405020304" pitchFamily="18" charset="0"/>
              </a:rPr>
              <a:t>-C</a:t>
            </a:r>
            <a:r>
              <a:rPr lang="en-US" sz="2200" dirty="0">
                <a:latin typeface="Times New Roman" panose="02020603050405020304" pitchFamily="18" charset="0"/>
                <a:cs typeface="Times New Roman" panose="02020603050405020304" pitchFamily="18" charset="0"/>
              </a:rPr>
              <a:t>E</a:t>
            </a:r>
            <a:r>
              <a:rPr sz="2200"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009</a:t>
            </a:r>
            <a:endParaRPr lang="en-US" sz="2200" spc="30" dirty="0">
              <a:latin typeface="Times New Roman" panose="02020603050405020304" pitchFamily="18" charset="0"/>
              <a:cs typeface="Times New Roman" panose="02020603050405020304" pitchFamily="18" charset="0"/>
            </a:endParaRPr>
          </a:p>
          <a:p>
            <a:pPr marL="12065" marR="5080" algn="ctr">
              <a:lnSpc>
                <a:spcPct val="108500"/>
              </a:lnSpc>
            </a:pPr>
            <a:r>
              <a:rPr lang="en-GB" sz="2400" i="1" spc="5" dirty="0">
                <a:latin typeface="Times New Roman" panose="02020603050405020304" pitchFamily="18" charset="0"/>
                <a:cs typeface="Times New Roman" panose="02020603050405020304" pitchFamily="18" charset="0"/>
              </a:rPr>
              <a:t>Aqsa Shah </a:t>
            </a:r>
            <a:r>
              <a:rPr sz="2400" spc="10" dirty="0">
                <a:latin typeface="Times New Roman" panose="02020603050405020304" pitchFamily="18" charset="0"/>
                <a:cs typeface="Times New Roman" panose="02020603050405020304" pitchFamily="18" charset="0"/>
              </a:rPr>
              <a:t>–</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1</a:t>
            </a:r>
            <a:r>
              <a:rPr sz="2400" dirty="0">
                <a:latin typeface="Times New Roman" panose="02020603050405020304" pitchFamily="18" charset="0"/>
                <a:cs typeface="Times New Roman" panose="02020603050405020304" pitchFamily="18" charset="0"/>
              </a:rPr>
              <a:t>-C</a:t>
            </a:r>
            <a:r>
              <a:rPr lang="en-US" sz="2400" dirty="0">
                <a:latin typeface="Times New Roman" panose="02020603050405020304" pitchFamily="18" charset="0"/>
                <a:cs typeface="Times New Roman" panose="02020603050405020304" pitchFamily="18" charset="0"/>
              </a:rPr>
              <a:t>E</a:t>
            </a:r>
            <a:r>
              <a:rPr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039</a:t>
            </a:r>
            <a:endParaRPr sz="2400" dirty="0">
              <a:latin typeface="Times New Roman" panose="02020603050405020304" pitchFamily="18" charset="0"/>
              <a:cs typeface="Times New Roman" panose="02020603050405020304" pitchFamily="18" charset="0"/>
            </a:endParaRPr>
          </a:p>
          <a:p>
            <a:pPr>
              <a:lnSpc>
                <a:spcPct val="100000"/>
              </a:lnSpc>
              <a:spcBef>
                <a:spcPts val="20"/>
              </a:spcBef>
            </a:pPr>
            <a:endParaRPr sz="2950" dirty="0">
              <a:latin typeface="Calibri"/>
              <a:cs typeface="Calibri"/>
            </a:endParaRPr>
          </a:p>
          <a:p>
            <a:pPr marL="635" algn="ctr">
              <a:lnSpc>
                <a:spcPct val="100000"/>
              </a:lnSpc>
            </a:pPr>
            <a:r>
              <a:rPr sz="2200" b="1" dirty="0">
                <a:latin typeface="Calibri"/>
                <a:cs typeface="Calibri"/>
              </a:rPr>
              <a:t>Supervisor:</a:t>
            </a:r>
            <a:r>
              <a:rPr sz="2200" b="1" spc="-5" dirty="0">
                <a:latin typeface="Calibri"/>
                <a:cs typeface="Calibri"/>
              </a:rPr>
              <a:t> </a:t>
            </a:r>
            <a:r>
              <a:rPr lang="en-US" sz="2200" i="1" spc="-5" dirty="0">
                <a:latin typeface="Times New Roman" panose="02020603050405020304" pitchFamily="18" charset="0"/>
                <a:cs typeface="Times New Roman" panose="02020603050405020304" pitchFamily="18" charset="0"/>
              </a:rPr>
              <a:t>Ma’am </a:t>
            </a:r>
            <a:r>
              <a:rPr lang="en-US" sz="2200" i="1" dirty="0">
                <a:latin typeface="Times New Roman" panose="02020603050405020304" pitchFamily="18" charset="0"/>
                <a:cs typeface="Times New Roman" panose="02020603050405020304" pitchFamily="18" charset="0"/>
              </a:rPr>
              <a:t>Sara </a:t>
            </a:r>
            <a:r>
              <a:rPr lang="en-US" sz="2200" i="1" dirty="0" err="1">
                <a:latin typeface="Times New Roman" panose="02020603050405020304" pitchFamily="18" charset="0"/>
                <a:cs typeface="Times New Roman" panose="02020603050405020304" pitchFamily="18" charset="0"/>
              </a:rPr>
              <a:t>Tehsin</a:t>
            </a:r>
            <a:r>
              <a:rPr lang="en-US" sz="2200" i="1" dirty="0">
                <a:latin typeface="Times New Roman" panose="02020603050405020304" pitchFamily="18" charset="0"/>
                <a:cs typeface="Times New Roman" panose="02020603050405020304" pitchFamily="18" charset="0"/>
              </a:rPr>
              <a:t> </a:t>
            </a:r>
            <a:endParaRPr sz="2200" i="1"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10528723" y="238419"/>
            <a:ext cx="1401690" cy="1401690"/>
          </a:xfrm>
          <a:prstGeom prst="rect">
            <a:avLst/>
          </a:prstGeom>
        </p:spPr>
      </p:pic>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a:t>
            </a:fld>
            <a:endParaRPr dirty="0"/>
          </a:p>
        </p:txBody>
      </p:sp>
      <p:sp>
        <p:nvSpPr>
          <p:cNvPr id="6" name="Date Placeholder 5">
            <a:extLst>
              <a:ext uri="{FF2B5EF4-FFF2-40B4-BE49-F238E27FC236}">
                <a16:creationId xmlns:a16="http://schemas.microsoft.com/office/drawing/2014/main" id="{B823EE3D-5E2C-FD05-18B1-FB7A95A0966E}"/>
              </a:ext>
            </a:extLst>
          </p:cNvPr>
          <p:cNvSpPr>
            <a:spLocks noGrp="1"/>
          </p:cNvSpPr>
          <p:nvPr>
            <p:ph type="dt" sz="half" idx="6"/>
          </p:nvPr>
        </p:nvSpPr>
        <p:spPr>
          <a:xfrm>
            <a:off x="90764" y="6569010"/>
            <a:ext cx="3886834" cy="156068"/>
          </a:xfrm>
        </p:spPr>
        <p:txBody>
          <a:bodyPr/>
          <a:lstStyle/>
          <a:p>
            <a:pPr marL="12700">
              <a:lnSpc>
                <a:spcPts val="1240"/>
              </a:lnSpc>
            </a:pPr>
            <a:r>
              <a:rPr lang="en-GB" dirty="0"/>
              <a:t> </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3235" y="578759"/>
            <a:ext cx="1908175" cy="689932"/>
          </a:xfrm>
          <a:prstGeom prst="rect">
            <a:avLst/>
          </a:prstGeom>
        </p:spPr>
        <p:txBody>
          <a:bodyPr vert="horz" wrap="square" lIns="0" tIns="12700" rIns="0" bIns="0" rtlCol="0">
            <a:spAutoFit/>
          </a:bodyPr>
          <a:lstStyle/>
          <a:p>
            <a:pPr marL="12700">
              <a:lnSpc>
                <a:spcPct val="100000"/>
              </a:lnSpc>
              <a:spcBef>
                <a:spcPts val="100"/>
              </a:spcBef>
            </a:pPr>
            <a:r>
              <a:rPr sz="4400" spc="-5" dirty="0"/>
              <a:t>Outline</a:t>
            </a:r>
            <a:r>
              <a:rPr lang="en-GB" sz="4400" spc="-5" dirty="0"/>
              <a:t>:</a:t>
            </a:r>
            <a:endParaRPr sz="4400" dirty="0"/>
          </a:p>
        </p:txBody>
      </p:sp>
      <p:sp>
        <p:nvSpPr>
          <p:cNvPr id="3" name="object 3"/>
          <p:cNvSpPr txBox="1">
            <a:spLocks noGrp="1"/>
          </p:cNvSpPr>
          <p:nvPr>
            <p:ph type="body" idx="1"/>
          </p:nvPr>
        </p:nvSpPr>
        <p:spPr>
          <a:xfrm>
            <a:off x="773710" y="1562858"/>
            <a:ext cx="10307285" cy="4657685"/>
          </a:xfrm>
          <a:prstGeom prst="rect">
            <a:avLst/>
          </a:prstGeom>
        </p:spPr>
        <p:txBody>
          <a:bodyPr vert="horz" wrap="square" lIns="0" tIns="60960" rIns="0" bIns="0" rtlCol="0">
            <a:spAutoFit/>
          </a:bodyPr>
          <a:lstStyle/>
          <a:p>
            <a:pPr marL="209550" indent="-175895">
              <a:lnSpc>
                <a:spcPct val="100000"/>
              </a:lnSpc>
              <a:spcBef>
                <a:spcPts val="630"/>
              </a:spcBef>
              <a:buFont typeface="Arial MT"/>
              <a:buChar char="•"/>
              <a:tabLst>
                <a:tab pos="210820" algn="l"/>
              </a:tabLst>
            </a:pPr>
            <a:r>
              <a:rPr spc="-5" dirty="0">
                <a:solidFill>
                  <a:srgbClr val="000000"/>
                </a:solidFill>
              </a:rPr>
              <a:t>Introduction</a:t>
            </a:r>
            <a:endParaRPr lang="en-US" spc="-5" dirty="0">
              <a:solidFill>
                <a:srgbClr val="000000"/>
              </a:solidFill>
            </a:endParaRPr>
          </a:p>
          <a:p>
            <a:pPr marL="209550" indent="-175895">
              <a:lnSpc>
                <a:spcPct val="100000"/>
              </a:lnSpc>
              <a:spcBef>
                <a:spcPts val="665"/>
              </a:spcBef>
              <a:buFont typeface="Arial MT"/>
              <a:buChar char="•"/>
              <a:tabLst>
                <a:tab pos="210820" algn="l"/>
              </a:tabLst>
            </a:pPr>
            <a:r>
              <a:rPr spc="-5" dirty="0">
                <a:solidFill>
                  <a:srgbClr val="000000"/>
                </a:solidFill>
              </a:rPr>
              <a:t>Problem</a:t>
            </a:r>
            <a:r>
              <a:rPr spc="-30" dirty="0">
                <a:solidFill>
                  <a:srgbClr val="000000"/>
                </a:solidFill>
              </a:rPr>
              <a:t> </a:t>
            </a:r>
            <a:r>
              <a:rPr spc="-5" dirty="0">
                <a:solidFill>
                  <a:srgbClr val="000000"/>
                </a:solidFill>
              </a:rPr>
              <a:t>Statement</a:t>
            </a:r>
            <a:endParaRPr lang="en-US" spc="-5" dirty="0">
              <a:solidFill>
                <a:srgbClr val="000000"/>
              </a:solidFill>
            </a:endParaRPr>
          </a:p>
          <a:p>
            <a:pPr marL="209550" indent="-175895">
              <a:lnSpc>
                <a:spcPct val="100000"/>
              </a:lnSpc>
              <a:spcBef>
                <a:spcPts val="665"/>
              </a:spcBef>
              <a:buFont typeface="Arial MT"/>
              <a:buChar char="•"/>
              <a:tabLst>
                <a:tab pos="210820" algn="l"/>
              </a:tabLst>
            </a:pPr>
            <a:r>
              <a:rPr lang="en-US" spc="-5" dirty="0">
                <a:solidFill>
                  <a:srgbClr val="000000"/>
                </a:solidFill>
              </a:rPr>
              <a:t>Aims &amp; Objective</a:t>
            </a:r>
          </a:p>
          <a:p>
            <a:pPr marL="209550" indent="-175895">
              <a:spcBef>
                <a:spcPts val="665"/>
              </a:spcBef>
              <a:buFont typeface="Arial MT"/>
              <a:buChar char="•"/>
              <a:tabLst>
                <a:tab pos="210820" algn="l"/>
              </a:tabLst>
            </a:pPr>
            <a:r>
              <a:rPr lang="en-GB" spc="-5" dirty="0">
                <a:solidFill>
                  <a:srgbClr val="000000"/>
                </a:solidFill>
              </a:rPr>
              <a:t>Literature</a:t>
            </a:r>
            <a:r>
              <a:rPr lang="en-GB" spc="-45" dirty="0">
                <a:solidFill>
                  <a:srgbClr val="000000"/>
                </a:solidFill>
              </a:rPr>
              <a:t> </a:t>
            </a:r>
            <a:r>
              <a:rPr lang="en-GB" spc="-5" dirty="0">
                <a:solidFill>
                  <a:srgbClr val="000000"/>
                </a:solidFill>
              </a:rPr>
              <a:t>Review </a:t>
            </a:r>
            <a:endParaRPr lang="en-US" spc="-5" dirty="0">
              <a:solidFill>
                <a:srgbClr val="000000"/>
              </a:solidFill>
            </a:endParaRPr>
          </a:p>
          <a:p>
            <a:pPr marL="209550" indent="-175895">
              <a:lnSpc>
                <a:spcPct val="100000"/>
              </a:lnSpc>
              <a:spcBef>
                <a:spcPts val="665"/>
              </a:spcBef>
              <a:buFont typeface="Arial MT"/>
              <a:buChar char="•"/>
              <a:tabLst>
                <a:tab pos="210820" algn="l"/>
              </a:tabLst>
            </a:pPr>
            <a:r>
              <a:rPr lang="en-US" spc="-5" dirty="0">
                <a:solidFill>
                  <a:srgbClr val="000000"/>
                </a:solidFill>
              </a:rPr>
              <a:t>Proposed Design </a:t>
            </a:r>
            <a:endParaRPr spc="-5" dirty="0">
              <a:solidFill>
                <a:srgbClr val="000000"/>
              </a:solidFill>
            </a:endParaRPr>
          </a:p>
          <a:p>
            <a:pPr marL="209550" indent="-175895">
              <a:lnSpc>
                <a:spcPct val="100000"/>
              </a:lnSpc>
              <a:spcBef>
                <a:spcPts val="665"/>
              </a:spcBef>
              <a:buFont typeface="Arial MT"/>
              <a:buChar char="•"/>
              <a:tabLst>
                <a:tab pos="210820" algn="l"/>
              </a:tabLst>
            </a:pPr>
            <a:r>
              <a:rPr lang="en-GB" spc="-5" dirty="0">
                <a:solidFill>
                  <a:srgbClr val="000000"/>
                </a:solidFill>
              </a:rPr>
              <a:t>Architecture Diagrams</a:t>
            </a:r>
          </a:p>
          <a:p>
            <a:pPr marL="209550" indent="-175895">
              <a:lnSpc>
                <a:spcPct val="100000"/>
              </a:lnSpc>
              <a:spcBef>
                <a:spcPts val="665"/>
              </a:spcBef>
              <a:buFont typeface="Arial MT"/>
              <a:buChar char="•"/>
              <a:tabLst>
                <a:tab pos="210820" algn="l"/>
              </a:tabLst>
            </a:pPr>
            <a:r>
              <a:rPr lang="en-GB" spc="-5" dirty="0">
                <a:solidFill>
                  <a:srgbClr val="000000"/>
                </a:solidFill>
              </a:rPr>
              <a:t>Results</a:t>
            </a:r>
          </a:p>
          <a:p>
            <a:pPr marL="209550" indent="-175895">
              <a:lnSpc>
                <a:spcPct val="100000"/>
              </a:lnSpc>
              <a:spcBef>
                <a:spcPts val="665"/>
              </a:spcBef>
              <a:buFont typeface="Arial MT"/>
              <a:buChar char="•"/>
              <a:tabLst>
                <a:tab pos="210820" algn="l"/>
              </a:tabLst>
            </a:pPr>
            <a:r>
              <a:rPr lang="en-GB" spc="-5" dirty="0">
                <a:solidFill>
                  <a:srgbClr val="000000"/>
                </a:solidFill>
              </a:rPr>
              <a:t>Conclusion</a:t>
            </a:r>
          </a:p>
          <a:p>
            <a:pPr marL="209550" indent="-175895">
              <a:lnSpc>
                <a:spcPct val="100000"/>
              </a:lnSpc>
              <a:spcBef>
                <a:spcPts val="665"/>
              </a:spcBef>
              <a:buFont typeface="Arial MT"/>
              <a:buChar char="•"/>
              <a:tabLst>
                <a:tab pos="210820" algn="l"/>
              </a:tabLst>
            </a:pPr>
            <a:r>
              <a:rPr lang="en-GB" spc="-5" dirty="0">
                <a:solidFill>
                  <a:srgbClr val="000000"/>
                </a:solidFill>
              </a:rPr>
              <a:t>References</a:t>
            </a:r>
            <a:endParaRPr spc="-5" dirty="0">
              <a:solidFill>
                <a:srgbClr val="000000"/>
              </a:solidFill>
            </a:endParaRPr>
          </a:p>
        </p:txBody>
      </p:sp>
      <p:pic>
        <p:nvPicPr>
          <p:cNvPr id="4" name="object 4"/>
          <p:cNvPicPr/>
          <p:nvPr/>
        </p:nvPicPr>
        <p:blipFill>
          <a:blip r:embed="rId2" cstate="print"/>
          <a:stretch>
            <a:fillRect/>
          </a:stretch>
        </p:blipFill>
        <p:spPr>
          <a:xfrm>
            <a:off x="10528723" y="284592"/>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3</a:t>
            </a:fld>
            <a:endParaRPr dirty="0"/>
          </a:p>
        </p:txBody>
      </p:sp>
      <p:sp>
        <p:nvSpPr>
          <p:cNvPr id="6" name="Date Placeholder 5">
            <a:extLst>
              <a:ext uri="{FF2B5EF4-FFF2-40B4-BE49-F238E27FC236}">
                <a16:creationId xmlns:a16="http://schemas.microsoft.com/office/drawing/2014/main" id="{EA7BFB90-DB4A-5C3E-29D8-2EAEAC03F9D2}"/>
              </a:ext>
            </a:extLst>
          </p:cNvPr>
          <p:cNvSpPr>
            <a:spLocks noGrp="1"/>
          </p:cNvSpPr>
          <p:nvPr>
            <p:ph type="dt" sz="half" idx="6"/>
          </p:nvPr>
        </p:nvSpPr>
        <p:spPr>
          <a:xfrm>
            <a:off x="672147" y="6449984"/>
            <a:ext cx="3886834" cy="177800"/>
          </a:xfrm>
        </p:spPr>
        <p:txBody>
          <a:bodyPr/>
          <a:lstStyle/>
          <a:p>
            <a:pPr marL="12700">
              <a:lnSpc>
                <a:spcPts val="1240"/>
              </a:lnSpc>
            </a:pPr>
            <a:fld id="{717FFF31-DDEF-42FB-BA87-A7625253D3E6}" type="datetime1">
              <a:rPr lang="LID4096" spc="-5" smtClean="0"/>
              <a:t>01/24/2025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615635"/>
            <a:ext cx="3736975" cy="689932"/>
          </a:xfrm>
          <a:prstGeom prst="rect">
            <a:avLst/>
          </a:prstGeom>
        </p:spPr>
        <p:txBody>
          <a:bodyPr vert="horz" wrap="square" lIns="0" tIns="12700" rIns="0" bIns="0" rtlCol="0">
            <a:spAutoFit/>
          </a:bodyPr>
          <a:lstStyle/>
          <a:p>
            <a:pPr marL="12700">
              <a:lnSpc>
                <a:spcPct val="100000"/>
              </a:lnSpc>
              <a:spcBef>
                <a:spcPts val="100"/>
              </a:spcBef>
            </a:pPr>
            <a:r>
              <a:rPr sz="4400" spc="-5" dirty="0"/>
              <a:t>Introduction</a:t>
            </a:r>
            <a:r>
              <a:rPr lang="en-GB" sz="4400" spc="-5" dirty="0"/>
              <a:t>:</a:t>
            </a:r>
            <a:endParaRPr sz="4400" dirty="0"/>
          </a:p>
        </p:txBody>
      </p:sp>
      <p:sp>
        <p:nvSpPr>
          <p:cNvPr id="3" name="object 3"/>
          <p:cNvSpPr txBox="1"/>
          <p:nvPr/>
        </p:nvSpPr>
        <p:spPr>
          <a:xfrm>
            <a:off x="964546" y="1718335"/>
            <a:ext cx="10465453" cy="2948692"/>
          </a:xfrm>
          <a:prstGeom prst="rect">
            <a:avLst/>
          </a:prstGeom>
        </p:spPr>
        <p:txBody>
          <a:bodyPr vert="horz" wrap="square" lIns="0" tIns="96520" rIns="0" bIns="0" rtlCol="0">
            <a:spAutoFit/>
          </a:bodyPr>
          <a:lstStyle/>
          <a:p>
            <a:pPr marL="457200" indent="-457200" algn="just">
              <a:lnSpc>
                <a:spcPct val="200000"/>
              </a:lnSpc>
              <a:buFont typeface="Arial" panose="020B0604020202020204" pitchFamily="34" charset="0"/>
              <a:buChar char="•"/>
            </a:pPr>
            <a:r>
              <a:rPr lang="en-GB" sz="2400" dirty="0"/>
              <a:t>Air quality monitoring is vital for health and the environment.</a:t>
            </a:r>
          </a:p>
          <a:p>
            <a:pPr marL="457200" indent="-457200" algn="just">
              <a:lnSpc>
                <a:spcPct val="200000"/>
              </a:lnSpc>
              <a:buFont typeface="Arial" panose="020B0604020202020204" pitchFamily="34" charset="0"/>
              <a:buChar char="•"/>
            </a:pPr>
            <a:r>
              <a:rPr lang="en-GB" sz="2400" dirty="0"/>
              <a:t>IoT systems measure pollutants like PM2.5, PM10, CO, and NO2.</a:t>
            </a:r>
          </a:p>
          <a:p>
            <a:pPr marL="457200" indent="-457200" algn="just">
              <a:lnSpc>
                <a:spcPct val="200000"/>
              </a:lnSpc>
              <a:buFont typeface="Arial" panose="020B0604020202020204" pitchFamily="34" charset="0"/>
              <a:buChar char="•"/>
            </a:pPr>
            <a:r>
              <a:rPr lang="en-GB" sz="2400" dirty="0"/>
              <a:t>Real-time data improves our understanding of air quality.</a:t>
            </a:r>
          </a:p>
          <a:p>
            <a:pPr marL="457200" indent="-457200" algn="just">
              <a:lnSpc>
                <a:spcPct val="200000"/>
              </a:lnSpc>
              <a:buFont typeface="Arial" panose="020B0604020202020204" pitchFamily="34" charset="0"/>
              <a:buChar char="•"/>
            </a:pPr>
            <a:r>
              <a:rPr lang="en-GB" sz="2400" dirty="0"/>
              <a:t>AQI systems raise awareness and inform policies for swift responses.</a:t>
            </a:r>
          </a:p>
        </p:txBody>
      </p:sp>
      <p:pic>
        <p:nvPicPr>
          <p:cNvPr id="4" name="object 4"/>
          <p:cNvPicPr/>
          <p:nvPr/>
        </p:nvPicPr>
        <p:blipFill>
          <a:blip r:embed="rId2" cstate="print"/>
          <a:stretch>
            <a:fillRect/>
          </a:stretch>
        </p:blipFill>
        <p:spPr>
          <a:xfrm>
            <a:off x="10528723" y="200090"/>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4</a:t>
            </a:fld>
            <a:endParaRPr dirty="0"/>
          </a:p>
        </p:txBody>
      </p:sp>
      <p:sp>
        <p:nvSpPr>
          <p:cNvPr id="5" name="Date Placeholder 4">
            <a:extLst>
              <a:ext uri="{FF2B5EF4-FFF2-40B4-BE49-F238E27FC236}">
                <a16:creationId xmlns:a16="http://schemas.microsoft.com/office/drawing/2014/main" id="{9A7F146B-CCE2-447A-DBE4-D8FF797C5746}"/>
              </a:ext>
            </a:extLst>
          </p:cNvPr>
          <p:cNvSpPr>
            <a:spLocks noGrp="1"/>
          </p:cNvSpPr>
          <p:nvPr>
            <p:ph type="dt" sz="half" idx="6"/>
          </p:nvPr>
        </p:nvSpPr>
        <p:spPr>
          <a:xfrm>
            <a:off x="682335" y="6455634"/>
            <a:ext cx="3886834" cy="177800"/>
          </a:xfrm>
        </p:spPr>
        <p:txBody>
          <a:bodyPr/>
          <a:lstStyle/>
          <a:p>
            <a:pPr marL="12700">
              <a:lnSpc>
                <a:spcPts val="1240"/>
              </a:lnSpc>
            </a:pPr>
            <a:fld id="{66A22DBF-3D65-43CD-95E9-A429A5267F66}" type="datetime1">
              <a:rPr lang="LID4096" spc="-5" smtClean="0"/>
              <a:t>01/24/2025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4" y="637457"/>
            <a:ext cx="5184775" cy="695960"/>
          </a:xfrm>
          <a:prstGeom prst="rect">
            <a:avLst/>
          </a:prstGeom>
        </p:spPr>
        <p:txBody>
          <a:bodyPr vert="horz" wrap="square" lIns="0" tIns="12700" rIns="0" bIns="0" rtlCol="0">
            <a:spAutoFit/>
          </a:bodyPr>
          <a:lstStyle/>
          <a:p>
            <a:pPr marL="12700">
              <a:lnSpc>
                <a:spcPct val="100000"/>
              </a:lnSpc>
              <a:spcBef>
                <a:spcPts val="100"/>
              </a:spcBef>
            </a:pPr>
            <a:r>
              <a:rPr sz="4400" spc="-10" dirty="0"/>
              <a:t>Problem</a:t>
            </a:r>
            <a:r>
              <a:rPr sz="4400" spc="-90" dirty="0"/>
              <a:t> </a:t>
            </a:r>
            <a:r>
              <a:rPr sz="4400" spc="-5" dirty="0"/>
              <a:t>Statement</a:t>
            </a:r>
            <a:r>
              <a:rPr lang="en-GB" sz="4400" spc="-5" dirty="0"/>
              <a:t>:</a:t>
            </a:r>
            <a:endParaRPr sz="4400" dirty="0"/>
          </a:p>
        </p:txBody>
      </p:sp>
      <p:sp>
        <p:nvSpPr>
          <p:cNvPr id="3" name="object 3"/>
          <p:cNvSpPr txBox="1"/>
          <p:nvPr/>
        </p:nvSpPr>
        <p:spPr>
          <a:xfrm>
            <a:off x="964547" y="1718335"/>
            <a:ext cx="9225915" cy="3687356"/>
          </a:xfrm>
          <a:prstGeom prst="rect">
            <a:avLst/>
          </a:prstGeom>
        </p:spPr>
        <p:txBody>
          <a:bodyPr vert="horz" wrap="square" lIns="0" tIns="96520" rIns="0" bIns="0" rtlCol="0">
            <a:spAutoFit/>
          </a:bodyPr>
          <a:lstStyle/>
          <a:p>
            <a:pPr marL="354965" indent="-342900" algn="just">
              <a:lnSpc>
                <a:spcPct val="200000"/>
              </a:lnSpc>
              <a:spcBef>
                <a:spcPts val="760"/>
              </a:spcBef>
              <a:buFont typeface="Arial" panose="020B0604020202020204" pitchFamily="34" charset="0"/>
              <a:buChar char="•"/>
              <a:tabLst>
                <a:tab pos="188595" algn="l"/>
              </a:tabLst>
            </a:pPr>
            <a:r>
              <a:rPr lang="en-GB" sz="2400" dirty="0"/>
              <a:t>The decline in air quality, driven by urbanization and industrialization, poses serious health risks and environmental challenges. Current monitoring systems have lengthy detection ranges, preventing accurate local readings of pollutants. This limitation hinders timely interventions and effective decision-making.</a:t>
            </a:r>
            <a:endParaRPr lang="en-US" sz="2400" dirty="0">
              <a:cs typeface="Calibri"/>
            </a:endParaRPr>
          </a:p>
        </p:txBody>
      </p:sp>
      <p:pic>
        <p:nvPicPr>
          <p:cNvPr id="4" name="object 4"/>
          <p:cNvPicPr/>
          <p:nvPr/>
        </p:nvPicPr>
        <p:blipFill>
          <a:blip r:embed="rId2"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5</a:t>
            </a:fld>
            <a:endParaRPr dirty="0"/>
          </a:p>
        </p:txBody>
      </p:sp>
      <p:sp>
        <p:nvSpPr>
          <p:cNvPr id="5" name="Date Placeholder 4">
            <a:extLst>
              <a:ext uri="{FF2B5EF4-FFF2-40B4-BE49-F238E27FC236}">
                <a16:creationId xmlns:a16="http://schemas.microsoft.com/office/drawing/2014/main" id="{CCF47F65-2CD3-6F80-8BD6-204FD57ECB77}"/>
              </a:ext>
            </a:extLst>
          </p:cNvPr>
          <p:cNvSpPr>
            <a:spLocks noGrp="1"/>
          </p:cNvSpPr>
          <p:nvPr>
            <p:ph type="dt" sz="half" idx="6"/>
          </p:nvPr>
        </p:nvSpPr>
        <p:spPr>
          <a:xfrm>
            <a:off x="858055" y="6377876"/>
            <a:ext cx="3886834" cy="177800"/>
          </a:xfrm>
        </p:spPr>
        <p:txBody>
          <a:bodyPr/>
          <a:lstStyle/>
          <a:p>
            <a:pPr marL="12700">
              <a:lnSpc>
                <a:spcPts val="1240"/>
              </a:lnSpc>
            </a:pPr>
            <a:fld id="{F10D4220-A8E0-4F71-B485-F7E23C8F41B1}" type="datetime1">
              <a:rPr lang="LID4096" spc="-5" smtClean="0"/>
              <a:t>01/24/2025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2857500" cy="695960"/>
          </a:xfrm>
          <a:prstGeom prst="rect">
            <a:avLst/>
          </a:prstGeom>
        </p:spPr>
        <p:txBody>
          <a:bodyPr vert="horz" wrap="square" lIns="0" tIns="12700" rIns="0" bIns="0" rtlCol="0">
            <a:spAutoFit/>
          </a:bodyPr>
          <a:lstStyle/>
          <a:p>
            <a:pPr marL="12700">
              <a:lnSpc>
                <a:spcPct val="100000"/>
              </a:lnSpc>
              <a:spcBef>
                <a:spcPts val="100"/>
              </a:spcBef>
            </a:pPr>
            <a:r>
              <a:rPr lang="en-US" sz="4400" spc="-5" dirty="0"/>
              <a:t>Objective:</a:t>
            </a:r>
            <a:endParaRPr sz="4400" dirty="0"/>
          </a:p>
        </p:txBody>
      </p:sp>
      <p:sp>
        <p:nvSpPr>
          <p:cNvPr id="3" name="object 3"/>
          <p:cNvSpPr txBox="1"/>
          <p:nvPr/>
        </p:nvSpPr>
        <p:spPr>
          <a:xfrm>
            <a:off x="964547" y="1718335"/>
            <a:ext cx="10188186" cy="2687082"/>
          </a:xfrm>
          <a:prstGeom prst="rect">
            <a:avLst/>
          </a:prstGeom>
        </p:spPr>
        <p:txBody>
          <a:bodyPr vert="horz" wrap="square" lIns="0" tIns="96520" rIns="0" bIns="0" rtlCol="0">
            <a:spAutoFit/>
          </a:bodyPr>
          <a:lstStyle/>
          <a:p>
            <a:pPr marL="12065" algn="just">
              <a:lnSpc>
                <a:spcPct val="100000"/>
              </a:lnSpc>
              <a:spcBef>
                <a:spcPts val="760"/>
              </a:spcBef>
              <a:tabLst>
                <a:tab pos="188595" algn="l"/>
              </a:tabLst>
            </a:pPr>
            <a:r>
              <a:rPr lang="en-US" sz="2800" dirty="0">
                <a:cs typeface="Calibri"/>
              </a:rPr>
              <a:t>The objective of this project is: </a:t>
            </a:r>
          </a:p>
          <a:p>
            <a:pPr marL="742950" lvl="1" indent="-285750" algn="just">
              <a:lnSpc>
                <a:spcPct val="150000"/>
              </a:lnSpc>
              <a:buFont typeface="Arial" panose="020B0604020202020204" pitchFamily="34" charset="0"/>
              <a:buChar char="•"/>
            </a:pPr>
            <a:r>
              <a:rPr lang="en-GB" sz="2400" dirty="0"/>
              <a:t>To Identify key pollutants</a:t>
            </a:r>
          </a:p>
          <a:p>
            <a:pPr marL="742950" lvl="1" indent="-285750" algn="just">
              <a:lnSpc>
                <a:spcPct val="150000"/>
              </a:lnSpc>
              <a:buFont typeface="Arial" panose="020B0604020202020204" pitchFamily="34" charset="0"/>
              <a:buChar char="•"/>
            </a:pPr>
            <a:r>
              <a:rPr lang="en-GB" sz="2400" dirty="0"/>
              <a:t>To Analyse their impact on health and the environment</a:t>
            </a:r>
          </a:p>
          <a:p>
            <a:pPr marL="742950" lvl="1" indent="-285750" algn="just">
              <a:lnSpc>
                <a:spcPct val="150000"/>
              </a:lnSpc>
              <a:buFont typeface="Arial" panose="020B0604020202020204" pitchFamily="34" charset="0"/>
              <a:buChar char="•"/>
            </a:pPr>
            <a:r>
              <a:rPr lang="en-GB" sz="2400" dirty="0"/>
              <a:t>To Enable real-time monitoring for timely interventions</a:t>
            </a:r>
          </a:p>
          <a:p>
            <a:pPr marL="742950" lvl="1" indent="-285750" algn="just">
              <a:lnSpc>
                <a:spcPct val="150000"/>
              </a:lnSpc>
              <a:buFont typeface="Arial" panose="020B0604020202020204" pitchFamily="34" charset="0"/>
              <a:buChar char="•"/>
            </a:pPr>
            <a:r>
              <a:rPr lang="en-GB" sz="2400" dirty="0"/>
              <a:t>Stakeholder Impact:</a:t>
            </a:r>
          </a:p>
        </p:txBody>
      </p:sp>
      <p:pic>
        <p:nvPicPr>
          <p:cNvPr id="4" name="object 4"/>
          <p:cNvPicPr/>
          <p:nvPr/>
        </p:nvPicPr>
        <p:blipFill>
          <a:blip r:embed="rId2"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6</a:t>
            </a:fld>
            <a:endParaRPr dirty="0"/>
          </a:p>
        </p:txBody>
      </p:sp>
      <p:sp>
        <p:nvSpPr>
          <p:cNvPr id="6" name="TextBox 5">
            <a:extLst>
              <a:ext uri="{FF2B5EF4-FFF2-40B4-BE49-F238E27FC236}">
                <a16:creationId xmlns:a16="http://schemas.microsoft.com/office/drawing/2014/main" id="{E0FAB231-7F07-9F9A-366D-58A785B874C5}"/>
              </a:ext>
            </a:extLst>
          </p:cNvPr>
          <p:cNvSpPr txBox="1"/>
          <p:nvPr/>
        </p:nvSpPr>
        <p:spPr>
          <a:xfrm>
            <a:off x="787760" y="4405417"/>
            <a:ext cx="3886834" cy="1615827"/>
          </a:xfrm>
          <a:prstGeom prst="rect">
            <a:avLst/>
          </a:prstGeom>
          <a:noFill/>
        </p:spPr>
        <p:txBody>
          <a:bodyPr wrap="square" rtlCol="0">
            <a:spAutoFit/>
          </a:bodyPr>
          <a:lstStyle/>
          <a:p>
            <a:pPr marL="1200150" lvl="2" indent="-285750">
              <a:lnSpc>
                <a:spcPct val="150000"/>
              </a:lnSpc>
              <a:buFont typeface="Arial" panose="020B0604020202020204" pitchFamily="34" charset="0"/>
              <a:buChar char="•"/>
            </a:pPr>
            <a:r>
              <a:rPr lang="en-GB" sz="1800" dirty="0"/>
              <a:t>Environmental agencies                                                           </a:t>
            </a:r>
          </a:p>
          <a:p>
            <a:pPr marL="1200150" lvl="2" indent="-285750">
              <a:lnSpc>
                <a:spcPct val="150000"/>
              </a:lnSpc>
              <a:buFont typeface="Arial" panose="020B0604020202020204" pitchFamily="34" charset="0"/>
              <a:buChar char="•"/>
            </a:pPr>
            <a:r>
              <a:rPr lang="en-GB" sz="1800" dirty="0"/>
              <a:t>Local governments</a:t>
            </a:r>
          </a:p>
          <a:p>
            <a:pPr marL="1200150" lvl="2" indent="-285750">
              <a:lnSpc>
                <a:spcPct val="150000"/>
              </a:lnSpc>
              <a:buFont typeface="Arial" panose="020B0604020202020204" pitchFamily="34" charset="0"/>
              <a:buChar char="•"/>
            </a:pPr>
            <a:r>
              <a:rPr lang="en-GB" dirty="0"/>
              <a:t>Health Management</a:t>
            </a:r>
            <a:endParaRPr lang="en-GB" sz="1800" dirty="0"/>
          </a:p>
          <a:p>
            <a:endParaRPr lang="en-GB" dirty="0"/>
          </a:p>
        </p:txBody>
      </p:sp>
      <p:sp>
        <p:nvSpPr>
          <p:cNvPr id="5" name="Date Placeholder 4">
            <a:extLst>
              <a:ext uri="{FF2B5EF4-FFF2-40B4-BE49-F238E27FC236}">
                <a16:creationId xmlns:a16="http://schemas.microsoft.com/office/drawing/2014/main" id="{A3B172BA-7A6B-ABE7-7E83-23C05461A839}"/>
              </a:ext>
            </a:extLst>
          </p:cNvPr>
          <p:cNvSpPr>
            <a:spLocks noGrp="1"/>
          </p:cNvSpPr>
          <p:nvPr>
            <p:ph type="dt" sz="half" idx="6"/>
          </p:nvPr>
        </p:nvSpPr>
        <p:spPr>
          <a:xfrm>
            <a:off x="381445" y="6562343"/>
            <a:ext cx="3886834" cy="177800"/>
          </a:xfrm>
        </p:spPr>
        <p:txBody>
          <a:bodyPr/>
          <a:lstStyle/>
          <a:p>
            <a:pPr marL="12700">
              <a:lnSpc>
                <a:spcPts val="1240"/>
              </a:lnSpc>
            </a:pPr>
            <a:fld id="{340248E7-FDF0-4EF1-BA90-BEF3560D0C4C}" type="datetime1">
              <a:rPr lang="LID4096" spc="-5" smtClean="0"/>
              <a:t>01/24/2025</a:t>
            </a:fld>
            <a:endParaRPr lang="en-GB" spc="-5" dirty="0"/>
          </a:p>
        </p:txBody>
      </p:sp>
      <p:sp>
        <p:nvSpPr>
          <p:cNvPr id="8" name="TextBox 7">
            <a:extLst>
              <a:ext uri="{FF2B5EF4-FFF2-40B4-BE49-F238E27FC236}">
                <a16:creationId xmlns:a16="http://schemas.microsoft.com/office/drawing/2014/main" id="{2DCC4862-0494-D9F4-5C43-BF175998B400}"/>
              </a:ext>
            </a:extLst>
          </p:cNvPr>
          <p:cNvSpPr txBox="1"/>
          <p:nvPr/>
        </p:nvSpPr>
        <p:spPr>
          <a:xfrm>
            <a:off x="4800600" y="4404087"/>
            <a:ext cx="2367956" cy="1200329"/>
          </a:xfrm>
          <a:prstGeom prst="rect">
            <a:avLst/>
          </a:prstGeom>
          <a:noFill/>
        </p:spPr>
        <p:txBody>
          <a:bodyPr wrap="none" rtlCol="0">
            <a:spAutoFit/>
          </a:bodyPr>
          <a:lstStyle/>
          <a:p>
            <a:pPr marL="1200150" lvl="2" indent="-285750">
              <a:lnSpc>
                <a:spcPct val="150000"/>
              </a:lnSpc>
              <a:buFont typeface="Arial" panose="020B0604020202020204" pitchFamily="34" charset="0"/>
              <a:buChar char="•"/>
            </a:pPr>
            <a:r>
              <a:rPr lang="en-GB" sz="1800" dirty="0"/>
              <a:t>Industries</a:t>
            </a:r>
          </a:p>
          <a:p>
            <a:pPr marL="1200150" lvl="2" indent="-285750">
              <a:lnSpc>
                <a:spcPct val="150000"/>
              </a:lnSpc>
              <a:buFont typeface="Arial" panose="020B0604020202020204" pitchFamily="34" charset="0"/>
              <a:buChar char="•"/>
            </a:pPr>
            <a:r>
              <a:rPr lang="en-GB" sz="1800" dirty="0"/>
              <a:t>The public</a:t>
            </a:r>
          </a:p>
          <a:p>
            <a:endParaRPr lang="en-GB" dirty="0"/>
          </a:p>
        </p:txBody>
      </p:sp>
    </p:spTree>
    <p:extLst>
      <p:ext uri="{BB962C8B-B14F-4D97-AF65-F5344CB8AC3E}">
        <p14:creationId xmlns:p14="http://schemas.microsoft.com/office/powerpoint/2010/main" val="320823830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245613"/>
            <a:ext cx="6933565" cy="695960"/>
          </a:xfrm>
          <a:prstGeom prst="rect">
            <a:avLst/>
          </a:prstGeom>
        </p:spPr>
        <p:txBody>
          <a:bodyPr vert="horz" wrap="square" lIns="0" tIns="12700" rIns="0" bIns="0" rtlCol="0">
            <a:spAutoFit/>
          </a:bodyPr>
          <a:lstStyle/>
          <a:p>
            <a:pPr marL="12700">
              <a:lnSpc>
                <a:spcPct val="100000"/>
              </a:lnSpc>
              <a:spcBef>
                <a:spcPts val="100"/>
              </a:spcBef>
            </a:pPr>
            <a:r>
              <a:rPr sz="4400" spc="-5" dirty="0"/>
              <a:t>Literature</a:t>
            </a:r>
            <a:r>
              <a:rPr sz="4400" spc="-90" dirty="0"/>
              <a:t> </a:t>
            </a:r>
            <a:r>
              <a:rPr sz="4400" spc="-5" dirty="0"/>
              <a:t>Revie</a:t>
            </a:r>
            <a:r>
              <a:rPr lang="en-US" sz="4400" spc="-5" dirty="0"/>
              <a:t>w:</a:t>
            </a:r>
            <a:endParaRPr sz="4400" dirty="0"/>
          </a:p>
        </p:txBody>
      </p:sp>
      <p:sp>
        <p:nvSpPr>
          <p:cNvPr id="3" name="object 3"/>
          <p:cNvSpPr txBox="1"/>
          <p:nvPr/>
        </p:nvSpPr>
        <p:spPr>
          <a:xfrm>
            <a:off x="964547" y="1718335"/>
            <a:ext cx="9741535" cy="528350"/>
          </a:xfrm>
          <a:prstGeom prst="rect">
            <a:avLst/>
          </a:prstGeom>
        </p:spPr>
        <p:txBody>
          <a:bodyPr vert="horz" wrap="square" lIns="0" tIns="96520" rIns="0" bIns="0" rtlCol="0">
            <a:spAutoFit/>
          </a:bodyPr>
          <a:lstStyle/>
          <a:p>
            <a:pPr marL="187960" indent="-175895">
              <a:lnSpc>
                <a:spcPct val="100000"/>
              </a:lnSpc>
              <a:spcBef>
                <a:spcPts val="760"/>
              </a:spcBef>
              <a:buFont typeface="Arial"/>
              <a:buChar char="•"/>
              <a:tabLst>
                <a:tab pos="188595" algn="l"/>
              </a:tabLst>
            </a:pPr>
            <a:endParaRPr sz="2800" dirty="0">
              <a:latin typeface="Calibri"/>
              <a:cs typeface="Calibri"/>
            </a:endParaRPr>
          </a:p>
        </p:txBody>
      </p:sp>
      <p:pic>
        <p:nvPicPr>
          <p:cNvPr id="4" name="object 4"/>
          <p:cNvPicPr/>
          <p:nvPr/>
        </p:nvPicPr>
        <p:blipFill>
          <a:blip r:embed="rId2" cstate="print"/>
          <a:stretch>
            <a:fillRect/>
          </a:stretch>
        </p:blipFill>
        <p:spPr>
          <a:xfrm>
            <a:off x="10753707" y="154153"/>
            <a:ext cx="1056708" cy="1065047"/>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7</a:t>
            </a:fld>
            <a:endParaRPr dirty="0"/>
          </a:p>
        </p:txBody>
      </p:sp>
      <p:pic>
        <p:nvPicPr>
          <p:cNvPr id="8" name="Picture 7">
            <a:extLst>
              <a:ext uri="{FF2B5EF4-FFF2-40B4-BE49-F238E27FC236}">
                <a16:creationId xmlns:a16="http://schemas.microsoft.com/office/drawing/2014/main" id="{C670976E-5787-EC06-32D0-9F9CA6AF8368}"/>
              </a:ext>
            </a:extLst>
          </p:cNvPr>
          <p:cNvPicPr>
            <a:picLocks noChangeAspect="1"/>
          </p:cNvPicPr>
          <p:nvPr/>
        </p:nvPicPr>
        <p:blipFill>
          <a:blip r:embed="rId3"/>
          <a:stretch>
            <a:fillRect/>
          </a:stretch>
        </p:blipFill>
        <p:spPr>
          <a:xfrm>
            <a:off x="619107" y="1066800"/>
            <a:ext cx="10134600" cy="5285676"/>
          </a:xfrm>
          <a:prstGeom prst="rect">
            <a:avLst/>
          </a:prstGeom>
        </p:spPr>
      </p:pic>
      <p:sp>
        <p:nvSpPr>
          <p:cNvPr id="9" name="Date Placeholder 8">
            <a:extLst>
              <a:ext uri="{FF2B5EF4-FFF2-40B4-BE49-F238E27FC236}">
                <a16:creationId xmlns:a16="http://schemas.microsoft.com/office/drawing/2014/main" id="{051A7F9E-55DD-6480-BB6C-7350A07CD7FD}"/>
              </a:ext>
            </a:extLst>
          </p:cNvPr>
          <p:cNvSpPr>
            <a:spLocks noGrp="1"/>
          </p:cNvSpPr>
          <p:nvPr>
            <p:ph type="dt" sz="half" idx="6"/>
          </p:nvPr>
        </p:nvSpPr>
        <p:spPr>
          <a:xfrm>
            <a:off x="533400" y="6482585"/>
            <a:ext cx="3886834" cy="177800"/>
          </a:xfrm>
        </p:spPr>
        <p:txBody>
          <a:bodyPr/>
          <a:lstStyle/>
          <a:p>
            <a:pPr marL="12700">
              <a:lnSpc>
                <a:spcPts val="1240"/>
              </a:lnSpc>
            </a:pPr>
            <a:fld id="{53C9D867-B4FA-4A75-8F6D-C3D87AA43B3C}" type="datetime1">
              <a:rPr lang="LID4096" spc="-5" smtClean="0"/>
              <a:t>01/24/2025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662F0-4421-3D72-FBC3-312197892A27}"/>
              </a:ext>
            </a:extLst>
          </p:cNvPr>
          <p:cNvSpPr>
            <a:spLocks noGrp="1"/>
          </p:cNvSpPr>
          <p:nvPr>
            <p:ph type="title"/>
          </p:nvPr>
        </p:nvSpPr>
        <p:spPr>
          <a:xfrm flipH="1">
            <a:off x="11430000" y="425719"/>
            <a:ext cx="2426981" cy="615553"/>
          </a:xfrm>
        </p:spPr>
        <p:txBody>
          <a:bodyPr/>
          <a:lstStyle/>
          <a:p>
            <a:r>
              <a:rPr lang="en-GB" dirty="0"/>
              <a:t> </a:t>
            </a:r>
          </a:p>
        </p:txBody>
      </p:sp>
      <p:sp>
        <p:nvSpPr>
          <p:cNvPr id="3" name="Text Placeholder 2">
            <a:extLst>
              <a:ext uri="{FF2B5EF4-FFF2-40B4-BE49-F238E27FC236}">
                <a16:creationId xmlns:a16="http://schemas.microsoft.com/office/drawing/2014/main" id="{4791C11D-EC5A-F464-B983-D045D9F060D1}"/>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A9127C6-30C7-139E-CB01-0FD9EF4764D3}"/>
              </a:ext>
            </a:extLst>
          </p:cNvPr>
          <p:cNvSpPr>
            <a:spLocks noGrp="1"/>
          </p:cNvSpPr>
          <p:nvPr>
            <p:ph type="dt" sz="half" idx="6"/>
          </p:nvPr>
        </p:nvSpPr>
        <p:spPr>
          <a:xfrm>
            <a:off x="418783" y="6480110"/>
            <a:ext cx="3886834" cy="177800"/>
          </a:xfrm>
        </p:spPr>
        <p:txBody>
          <a:bodyPr/>
          <a:lstStyle/>
          <a:p>
            <a:pPr marL="12700">
              <a:lnSpc>
                <a:spcPts val="1240"/>
              </a:lnSpc>
            </a:pPr>
            <a:fld id="{4A0551FF-9DF5-46BF-8018-2740A0FD0232}"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1E9DFE71-0FCF-92A5-226C-DE9327FBF094}"/>
              </a:ext>
            </a:extLst>
          </p:cNvPr>
          <p:cNvSpPr>
            <a:spLocks noGrp="1"/>
          </p:cNvSpPr>
          <p:nvPr>
            <p:ph type="sldNum" sz="quarter" idx="7"/>
          </p:nvPr>
        </p:nvSpPr>
        <p:spPr/>
        <p:txBody>
          <a:bodyPr/>
          <a:lstStyle/>
          <a:p>
            <a:pPr marL="38100">
              <a:lnSpc>
                <a:spcPts val="1240"/>
              </a:lnSpc>
            </a:pPr>
            <a:fld id="{81D60167-4931-47E6-BA6A-407CBD079E47}" type="slidenum">
              <a:rPr lang="en-GB" smtClean="0"/>
              <a:t>8</a:t>
            </a:fld>
            <a:endParaRPr lang="en-GB" dirty="0"/>
          </a:p>
        </p:txBody>
      </p:sp>
      <p:graphicFrame>
        <p:nvGraphicFramePr>
          <p:cNvPr id="6" name="Table 5">
            <a:extLst>
              <a:ext uri="{FF2B5EF4-FFF2-40B4-BE49-F238E27FC236}">
                <a16:creationId xmlns:a16="http://schemas.microsoft.com/office/drawing/2014/main" id="{A2BB6835-BB22-9A20-1416-C92608020701}"/>
              </a:ext>
            </a:extLst>
          </p:cNvPr>
          <p:cNvGraphicFramePr>
            <a:graphicFrameLocks noGrp="1"/>
          </p:cNvGraphicFramePr>
          <p:nvPr>
            <p:extLst>
              <p:ext uri="{D42A27DB-BD31-4B8C-83A1-F6EECF244321}">
                <p14:modId xmlns:p14="http://schemas.microsoft.com/office/powerpoint/2010/main" val="495242681"/>
              </p:ext>
            </p:extLst>
          </p:nvPr>
        </p:nvGraphicFramePr>
        <p:xfrm>
          <a:off x="1558778" y="1294225"/>
          <a:ext cx="8839202" cy="1219200"/>
        </p:xfrm>
        <a:graphic>
          <a:graphicData uri="http://schemas.openxmlformats.org/drawingml/2006/table">
            <a:tbl>
              <a:tblPr firstRow="1" bandRow="1">
                <a:tableStyleId>{5C22544A-7EE6-4342-B048-85BDC9FD1C3A}</a:tableStyleId>
              </a:tblPr>
              <a:tblGrid>
                <a:gridCol w="2568894">
                  <a:extLst>
                    <a:ext uri="{9D8B030D-6E8A-4147-A177-3AD203B41FA5}">
                      <a16:colId xmlns:a16="http://schemas.microsoft.com/office/drawing/2014/main" val="1735258546"/>
                    </a:ext>
                  </a:extLst>
                </a:gridCol>
                <a:gridCol w="1325880">
                  <a:extLst>
                    <a:ext uri="{9D8B030D-6E8A-4147-A177-3AD203B41FA5}">
                      <a16:colId xmlns:a16="http://schemas.microsoft.com/office/drawing/2014/main" val="2705408008"/>
                    </a:ext>
                  </a:extLst>
                </a:gridCol>
                <a:gridCol w="1408748">
                  <a:extLst>
                    <a:ext uri="{9D8B030D-6E8A-4147-A177-3AD203B41FA5}">
                      <a16:colId xmlns:a16="http://schemas.microsoft.com/office/drawing/2014/main" val="2246426893"/>
                    </a:ext>
                  </a:extLst>
                </a:gridCol>
                <a:gridCol w="1740218">
                  <a:extLst>
                    <a:ext uri="{9D8B030D-6E8A-4147-A177-3AD203B41FA5}">
                      <a16:colId xmlns:a16="http://schemas.microsoft.com/office/drawing/2014/main" val="2409495278"/>
                    </a:ext>
                  </a:extLst>
                </a:gridCol>
                <a:gridCol w="1795462">
                  <a:extLst>
                    <a:ext uri="{9D8B030D-6E8A-4147-A177-3AD203B41FA5}">
                      <a16:colId xmlns:a16="http://schemas.microsoft.com/office/drawing/2014/main" val="1966146454"/>
                    </a:ext>
                  </a:extLst>
                </a:gridCol>
              </a:tblGrid>
              <a:tr h="397218">
                <a:tc rowSpan="2">
                  <a:txBody>
                    <a:bodyPr/>
                    <a:lstStyle/>
                    <a:p>
                      <a:pPr algn="l"/>
                      <a:r>
                        <a:rPr lang="en-GB" sz="1800" dirty="0">
                          <a:solidFill>
                            <a:schemeClr val="bg1"/>
                          </a:solidFill>
                        </a:rPr>
                        <a:t>Functionality</a:t>
                      </a:r>
                    </a:p>
                  </a:txBody>
                  <a:tcPr/>
                </a:tc>
                <a:tc>
                  <a:txBody>
                    <a:bodyPr/>
                    <a:lstStyle/>
                    <a:p>
                      <a:pPr algn="l"/>
                      <a:r>
                        <a:rPr lang="en-GB" dirty="0"/>
                        <a:t>Proposed System</a:t>
                      </a:r>
                    </a:p>
                  </a:txBody>
                  <a:tcPr/>
                </a:tc>
                <a:tc gridSpan="3">
                  <a:txBody>
                    <a:bodyPr/>
                    <a:lstStyle/>
                    <a:p>
                      <a:pPr algn="ctr"/>
                      <a:r>
                        <a:rPr lang="en-GB" dirty="0"/>
                        <a:t>Existing System</a:t>
                      </a:r>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03429551"/>
                  </a:ext>
                </a:extLst>
              </a:tr>
              <a:tr h="359388">
                <a:tc vMerge="1">
                  <a:txBody>
                    <a:bodyPr/>
                    <a:lstStyle/>
                    <a:p>
                      <a:endParaRPr lang="en-GB"/>
                    </a:p>
                  </a:txBody>
                  <a:tcPr/>
                </a:tc>
                <a:tc>
                  <a:txBody>
                    <a:bodyPr/>
                    <a:lstStyle/>
                    <a:p>
                      <a:pPr algn="ctr">
                        <a:lnSpc>
                          <a:spcPct val="150000"/>
                        </a:lnSpc>
                      </a:pPr>
                      <a:r>
                        <a:rPr lang="en-GB" sz="1600" b="1" dirty="0">
                          <a:solidFill>
                            <a:schemeClr val="tx1"/>
                          </a:solidFill>
                        </a:rPr>
                        <a:t>AQIM</a:t>
                      </a:r>
                    </a:p>
                  </a:txBody>
                  <a:tcPr/>
                </a:tc>
                <a:tc>
                  <a:txBody>
                    <a:bodyPr/>
                    <a:lstStyle/>
                    <a:p>
                      <a:pPr lvl="0" algn="ctr"/>
                      <a:r>
                        <a:rPr lang="en-GB" sz="1600" b="1" dirty="0"/>
                        <a:t>System 1</a:t>
                      </a:r>
                    </a:p>
                    <a:p>
                      <a:pPr lvl="0" algn="ctr"/>
                      <a:r>
                        <a:rPr lang="en-GB" sz="1600" b="1" dirty="0"/>
                        <a:t>(2020)</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dirty="0"/>
                        <a:t>System 2</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mn-lt"/>
                          <a:ea typeface="+mn-ea"/>
                          <a:cs typeface="+mn-cs"/>
                        </a:rPr>
                        <a:t>(2022)</a:t>
                      </a:r>
                    </a:p>
                  </a:txBody>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600" b="1" dirty="0"/>
                        <a:t>System 3</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dirty="0">
                          <a:ln>
                            <a:noFill/>
                          </a:ln>
                          <a:solidFill>
                            <a:prstClr val="black"/>
                          </a:solidFill>
                          <a:effectLst/>
                          <a:uLnTx/>
                          <a:uFillTx/>
                          <a:latin typeface="+mn-lt"/>
                          <a:ea typeface="+mn-ea"/>
                          <a:cs typeface="+mn-cs"/>
                        </a:rPr>
                        <a:t>(2023)</a:t>
                      </a:r>
                    </a:p>
                  </a:txBody>
                  <a:tcPr/>
                </a:tc>
                <a:extLst>
                  <a:ext uri="{0D108BD9-81ED-4DB2-BD59-A6C34878D82A}">
                    <a16:rowId xmlns:a16="http://schemas.microsoft.com/office/drawing/2014/main" val="954952394"/>
                  </a:ext>
                </a:extLst>
              </a:tr>
            </a:tbl>
          </a:graphicData>
        </a:graphic>
      </p:graphicFrame>
      <p:graphicFrame>
        <p:nvGraphicFramePr>
          <p:cNvPr id="9" name="Table 8">
            <a:extLst>
              <a:ext uri="{FF2B5EF4-FFF2-40B4-BE49-F238E27FC236}">
                <a16:creationId xmlns:a16="http://schemas.microsoft.com/office/drawing/2014/main" id="{0DE96F3A-1D69-C484-0291-C4A2890EFED8}"/>
              </a:ext>
            </a:extLst>
          </p:cNvPr>
          <p:cNvGraphicFramePr>
            <a:graphicFrameLocks noGrp="1"/>
          </p:cNvGraphicFramePr>
          <p:nvPr>
            <p:extLst>
              <p:ext uri="{D42A27DB-BD31-4B8C-83A1-F6EECF244321}">
                <p14:modId xmlns:p14="http://schemas.microsoft.com/office/powerpoint/2010/main" val="2134704233"/>
              </p:ext>
            </p:extLst>
          </p:nvPr>
        </p:nvGraphicFramePr>
        <p:xfrm>
          <a:off x="1558780" y="2526260"/>
          <a:ext cx="8839200" cy="3860469"/>
        </p:xfrm>
        <a:graphic>
          <a:graphicData uri="http://schemas.openxmlformats.org/drawingml/2006/table">
            <a:tbl>
              <a:tblPr bandRow="1">
                <a:tableStyleId>{5C22544A-7EE6-4342-B048-85BDC9FD1C3A}</a:tableStyleId>
              </a:tblPr>
              <a:tblGrid>
                <a:gridCol w="2568892">
                  <a:extLst>
                    <a:ext uri="{9D8B030D-6E8A-4147-A177-3AD203B41FA5}">
                      <a16:colId xmlns:a16="http://schemas.microsoft.com/office/drawing/2014/main" val="1186996919"/>
                    </a:ext>
                  </a:extLst>
                </a:gridCol>
                <a:gridCol w="1574483">
                  <a:extLst>
                    <a:ext uri="{9D8B030D-6E8A-4147-A177-3AD203B41FA5}">
                      <a16:colId xmlns:a16="http://schemas.microsoft.com/office/drawing/2014/main" val="2458733133"/>
                    </a:ext>
                  </a:extLst>
                </a:gridCol>
                <a:gridCol w="1160145">
                  <a:extLst>
                    <a:ext uri="{9D8B030D-6E8A-4147-A177-3AD203B41FA5}">
                      <a16:colId xmlns:a16="http://schemas.microsoft.com/office/drawing/2014/main" val="2960493634"/>
                    </a:ext>
                  </a:extLst>
                </a:gridCol>
                <a:gridCol w="1767840">
                  <a:extLst>
                    <a:ext uri="{9D8B030D-6E8A-4147-A177-3AD203B41FA5}">
                      <a16:colId xmlns:a16="http://schemas.microsoft.com/office/drawing/2014/main" val="3172901527"/>
                    </a:ext>
                  </a:extLst>
                </a:gridCol>
                <a:gridCol w="1767840">
                  <a:extLst>
                    <a:ext uri="{9D8B030D-6E8A-4147-A177-3AD203B41FA5}">
                      <a16:colId xmlns:a16="http://schemas.microsoft.com/office/drawing/2014/main" val="1788498870"/>
                    </a:ext>
                  </a:extLst>
                </a:gridCol>
              </a:tblGrid>
              <a:tr h="362334">
                <a:tc>
                  <a:txBody>
                    <a:bodyPr/>
                    <a:lstStyle/>
                    <a:p>
                      <a:r>
                        <a:rPr lang="en-GB" sz="1800" dirty="0"/>
                        <a:t>Real-time monitoring</a:t>
                      </a:r>
                    </a:p>
                  </a:txBody>
                  <a:tcPr/>
                </a:tc>
                <a:tc>
                  <a:txBody>
                    <a:bodyPr/>
                    <a:lstStyle/>
                    <a:p>
                      <a:pPr algn="ctr"/>
                      <a:r>
                        <a:rPr lang="en-GB" sz="1600" b="1" dirty="0"/>
                        <a:t>Yes</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extLst>
                  <a:ext uri="{0D108BD9-81ED-4DB2-BD59-A6C34878D82A}">
                    <a16:rowId xmlns:a16="http://schemas.microsoft.com/office/drawing/2014/main" val="2834761536"/>
                  </a:ext>
                </a:extLst>
              </a:tr>
              <a:tr h="369482">
                <a:tc>
                  <a:txBody>
                    <a:bodyPr/>
                    <a:lstStyle/>
                    <a:p>
                      <a:r>
                        <a:rPr lang="en-GB" sz="1800" dirty="0"/>
                        <a:t>Data Accuracy</a:t>
                      </a:r>
                    </a:p>
                  </a:txBody>
                  <a:tcPr/>
                </a:tc>
                <a:tc>
                  <a:txBody>
                    <a:bodyPr/>
                    <a:lstStyle/>
                    <a:p>
                      <a:pPr algn="ctr"/>
                      <a:r>
                        <a:rPr lang="en-GB" sz="1600" b="1" dirty="0"/>
                        <a:t>High</a:t>
                      </a:r>
                    </a:p>
                  </a:txBody>
                  <a:tcPr/>
                </a:tc>
                <a:tc>
                  <a:txBody>
                    <a:bodyPr/>
                    <a:lstStyle/>
                    <a:p>
                      <a:pPr algn="ctr"/>
                      <a:r>
                        <a:rPr lang="en-GB" sz="1600" b="1" dirty="0"/>
                        <a:t>Medium</a:t>
                      </a:r>
                    </a:p>
                  </a:txBody>
                  <a:tcPr/>
                </a:tc>
                <a:tc>
                  <a:txBody>
                    <a:bodyPr/>
                    <a:lstStyle/>
                    <a:p>
                      <a:pPr algn="ctr"/>
                      <a:r>
                        <a:rPr lang="en-GB" sz="1600" b="1" dirty="0"/>
                        <a:t>Low</a:t>
                      </a:r>
                    </a:p>
                  </a:txBody>
                  <a:tcPr/>
                </a:tc>
                <a:tc>
                  <a:txBody>
                    <a:bodyPr/>
                    <a:lstStyle/>
                    <a:p>
                      <a:pPr algn="ctr"/>
                      <a:r>
                        <a:rPr lang="en-GB" sz="1600" b="1" dirty="0"/>
                        <a:t>Medium</a:t>
                      </a:r>
                    </a:p>
                  </a:txBody>
                  <a:tcPr/>
                </a:tc>
                <a:extLst>
                  <a:ext uri="{0D108BD9-81ED-4DB2-BD59-A6C34878D82A}">
                    <a16:rowId xmlns:a16="http://schemas.microsoft.com/office/drawing/2014/main" val="2867023915"/>
                  </a:ext>
                </a:extLst>
              </a:tr>
              <a:tr h="369482">
                <a:tc>
                  <a:txBody>
                    <a:bodyPr/>
                    <a:lstStyle/>
                    <a:p>
                      <a:r>
                        <a:rPr lang="en-GB" sz="1800" dirty="0"/>
                        <a:t>Ease of use</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tc>
                  <a:txBody>
                    <a:bodyPr/>
                    <a:lstStyle/>
                    <a:p>
                      <a:pPr algn="ctr"/>
                      <a:r>
                        <a:rPr lang="en-GB" sz="1600" b="1" dirty="0"/>
                        <a:t>No</a:t>
                      </a:r>
                    </a:p>
                  </a:txBody>
                  <a:tcPr/>
                </a:tc>
                <a:extLst>
                  <a:ext uri="{0D108BD9-81ED-4DB2-BD59-A6C34878D82A}">
                    <a16:rowId xmlns:a16="http://schemas.microsoft.com/office/drawing/2014/main" val="3099669292"/>
                  </a:ext>
                </a:extLst>
              </a:tr>
              <a:tr h="369482">
                <a:tc>
                  <a:txBody>
                    <a:bodyPr/>
                    <a:lstStyle/>
                    <a:p>
                      <a:r>
                        <a:rPr lang="en-GB" sz="1800" dirty="0"/>
                        <a:t>Security</a:t>
                      </a:r>
                    </a:p>
                  </a:txBody>
                  <a:tcPr/>
                </a:tc>
                <a:tc>
                  <a:txBody>
                    <a:bodyPr/>
                    <a:lstStyle/>
                    <a:p>
                      <a:pPr algn="ctr"/>
                      <a:r>
                        <a:rPr lang="en-GB" sz="1600" b="1" dirty="0"/>
                        <a:t>Yes</a:t>
                      </a:r>
                    </a:p>
                  </a:txBody>
                  <a:tcPr/>
                </a:tc>
                <a:tc>
                  <a:txBody>
                    <a:bodyPr/>
                    <a:lstStyle/>
                    <a:p>
                      <a:pPr algn="ctr"/>
                      <a:r>
                        <a:rPr lang="en-GB" sz="1600" b="1" dirty="0"/>
                        <a:t>No</a:t>
                      </a:r>
                    </a:p>
                  </a:txBody>
                  <a:tcPr/>
                </a:tc>
                <a:tc>
                  <a:txBody>
                    <a:bodyPr/>
                    <a:lstStyle/>
                    <a:p>
                      <a:pPr algn="ctr"/>
                      <a:r>
                        <a:rPr lang="en-GB" sz="1600" b="1" dirty="0"/>
                        <a:t>Yes</a:t>
                      </a:r>
                    </a:p>
                  </a:txBody>
                  <a:tcPr/>
                </a:tc>
                <a:tc>
                  <a:txBody>
                    <a:bodyPr/>
                    <a:lstStyle/>
                    <a:p>
                      <a:pPr algn="ctr"/>
                      <a:r>
                        <a:rPr lang="en-GB" sz="1600" b="1" dirty="0"/>
                        <a:t>No</a:t>
                      </a:r>
                    </a:p>
                  </a:txBody>
                  <a:tcPr/>
                </a:tc>
                <a:extLst>
                  <a:ext uri="{0D108BD9-81ED-4DB2-BD59-A6C34878D82A}">
                    <a16:rowId xmlns:a16="http://schemas.microsoft.com/office/drawing/2014/main" val="2148807272"/>
                  </a:ext>
                </a:extLst>
              </a:tr>
              <a:tr h="637737">
                <a:tc>
                  <a:txBody>
                    <a:bodyPr/>
                    <a:lstStyle/>
                    <a:p>
                      <a:r>
                        <a:rPr lang="en-GB" sz="1800" dirty="0"/>
                        <a:t>Alerts and Notification</a:t>
                      </a:r>
                    </a:p>
                  </a:txBody>
                  <a:tcPr/>
                </a:tc>
                <a:tc>
                  <a:txBody>
                    <a:bodyPr/>
                    <a:lstStyle/>
                    <a:p>
                      <a:pPr algn="ctr"/>
                      <a:r>
                        <a:rPr lang="en-GB" sz="1600" b="1" dirty="0"/>
                        <a:t>Multiple Sensors</a:t>
                      </a:r>
                    </a:p>
                  </a:txBody>
                  <a:tcPr/>
                </a:tc>
                <a:tc>
                  <a:txBody>
                    <a:bodyPr/>
                    <a:lstStyle/>
                    <a:p>
                      <a:pPr algn="ctr"/>
                      <a:r>
                        <a:rPr lang="en-GB" sz="1600" b="1" dirty="0"/>
                        <a:t>Single Sensor</a:t>
                      </a:r>
                    </a:p>
                  </a:txBody>
                  <a:tcPr/>
                </a:tc>
                <a:tc>
                  <a:txBody>
                    <a:bodyPr/>
                    <a:lstStyle/>
                    <a:p>
                      <a:pPr algn="ctr"/>
                      <a:r>
                        <a:rPr lang="en-GB" sz="1600" b="1" dirty="0"/>
                        <a:t>Single Sensor</a:t>
                      </a:r>
                    </a:p>
                  </a:txBody>
                  <a:tcPr/>
                </a:tc>
                <a:tc>
                  <a:txBody>
                    <a:bodyPr/>
                    <a:lstStyle/>
                    <a:p>
                      <a:pPr algn="ctr"/>
                      <a:r>
                        <a:rPr lang="en-GB" sz="1600" b="1" dirty="0"/>
                        <a:t>Multiple Sensors</a:t>
                      </a:r>
                    </a:p>
                  </a:txBody>
                  <a:tcPr/>
                </a:tc>
                <a:extLst>
                  <a:ext uri="{0D108BD9-81ED-4DB2-BD59-A6C34878D82A}">
                    <a16:rowId xmlns:a16="http://schemas.microsoft.com/office/drawing/2014/main" val="812906036"/>
                  </a:ext>
                </a:extLst>
              </a:tr>
              <a:tr h="369482">
                <a:tc>
                  <a:txBody>
                    <a:bodyPr/>
                    <a:lstStyle/>
                    <a:p>
                      <a:r>
                        <a:rPr lang="en-GB" sz="1800" dirty="0"/>
                        <a:t>Historical Data Analysis</a:t>
                      </a:r>
                    </a:p>
                  </a:txBody>
                  <a:tcPr/>
                </a:tc>
                <a:tc>
                  <a:txBody>
                    <a:bodyPr/>
                    <a:lstStyle/>
                    <a:p>
                      <a:pPr algn="ctr"/>
                      <a:r>
                        <a:rPr lang="en-GB" sz="1600" b="1" dirty="0"/>
                        <a:t>Yes</a:t>
                      </a:r>
                    </a:p>
                  </a:txBody>
                  <a:tcPr/>
                </a:tc>
                <a:tc>
                  <a:txBody>
                    <a:bodyPr/>
                    <a:lstStyle/>
                    <a:p>
                      <a:pPr algn="ctr"/>
                      <a:r>
                        <a:rPr lang="en-GB" sz="1600" b="1"/>
                        <a:t>No</a:t>
                      </a:r>
                      <a:endParaRPr lang="en-GB" sz="1600" b="1" dirty="0"/>
                    </a:p>
                  </a:txBody>
                  <a:tcPr/>
                </a:tc>
                <a:tc>
                  <a:txBody>
                    <a:bodyPr/>
                    <a:lstStyle/>
                    <a:p>
                      <a:pPr algn="ctr"/>
                      <a:r>
                        <a:rPr lang="en-GB" sz="1600" b="1" dirty="0"/>
                        <a:t>No</a:t>
                      </a:r>
                    </a:p>
                  </a:txBody>
                  <a:tcPr/>
                </a:tc>
                <a:tc>
                  <a:txBody>
                    <a:bodyPr/>
                    <a:lstStyle/>
                    <a:p>
                      <a:pPr algn="ctr"/>
                      <a:r>
                        <a:rPr lang="en-GB" sz="1600" b="1" dirty="0"/>
                        <a:t>Yes</a:t>
                      </a:r>
                    </a:p>
                  </a:txBody>
                  <a:tcPr/>
                </a:tc>
                <a:extLst>
                  <a:ext uri="{0D108BD9-81ED-4DB2-BD59-A6C34878D82A}">
                    <a16:rowId xmlns:a16="http://schemas.microsoft.com/office/drawing/2014/main" val="3190559512"/>
                  </a:ext>
                </a:extLst>
              </a:tr>
              <a:tr h="369482">
                <a:tc>
                  <a:txBody>
                    <a:bodyPr/>
                    <a:lstStyle/>
                    <a:p>
                      <a:r>
                        <a:rPr lang="en-GB" sz="1800" dirty="0"/>
                        <a:t>Cost Efficiency</a:t>
                      </a:r>
                    </a:p>
                  </a:txBody>
                  <a:tcPr/>
                </a:tc>
                <a:tc>
                  <a:txBody>
                    <a:bodyPr/>
                    <a:lstStyle/>
                    <a:p>
                      <a:pPr algn="ctr"/>
                      <a:endParaRPr lang="en-GB" sz="1600" b="1"/>
                    </a:p>
                  </a:txBody>
                  <a:tcPr/>
                </a:tc>
                <a:tc>
                  <a:txBody>
                    <a:bodyPr/>
                    <a:lstStyle/>
                    <a:p>
                      <a:pPr algn="ctr"/>
                      <a:r>
                        <a:rPr lang="en-GB" sz="1600" b="1" dirty="0"/>
                        <a:t>High</a:t>
                      </a:r>
                    </a:p>
                  </a:txBody>
                  <a:tcPr/>
                </a:tc>
                <a:tc>
                  <a:txBody>
                    <a:bodyPr/>
                    <a:lstStyle/>
                    <a:p>
                      <a:pPr algn="ctr"/>
                      <a:r>
                        <a:rPr lang="en-GB" sz="1600" b="1"/>
                        <a:t>Medium</a:t>
                      </a:r>
                    </a:p>
                  </a:txBody>
                  <a:tcPr/>
                </a:tc>
                <a:tc>
                  <a:txBody>
                    <a:bodyPr/>
                    <a:lstStyle/>
                    <a:p>
                      <a:pPr algn="ctr"/>
                      <a:r>
                        <a:rPr lang="en-GB" sz="1600" b="1" dirty="0"/>
                        <a:t>Low</a:t>
                      </a:r>
                    </a:p>
                  </a:txBody>
                  <a:tcPr/>
                </a:tc>
                <a:extLst>
                  <a:ext uri="{0D108BD9-81ED-4DB2-BD59-A6C34878D82A}">
                    <a16:rowId xmlns:a16="http://schemas.microsoft.com/office/drawing/2014/main" val="3854268561"/>
                  </a:ext>
                </a:extLst>
              </a:tr>
              <a:tr h="369482">
                <a:tc>
                  <a:txBody>
                    <a:bodyPr/>
                    <a:lstStyle/>
                    <a:p>
                      <a:r>
                        <a:rPr lang="en-GB" sz="1800" dirty="0"/>
                        <a:t>Scalability</a:t>
                      </a:r>
                    </a:p>
                  </a:txBody>
                  <a:tcPr/>
                </a:tc>
                <a:tc>
                  <a:txBody>
                    <a:bodyPr/>
                    <a:lstStyle/>
                    <a:p>
                      <a:pPr algn="ctr"/>
                      <a:r>
                        <a:rPr lang="en-GB" sz="1600" b="1" dirty="0"/>
                        <a:t>High</a:t>
                      </a:r>
                    </a:p>
                  </a:txBody>
                  <a:tcPr/>
                </a:tc>
                <a:tc>
                  <a:txBody>
                    <a:bodyPr/>
                    <a:lstStyle/>
                    <a:p>
                      <a:pPr algn="ctr"/>
                      <a:r>
                        <a:rPr lang="en-GB" sz="1600" b="1" dirty="0"/>
                        <a:t>Low</a:t>
                      </a:r>
                    </a:p>
                  </a:txBody>
                  <a:tcPr/>
                </a:tc>
                <a:tc>
                  <a:txBody>
                    <a:bodyPr/>
                    <a:lstStyle/>
                    <a:p>
                      <a:pPr algn="ctr"/>
                      <a:r>
                        <a:rPr lang="en-GB" sz="1600" b="1"/>
                        <a:t>Medium</a:t>
                      </a:r>
                    </a:p>
                  </a:txBody>
                  <a:tcPr/>
                </a:tc>
                <a:tc>
                  <a:txBody>
                    <a:bodyPr/>
                    <a:lstStyle/>
                    <a:p>
                      <a:pPr algn="ctr"/>
                      <a:r>
                        <a:rPr lang="en-GB" sz="1600" b="1" dirty="0"/>
                        <a:t>High</a:t>
                      </a:r>
                    </a:p>
                  </a:txBody>
                  <a:tcPr/>
                </a:tc>
                <a:extLst>
                  <a:ext uri="{0D108BD9-81ED-4DB2-BD59-A6C34878D82A}">
                    <a16:rowId xmlns:a16="http://schemas.microsoft.com/office/drawing/2014/main" val="4283338373"/>
                  </a:ext>
                </a:extLst>
              </a:tr>
              <a:tr h="637737">
                <a:tc>
                  <a:txBody>
                    <a:bodyPr/>
                    <a:lstStyle/>
                    <a:p>
                      <a:r>
                        <a:rPr lang="en-GB" sz="1800" dirty="0"/>
                        <a:t>Maintenance Requirements</a:t>
                      </a:r>
                    </a:p>
                  </a:txBody>
                  <a:tcPr/>
                </a:tc>
                <a:tc>
                  <a:txBody>
                    <a:bodyPr/>
                    <a:lstStyle/>
                    <a:p>
                      <a:pPr algn="ctr"/>
                      <a:r>
                        <a:rPr lang="en-GB" sz="1600" b="1" dirty="0"/>
                        <a:t>Low</a:t>
                      </a:r>
                    </a:p>
                  </a:txBody>
                  <a:tcPr/>
                </a:tc>
                <a:tc>
                  <a:txBody>
                    <a:bodyPr/>
                    <a:lstStyle/>
                    <a:p>
                      <a:pPr algn="ctr"/>
                      <a:r>
                        <a:rPr lang="en-GB" sz="1600" b="1" dirty="0"/>
                        <a:t>High</a:t>
                      </a:r>
                    </a:p>
                  </a:txBody>
                  <a:tcPr/>
                </a:tc>
                <a:tc>
                  <a:txBody>
                    <a:bodyPr/>
                    <a:lstStyle/>
                    <a:p>
                      <a:pPr algn="ctr"/>
                      <a:r>
                        <a:rPr lang="en-GB" sz="1600" b="1" dirty="0"/>
                        <a:t>Medium</a:t>
                      </a:r>
                    </a:p>
                  </a:txBody>
                  <a:tcPr/>
                </a:tc>
                <a:tc>
                  <a:txBody>
                    <a:bodyPr/>
                    <a:lstStyle/>
                    <a:p>
                      <a:pPr algn="ctr"/>
                      <a:r>
                        <a:rPr lang="en-GB" sz="1600" b="1" dirty="0"/>
                        <a:t>Low</a:t>
                      </a:r>
                    </a:p>
                  </a:txBody>
                  <a:tcPr/>
                </a:tc>
                <a:extLst>
                  <a:ext uri="{0D108BD9-81ED-4DB2-BD59-A6C34878D82A}">
                    <a16:rowId xmlns:a16="http://schemas.microsoft.com/office/drawing/2014/main" val="726291378"/>
                  </a:ext>
                </a:extLst>
              </a:tr>
            </a:tbl>
          </a:graphicData>
        </a:graphic>
      </p:graphicFrame>
      <p:sp>
        <p:nvSpPr>
          <p:cNvPr id="11" name="TextBox 10">
            <a:extLst>
              <a:ext uri="{FF2B5EF4-FFF2-40B4-BE49-F238E27FC236}">
                <a16:creationId xmlns:a16="http://schemas.microsoft.com/office/drawing/2014/main" id="{11185FD9-D96C-9B33-B32B-81934F54E065}"/>
              </a:ext>
            </a:extLst>
          </p:cNvPr>
          <p:cNvSpPr txBox="1"/>
          <p:nvPr/>
        </p:nvSpPr>
        <p:spPr>
          <a:xfrm>
            <a:off x="418783" y="358374"/>
            <a:ext cx="5749779" cy="769441"/>
          </a:xfrm>
          <a:prstGeom prst="rect">
            <a:avLst/>
          </a:prstGeom>
          <a:noFill/>
        </p:spPr>
        <p:txBody>
          <a:bodyPr wrap="none" rtlCol="0">
            <a:spAutoFit/>
          </a:bodyPr>
          <a:lstStyle/>
          <a:p>
            <a:r>
              <a:rPr lang="en-GB" sz="4400" dirty="0">
                <a:latin typeface="+mj-lt"/>
              </a:rPr>
              <a:t>Comparison Of Systems:</a:t>
            </a:r>
          </a:p>
        </p:txBody>
      </p:sp>
      <p:pic>
        <p:nvPicPr>
          <p:cNvPr id="12" name="Picture 11">
            <a:extLst>
              <a:ext uri="{FF2B5EF4-FFF2-40B4-BE49-F238E27FC236}">
                <a16:creationId xmlns:a16="http://schemas.microsoft.com/office/drawing/2014/main" id="{A7E014DE-56FA-D6DF-109A-472624CD6F50}"/>
              </a:ext>
            </a:extLst>
          </p:cNvPr>
          <p:cNvPicPr>
            <a:picLocks noChangeAspect="1"/>
          </p:cNvPicPr>
          <p:nvPr/>
        </p:nvPicPr>
        <p:blipFill>
          <a:blip r:embed="rId2"/>
          <a:stretch>
            <a:fillRect/>
          </a:stretch>
        </p:blipFill>
        <p:spPr>
          <a:xfrm>
            <a:off x="10744199" y="217246"/>
            <a:ext cx="1186469" cy="1186469"/>
          </a:xfrm>
          <a:prstGeom prst="rect">
            <a:avLst/>
          </a:prstGeom>
        </p:spPr>
      </p:pic>
    </p:spTree>
    <p:extLst>
      <p:ext uri="{BB962C8B-B14F-4D97-AF65-F5344CB8AC3E}">
        <p14:creationId xmlns:p14="http://schemas.microsoft.com/office/powerpoint/2010/main" val="100005166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7"/>
          </p:nvPr>
        </p:nvSpPr>
        <p:spPr/>
        <p:txBody>
          <a:bodyPr/>
          <a:lstStyle/>
          <a:p>
            <a:pPr marL="38100">
              <a:lnSpc>
                <a:spcPts val="1240"/>
              </a:lnSpc>
            </a:pPr>
            <a:fld id="{81D60167-4931-47E6-BA6A-407CBD079E47}" type="slidenum">
              <a:rPr lang="en-US" smtClean="0"/>
              <a:t>9</a:t>
            </a:fld>
            <a:endParaRPr lang="en-US" dirty="0"/>
          </a:p>
        </p:txBody>
      </p:sp>
      <p:sp>
        <p:nvSpPr>
          <p:cNvPr id="10" name="Title 1"/>
          <p:cNvSpPr txBox="1">
            <a:spLocks/>
          </p:cNvSpPr>
          <p:nvPr/>
        </p:nvSpPr>
        <p:spPr>
          <a:xfrm>
            <a:off x="762000" y="519997"/>
            <a:ext cx="7924800" cy="623003"/>
          </a:xfrm>
          <a:prstGeom prst="rect">
            <a:avLst/>
          </a:prstGeom>
        </p:spPr>
        <p:txBody>
          <a:bodyPr/>
          <a:lstStyle>
            <a:lvl1pPr>
              <a:defRPr>
                <a:latin typeface="+mj-lt"/>
                <a:ea typeface="+mj-ea"/>
                <a:cs typeface="+mj-cs"/>
              </a:defRPr>
            </a:lvl1pPr>
          </a:lstStyle>
          <a:p>
            <a:r>
              <a:rPr lang="en-US" sz="4000" dirty="0"/>
              <a:t>PROPOSED DESIGN/METHOGOLDY: </a:t>
            </a:r>
            <a:endParaRPr lang="en-US" sz="4000" kern="0" dirty="0">
              <a:solidFill>
                <a:sysClr val="windowText" lastClr="000000"/>
              </a:solidFill>
            </a:endParaRPr>
          </a:p>
        </p:txBody>
      </p:sp>
      <p:sp>
        <p:nvSpPr>
          <p:cNvPr id="11" name="Text Placeholder 2"/>
          <p:cNvSpPr txBox="1">
            <a:spLocks/>
          </p:cNvSpPr>
          <p:nvPr/>
        </p:nvSpPr>
        <p:spPr>
          <a:xfrm>
            <a:off x="762000" y="1225153"/>
            <a:ext cx="10307285" cy="4739759"/>
          </a:xfrm>
          <a:prstGeom prst="rect">
            <a:avLst/>
          </a:prstGeom>
        </p:spPr>
        <p:txBody>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nSpc>
                <a:spcPct val="15000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Abstract Design:</a:t>
            </a:r>
            <a:r>
              <a:rPr lang="en-GB" sz="2400" dirty="0">
                <a:latin typeface="Times New Roman" panose="02020603050405020304" pitchFamily="18" charset="0"/>
                <a:cs typeface="Times New Roman" panose="02020603050405020304" pitchFamily="18" charset="0"/>
              </a:rPr>
              <a:t> </a:t>
            </a:r>
          </a:p>
          <a:p>
            <a:pPr algn="just"/>
            <a:r>
              <a:rPr lang="en-GB" sz="2400" dirty="0"/>
              <a:t>     The IoT-based AQI Meter uses advanced real-time air quality monitoring sensors, sending data wirelessly to a cloud platform for reliable analysis.</a:t>
            </a:r>
            <a:endParaRPr lang="en-GB" sz="2800" dirty="0"/>
          </a:p>
          <a:p>
            <a:pPr>
              <a:lnSpc>
                <a:spcPct val="15000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Component Level Design:</a:t>
            </a:r>
            <a:r>
              <a:rPr lang="en-GB" sz="2400" dirty="0">
                <a:latin typeface="Times New Roman" panose="02020603050405020304" pitchFamily="18" charset="0"/>
                <a:cs typeface="Times New Roman" panose="02020603050405020304" pitchFamily="18" charset="0"/>
              </a:rPr>
              <a:t> </a:t>
            </a:r>
          </a:p>
          <a:p>
            <a:pPr algn="just"/>
            <a:r>
              <a:rPr lang="en-GB" sz="2400" dirty="0"/>
              <a:t>     The project involves creating sensor modules, microcontrollers, and communication interfaces for effective data acquisition, processing, and transmission.</a:t>
            </a:r>
          </a:p>
          <a:p>
            <a:pPr>
              <a:lnSpc>
                <a:spcPct val="150000"/>
              </a:lnSpc>
              <a:buFont typeface="Arial" panose="020B0604020202020204" pitchFamily="34" charset="0"/>
              <a:buChar char="•"/>
            </a:pPr>
            <a:r>
              <a:rPr lang="en-GB" sz="2400" b="1" dirty="0">
                <a:latin typeface="Times New Roman" panose="02020603050405020304" pitchFamily="18" charset="0"/>
                <a:cs typeface="Times New Roman" panose="02020603050405020304" pitchFamily="18" charset="0"/>
              </a:rPr>
              <a:t>SRS Overview:</a:t>
            </a:r>
            <a:r>
              <a:rPr lang="en-GB" sz="2400" dirty="0">
                <a:latin typeface="Times New Roman" panose="02020603050405020304" pitchFamily="18" charset="0"/>
                <a:cs typeface="Times New Roman" panose="02020603050405020304" pitchFamily="18" charset="0"/>
              </a:rPr>
              <a:t> </a:t>
            </a:r>
          </a:p>
          <a:p>
            <a:pPr algn="just"/>
            <a:r>
              <a:rPr lang="en-GB" sz="2400" dirty="0"/>
              <a:t>    The Software Requirements Specification (SRS) outlines the essential functional and non-functional requirements, ensuring accurate pollutant measurement and real-time user alerts.</a:t>
            </a:r>
            <a:endParaRPr lang="en-GB" sz="2800" dirty="0"/>
          </a:p>
        </p:txBody>
      </p:sp>
      <p:sp>
        <p:nvSpPr>
          <p:cNvPr id="13" name="Slide Number Placeholder 4"/>
          <p:cNvSpPr txBox="1">
            <a:spLocks/>
          </p:cNvSpPr>
          <p:nvPr/>
        </p:nvSpPr>
        <p:spPr>
          <a:xfrm>
            <a:off x="11152733" y="6466776"/>
            <a:ext cx="153670" cy="191134"/>
          </a:xfrm>
          <a:prstGeom prst="rect">
            <a:avLst/>
          </a:prstGeom>
        </p:spPr>
        <p:txBody>
          <a:bodyPr wrap="square" lIns="0" tIns="0" rIns="0" bIns="0">
            <a:spAutoFit/>
          </a:bodyPr>
          <a:lstStyle>
            <a:defPPr>
              <a:defRPr lang="en-PK"/>
            </a:defPPr>
            <a:lvl1pPr marL="0" algn="l" defTabSz="914400" rtl="0" eaLnBrk="1" latinLnBrk="0" hangingPunct="1">
              <a:defRPr sz="1200" b="0" i="0" kern="1200">
                <a:solidFill>
                  <a:srgbClr val="888888"/>
                </a:solidFill>
                <a:latin typeface="Calibri"/>
                <a:ea typeface="+mn-ea"/>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a:lnSpc>
                <a:spcPts val="1240"/>
              </a:lnSpc>
            </a:pPr>
            <a:fld id="{81D60167-4931-47E6-BA6A-407CBD079E47}" type="slidenum">
              <a:rPr lang="en-US" smtClean="0"/>
              <a:pPr marL="38100">
                <a:lnSpc>
                  <a:spcPts val="1240"/>
                </a:lnSpc>
              </a:pPr>
              <a:t>9</a:t>
            </a:fld>
            <a:endParaRPr lang="en-US" dirty="0"/>
          </a:p>
        </p:txBody>
      </p:sp>
      <p:sp>
        <p:nvSpPr>
          <p:cNvPr id="2" name="Date Placeholder 1">
            <a:extLst>
              <a:ext uri="{FF2B5EF4-FFF2-40B4-BE49-F238E27FC236}">
                <a16:creationId xmlns:a16="http://schemas.microsoft.com/office/drawing/2014/main" id="{84C3CCAE-5AB2-A803-620C-3224F3F42552}"/>
              </a:ext>
            </a:extLst>
          </p:cNvPr>
          <p:cNvSpPr>
            <a:spLocks noGrp="1"/>
          </p:cNvSpPr>
          <p:nvPr>
            <p:ph type="dt" sz="half" idx="6"/>
          </p:nvPr>
        </p:nvSpPr>
        <p:spPr/>
        <p:txBody>
          <a:bodyPr/>
          <a:lstStyle/>
          <a:p>
            <a:pPr marL="12700">
              <a:lnSpc>
                <a:spcPts val="1240"/>
              </a:lnSpc>
            </a:pPr>
            <a:fld id="{7713B774-6D85-4A5A-918A-5799941DBD80}" type="datetime1">
              <a:rPr lang="LID4096" spc="-5" smtClean="0"/>
              <a:t>01/24/2025</a:t>
            </a:fld>
            <a:endParaRPr lang="en-GB" spc="-5" dirty="0"/>
          </a:p>
        </p:txBody>
      </p:sp>
      <p:pic>
        <p:nvPicPr>
          <p:cNvPr id="4" name="Picture 3">
            <a:extLst>
              <a:ext uri="{FF2B5EF4-FFF2-40B4-BE49-F238E27FC236}">
                <a16:creationId xmlns:a16="http://schemas.microsoft.com/office/drawing/2014/main" id="{8A9DD6C6-79E5-464F-BA83-706557B1E32F}"/>
              </a:ext>
            </a:extLst>
          </p:cNvPr>
          <p:cNvPicPr>
            <a:picLocks noChangeAspect="1"/>
          </p:cNvPicPr>
          <p:nvPr/>
        </p:nvPicPr>
        <p:blipFill>
          <a:blip r:embed="rId2"/>
          <a:stretch>
            <a:fillRect/>
          </a:stretch>
        </p:blipFill>
        <p:spPr>
          <a:xfrm>
            <a:off x="10835588" y="99576"/>
            <a:ext cx="1188823" cy="1182727"/>
          </a:xfrm>
          <a:prstGeom prst="rect">
            <a:avLst/>
          </a:prstGeom>
        </p:spPr>
      </p:pic>
    </p:spTree>
    <p:extLst>
      <p:ext uri="{BB962C8B-B14F-4D97-AF65-F5344CB8AC3E}">
        <p14:creationId xmlns:p14="http://schemas.microsoft.com/office/powerpoint/2010/main" val="185579935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3D0A-60EC-7F8F-F7A0-CCFE4F32FA70}"/>
              </a:ext>
            </a:extLst>
          </p:cNvPr>
          <p:cNvSpPr>
            <a:spLocks noGrp="1"/>
          </p:cNvSpPr>
          <p:nvPr>
            <p:ph type="title"/>
          </p:nvPr>
        </p:nvSpPr>
        <p:spPr>
          <a:xfrm>
            <a:off x="5017780" y="2610587"/>
            <a:ext cx="2156439" cy="615553"/>
          </a:xfrm>
        </p:spPr>
        <p:txBody>
          <a:bodyPr/>
          <a:lstStyle/>
          <a:p>
            <a:r>
              <a:rPr lang="en-GB" dirty="0"/>
              <a:t>     </a:t>
            </a:r>
          </a:p>
        </p:txBody>
      </p:sp>
      <p:sp>
        <p:nvSpPr>
          <p:cNvPr id="3" name="Text Placeholder 2">
            <a:extLst>
              <a:ext uri="{FF2B5EF4-FFF2-40B4-BE49-F238E27FC236}">
                <a16:creationId xmlns:a16="http://schemas.microsoft.com/office/drawing/2014/main" id="{8FAD162A-D9EA-225E-A1B8-5D319CC92D59}"/>
              </a:ext>
            </a:extLst>
          </p:cNvPr>
          <p:cNvSpPr>
            <a:spLocks noGrp="1"/>
          </p:cNvSpPr>
          <p:nvPr>
            <p:ph type="body" idx="1"/>
          </p:nvPr>
        </p:nvSpPr>
        <p:spPr>
          <a:xfrm>
            <a:off x="942357" y="1802663"/>
            <a:ext cx="10307285" cy="430887"/>
          </a:xfrm>
        </p:spPr>
        <p:txBody>
          <a:bodyPr/>
          <a:lstStyle/>
          <a:p>
            <a:r>
              <a:rPr lang="en-GB" dirty="0"/>
              <a:t>      </a:t>
            </a:r>
          </a:p>
        </p:txBody>
      </p:sp>
      <p:sp>
        <p:nvSpPr>
          <p:cNvPr id="5" name="Slide Number Placeholder 4">
            <a:extLst>
              <a:ext uri="{FF2B5EF4-FFF2-40B4-BE49-F238E27FC236}">
                <a16:creationId xmlns:a16="http://schemas.microsoft.com/office/drawing/2014/main" id="{7D5075FF-78DD-124F-A671-C710C26DA7F3}"/>
              </a:ext>
            </a:extLst>
          </p:cNvPr>
          <p:cNvSpPr>
            <a:spLocks noGrp="1"/>
          </p:cNvSpPr>
          <p:nvPr>
            <p:ph type="sldNum" sz="quarter" idx="7"/>
          </p:nvPr>
        </p:nvSpPr>
        <p:spPr>
          <a:xfrm>
            <a:off x="11152732" y="6466776"/>
            <a:ext cx="582067" cy="391224"/>
          </a:xfrm>
        </p:spPr>
        <p:txBody>
          <a:bodyPr/>
          <a:lstStyle/>
          <a:p>
            <a:pPr marL="38100">
              <a:lnSpc>
                <a:spcPts val="1240"/>
              </a:lnSpc>
            </a:pPr>
            <a:fld id="{81D60167-4931-47E6-BA6A-407CBD079E47}" type="slidenum">
              <a:rPr lang="en-GB" smtClean="0"/>
              <a:t>10</a:t>
            </a:fld>
            <a:endParaRPr lang="en-GB" dirty="0"/>
          </a:p>
        </p:txBody>
      </p:sp>
      <p:sp>
        <p:nvSpPr>
          <p:cNvPr id="7" name="TextBox 6">
            <a:extLst>
              <a:ext uri="{FF2B5EF4-FFF2-40B4-BE49-F238E27FC236}">
                <a16:creationId xmlns:a16="http://schemas.microsoft.com/office/drawing/2014/main" id="{EEC687D5-05E5-C36B-1FB4-36B64AD026E1}"/>
              </a:ext>
            </a:extLst>
          </p:cNvPr>
          <p:cNvSpPr txBox="1"/>
          <p:nvPr/>
        </p:nvSpPr>
        <p:spPr>
          <a:xfrm>
            <a:off x="605971" y="471864"/>
            <a:ext cx="4960204" cy="707886"/>
          </a:xfrm>
          <a:prstGeom prst="rect">
            <a:avLst/>
          </a:prstGeom>
          <a:noFill/>
        </p:spPr>
        <p:txBody>
          <a:bodyPr wrap="none" rtlCol="0">
            <a:spAutoFit/>
          </a:bodyPr>
          <a:lstStyle/>
          <a:p>
            <a:r>
              <a:rPr lang="en-GB" sz="4000" dirty="0">
                <a:latin typeface="+mj-lt"/>
              </a:rPr>
              <a:t>Architecture Diagrams:</a:t>
            </a:r>
          </a:p>
        </p:txBody>
      </p:sp>
      <p:sp>
        <p:nvSpPr>
          <p:cNvPr id="10" name="Date Placeholder 9">
            <a:extLst>
              <a:ext uri="{FF2B5EF4-FFF2-40B4-BE49-F238E27FC236}">
                <a16:creationId xmlns:a16="http://schemas.microsoft.com/office/drawing/2014/main" id="{46E11BE6-B1C9-EFE3-13D7-85EE77129444}"/>
              </a:ext>
            </a:extLst>
          </p:cNvPr>
          <p:cNvSpPr>
            <a:spLocks noGrp="1"/>
          </p:cNvSpPr>
          <p:nvPr>
            <p:ph type="dt" sz="half" idx="6"/>
          </p:nvPr>
        </p:nvSpPr>
        <p:spPr>
          <a:xfrm>
            <a:off x="685800" y="6562278"/>
            <a:ext cx="3886834" cy="177800"/>
          </a:xfrm>
        </p:spPr>
        <p:txBody>
          <a:bodyPr/>
          <a:lstStyle/>
          <a:p>
            <a:pPr marL="12700">
              <a:lnSpc>
                <a:spcPts val="1240"/>
              </a:lnSpc>
            </a:pPr>
            <a:fld id="{06C9D15C-D8F6-408A-AD49-BB2A28646A72}" type="datetime1">
              <a:rPr lang="LID4096" spc="-5" smtClean="0"/>
              <a:t>01/24/2025</a:t>
            </a:fld>
            <a:endParaRPr lang="en-GB" spc="-5" dirty="0"/>
          </a:p>
        </p:txBody>
      </p:sp>
      <p:pic>
        <p:nvPicPr>
          <p:cNvPr id="15" name="Picture 14">
            <a:extLst>
              <a:ext uri="{FF2B5EF4-FFF2-40B4-BE49-F238E27FC236}">
                <a16:creationId xmlns:a16="http://schemas.microsoft.com/office/drawing/2014/main" id="{368605F8-0961-AFFF-29DB-EE80F571849F}"/>
              </a:ext>
            </a:extLst>
          </p:cNvPr>
          <p:cNvPicPr>
            <a:picLocks noChangeAspect="1"/>
          </p:cNvPicPr>
          <p:nvPr/>
        </p:nvPicPr>
        <p:blipFill>
          <a:blip r:embed="rId2"/>
          <a:stretch>
            <a:fillRect/>
          </a:stretch>
        </p:blipFill>
        <p:spPr>
          <a:xfrm>
            <a:off x="10849353" y="234444"/>
            <a:ext cx="1188823" cy="1182727"/>
          </a:xfrm>
          <a:prstGeom prst="rect">
            <a:avLst/>
          </a:prstGeom>
        </p:spPr>
      </p:pic>
      <p:sp>
        <p:nvSpPr>
          <p:cNvPr id="17" name="TextBox 16">
            <a:extLst>
              <a:ext uri="{FF2B5EF4-FFF2-40B4-BE49-F238E27FC236}">
                <a16:creationId xmlns:a16="http://schemas.microsoft.com/office/drawing/2014/main" id="{C6EFA0FD-8248-22B7-AA1E-4320BB8822EB}"/>
              </a:ext>
            </a:extLst>
          </p:cNvPr>
          <p:cNvSpPr txBox="1"/>
          <p:nvPr/>
        </p:nvSpPr>
        <p:spPr>
          <a:xfrm>
            <a:off x="685800" y="1596974"/>
            <a:ext cx="7620000" cy="4342856"/>
          </a:xfrm>
          <a:prstGeom prst="rect">
            <a:avLst/>
          </a:prstGeom>
          <a:noFill/>
        </p:spPr>
        <p:txBody>
          <a:bodyPr wrap="square" rtlCol="0">
            <a:spAutoFit/>
          </a:bodyPr>
          <a:lstStyle/>
          <a:p>
            <a:pPr marL="342900" indent="-342900">
              <a:lnSpc>
                <a:spcPct val="150000"/>
              </a:lnSpc>
              <a:buFont typeface="+mj-lt"/>
              <a:buAutoNum type="arabicPeriod"/>
            </a:pPr>
            <a:r>
              <a:rPr lang="en-GB" sz="2800" dirty="0"/>
              <a:t>ESP32</a:t>
            </a:r>
          </a:p>
          <a:p>
            <a:pPr marL="342900" indent="-342900">
              <a:lnSpc>
                <a:spcPct val="150000"/>
              </a:lnSpc>
              <a:buFont typeface="+mj-lt"/>
              <a:buAutoNum type="arabicPeriod"/>
            </a:pPr>
            <a:r>
              <a:rPr lang="en-GB" sz="2800" dirty="0"/>
              <a:t>ESP8266</a:t>
            </a:r>
          </a:p>
          <a:p>
            <a:pPr marL="342900" indent="-342900">
              <a:lnSpc>
                <a:spcPct val="150000"/>
              </a:lnSpc>
              <a:buFont typeface="+mj-lt"/>
              <a:buAutoNum type="arabicPeriod"/>
            </a:pPr>
            <a:r>
              <a:rPr lang="en-GB" sz="2800" dirty="0"/>
              <a:t>Arduino Uno</a:t>
            </a:r>
          </a:p>
          <a:p>
            <a:pPr marL="342900" indent="-342900">
              <a:lnSpc>
                <a:spcPct val="150000"/>
              </a:lnSpc>
              <a:buFont typeface="+mj-lt"/>
              <a:buAutoNum type="arabicPeriod"/>
            </a:pPr>
            <a:r>
              <a:rPr lang="en-GB" sz="2800" dirty="0"/>
              <a:t>PM2.5 &amp; PM10 Sensors</a:t>
            </a:r>
          </a:p>
          <a:p>
            <a:pPr marL="342900" indent="-342900">
              <a:lnSpc>
                <a:spcPct val="150000"/>
              </a:lnSpc>
              <a:buFont typeface="+mj-lt"/>
              <a:buAutoNum type="arabicPeriod"/>
            </a:pPr>
            <a:r>
              <a:rPr lang="en-GB" sz="2800" dirty="0"/>
              <a:t>MQ-Gas Sensors (MQ-05 &amp;MQ-135)</a:t>
            </a:r>
          </a:p>
          <a:p>
            <a:pPr marL="342900" indent="-342900">
              <a:lnSpc>
                <a:spcPct val="150000"/>
              </a:lnSpc>
              <a:buFont typeface="+mj-lt"/>
              <a:buAutoNum type="arabicPeriod"/>
            </a:pPr>
            <a:r>
              <a:rPr lang="en-GB" sz="2800" dirty="0"/>
              <a:t>Blynk App</a:t>
            </a:r>
            <a:br>
              <a:rPr lang="en-GB" dirty="0"/>
            </a:br>
            <a:endParaRPr lang="en-GB" dirty="0"/>
          </a:p>
        </p:txBody>
      </p:sp>
    </p:spTree>
    <p:extLst>
      <p:ext uri="{BB962C8B-B14F-4D97-AF65-F5344CB8AC3E}">
        <p14:creationId xmlns:p14="http://schemas.microsoft.com/office/powerpoint/2010/main" val="99974138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AA47D-4D6F-16A3-0E7D-BCFD5AA842F0}"/>
              </a:ext>
            </a:extLst>
          </p:cNvPr>
          <p:cNvSpPr>
            <a:spLocks noGrp="1"/>
          </p:cNvSpPr>
          <p:nvPr>
            <p:ph type="title"/>
          </p:nvPr>
        </p:nvSpPr>
        <p:spPr>
          <a:xfrm>
            <a:off x="533400" y="331113"/>
            <a:ext cx="7552239" cy="1292662"/>
          </a:xfrm>
        </p:spPr>
        <p:txBody>
          <a:bodyPr/>
          <a:lstStyle/>
          <a:p>
            <a:r>
              <a:rPr lang="en-GB" sz="4400" dirty="0">
                <a:latin typeface="+mj-lt"/>
              </a:rPr>
              <a:t>ESP32 Diagram:</a:t>
            </a:r>
            <a:br>
              <a:rPr lang="en-GB" sz="4000" dirty="0">
                <a:latin typeface="+mj-lt"/>
              </a:rPr>
            </a:br>
            <a:endParaRPr lang="en-GB" dirty="0"/>
          </a:p>
        </p:txBody>
      </p:sp>
      <p:sp>
        <p:nvSpPr>
          <p:cNvPr id="3" name="Text Placeholder 2">
            <a:extLst>
              <a:ext uri="{FF2B5EF4-FFF2-40B4-BE49-F238E27FC236}">
                <a16:creationId xmlns:a16="http://schemas.microsoft.com/office/drawing/2014/main" id="{3D3A71A1-4489-AFA1-4298-52316D974780}"/>
              </a:ext>
            </a:extLst>
          </p:cNvPr>
          <p:cNvSpPr>
            <a:spLocks noGrp="1"/>
          </p:cNvSpPr>
          <p:nvPr>
            <p:ph type="body" idx="1"/>
          </p:nvPr>
        </p:nvSpPr>
        <p:spPr>
          <a:xfrm>
            <a:off x="6115050" y="2971800"/>
            <a:ext cx="1953243" cy="176150"/>
          </a:xfrm>
        </p:spPr>
        <p:txBody>
          <a:bodyPr/>
          <a:lstStyle/>
          <a:p>
            <a:r>
              <a:rPr lang="en-GB" dirty="0"/>
              <a:t> </a:t>
            </a:r>
          </a:p>
        </p:txBody>
      </p:sp>
      <p:sp>
        <p:nvSpPr>
          <p:cNvPr id="4" name="Date Placeholder 3">
            <a:extLst>
              <a:ext uri="{FF2B5EF4-FFF2-40B4-BE49-F238E27FC236}">
                <a16:creationId xmlns:a16="http://schemas.microsoft.com/office/drawing/2014/main" id="{2F21D34C-395D-D553-AF59-36101B47CC9B}"/>
              </a:ext>
            </a:extLst>
          </p:cNvPr>
          <p:cNvSpPr>
            <a:spLocks noGrp="1"/>
          </p:cNvSpPr>
          <p:nvPr>
            <p:ph type="dt" sz="half" idx="6"/>
          </p:nvPr>
        </p:nvSpPr>
        <p:spPr>
          <a:xfrm>
            <a:off x="533400" y="6504810"/>
            <a:ext cx="3886834" cy="177800"/>
          </a:xfrm>
        </p:spPr>
        <p:txBody>
          <a:bodyPr/>
          <a:lstStyle/>
          <a:p>
            <a:pPr marL="12700">
              <a:lnSpc>
                <a:spcPts val="1240"/>
              </a:lnSpc>
            </a:pPr>
            <a:fld id="{25D5C1E0-21E3-464B-AD13-2014201F9F44}"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E675DB30-0021-F83B-535D-692A6F0A3C93}"/>
              </a:ext>
            </a:extLst>
          </p:cNvPr>
          <p:cNvSpPr>
            <a:spLocks noGrp="1"/>
          </p:cNvSpPr>
          <p:nvPr>
            <p:ph type="sldNum" sz="quarter" idx="7"/>
          </p:nvPr>
        </p:nvSpPr>
        <p:spPr>
          <a:xfrm>
            <a:off x="11152732" y="6466776"/>
            <a:ext cx="353467" cy="215834"/>
          </a:xfrm>
        </p:spPr>
        <p:txBody>
          <a:bodyPr/>
          <a:lstStyle/>
          <a:p>
            <a:pPr marL="38100">
              <a:lnSpc>
                <a:spcPts val="1240"/>
              </a:lnSpc>
            </a:pPr>
            <a:fld id="{81D60167-4931-47E6-BA6A-407CBD079E47}" type="slidenum">
              <a:rPr lang="en-GB" smtClean="0"/>
              <a:t>11</a:t>
            </a:fld>
            <a:endParaRPr lang="en-GB" dirty="0"/>
          </a:p>
        </p:txBody>
      </p:sp>
      <p:pic>
        <p:nvPicPr>
          <p:cNvPr id="7" name="Picture 6">
            <a:extLst>
              <a:ext uri="{FF2B5EF4-FFF2-40B4-BE49-F238E27FC236}">
                <a16:creationId xmlns:a16="http://schemas.microsoft.com/office/drawing/2014/main" id="{B4AAD81B-C8E9-29AD-23FA-35E72BD2D2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74861"/>
            <a:ext cx="11277600" cy="4572000"/>
          </a:xfrm>
          <a:prstGeom prst="rect">
            <a:avLst/>
          </a:prstGeom>
        </p:spPr>
      </p:pic>
      <p:pic>
        <p:nvPicPr>
          <p:cNvPr id="8" name="Picture 7">
            <a:extLst>
              <a:ext uri="{FF2B5EF4-FFF2-40B4-BE49-F238E27FC236}">
                <a16:creationId xmlns:a16="http://schemas.microsoft.com/office/drawing/2014/main" id="{C77F9758-087B-E2C6-4505-FC1876F8DE46}"/>
              </a:ext>
            </a:extLst>
          </p:cNvPr>
          <p:cNvPicPr>
            <a:picLocks noChangeAspect="1"/>
          </p:cNvPicPr>
          <p:nvPr/>
        </p:nvPicPr>
        <p:blipFill>
          <a:blip r:embed="rId3"/>
          <a:stretch>
            <a:fillRect/>
          </a:stretch>
        </p:blipFill>
        <p:spPr>
          <a:xfrm>
            <a:off x="10911787" y="82176"/>
            <a:ext cx="1188823" cy="1182727"/>
          </a:xfrm>
          <a:prstGeom prst="rect">
            <a:avLst/>
          </a:prstGeom>
        </p:spPr>
      </p:pic>
    </p:spTree>
    <p:extLst>
      <p:ext uri="{BB962C8B-B14F-4D97-AF65-F5344CB8AC3E}">
        <p14:creationId xmlns:p14="http://schemas.microsoft.com/office/powerpoint/2010/main" val="15012050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B8B9-E258-5204-02D1-7B7A7AF3D82C}"/>
              </a:ext>
            </a:extLst>
          </p:cNvPr>
          <p:cNvSpPr>
            <a:spLocks noGrp="1"/>
          </p:cNvSpPr>
          <p:nvPr>
            <p:ph type="title"/>
          </p:nvPr>
        </p:nvSpPr>
        <p:spPr>
          <a:xfrm>
            <a:off x="381000" y="228783"/>
            <a:ext cx="7467600" cy="677108"/>
          </a:xfrm>
        </p:spPr>
        <p:txBody>
          <a:bodyPr/>
          <a:lstStyle/>
          <a:p>
            <a:r>
              <a:rPr lang="en-GB" sz="4400" dirty="0">
                <a:latin typeface="+mj-lt"/>
              </a:rPr>
              <a:t>ESP8266 Diagram:</a:t>
            </a:r>
            <a:endParaRPr lang="en-GB" sz="4400" dirty="0"/>
          </a:p>
        </p:txBody>
      </p:sp>
      <p:sp>
        <p:nvSpPr>
          <p:cNvPr id="3" name="Text Placeholder 2">
            <a:extLst>
              <a:ext uri="{FF2B5EF4-FFF2-40B4-BE49-F238E27FC236}">
                <a16:creationId xmlns:a16="http://schemas.microsoft.com/office/drawing/2014/main" id="{2CED694A-5623-C30C-2F13-FD8C5DA9AE91}"/>
              </a:ext>
            </a:extLst>
          </p:cNvPr>
          <p:cNvSpPr>
            <a:spLocks noGrp="1"/>
          </p:cNvSpPr>
          <p:nvPr>
            <p:ph type="body" idx="1"/>
          </p:nvPr>
        </p:nvSpPr>
        <p:spPr>
          <a:xfrm>
            <a:off x="942357" y="2133600"/>
            <a:ext cx="1648443" cy="430887"/>
          </a:xfrm>
        </p:spPr>
        <p:txBody>
          <a:bodyPr/>
          <a:lstStyle/>
          <a:p>
            <a:r>
              <a:rPr lang="en-GB" dirty="0"/>
              <a:t>  </a:t>
            </a:r>
          </a:p>
        </p:txBody>
      </p:sp>
      <p:sp>
        <p:nvSpPr>
          <p:cNvPr id="5" name="Slide Number Placeholder 4">
            <a:extLst>
              <a:ext uri="{FF2B5EF4-FFF2-40B4-BE49-F238E27FC236}">
                <a16:creationId xmlns:a16="http://schemas.microsoft.com/office/drawing/2014/main" id="{0A703C43-1EBF-097F-F755-A82CE5AE3612}"/>
              </a:ext>
            </a:extLst>
          </p:cNvPr>
          <p:cNvSpPr>
            <a:spLocks noGrp="1"/>
          </p:cNvSpPr>
          <p:nvPr>
            <p:ph type="sldNum" sz="quarter" idx="7"/>
          </p:nvPr>
        </p:nvSpPr>
        <p:spPr>
          <a:xfrm>
            <a:off x="11152732" y="6466775"/>
            <a:ext cx="353467" cy="211615"/>
          </a:xfrm>
        </p:spPr>
        <p:txBody>
          <a:bodyPr/>
          <a:lstStyle/>
          <a:p>
            <a:pPr marL="38100">
              <a:lnSpc>
                <a:spcPts val="1240"/>
              </a:lnSpc>
            </a:pPr>
            <a:fld id="{81D60167-4931-47E6-BA6A-407CBD079E47}" type="slidenum">
              <a:rPr lang="en-GB" smtClean="0"/>
              <a:t>12</a:t>
            </a:fld>
            <a:endParaRPr lang="en-GB" dirty="0"/>
          </a:p>
        </p:txBody>
      </p:sp>
      <p:sp>
        <p:nvSpPr>
          <p:cNvPr id="8" name="Date Placeholder 7">
            <a:extLst>
              <a:ext uri="{FF2B5EF4-FFF2-40B4-BE49-F238E27FC236}">
                <a16:creationId xmlns:a16="http://schemas.microsoft.com/office/drawing/2014/main" id="{7C5AC172-5143-C1FA-4B28-26CC9762C85B}"/>
              </a:ext>
            </a:extLst>
          </p:cNvPr>
          <p:cNvSpPr>
            <a:spLocks noGrp="1"/>
          </p:cNvSpPr>
          <p:nvPr>
            <p:ph type="dt" sz="half" idx="6"/>
          </p:nvPr>
        </p:nvSpPr>
        <p:spPr>
          <a:xfrm>
            <a:off x="942357" y="6466776"/>
            <a:ext cx="3886834" cy="177800"/>
          </a:xfrm>
        </p:spPr>
        <p:txBody>
          <a:bodyPr/>
          <a:lstStyle/>
          <a:p>
            <a:pPr marL="12700">
              <a:lnSpc>
                <a:spcPts val="1240"/>
              </a:lnSpc>
            </a:pPr>
            <a:fld id="{B8A65F91-F553-4983-9DD7-5DC2987CE34E}" type="datetime1">
              <a:rPr lang="LID4096" spc="-5" smtClean="0"/>
              <a:t>01/24/2025</a:t>
            </a:fld>
            <a:endParaRPr lang="en-GB" spc="-5" dirty="0"/>
          </a:p>
        </p:txBody>
      </p:sp>
      <p:pic>
        <p:nvPicPr>
          <p:cNvPr id="10" name="Picture 9">
            <a:extLst>
              <a:ext uri="{FF2B5EF4-FFF2-40B4-BE49-F238E27FC236}">
                <a16:creationId xmlns:a16="http://schemas.microsoft.com/office/drawing/2014/main" id="{58E05405-BFEC-DBED-0C9F-15F1AED16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84795"/>
            <a:ext cx="11506200" cy="4879276"/>
          </a:xfrm>
          <a:prstGeom prst="rect">
            <a:avLst/>
          </a:prstGeom>
        </p:spPr>
      </p:pic>
      <p:pic>
        <p:nvPicPr>
          <p:cNvPr id="11" name="Picture 10">
            <a:extLst>
              <a:ext uri="{FF2B5EF4-FFF2-40B4-BE49-F238E27FC236}">
                <a16:creationId xmlns:a16="http://schemas.microsoft.com/office/drawing/2014/main" id="{81C7F0A2-C373-5878-127D-32A5C5B88901}"/>
              </a:ext>
            </a:extLst>
          </p:cNvPr>
          <p:cNvPicPr>
            <a:picLocks noChangeAspect="1"/>
          </p:cNvPicPr>
          <p:nvPr/>
        </p:nvPicPr>
        <p:blipFill>
          <a:blip r:embed="rId3"/>
          <a:stretch>
            <a:fillRect/>
          </a:stretch>
        </p:blipFill>
        <p:spPr>
          <a:xfrm>
            <a:off x="10911787" y="179610"/>
            <a:ext cx="1188823" cy="1182727"/>
          </a:xfrm>
          <a:prstGeom prst="rect">
            <a:avLst/>
          </a:prstGeom>
        </p:spPr>
      </p:pic>
    </p:spTree>
    <p:extLst>
      <p:ext uri="{BB962C8B-B14F-4D97-AF65-F5344CB8AC3E}">
        <p14:creationId xmlns:p14="http://schemas.microsoft.com/office/powerpoint/2010/main" val="17403270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1DFD-D6D7-F163-AFAB-5126C5E2D940}"/>
              </a:ext>
            </a:extLst>
          </p:cNvPr>
          <p:cNvSpPr>
            <a:spLocks noGrp="1"/>
          </p:cNvSpPr>
          <p:nvPr>
            <p:ph type="title"/>
          </p:nvPr>
        </p:nvSpPr>
        <p:spPr>
          <a:xfrm>
            <a:off x="457200" y="399915"/>
            <a:ext cx="5486400" cy="677108"/>
          </a:xfrm>
        </p:spPr>
        <p:txBody>
          <a:bodyPr/>
          <a:lstStyle/>
          <a:p>
            <a:r>
              <a:rPr lang="en-GB" sz="4400" dirty="0"/>
              <a:t>Arduino Uno Diagram:</a:t>
            </a:r>
          </a:p>
        </p:txBody>
      </p:sp>
      <p:sp>
        <p:nvSpPr>
          <p:cNvPr id="3" name="Text Placeholder 2">
            <a:extLst>
              <a:ext uri="{FF2B5EF4-FFF2-40B4-BE49-F238E27FC236}">
                <a16:creationId xmlns:a16="http://schemas.microsoft.com/office/drawing/2014/main" id="{F5135254-F290-CEF2-CAC3-B39BD990B8C4}"/>
              </a:ext>
            </a:extLst>
          </p:cNvPr>
          <p:cNvSpPr>
            <a:spLocks noGrp="1"/>
          </p:cNvSpPr>
          <p:nvPr>
            <p:ph type="body" idx="1"/>
          </p:nvPr>
        </p:nvSpPr>
        <p:spPr>
          <a:xfrm>
            <a:off x="3048000" y="3360555"/>
            <a:ext cx="2486643" cy="430887"/>
          </a:xfrm>
        </p:spPr>
        <p:txBody>
          <a:bodyPr/>
          <a:lstStyle/>
          <a:p>
            <a:r>
              <a:rPr lang="en-GB" dirty="0"/>
              <a:t> </a:t>
            </a:r>
          </a:p>
        </p:txBody>
      </p:sp>
      <p:sp>
        <p:nvSpPr>
          <p:cNvPr id="4" name="Date Placeholder 3">
            <a:extLst>
              <a:ext uri="{FF2B5EF4-FFF2-40B4-BE49-F238E27FC236}">
                <a16:creationId xmlns:a16="http://schemas.microsoft.com/office/drawing/2014/main" id="{98292E30-63C4-8109-D7FE-3ED093851BC7}"/>
              </a:ext>
            </a:extLst>
          </p:cNvPr>
          <p:cNvSpPr>
            <a:spLocks noGrp="1"/>
          </p:cNvSpPr>
          <p:nvPr>
            <p:ph type="dt" sz="half" idx="6"/>
          </p:nvPr>
        </p:nvSpPr>
        <p:spPr>
          <a:xfrm>
            <a:off x="762000" y="6466776"/>
            <a:ext cx="3886834" cy="177800"/>
          </a:xfrm>
        </p:spPr>
        <p:txBody>
          <a:bodyPr/>
          <a:lstStyle/>
          <a:p>
            <a:pPr marL="12700">
              <a:lnSpc>
                <a:spcPts val="1240"/>
              </a:lnSpc>
            </a:pPr>
            <a:fld id="{226DA364-CBBC-4D19-856A-5F3444F7AB58}"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643259C0-9D36-A563-5707-D25F17487C77}"/>
              </a:ext>
            </a:extLst>
          </p:cNvPr>
          <p:cNvSpPr>
            <a:spLocks noGrp="1"/>
          </p:cNvSpPr>
          <p:nvPr>
            <p:ph type="sldNum" sz="quarter" idx="7"/>
          </p:nvPr>
        </p:nvSpPr>
        <p:spPr>
          <a:xfrm>
            <a:off x="11152732" y="6466776"/>
            <a:ext cx="277267" cy="177800"/>
          </a:xfrm>
        </p:spPr>
        <p:txBody>
          <a:bodyPr/>
          <a:lstStyle/>
          <a:p>
            <a:pPr marL="38100">
              <a:lnSpc>
                <a:spcPts val="1240"/>
              </a:lnSpc>
            </a:pPr>
            <a:fld id="{81D60167-4931-47E6-BA6A-407CBD079E47}" type="slidenum">
              <a:rPr lang="en-GB" smtClean="0"/>
              <a:t>13</a:t>
            </a:fld>
            <a:endParaRPr lang="en-GB" dirty="0"/>
          </a:p>
        </p:txBody>
      </p:sp>
      <p:pic>
        <p:nvPicPr>
          <p:cNvPr id="10" name="Picture 9">
            <a:extLst>
              <a:ext uri="{FF2B5EF4-FFF2-40B4-BE49-F238E27FC236}">
                <a16:creationId xmlns:a16="http://schemas.microsoft.com/office/drawing/2014/main" id="{D79442EC-BC7D-0C90-5FC6-08A4D540D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798" y="1447800"/>
            <a:ext cx="11506201" cy="4495801"/>
          </a:xfrm>
          <a:prstGeom prst="rect">
            <a:avLst/>
          </a:prstGeom>
        </p:spPr>
      </p:pic>
      <p:pic>
        <p:nvPicPr>
          <p:cNvPr id="11" name="Picture 10">
            <a:extLst>
              <a:ext uri="{FF2B5EF4-FFF2-40B4-BE49-F238E27FC236}">
                <a16:creationId xmlns:a16="http://schemas.microsoft.com/office/drawing/2014/main" id="{B7C2217C-EF1E-A8A3-5390-D4F1E17463E4}"/>
              </a:ext>
            </a:extLst>
          </p:cNvPr>
          <p:cNvPicPr>
            <a:picLocks noChangeAspect="1"/>
          </p:cNvPicPr>
          <p:nvPr/>
        </p:nvPicPr>
        <p:blipFill>
          <a:blip r:embed="rId3"/>
          <a:stretch>
            <a:fillRect/>
          </a:stretch>
        </p:blipFill>
        <p:spPr>
          <a:xfrm>
            <a:off x="10835587" y="147105"/>
            <a:ext cx="1188823" cy="1182727"/>
          </a:xfrm>
          <a:prstGeom prst="rect">
            <a:avLst/>
          </a:prstGeom>
        </p:spPr>
      </p:pic>
    </p:spTree>
    <p:extLst>
      <p:ext uri="{BB962C8B-B14F-4D97-AF65-F5344CB8AC3E}">
        <p14:creationId xmlns:p14="http://schemas.microsoft.com/office/powerpoint/2010/main" val="302575406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2F961-4A70-901F-94D1-6082980C9E70}"/>
              </a:ext>
            </a:extLst>
          </p:cNvPr>
          <p:cNvSpPr>
            <a:spLocks noGrp="1"/>
          </p:cNvSpPr>
          <p:nvPr>
            <p:ph type="title"/>
          </p:nvPr>
        </p:nvSpPr>
        <p:spPr>
          <a:xfrm>
            <a:off x="609600" y="304801"/>
            <a:ext cx="5257800" cy="677108"/>
          </a:xfrm>
        </p:spPr>
        <p:txBody>
          <a:bodyPr/>
          <a:lstStyle/>
          <a:p>
            <a:r>
              <a:rPr lang="en-GB" sz="4400" dirty="0">
                <a:latin typeface="+mj-lt"/>
              </a:rPr>
              <a:t>PM Sensors Diagram:</a:t>
            </a:r>
          </a:p>
        </p:txBody>
      </p:sp>
      <p:sp>
        <p:nvSpPr>
          <p:cNvPr id="3" name="Text Placeholder 2">
            <a:extLst>
              <a:ext uri="{FF2B5EF4-FFF2-40B4-BE49-F238E27FC236}">
                <a16:creationId xmlns:a16="http://schemas.microsoft.com/office/drawing/2014/main" id="{8E680854-A9A0-04A9-D910-660EC294BC35}"/>
              </a:ext>
            </a:extLst>
          </p:cNvPr>
          <p:cNvSpPr>
            <a:spLocks noGrp="1"/>
          </p:cNvSpPr>
          <p:nvPr>
            <p:ph type="body" idx="1"/>
          </p:nvPr>
        </p:nvSpPr>
        <p:spPr>
          <a:xfrm>
            <a:off x="5791200" y="3348888"/>
            <a:ext cx="1953243" cy="45719"/>
          </a:xfrm>
        </p:spPr>
        <p:txBody>
          <a:bodyPr/>
          <a:lstStyle/>
          <a:p>
            <a:r>
              <a:rPr lang="en-GB" dirty="0"/>
              <a:t>   </a:t>
            </a:r>
          </a:p>
        </p:txBody>
      </p:sp>
      <p:sp>
        <p:nvSpPr>
          <p:cNvPr id="4" name="Date Placeholder 3">
            <a:extLst>
              <a:ext uri="{FF2B5EF4-FFF2-40B4-BE49-F238E27FC236}">
                <a16:creationId xmlns:a16="http://schemas.microsoft.com/office/drawing/2014/main" id="{8225EF6D-0D61-97C1-494A-EEA54D3D6449}"/>
              </a:ext>
            </a:extLst>
          </p:cNvPr>
          <p:cNvSpPr>
            <a:spLocks noGrp="1"/>
          </p:cNvSpPr>
          <p:nvPr>
            <p:ph type="dt" sz="half" idx="6"/>
          </p:nvPr>
        </p:nvSpPr>
        <p:spPr>
          <a:xfrm>
            <a:off x="685800" y="6533768"/>
            <a:ext cx="3886834" cy="177800"/>
          </a:xfrm>
        </p:spPr>
        <p:txBody>
          <a:bodyPr/>
          <a:lstStyle/>
          <a:p>
            <a:pPr marL="12700">
              <a:lnSpc>
                <a:spcPts val="1240"/>
              </a:lnSpc>
            </a:pPr>
            <a:fld id="{72CB6DD3-8190-418F-A1DB-0F19BD910999}"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11299E7A-57C9-56D6-D18E-BE9615C7C4E1}"/>
              </a:ext>
            </a:extLst>
          </p:cNvPr>
          <p:cNvSpPr>
            <a:spLocks noGrp="1"/>
          </p:cNvSpPr>
          <p:nvPr>
            <p:ph type="sldNum" sz="quarter" idx="7"/>
          </p:nvPr>
        </p:nvSpPr>
        <p:spPr>
          <a:xfrm>
            <a:off x="11152732" y="6466776"/>
            <a:ext cx="505867" cy="177800"/>
          </a:xfrm>
        </p:spPr>
        <p:txBody>
          <a:bodyPr/>
          <a:lstStyle/>
          <a:p>
            <a:pPr marL="38100">
              <a:lnSpc>
                <a:spcPts val="1240"/>
              </a:lnSpc>
            </a:pPr>
            <a:fld id="{81D60167-4931-47E6-BA6A-407CBD079E47}" type="slidenum">
              <a:rPr lang="en-GB" smtClean="0"/>
              <a:t>14</a:t>
            </a:fld>
            <a:endParaRPr lang="en-GB" dirty="0"/>
          </a:p>
        </p:txBody>
      </p:sp>
      <p:pic>
        <p:nvPicPr>
          <p:cNvPr id="10" name="Picture 9">
            <a:extLst>
              <a:ext uri="{FF2B5EF4-FFF2-40B4-BE49-F238E27FC236}">
                <a16:creationId xmlns:a16="http://schemas.microsoft.com/office/drawing/2014/main" id="{61598559-6EC4-8593-868D-B8C7717E75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5781" y="1676400"/>
            <a:ext cx="11440438" cy="4638676"/>
          </a:xfrm>
          <a:prstGeom prst="rect">
            <a:avLst/>
          </a:prstGeom>
        </p:spPr>
      </p:pic>
      <p:pic>
        <p:nvPicPr>
          <p:cNvPr id="11" name="Picture 10">
            <a:extLst>
              <a:ext uri="{FF2B5EF4-FFF2-40B4-BE49-F238E27FC236}">
                <a16:creationId xmlns:a16="http://schemas.microsoft.com/office/drawing/2014/main" id="{9D23A19E-F807-C205-1A21-EB40CB0B1D44}"/>
              </a:ext>
            </a:extLst>
          </p:cNvPr>
          <p:cNvPicPr>
            <a:picLocks noChangeAspect="1"/>
          </p:cNvPicPr>
          <p:nvPr/>
        </p:nvPicPr>
        <p:blipFill>
          <a:blip r:embed="rId3"/>
          <a:stretch>
            <a:fillRect/>
          </a:stretch>
        </p:blipFill>
        <p:spPr>
          <a:xfrm>
            <a:off x="10896600" y="146427"/>
            <a:ext cx="1188823" cy="1182727"/>
          </a:xfrm>
          <a:prstGeom prst="rect">
            <a:avLst/>
          </a:prstGeom>
        </p:spPr>
      </p:pic>
    </p:spTree>
    <p:extLst>
      <p:ext uri="{BB962C8B-B14F-4D97-AF65-F5344CB8AC3E}">
        <p14:creationId xmlns:p14="http://schemas.microsoft.com/office/powerpoint/2010/main" val="130861385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367B3-6AEB-B1DF-D2D2-079B8EE10177}"/>
              </a:ext>
            </a:extLst>
          </p:cNvPr>
          <p:cNvSpPr>
            <a:spLocks noGrp="1"/>
          </p:cNvSpPr>
          <p:nvPr>
            <p:ph type="title"/>
          </p:nvPr>
        </p:nvSpPr>
        <p:spPr>
          <a:xfrm>
            <a:off x="417205" y="381000"/>
            <a:ext cx="4802495" cy="615553"/>
          </a:xfrm>
        </p:spPr>
        <p:txBody>
          <a:bodyPr/>
          <a:lstStyle/>
          <a:p>
            <a:r>
              <a:rPr lang="en-GB" sz="4000" dirty="0">
                <a:latin typeface="+mj-lt"/>
              </a:rPr>
              <a:t>MQ Sensors Diagram:</a:t>
            </a:r>
            <a:endParaRPr lang="en-GB" dirty="0"/>
          </a:p>
        </p:txBody>
      </p:sp>
      <p:sp>
        <p:nvSpPr>
          <p:cNvPr id="3" name="Text Placeholder 2">
            <a:extLst>
              <a:ext uri="{FF2B5EF4-FFF2-40B4-BE49-F238E27FC236}">
                <a16:creationId xmlns:a16="http://schemas.microsoft.com/office/drawing/2014/main" id="{F67EAB9A-B7F3-BEC7-3AEA-527F4709B1B7}"/>
              </a:ext>
            </a:extLst>
          </p:cNvPr>
          <p:cNvSpPr>
            <a:spLocks noGrp="1"/>
          </p:cNvSpPr>
          <p:nvPr>
            <p:ph type="body" idx="1"/>
          </p:nvPr>
        </p:nvSpPr>
        <p:spPr>
          <a:xfrm>
            <a:off x="7010400" y="4724400"/>
            <a:ext cx="762000" cy="126087"/>
          </a:xfrm>
        </p:spPr>
        <p:txBody>
          <a:bodyPr/>
          <a:lstStyle/>
          <a:p>
            <a:r>
              <a:rPr lang="en-GB" dirty="0"/>
              <a:t> </a:t>
            </a:r>
          </a:p>
        </p:txBody>
      </p:sp>
      <p:sp>
        <p:nvSpPr>
          <p:cNvPr id="4" name="Date Placeholder 3">
            <a:extLst>
              <a:ext uri="{FF2B5EF4-FFF2-40B4-BE49-F238E27FC236}">
                <a16:creationId xmlns:a16="http://schemas.microsoft.com/office/drawing/2014/main" id="{9A01AB1C-2E63-D815-2CEA-15E03851FB81}"/>
              </a:ext>
            </a:extLst>
          </p:cNvPr>
          <p:cNvSpPr>
            <a:spLocks noGrp="1"/>
          </p:cNvSpPr>
          <p:nvPr>
            <p:ph type="dt" sz="half" idx="6"/>
          </p:nvPr>
        </p:nvSpPr>
        <p:spPr>
          <a:xfrm>
            <a:off x="417205" y="6502666"/>
            <a:ext cx="3886834" cy="177800"/>
          </a:xfrm>
        </p:spPr>
        <p:txBody>
          <a:bodyPr/>
          <a:lstStyle/>
          <a:p>
            <a:pPr marL="12700">
              <a:lnSpc>
                <a:spcPts val="1240"/>
              </a:lnSpc>
            </a:pPr>
            <a:fld id="{7DB435B7-9EDC-4454-AB5E-FA6DD15C2F3A}"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6F0B180B-C9A6-DBC9-82C1-541B61588D8F}"/>
              </a:ext>
            </a:extLst>
          </p:cNvPr>
          <p:cNvSpPr>
            <a:spLocks noGrp="1"/>
          </p:cNvSpPr>
          <p:nvPr>
            <p:ph type="sldNum" sz="quarter" idx="7"/>
          </p:nvPr>
        </p:nvSpPr>
        <p:spPr>
          <a:xfrm>
            <a:off x="11152732" y="6400800"/>
            <a:ext cx="353467" cy="213690"/>
          </a:xfrm>
        </p:spPr>
        <p:txBody>
          <a:bodyPr/>
          <a:lstStyle/>
          <a:p>
            <a:pPr marL="38100">
              <a:lnSpc>
                <a:spcPts val="1240"/>
              </a:lnSpc>
            </a:pPr>
            <a:fld id="{81D60167-4931-47E6-BA6A-407CBD079E47}" type="slidenum">
              <a:rPr lang="en-GB" smtClean="0"/>
              <a:t>15</a:t>
            </a:fld>
            <a:endParaRPr lang="en-GB" dirty="0"/>
          </a:p>
        </p:txBody>
      </p:sp>
      <p:pic>
        <p:nvPicPr>
          <p:cNvPr id="8" name="Picture 7">
            <a:extLst>
              <a:ext uri="{FF2B5EF4-FFF2-40B4-BE49-F238E27FC236}">
                <a16:creationId xmlns:a16="http://schemas.microsoft.com/office/drawing/2014/main" id="{9109F42F-96AA-3BF1-A6C0-63FF04B8D4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381125"/>
            <a:ext cx="11658600" cy="5019675"/>
          </a:xfrm>
          <a:prstGeom prst="rect">
            <a:avLst/>
          </a:prstGeom>
        </p:spPr>
      </p:pic>
      <p:pic>
        <p:nvPicPr>
          <p:cNvPr id="9" name="Picture 8">
            <a:extLst>
              <a:ext uri="{FF2B5EF4-FFF2-40B4-BE49-F238E27FC236}">
                <a16:creationId xmlns:a16="http://schemas.microsoft.com/office/drawing/2014/main" id="{582D5963-3B75-98BE-4DB7-1D72F8580566}"/>
              </a:ext>
            </a:extLst>
          </p:cNvPr>
          <p:cNvPicPr>
            <a:picLocks noChangeAspect="1"/>
          </p:cNvPicPr>
          <p:nvPr/>
        </p:nvPicPr>
        <p:blipFill>
          <a:blip r:embed="rId3"/>
          <a:stretch>
            <a:fillRect/>
          </a:stretch>
        </p:blipFill>
        <p:spPr>
          <a:xfrm>
            <a:off x="10911787" y="97412"/>
            <a:ext cx="1188823" cy="1182727"/>
          </a:xfrm>
          <a:prstGeom prst="rect">
            <a:avLst/>
          </a:prstGeom>
        </p:spPr>
      </p:pic>
    </p:spTree>
    <p:extLst>
      <p:ext uri="{BB962C8B-B14F-4D97-AF65-F5344CB8AC3E}">
        <p14:creationId xmlns:p14="http://schemas.microsoft.com/office/powerpoint/2010/main" val="401190181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39FC1-1DE5-F724-C985-E6EBEDFF2692}"/>
              </a:ext>
            </a:extLst>
          </p:cNvPr>
          <p:cNvSpPr>
            <a:spLocks noGrp="1"/>
          </p:cNvSpPr>
          <p:nvPr>
            <p:ph type="title"/>
          </p:nvPr>
        </p:nvSpPr>
        <p:spPr>
          <a:xfrm>
            <a:off x="685800" y="457200"/>
            <a:ext cx="4953000" cy="1354217"/>
          </a:xfrm>
        </p:spPr>
        <p:txBody>
          <a:bodyPr/>
          <a:lstStyle/>
          <a:p>
            <a:r>
              <a:rPr lang="en-GB" sz="4400" dirty="0"/>
              <a:t>Blynk App Diagram:</a:t>
            </a:r>
          </a:p>
        </p:txBody>
      </p:sp>
      <p:sp>
        <p:nvSpPr>
          <p:cNvPr id="3" name="Text Placeholder 2">
            <a:extLst>
              <a:ext uri="{FF2B5EF4-FFF2-40B4-BE49-F238E27FC236}">
                <a16:creationId xmlns:a16="http://schemas.microsoft.com/office/drawing/2014/main" id="{5ED390D3-7EAA-A2A2-5DAC-6A835A444699}"/>
              </a:ext>
            </a:extLst>
          </p:cNvPr>
          <p:cNvSpPr>
            <a:spLocks noGrp="1"/>
          </p:cNvSpPr>
          <p:nvPr>
            <p:ph type="body" idx="1"/>
          </p:nvPr>
        </p:nvSpPr>
        <p:spPr>
          <a:xfrm>
            <a:off x="5791201" y="3028213"/>
            <a:ext cx="304800" cy="95987"/>
          </a:xfrm>
        </p:spPr>
        <p:txBody>
          <a:bodyPr/>
          <a:lstStyle/>
          <a:p>
            <a:r>
              <a:rPr lang="en-GB" dirty="0"/>
              <a:t> </a:t>
            </a:r>
          </a:p>
        </p:txBody>
      </p:sp>
      <p:sp>
        <p:nvSpPr>
          <p:cNvPr id="4" name="Date Placeholder 3">
            <a:extLst>
              <a:ext uri="{FF2B5EF4-FFF2-40B4-BE49-F238E27FC236}">
                <a16:creationId xmlns:a16="http://schemas.microsoft.com/office/drawing/2014/main" id="{540D5301-00F4-C687-A5B8-8A55BAC55F43}"/>
              </a:ext>
            </a:extLst>
          </p:cNvPr>
          <p:cNvSpPr>
            <a:spLocks noGrp="1"/>
          </p:cNvSpPr>
          <p:nvPr>
            <p:ph type="dt" sz="half" idx="6"/>
          </p:nvPr>
        </p:nvSpPr>
        <p:spPr>
          <a:xfrm>
            <a:off x="762000" y="6460995"/>
            <a:ext cx="3886834" cy="177800"/>
          </a:xfrm>
        </p:spPr>
        <p:txBody>
          <a:bodyPr/>
          <a:lstStyle/>
          <a:p>
            <a:pPr marL="12700">
              <a:lnSpc>
                <a:spcPts val="1240"/>
              </a:lnSpc>
            </a:pPr>
            <a:fld id="{98C29EAC-242B-4EFD-BC2A-0A8711A277CF}"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223AE89E-DBD1-28BB-77A2-A8C4800C6D96}"/>
              </a:ext>
            </a:extLst>
          </p:cNvPr>
          <p:cNvSpPr>
            <a:spLocks noGrp="1"/>
          </p:cNvSpPr>
          <p:nvPr>
            <p:ph type="sldNum" sz="quarter" idx="7"/>
          </p:nvPr>
        </p:nvSpPr>
        <p:spPr>
          <a:xfrm>
            <a:off x="11249642" y="6463406"/>
            <a:ext cx="334028" cy="242194"/>
          </a:xfrm>
        </p:spPr>
        <p:txBody>
          <a:bodyPr/>
          <a:lstStyle/>
          <a:p>
            <a:pPr marL="38100">
              <a:lnSpc>
                <a:spcPts val="1240"/>
              </a:lnSpc>
            </a:pPr>
            <a:fld id="{81D60167-4931-47E6-BA6A-407CBD079E47}" type="slidenum">
              <a:rPr lang="en-GB" smtClean="0"/>
              <a:t>16</a:t>
            </a:fld>
            <a:endParaRPr lang="en-GB" dirty="0"/>
          </a:p>
        </p:txBody>
      </p:sp>
      <p:pic>
        <p:nvPicPr>
          <p:cNvPr id="8" name="Picture 7">
            <a:extLst>
              <a:ext uri="{FF2B5EF4-FFF2-40B4-BE49-F238E27FC236}">
                <a16:creationId xmlns:a16="http://schemas.microsoft.com/office/drawing/2014/main" id="{8E21CA99-2976-A540-B3B9-CD514AA735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1525" y="1600200"/>
            <a:ext cx="10972800" cy="4572000"/>
          </a:xfrm>
          <a:prstGeom prst="rect">
            <a:avLst/>
          </a:prstGeom>
        </p:spPr>
      </p:pic>
      <p:pic>
        <p:nvPicPr>
          <p:cNvPr id="9" name="Picture 8">
            <a:extLst>
              <a:ext uri="{FF2B5EF4-FFF2-40B4-BE49-F238E27FC236}">
                <a16:creationId xmlns:a16="http://schemas.microsoft.com/office/drawing/2014/main" id="{B677FDAC-0FB7-6338-1F8A-9CC055F5364D}"/>
              </a:ext>
            </a:extLst>
          </p:cNvPr>
          <p:cNvPicPr>
            <a:picLocks noChangeAspect="1"/>
          </p:cNvPicPr>
          <p:nvPr/>
        </p:nvPicPr>
        <p:blipFill>
          <a:blip r:embed="rId3"/>
          <a:stretch>
            <a:fillRect/>
          </a:stretch>
        </p:blipFill>
        <p:spPr>
          <a:xfrm>
            <a:off x="10822244" y="200025"/>
            <a:ext cx="1188823" cy="1182727"/>
          </a:xfrm>
          <a:prstGeom prst="rect">
            <a:avLst/>
          </a:prstGeom>
        </p:spPr>
      </p:pic>
    </p:spTree>
    <p:extLst>
      <p:ext uri="{BB962C8B-B14F-4D97-AF65-F5344CB8AC3E}">
        <p14:creationId xmlns:p14="http://schemas.microsoft.com/office/powerpoint/2010/main" val="1263008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4382-0C03-05A7-A550-6A13B3AE80C7}"/>
              </a:ext>
            </a:extLst>
          </p:cNvPr>
          <p:cNvSpPr>
            <a:spLocks noGrp="1"/>
          </p:cNvSpPr>
          <p:nvPr>
            <p:ph type="title"/>
          </p:nvPr>
        </p:nvSpPr>
        <p:spPr>
          <a:xfrm>
            <a:off x="533400" y="381000"/>
            <a:ext cx="2156439" cy="1354217"/>
          </a:xfrm>
        </p:spPr>
        <p:txBody>
          <a:bodyPr/>
          <a:lstStyle/>
          <a:p>
            <a:r>
              <a:rPr lang="en-GB" sz="4400" dirty="0"/>
              <a:t> </a:t>
            </a:r>
            <a:r>
              <a:rPr lang="en-GB" sz="4400" dirty="0">
                <a:latin typeface="+mj-lt"/>
              </a:rPr>
              <a:t>Results:</a:t>
            </a:r>
            <a:br>
              <a:rPr lang="en-GB" sz="4400" dirty="0">
                <a:latin typeface="+mj-lt"/>
              </a:rPr>
            </a:br>
            <a:endParaRPr lang="en-GB" sz="4400" dirty="0"/>
          </a:p>
        </p:txBody>
      </p:sp>
      <p:sp>
        <p:nvSpPr>
          <p:cNvPr id="3" name="Text Placeholder 2">
            <a:extLst>
              <a:ext uri="{FF2B5EF4-FFF2-40B4-BE49-F238E27FC236}">
                <a16:creationId xmlns:a16="http://schemas.microsoft.com/office/drawing/2014/main" id="{0486A5F2-8173-5DC7-E3F5-E1D1BA00B9C4}"/>
              </a:ext>
            </a:extLst>
          </p:cNvPr>
          <p:cNvSpPr>
            <a:spLocks noGrp="1"/>
          </p:cNvSpPr>
          <p:nvPr>
            <p:ph type="body" idx="1"/>
          </p:nvPr>
        </p:nvSpPr>
        <p:spPr>
          <a:xfrm>
            <a:off x="5181600" y="3016987"/>
            <a:ext cx="1371600" cy="430887"/>
          </a:xfrm>
        </p:spPr>
        <p:txBody>
          <a:bodyPr/>
          <a:lstStyle/>
          <a:p>
            <a:r>
              <a:rPr lang="en-GB" dirty="0"/>
              <a:t> </a:t>
            </a:r>
          </a:p>
        </p:txBody>
      </p:sp>
      <p:sp>
        <p:nvSpPr>
          <p:cNvPr id="4" name="Date Placeholder 3">
            <a:extLst>
              <a:ext uri="{FF2B5EF4-FFF2-40B4-BE49-F238E27FC236}">
                <a16:creationId xmlns:a16="http://schemas.microsoft.com/office/drawing/2014/main" id="{ADCD7212-A497-2BEB-F19E-C7D6528929E4}"/>
              </a:ext>
            </a:extLst>
          </p:cNvPr>
          <p:cNvSpPr>
            <a:spLocks noGrp="1"/>
          </p:cNvSpPr>
          <p:nvPr>
            <p:ph type="dt" sz="half" idx="6"/>
          </p:nvPr>
        </p:nvSpPr>
        <p:spPr>
          <a:xfrm>
            <a:off x="381000" y="6540500"/>
            <a:ext cx="3886834" cy="177800"/>
          </a:xfrm>
        </p:spPr>
        <p:txBody>
          <a:bodyPr/>
          <a:lstStyle/>
          <a:p>
            <a:pPr marL="12700">
              <a:lnSpc>
                <a:spcPts val="1240"/>
              </a:lnSpc>
            </a:pPr>
            <a:fld id="{514631FB-7875-4B0F-9DEF-BF6BCCEDF61E}" type="datetime1">
              <a:rPr lang="LID4096" spc="-5" smtClean="0"/>
              <a:t>01/24/2025</a:t>
            </a:fld>
            <a:endParaRPr lang="en-GB" spc="-5" dirty="0"/>
          </a:p>
        </p:txBody>
      </p:sp>
      <p:sp>
        <p:nvSpPr>
          <p:cNvPr id="5" name="Slide Number Placeholder 4">
            <a:extLst>
              <a:ext uri="{FF2B5EF4-FFF2-40B4-BE49-F238E27FC236}">
                <a16:creationId xmlns:a16="http://schemas.microsoft.com/office/drawing/2014/main" id="{D4714501-715F-8ED5-D1B1-5CF8571B6003}"/>
              </a:ext>
            </a:extLst>
          </p:cNvPr>
          <p:cNvSpPr>
            <a:spLocks noGrp="1"/>
          </p:cNvSpPr>
          <p:nvPr>
            <p:ph type="sldNum" sz="quarter" idx="7"/>
          </p:nvPr>
        </p:nvSpPr>
        <p:spPr>
          <a:xfrm>
            <a:off x="11152732" y="6466776"/>
            <a:ext cx="277267" cy="251524"/>
          </a:xfrm>
        </p:spPr>
        <p:txBody>
          <a:bodyPr/>
          <a:lstStyle/>
          <a:p>
            <a:pPr marL="38100">
              <a:lnSpc>
                <a:spcPts val="1240"/>
              </a:lnSpc>
            </a:pPr>
            <a:fld id="{81D60167-4931-47E6-BA6A-407CBD079E47}" type="slidenum">
              <a:rPr lang="en-GB" smtClean="0"/>
              <a:t>17</a:t>
            </a:fld>
            <a:endParaRPr lang="en-GB" dirty="0"/>
          </a:p>
        </p:txBody>
      </p:sp>
      <p:pic>
        <p:nvPicPr>
          <p:cNvPr id="7" name="Picture 6">
            <a:extLst>
              <a:ext uri="{FF2B5EF4-FFF2-40B4-BE49-F238E27FC236}">
                <a16:creationId xmlns:a16="http://schemas.microsoft.com/office/drawing/2014/main" id="{5E20C36C-6EB1-EEC8-F4C8-D6AD497058C2}"/>
              </a:ext>
            </a:extLst>
          </p:cNvPr>
          <p:cNvPicPr>
            <a:picLocks noChangeAspect="1"/>
          </p:cNvPicPr>
          <p:nvPr/>
        </p:nvPicPr>
        <p:blipFill>
          <a:blip r:embed="rId2"/>
          <a:stretch>
            <a:fillRect/>
          </a:stretch>
        </p:blipFill>
        <p:spPr>
          <a:xfrm>
            <a:off x="10835587" y="228600"/>
            <a:ext cx="1188823" cy="1182727"/>
          </a:xfrm>
          <a:prstGeom prst="rect">
            <a:avLst/>
          </a:prstGeom>
        </p:spPr>
      </p:pic>
      <p:pic>
        <p:nvPicPr>
          <p:cNvPr id="10" name="Picture 9">
            <a:extLst>
              <a:ext uri="{FF2B5EF4-FFF2-40B4-BE49-F238E27FC236}">
                <a16:creationId xmlns:a16="http://schemas.microsoft.com/office/drawing/2014/main" id="{54E8A2A0-1313-F5D6-90D0-75EB4981B0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088404"/>
            <a:ext cx="10337116" cy="5452096"/>
          </a:xfrm>
          <a:prstGeom prst="rect">
            <a:avLst/>
          </a:prstGeom>
        </p:spPr>
      </p:pic>
    </p:spTree>
    <p:extLst>
      <p:ext uri="{BB962C8B-B14F-4D97-AF65-F5344CB8AC3E}">
        <p14:creationId xmlns:p14="http://schemas.microsoft.com/office/powerpoint/2010/main" val="341287179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6B90-9BA6-2159-D816-163E381D768E}"/>
              </a:ext>
            </a:extLst>
          </p:cNvPr>
          <p:cNvSpPr>
            <a:spLocks noGrp="1"/>
          </p:cNvSpPr>
          <p:nvPr>
            <p:ph type="title"/>
          </p:nvPr>
        </p:nvSpPr>
        <p:spPr>
          <a:xfrm>
            <a:off x="304800" y="228600"/>
            <a:ext cx="2156439" cy="1292662"/>
          </a:xfrm>
        </p:spPr>
        <p:txBody>
          <a:bodyPr/>
          <a:lstStyle/>
          <a:p>
            <a:r>
              <a:rPr lang="en-GB" sz="4400" dirty="0"/>
              <a:t> </a:t>
            </a:r>
            <a:r>
              <a:rPr lang="en-GB" sz="4400" dirty="0">
                <a:latin typeface="+mj-lt"/>
              </a:rPr>
              <a:t>Results:</a:t>
            </a:r>
            <a:br>
              <a:rPr lang="en-GB" sz="4000" dirty="0">
                <a:latin typeface="+mj-lt"/>
              </a:rPr>
            </a:br>
            <a:endParaRPr lang="en-GB" dirty="0"/>
          </a:p>
        </p:txBody>
      </p:sp>
      <p:sp>
        <p:nvSpPr>
          <p:cNvPr id="3" name="Text Placeholder 2">
            <a:extLst>
              <a:ext uri="{FF2B5EF4-FFF2-40B4-BE49-F238E27FC236}">
                <a16:creationId xmlns:a16="http://schemas.microsoft.com/office/drawing/2014/main" id="{3D5C4937-608E-424A-CB1E-DA3A98CFC065}"/>
              </a:ext>
            </a:extLst>
          </p:cNvPr>
          <p:cNvSpPr>
            <a:spLocks noGrp="1"/>
          </p:cNvSpPr>
          <p:nvPr>
            <p:ph type="body" idx="1"/>
          </p:nvPr>
        </p:nvSpPr>
        <p:spPr>
          <a:xfrm>
            <a:off x="942357" y="1802663"/>
            <a:ext cx="10307285" cy="430887"/>
          </a:xfrm>
        </p:spPr>
        <p:txBody>
          <a:bodyPr/>
          <a:lstStyle/>
          <a:p>
            <a:r>
              <a:rPr lang="en-GB" dirty="0"/>
              <a:t> </a:t>
            </a:r>
          </a:p>
        </p:txBody>
      </p:sp>
      <p:sp>
        <p:nvSpPr>
          <p:cNvPr id="4" name="Date Placeholder 3">
            <a:extLst>
              <a:ext uri="{FF2B5EF4-FFF2-40B4-BE49-F238E27FC236}">
                <a16:creationId xmlns:a16="http://schemas.microsoft.com/office/drawing/2014/main" id="{F8235153-9EFB-B9B8-12ED-142114EED437}"/>
              </a:ext>
            </a:extLst>
          </p:cNvPr>
          <p:cNvSpPr>
            <a:spLocks noGrp="1"/>
          </p:cNvSpPr>
          <p:nvPr>
            <p:ph type="dt" sz="half" idx="6"/>
          </p:nvPr>
        </p:nvSpPr>
        <p:spPr>
          <a:xfrm>
            <a:off x="316735" y="6466776"/>
            <a:ext cx="3886834" cy="177800"/>
          </a:xfrm>
        </p:spPr>
        <p:txBody>
          <a:bodyPr/>
          <a:lstStyle/>
          <a:p>
            <a:pPr marL="12700">
              <a:lnSpc>
                <a:spcPts val="1240"/>
              </a:lnSpc>
            </a:pPr>
            <a:fld id="{F5A67A72-DD21-47D0-BFC8-786960314E02}" type="datetime1">
              <a:rPr lang="en-GB" spc="-5" smtClean="0"/>
              <a:t>24/01/2025</a:t>
            </a:fld>
            <a:endParaRPr lang="en-GB" spc="-5" dirty="0"/>
          </a:p>
        </p:txBody>
      </p:sp>
      <p:sp>
        <p:nvSpPr>
          <p:cNvPr id="5" name="Slide Number Placeholder 4">
            <a:extLst>
              <a:ext uri="{FF2B5EF4-FFF2-40B4-BE49-F238E27FC236}">
                <a16:creationId xmlns:a16="http://schemas.microsoft.com/office/drawing/2014/main" id="{A21D5CA0-AF44-B4BC-72D8-9F1EF206BE70}"/>
              </a:ext>
            </a:extLst>
          </p:cNvPr>
          <p:cNvSpPr>
            <a:spLocks noGrp="1"/>
          </p:cNvSpPr>
          <p:nvPr>
            <p:ph type="sldNum" sz="quarter" idx="7"/>
          </p:nvPr>
        </p:nvSpPr>
        <p:spPr>
          <a:xfrm>
            <a:off x="11152732" y="6466776"/>
            <a:ext cx="505867" cy="177800"/>
          </a:xfrm>
        </p:spPr>
        <p:txBody>
          <a:bodyPr/>
          <a:lstStyle/>
          <a:p>
            <a:pPr marL="38100">
              <a:lnSpc>
                <a:spcPts val="1240"/>
              </a:lnSpc>
            </a:pPr>
            <a:fld id="{81D60167-4931-47E6-BA6A-407CBD079E47}" type="slidenum">
              <a:rPr lang="en-GB" smtClean="0"/>
              <a:t>18</a:t>
            </a:fld>
            <a:endParaRPr lang="en-GB" dirty="0"/>
          </a:p>
        </p:txBody>
      </p:sp>
      <p:pic>
        <p:nvPicPr>
          <p:cNvPr id="7" name="Picture 6">
            <a:extLst>
              <a:ext uri="{FF2B5EF4-FFF2-40B4-BE49-F238E27FC236}">
                <a16:creationId xmlns:a16="http://schemas.microsoft.com/office/drawing/2014/main" id="{0631A309-3FD8-D434-E856-5C9F445D85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143000"/>
            <a:ext cx="10896600" cy="5192911"/>
          </a:xfrm>
          <a:prstGeom prst="rect">
            <a:avLst/>
          </a:prstGeom>
        </p:spPr>
      </p:pic>
      <p:pic>
        <p:nvPicPr>
          <p:cNvPr id="8" name="Picture 7">
            <a:extLst>
              <a:ext uri="{FF2B5EF4-FFF2-40B4-BE49-F238E27FC236}">
                <a16:creationId xmlns:a16="http://schemas.microsoft.com/office/drawing/2014/main" id="{4AC3F6AF-3FB6-7085-1503-6C3B95D78C48}"/>
              </a:ext>
            </a:extLst>
          </p:cNvPr>
          <p:cNvPicPr>
            <a:picLocks noChangeAspect="1"/>
          </p:cNvPicPr>
          <p:nvPr/>
        </p:nvPicPr>
        <p:blipFill>
          <a:blip r:embed="rId3"/>
          <a:stretch>
            <a:fillRect/>
          </a:stretch>
        </p:blipFill>
        <p:spPr>
          <a:xfrm>
            <a:off x="10896600" y="228600"/>
            <a:ext cx="1194920" cy="1182727"/>
          </a:xfrm>
          <a:prstGeom prst="rect">
            <a:avLst/>
          </a:prstGeom>
        </p:spPr>
      </p:pic>
    </p:spTree>
    <p:extLst>
      <p:ext uri="{BB962C8B-B14F-4D97-AF65-F5344CB8AC3E}">
        <p14:creationId xmlns:p14="http://schemas.microsoft.com/office/powerpoint/2010/main" val="82071242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83C7C-DEA8-573C-5CCA-EE5AEB900F55}"/>
              </a:ext>
            </a:extLst>
          </p:cNvPr>
          <p:cNvSpPr>
            <a:spLocks noGrp="1"/>
          </p:cNvSpPr>
          <p:nvPr>
            <p:ph type="title"/>
          </p:nvPr>
        </p:nvSpPr>
        <p:spPr>
          <a:xfrm>
            <a:off x="762000" y="609600"/>
            <a:ext cx="3440420" cy="677108"/>
          </a:xfrm>
        </p:spPr>
        <p:txBody>
          <a:bodyPr/>
          <a:lstStyle/>
          <a:p>
            <a:r>
              <a:rPr lang="en-GB" sz="4400" spc="-5" dirty="0">
                <a:solidFill>
                  <a:srgbClr val="000000"/>
                </a:solidFill>
              </a:rPr>
              <a:t>Conclusion:</a:t>
            </a:r>
            <a:endParaRPr lang="en-GB" sz="4400" dirty="0"/>
          </a:p>
        </p:txBody>
      </p:sp>
      <p:sp>
        <p:nvSpPr>
          <p:cNvPr id="3" name="Text Placeholder 2">
            <a:extLst>
              <a:ext uri="{FF2B5EF4-FFF2-40B4-BE49-F238E27FC236}">
                <a16:creationId xmlns:a16="http://schemas.microsoft.com/office/drawing/2014/main" id="{4EFE3830-AF25-B27B-3F7A-432FC5EA5E9B}"/>
              </a:ext>
            </a:extLst>
          </p:cNvPr>
          <p:cNvSpPr>
            <a:spLocks noGrp="1"/>
          </p:cNvSpPr>
          <p:nvPr>
            <p:ph type="body" idx="1"/>
          </p:nvPr>
        </p:nvSpPr>
        <p:spPr>
          <a:xfrm>
            <a:off x="1295400" y="4343400"/>
            <a:ext cx="10307285" cy="430887"/>
          </a:xfrm>
        </p:spPr>
        <p:txBody>
          <a:bodyPr/>
          <a:lstStyle/>
          <a:p>
            <a:r>
              <a:rPr lang="en-GB" dirty="0"/>
              <a:t> </a:t>
            </a:r>
          </a:p>
        </p:txBody>
      </p:sp>
      <p:sp>
        <p:nvSpPr>
          <p:cNvPr id="4" name="Date Placeholder 3">
            <a:extLst>
              <a:ext uri="{FF2B5EF4-FFF2-40B4-BE49-F238E27FC236}">
                <a16:creationId xmlns:a16="http://schemas.microsoft.com/office/drawing/2014/main" id="{96E1619C-C66B-FF03-A067-044EC81A6C14}"/>
              </a:ext>
            </a:extLst>
          </p:cNvPr>
          <p:cNvSpPr>
            <a:spLocks noGrp="1"/>
          </p:cNvSpPr>
          <p:nvPr>
            <p:ph type="dt" sz="half" idx="6"/>
          </p:nvPr>
        </p:nvSpPr>
        <p:spPr>
          <a:xfrm>
            <a:off x="762000" y="6377876"/>
            <a:ext cx="3886834" cy="177800"/>
          </a:xfrm>
        </p:spPr>
        <p:txBody>
          <a:bodyPr/>
          <a:lstStyle/>
          <a:p>
            <a:pPr marL="12700">
              <a:lnSpc>
                <a:spcPts val="1240"/>
              </a:lnSpc>
            </a:pPr>
            <a:fld id="{F5A67A72-DD21-47D0-BFC8-786960314E02}" type="datetime1">
              <a:rPr lang="en-GB" spc="-5" smtClean="0"/>
              <a:t>24/01/2025</a:t>
            </a:fld>
            <a:endParaRPr lang="en-GB" spc="-5" dirty="0"/>
          </a:p>
        </p:txBody>
      </p:sp>
      <p:sp>
        <p:nvSpPr>
          <p:cNvPr id="5" name="Slide Number Placeholder 4">
            <a:extLst>
              <a:ext uri="{FF2B5EF4-FFF2-40B4-BE49-F238E27FC236}">
                <a16:creationId xmlns:a16="http://schemas.microsoft.com/office/drawing/2014/main" id="{6EFCB4B1-FF56-510B-A131-50A818C1B308}"/>
              </a:ext>
            </a:extLst>
          </p:cNvPr>
          <p:cNvSpPr>
            <a:spLocks noGrp="1"/>
          </p:cNvSpPr>
          <p:nvPr>
            <p:ph type="sldNum" sz="quarter" idx="7"/>
          </p:nvPr>
        </p:nvSpPr>
        <p:spPr>
          <a:xfrm>
            <a:off x="11152732" y="6466775"/>
            <a:ext cx="582067" cy="200659"/>
          </a:xfrm>
        </p:spPr>
        <p:txBody>
          <a:bodyPr/>
          <a:lstStyle/>
          <a:p>
            <a:pPr marL="38100">
              <a:lnSpc>
                <a:spcPts val="1240"/>
              </a:lnSpc>
            </a:pPr>
            <a:fld id="{81D60167-4931-47E6-BA6A-407CBD079E47}" type="slidenum">
              <a:rPr lang="en-GB" smtClean="0"/>
              <a:t>19</a:t>
            </a:fld>
            <a:endParaRPr lang="en-GB" dirty="0"/>
          </a:p>
        </p:txBody>
      </p:sp>
      <p:pic>
        <p:nvPicPr>
          <p:cNvPr id="6" name="Picture 5">
            <a:extLst>
              <a:ext uri="{FF2B5EF4-FFF2-40B4-BE49-F238E27FC236}">
                <a16:creationId xmlns:a16="http://schemas.microsoft.com/office/drawing/2014/main" id="{B55C229D-C2B0-6EF5-A45C-2DFB5EFCC0A1}"/>
              </a:ext>
            </a:extLst>
          </p:cNvPr>
          <p:cNvPicPr>
            <a:picLocks noChangeAspect="1"/>
          </p:cNvPicPr>
          <p:nvPr/>
        </p:nvPicPr>
        <p:blipFill>
          <a:blip r:embed="rId2"/>
          <a:stretch>
            <a:fillRect/>
          </a:stretch>
        </p:blipFill>
        <p:spPr>
          <a:xfrm>
            <a:off x="10708943" y="190565"/>
            <a:ext cx="1194920" cy="1182727"/>
          </a:xfrm>
          <a:prstGeom prst="rect">
            <a:avLst/>
          </a:prstGeom>
        </p:spPr>
      </p:pic>
      <p:sp>
        <p:nvSpPr>
          <p:cNvPr id="8" name="TextBox 7">
            <a:extLst>
              <a:ext uri="{FF2B5EF4-FFF2-40B4-BE49-F238E27FC236}">
                <a16:creationId xmlns:a16="http://schemas.microsoft.com/office/drawing/2014/main" id="{F469CB7B-999B-3209-ED44-E48911B880A5}"/>
              </a:ext>
            </a:extLst>
          </p:cNvPr>
          <p:cNvSpPr txBox="1"/>
          <p:nvPr/>
        </p:nvSpPr>
        <p:spPr>
          <a:xfrm>
            <a:off x="781050" y="1703457"/>
            <a:ext cx="8458200" cy="1200329"/>
          </a:xfrm>
          <a:prstGeom prst="rect">
            <a:avLst/>
          </a:prstGeom>
          <a:noFill/>
        </p:spPr>
        <p:txBody>
          <a:bodyPr wrap="square">
            <a:spAutoFit/>
          </a:bodyPr>
          <a:lstStyle/>
          <a:p>
            <a:pPr algn="just"/>
            <a:r>
              <a:rPr lang="en-GB" sz="2400" dirty="0"/>
              <a:t>The IoT-based AQI meter enables real-time, accurate monitoring, promoting health management, public awareness, and better environmental policies for a cleaner future.</a:t>
            </a:r>
          </a:p>
        </p:txBody>
      </p:sp>
    </p:spTree>
    <p:extLst>
      <p:ext uri="{BB962C8B-B14F-4D97-AF65-F5344CB8AC3E}">
        <p14:creationId xmlns:p14="http://schemas.microsoft.com/office/powerpoint/2010/main" val="368267841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2000" y="507018"/>
            <a:ext cx="4644390" cy="695960"/>
          </a:xfrm>
          <a:prstGeom prst="rect">
            <a:avLst/>
          </a:prstGeom>
        </p:spPr>
        <p:txBody>
          <a:bodyPr vert="horz" wrap="square" lIns="0" tIns="12700" rIns="0" bIns="0" rtlCol="0">
            <a:spAutoFit/>
          </a:bodyPr>
          <a:lstStyle/>
          <a:p>
            <a:pPr marL="12700">
              <a:lnSpc>
                <a:spcPct val="100000"/>
              </a:lnSpc>
              <a:spcBef>
                <a:spcPts val="100"/>
              </a:spcBef>
            </a:pPr>
            <a:r>
              <a:rPr lang="en-US" sz="4400" spc="-10" dirty="0"/>
              <a:t>References:</a:t>
            </a:r>
            <a:endParaRPr sz="4400" dirty="0"/>
          </a:p>
        </p:txBody>
      </p:sp>
      <p:sp>
        <p:nvSpPr>
          <p:cNvPr id="3" name="object 3"/>
          <p:cNvSpPr txBox="1"/>
          <p:nvPr/>
        </p:nvSpPr>
        <p:spPr>
          <a:xfrm>
            <a:off x="465460" y="1192589"/>
            <a:ext cx="10341856" cy="5114221"/>
          </a:xfrm>
          <a:prstGeom prst="rect">
            <a:avLst/>
          </a:prstGeom>
        </p:spPr>
        <p:txBody>
          <a:bodyPr vert="horz" wrap="square" lIns="0" tIns="96520" rIns="0" bIns="0" rtlCol="0">
            <a:spAutoFit/>
          </a:bodyPr>
          <a:lstStyle/>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1:Dineshkumar, T., V. Suresh Babu, </a:t>
            </a:r>
            <a:r>
              <a:rPr lang="en-US" b="1" kern="100" dirty="0" err="1">
                <a:effectLst/>
                <a:ea typeface="Calibri" panose="020F0502020204030204" pitchFamily="34" charset="0"/>
                <a:cs typeface="Times New Roman" panose="02020603050405020304" pitchFamily="18" charset="0"/>
              </a:rPr>
              <a:t>Pachaivannan</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Partheeban</a:t>
            </a:r>
            <a:r>
              <a:rPr lang="en-US" b="1" kern="100" dirty="0">
                <a:effectLst/>
                <a:ea typeface="Calibri" panose="020F0502020204030204" pitchFamily="34" charset="0"/>
                <a:cs typeface="Times New Roman" panose="02020603050405020304" pitchFamily="18" charset="0"/>
              </a:rPr>
              <a:t>, and R. </a:t>
            </a:r>
            <a:r>
              <a:rPr lang="en-US" b="1" kern="100" dirty="0" err="1">
                <a:effectLst/>
                <a:ea typeface="Calibri" panose="020F0502020204030204" pitchFamily="34" charset="0"/>
                <a:cs typeface="Times New Roman" panose="02020603050405020304" pitchFamily="18" charset="0"/>
              </a:rPr>
              <a:t>Puviarasi</a:t>
            </a:r>
            <a:r>
              <a:rPr lang="en-US" b="1" kern="100" dirty="0">
                <a:effectLst/>
                <a:ea typeface="Calibri" panose="020F0502020204030204" pitchFamily="34" charset="0"/>
                <a:cs typeface="Times New Roman" panose="02020603050405020304" pitchFamily="18" charset="0"/>
              </a:rPr>
              <a:t>. "Air Quality Monitoring System Based on IoT." *Journal of Physics: Conference Series* 1964, no. 6 (2021): 062081. </a:t>
            </a:r>
            <a:r>
              <a:rPr lang="en-US" b="1" u="sng" kern="100" dirty="0">
                <a:solidFill>
                  <a:srgbClr val="0563C1"/>
                </a:solidFill>
                <a:effectLst/>
                <a:ea typeface="Calibri" panose="020F0502020204030204" pitchFamily="34" charset="0"/>
                <a:cs typeface="Times New Roman" panose="02020603050405020304" pitchFamily="18" charset="0"/>
                <a:hlinkClick r:id="rId2"/>
              </a:rPr>
              <a:t>https://doi.org/10.1088/1742-6596/1964/6/062081</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2: </a:t>
            </a:r>
            <a:r>
              <a:rPr lang="en-US" b="1" kern="100" dirty="0" err="1">
                <a:effectLst/>
                <a:ea typeface="Calibri" panose="020F0502020204030204" pitchFamily="34" charset="0"/>
                <a:cs typeface="Times New Roman" panose="02020603050405020304" pitchFamily="18" charset="0"/>
              </a:rPr>
              <a:t>Hemalatha</a:t>
            </a:r>
            <a:r>
              <a:rPr lang="en-US" b="1" kern="100" dirty="0">
                <a:effectLst/>
                <a:ea typeface="Calibri" panose="020F0502020204030204" pitchFamily="34" charset="0"/>
                <a:cs typeface="Times New Roman" panose="02020603050405020304" pitchFamily="18" charset="0"/>
              </a:rPr>
              <a:t>, M., R. </a:t>
            </a:r>
            <a:r>
              <a:rPr lang="en-US" b="1" kern="100" dirty="0" err="1">
                <a:effectLst/>
                <a:ea typeface="Calibri" panose="020F0502020204030204" pitchFamily="34" charset="0"/>
                <a:cs typeface="Times New Roman" panose="02020603050405020304" pitchFamily="18" charset="0"/>
              </a:rPr>
              <a:t>Arunprasath</a:t>
            </a:r>
            <a:r>
              <a:rPr lang="en-US" b="1" kern="100" dirty="0">
                <a:effectLst/>
                <a:ea typeface="Calibri" panose="020F0502020204030204" pitchFamily="34" charset="0"/>
                <a:cs typeface="Times New Roman" panose="02020603050405020304" pitchFamily="18" charset="0"/>
              </a:rPr>
              <a:t>, J. Shalini Priya, A. M. </a:t>
            </a:r>
            <a:r>
              <a:rPr lang="en-US" b="1" kern="100" dirty="0" err="1">
                <a:effectLst/>
                <a:ea typeface="Calibri" panose="020F0502020204030204" pitchFamily="34" charset="0"/>
                <a:cs typeface="Times New Roman" panose="02020603050405020304" pitchFamily="18" charset="0"/>
              </a:rPr>
              <a:t>Shivashankari</a:t>
            </a:r>
            <a:r>
              <a:rPr lang="en-US" b="1" kern="100" dirty="0">
                <a:effectLst/>
                <a:ea typeface="Calibri" panose="020F0502020204030204" pitchFamily="34" charset="0"/>
                <a:cs typeface="Times New Roman" panose="02020603050405020304" pitchFamily="18" charset="0"/>
              </a:rPr>
              <a:t>, K. Rajkumar, and R. </a:t>
            </a:r>
            <a:r>
              <a:rPr lang="en-US" b="1" kern="100" dirty="0" err="1">
                <a:effectLst/>
                <a:ea typeface="Calibri" panose="020F0502020204030204" pitchFamily="34" charset="0"/>
                <a:cs typeface="Times New Roman" panose="02020603050405020304" pitchFamily="18" charset="0"/>
              </a:rPr>
              <a:t>Jeyashri</a:t>
            </a:r>
            <a:r>
              <a:rPr lang="en-US" b="1" kern="100" dirty="0">
                <a:effectLst/>
                <a:ea typeface="Calibri" panose="020F0502020204030204" pitchFamily="34" charset="0"/>
                <a:cs typeface="Times New Roman" panose="02020603050405020304" pitchFamily="18" charset="0"/>
              </a:rPr>
              <a:t>. "An IoT Enabled Air Pollution Meter with Digital Dashboard on Smartphone." In </a:t>
            </a:r>
            <a:r>
              <a:rPr lang="en-US" b="1" i="1" kern="100" dirty="0">
                <a:effectLst/>
                <a:ea typeface="Calibri" panose="020F0502020204030204" pitchFamily="34" charset="0"/>
                <a:cs typeface="Times New Roman" panose="02020603050405020304" pitchFamily="18" charset="0"/>
              </a:rPr>
              <a:t>2023 Intelligent Computing and Control for Engineering and Business Systems (ICCEBS)</a:t>
            </a:r>
            <a:r>
              <a:rPr lang="en-US" b="1" kern="100" dirty="0">
                <a:effectLst/>
                <a:ea typeface="Calibri" panose="020F0502020204030204" pitchFamily="34" charset="0"/>
                <a:cs typeface="Times New Roman" panose="02020603050405020304" pitchFamily="18" charset="0"/>
              </a:rPr>
              <a:t>, IEEE, 2023. </a:t>
            </a:r>
            <a:r>
              <a:rPr lang="en-US" b="1" u="sng" kern="100" dirty="0">
                <a:solidFill>
                  <a:srgbClr val="0563C1"/>
                </a:solidFill>
                <a:effectLst/>
                <a:ea typeface="Calibri" panose="020F0502020204030204" pitchFamily="34" charset="0"/>
                <a:cs typeface="Times New Roman" panose="02020603050405020304" pitchFamily="18" charset="0"/>
                <a:hlinkClick r:id="rId3"/>
              </a:rPr>
              <a:t>https://doi.org/10.1109/ICCEBS58601.2023.10448896</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3: Yusof, Khairul Huda, M. </a:t>
            </a:r>
            <a:r>
              <a:rPr lang="en-US" b="1" kern="100" dirty="0" err="1">
                <a:effectLst/>
                <a:ea typeface="Calibri" panose="020F0502020204030204" pitchFamily="34" charset="0"/>
                <a:cs typeface="Times New Roman" panose="02020603050405020304" pitchFamily="18" charset="0"/>
              </a:rPr>
              <a:t>Abdulrazaq</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Fadhilah</a:t>
            </a:r>
            <a:r>
              <a:rPr lang="en-US" b="1" kern="100" dirty="0">
                <a:effectLst/>
                <a:ea typeface="Calibri" panose="020F0502020204030204" pitchFamily="34" charset="0"/>
                <a:cs typeface="Times New Roman" panose="02020603050405020304" pitchFamily="18" charset="0"/>
              </a:rPr>
              <a:t> Aman, M. N. Mohammed, Amirul </a:t>
            </a:r>
            <a:r>
              <a:rPr lang="en-US" b="1" kern="100" dirty="0" err="1">
                <a:effectLst/>
                <a:ea typeface="Calibri" panose="020F0502020204030204" pitchFamily="34" charset="0"/>
                <a:cs typeface="Times New Roman" panose="02020603050405020304" pitchFamily="18" charset="0"/>
              </a:rPr>
              <a:t>Asyraf</a:t>
            </a:r>
            <a:r>
              <a:rPr lang="en-US" b="1" kern="100" dirty="0">
                <a:effectLst/>
                <a:ea typeface="Calibri" panose="020F0502020204030204" pitchFamily="34" charset="0"/>
                <a:cs typeface="Times New Roman" panose="02020603050405020304" pitchFamily="18" charset="0"/>
              </a:rPr>
              <a:t>, Ahmad </a:t>
            </a:r>
            <a:r>
              <a:rPr lang="en-US" b="1" kern="100" dirty="0" err="1">
                <a:effectLst/>
                <a:ea typeface="Calibri" panose="020F0502020204030204" pitchFamily="34" charset="0"/>
                <a:cs typeface="Times New Roman" panose="02020603050405020304" pitchFamily="18" charset="0"/>
              </a:rPr>
              <a:t>Sukri</a:t>
            </a:r>
            <a:r>
              <a:rPr lang="en-US" b="1" kern="100" dirty="0">
                <a:effectLst/>
                <a:ea typeface="Calibri" panose="020F0502020204030204" pitchFamily="34" charset="0"/>
                <a:cs typeface="Times New Roman" panose="02020603050405020304" pitchFamily="18" charset="0"/>
              </a:rPr>
              <a:t> Ahmad, and Mohamad </a:t>
            </a:r>
            <a:r>
              <a:rPr lang="en-US" b="1" kern="100" dirty="0" err="1">
                <a:effectLst/>
                <a:ea typeface="Calibri" panose="020F0502020204030204" pitchFamily="34" charset="0"/>
                <a:cs typeface="Times New Roman" panose="02020603050405020304" pitchFamily="18" charset="0"/>
              </a:rPr>
              <a:t>Syahrul</a:t>
            </a:r>
            <a:r>
              <a:rPr lang="en-US" b="1" kern="100" dirty="0">
                <a:effectLst/>
                <a:ea typeface="Calibri" panose="020F0502020204030204" pitchFamily="34" charset="0"/>
                <a:cs typeface="Times New Roman" panose="02020603050405020304" pitchFamily="18" charset="0"/>
              </a:rPr>
              <a:t> </a:t>
            </a:r>
            <a:r>
              <a:rPr lang="en-US" b="1" kern="100" dirty="0" err="1">
                <a:effectLst/>
                <a:ea typeface="Calibri" panose="020F0502020204030204" pitchFamily="34" charset="0"/>
                <a:cs typeface="Times New Roman" panose="02020603050405020304" pitchFamily="18" charset="0"/>
              </a:rPr>
              <a:t>Zahwan</a:t>
            </a:r>
            <a:r>
              <a:rPr lang="en-US" b="1" kern="100" dirty="0">
                <a:effectLst/>
                <a:ea typeface="Calibri" panose="020F0502020204030204" pitchFamily="34" charset="0"/>
                <a:cs typeface="Times New Roman" panose="02020603050405020304" pitchFamily="18" charset="0"/>
              </a:rPr>
              <a:t> Mohd </a:t>
            </a:r>
            <a:r>
              <a:rPr lang="en-US" b="1" kern="100" dirty="0" err="1">
                <a:effectLst/>
                <a:ea typeface="Calibri" panose="020F0502020204030204" pitchFamily="34" charset="0"/>
                <a:cs typeface="Times New Roman" panose="02020603050405020304" pitchFamily="18" charset="0"/>
              </a:rPr>
              <a:t>Zabidi</a:t>
            </a:r>
            <a:r>
              <a:rPr lang="en-US" b="1" kern="100" dirty="0">
                <a:effectLst/>
                <a:ea typeface="Calibri" panose="020F0502020204030204" pitchFamily="34" charset="0"/>
                <a:cs typeface="Times New Roman" panose="02020603050405020304" pitchFamily="18" charset="0"/>
              </a:rPr>
              <a:t>. "Design and Development of Real Time Indoor and Outdoor Air Quality Monitoring System Based on IoT Technology." In </a:t>
            </a:r>
            <a:r>
              <a:rPr lang="en-US" b="1" i="1" kern="100" dirty="0">
                <a:effectLst/>
                <a:ea typeface="Calibri" panose="020F0502020204030204" pitchFamily="34" charset="0"/>
                <a:cs typeface="Times New Roman" panose="02020603050405020304" pitchFamily="18" charset="0"/>
              </a:rPr>
              <a:t>2022 IEEE 18th International Colloquium on Signal Processing &amp; Applications (CSPA 2022)</a:t>
            </a:r>
            <a:r>
              <a:rPr lang="en-US" b="1" kern="100" dirty="0">
                <a:effectLst/>
                <a:ea typeface="Calibri" panose="020F0502020204030204" pitchFamily="34" charset="0"/>
                <a:cs typeface="Times New Roman" panose="02020603050405020304" pitchFamily="18" charset="0"/>
              </a:rPr>
              <a:t>, Selangor, Malaysia, May 12, 2022. IEEE. </a:t>
            </a:r>
            <a:r>
              <a:rPr lang="en-US" b="1" u="sng" kern="100" dirty="0">
                <a:solidFill>
                  <a:srgbClr val="0563C1"/>
                </a:solidFill>
                <a:effectLst/>
                <a:ea typeface="Calibri" panose="020F0502020204030204" pitchFamily="34" charset="0"/>
                <a:cs typeface="Times New Roman" panose="02020603050405020304" pitchFamily="18" charset="0"/>
                <a:hlinkClick r:id="rId4"/>
              </a:rPr>
              <a:t>https://doi.org/10.1109/CSPA55076.2022.9781937</a:t>
            </a:r>
            <a:r>
              <a:rPr lang="en-US" b="1" kern="100" dirty="0">
                <a:effectLst/>
                <a:ea typeface="Calibri" panose="020F0502020204030204" pitchFamily="34" charset="0"/>
                <a:cs typeface="Times New Roman" panose="02020603050405020304" pitchFamily="18" charset="0"/>
              </a:rPr>
              <a:t>.</a:t>
            </a:r>
          </a:p>
          <a:p>
            <a:pPr marR="0" algn="just">
              <a:lnSpc>
                <a:spcPct val="100000"/>
              </a:lnSpc>
              <a:spcBef>
                <a:spcPts val="0"/>
              </a:spcBef>
              <a:spcAft>
                <a:spcPts val="600"/>
              </a:spcAft>
            </a:pPr>
            <a:r>
              <a:rPr lang="en-US" b="1" kern="100" dirty="0">
                <a:effectLst/>
                <a:ea typeface="Calibri" panose="020F0502020204030204" pitchFamily="34" charset="0"/>
                <a:cs typeface="Times New Roman" panose="02020603050405020304" pitchFamily="18" charset="0"/>
              </a:rPr>
              <a:t>4:</a:t>
            </a:r>
            <a:r>
              <a:rPr lang="en-US" b="1" kern="100" dirty="0">
                <a:solidFill>
                  <a:srgbClr val="374151"/>
                </a:solidFill>
                <a:effectLst/>
                <a:ea typeface="Calibri" panose="020F0502020204030204" pitchFamily="34" charset="0"/>
                <a:cs typeface="Times New Roman" panose="02020603050405020304" pitchFamily="18" charset="0"/>
              </a:rPr>
              <a:t> </a:t>
            </a:r>
            <a:r>
              <a:rPr lang="en-US" b="1" kern="100" dirty="0">
                <a:effectLst/>
                <a:ea typeface="Calibri" panose="020F0502020204030204" pitchFamily="34" charset="0"/>
                <a:cs typeface="Times New Roman" panose="02020603050405020304" pitchFamily="18" charset="0"/>
              </a:rPr>
              <a:t>Yusof, K. H., </a:t>
            </a:r>
            <a:r>
              <a:rPr lang="en-US" b="1" kern="100" dirty="0" err="1">
                <a:effectLst/>
                <a:ea typeface="Calibri" panose="020F0502020204030204" pitchFamily="34" charset="0"/>
                <a:cs typeface="Times New Roman" panose="02020603050405020304" pitchFamily="18" charset="0"/>
              </a:rPr>
              <a:t>Abdulrazaq</a:t>
            </a:r>
            <a:r>
              <a:rPr lang="en-US" b="1" kern="100" dirty="0">
                <a:effectLst/>
                <a:ea typeface="Calibri" panose="020F0502020204030204" pitchFamily="34" charset="0"/>
                <a:cs typeface="Times New Roman" panose="02020603050405020304" pitchFamily="18" charset="0"/>
              </a:rPr>
              <a:t>, M., Aman, F., Mohammed, M. N., </a:t>
            </a:r>
            <a:r>
              <a:rPr lang="en-US" b="1" kern="100" dirty="0" err="1">
                <a:effectLst/>
                <a:ea typeface="Calibri" panose="020F0502020204030204" pitchFamily="34" charset="0"/>
                <a:cs typeface="Times New Roman" panose="02020603050405020304" pitchFamily="18" charset="0"/>
              </a:rPr>
              <a:t>Asyraf</a:t>
            </a:r>
            <a:r>
              <a:rPr lang="en-US" b="1" kern="100" dirty="0">
                <a:effectLst/>
                <a:ea typeface="Calibri" panose="020F0502020204030204" pitchFamily="34" charset="0"/>
                <a:cs typeface="Times New Roman" panose="02020603050405020304" pitchFamily="18" charset="0"/>
              </a:rPr>
              <a:t>, A., </a:t>
            </a:r>
            <a:r>
              <a:rPr lang="en-US" b="1" kern="100" dirty="0" err="1">
                <a:effectLst/>
                <a:ea typeface="Calibri" panose="020F0502020204030204" pitchFamily="34" charset="0"/>
                <a:cs typeface="Times New Roman" panose="02020603050405020304" pitchFamily="18" charset="0"/>
              </a:rPr>
              <a:t>Sukri</a:t>
            </a:r>
            <a:r>
              <a:rPr lang="en-US" b="1" kern="100" dirty="0">
                <a:effectLst/>
                <a:ea typeface="Calibri" panose="020F0502020204030204" pitchFamily="34" charset="0"/>
                <a:cs typeface="Times New Roman" panose="02020603050405020304" pitchFamily="18" charset="0"/>
              </a:rPr>
              <a:t>, A., </a:t>
            </a:r>
            <a:r>
              <a:rPr lang="en-US" b="1" kern="100" dirty="0" err="1">
                <a:effectLst/>
                <a:ea typeface="Calibri" panose="020F0502020204030204" pitchFamily="34" charset="0"/>
                <a:cs typeface="Times New Roman" panose="02020603050405020304" pitchFamily="18" charset="0"/>
              </a:rPr>
              <a:t>Zabidi</a:t>
            </a:r>
            <a:r>
              <a:rPr lang="en-US" b="1" kern="100" dirty="0">
                <a:effectLst/>
                <a:ea typeface="Calibri" panose="020F0502020204030204" pitchFamily="34" charset="0"/>
                <a:cs typeface="Times New Roman" panose="02020603050405020304" pitchFamily="18" charset="0"/>
              </a:rPr>
              <a:t>, M. S. M., &amp; </a:t>
            </a:r>
            <a:r>
              <a:rPr lang="en-US" b="1" kern="100" dirty="0" err="1">
                <a:effectLst/>
                <a:ea typeface="Calibri" panose="020F0502020204030204" pitchFamily="34" charset="0"/>
                <a:cs typeface="Times New Roman" panose="02020603050405020304" pitchFamily="18" charset="0"/>
              </a:rPr>
              <a:t>Alayham</a:t>
            </a:r>
            <a:r>
              <a:rPr lang="en-US" b="1" kern="100" dirty="0">
                <a:effectLst/>
                <a:ea typeface="Calibri" panose="020F0502020204030204" pitchFamily="34" charset="0"/>
                <a:cs typeface="Times New Roman" panose="02020603050405020304" pitchFamily="18" charset="0"/>
              </a:rPr>
              <a:t>, A. R. (2022). Design and Development of Real Time Indoor and Outdoor Air Quality Monitoring System Based on IoT Technology. 2022 IEEE 18th International Colloquium on Signal Processing &amp; Applications (CSPA 2022), 12 May 2022, Selangor, Malaysia. </a:t>
            </a:r>
          </a:p>
          <a:p>
            <a:pPr marR="0" algn="just">
              <a:lnSpc>
                <a:spcPct val="100000"/>
              </a:lnSpc>
              <a:spcBef>
                <a:spcPts val="0"/>
              </a:spcBef>
              <a:spcAft>
                <a:spcPts val="600"/>
              </a:spcAft>
            </a:pPr>
            <a:r>
              <a:rPr lang="en-US" b="1" u="sng" kern="100" dirty="0">
                <a:solidFill>
                  <a:srgbClr val="0563C1"/>
                </a:solidFill>
                <a:effectLst/>
                <a:ea typeface="Calibri" panose="020F0502020204030204" pitchFamily="34" charset="0"/>
                <a:cs typeface="Times New Roman" panose="02020603050405020304" pitchFamily="18" charset="0"/>
                <a:hlinkClick r:id="rId5"/>
              </a:rPr>
              <a:t>https://ieeexplore.ieee.org/document/9781937</a:t>
            </a:r>
            <a:endParaRPr lang="en-US" b="1" kern="100" dirty="0">
              <a:effectLst/>
              <a:ea typeface="Calibri" panose="020F0502020204030204" pitchFamily="34" charset="0"/>
              <a:cs typeface="Times New Roman" panose="02020603050405020304" pitchFamily="18" charset="0"/>
            </a:endParaRPr>
          </a:p>
        </p:txBody>
      </p:sp>
      <p:pic>
        <p:nvPicPr>
          <p:cNvPr id="4" name="object 4"/>
          <p:cNvPicPr/>
          <p:nvPr/>
        </p:nvPicPr>
        <p:blipFill>
          <a:blip r:embed="rId6"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20</a:t>
            </a:fld>
            <a:endParaRPr dirty="0"/>
          </a:p>
        </p:txBody>
      </p:sp>
      <p:sp>
        <p:nvSpPr>
          <p:cNvPr id="6" name="Date Placeholder 5">
            <a:extLst>
              <a:ext uri="{FF2B5EF4-FFF2-40B4-BE49-F238E27FC236}">
                <a16:creationId xmlns:a16="http://schemas.microsoft.com/office/drawing/2014/main" id="{8F6A3A82-A974-1223-6E47-16940D7F086A}"/>
              </a:ext>
            </a:extLst>
          </p:cNvPr>
          <p:cNvSpPr>
            <a:spLocks noGrp="1"/>
          </p:cNvSpPr>
          <p:nvPr>
            <p:ph type="dt" sz="half" idx="6"/>
          </p:nvPr>
        </p:nvSpPr>
        <p:spPr/>
        <p:txBody>
          <a:bodyPr/>
          <a:lstStyle/>
          <a:p>
            <a:pPr marL="12700">
              <a:lnSpc>
                <a:spcPts val="1240"/>
              </a:lnSpc>
            </a:pPr>
            <a:fld id="{32A6C190-B267-4023-AF82-8333AC94F0AE}" type="datetime1">
              <a:rPr lang="LID4096" spc="-5" smtClean="0"/>
              <a:t>01/24/2025</a:t>
            </a:fld>
            <a:endParaRPr lang="en-GB" spc="-5" dirty="0"/>
          </a:p>
        </p:txBody>
      </p:sp>
    </p:spTree>
    <p:extLst>
      <p:ext uri="{BB962C8B-B14F-4D97-AF65-F5344CB8AC3E}">
        <p14:creationId xmlns:p14="http://schemas.microsoft.com/office/powerpoint/2010/main" val="347648240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1225" y="637457"/>
            <a:ext cx="4644390" cy="695960"/>
          </a:xfrm>
          <a:prstGeom prst="rect">
            <a:avLst/>
          </a:prstGeom>
        </p:spPr>
        <p:txBody>
          <a:bodyPr vert="horz" wrap="square" lIns="0" tIns="12700" rIns="0" bIns="0" rtlCol="0">
            <a:spAutoFit/>
          </a:bodyPr>
          <a:lstStyle/>
          <a:p>
            <a:pPr marL="12700">
              <a:lnSpc>
                <a:spcPct val="100000"/>
              </a:lnSpc>
              <a:spcBef>
                <a:spcPts val="100"/>
              </a:spcBef>
            </a:pPr>
            <a:r>
              <a:rPr lang="en-US" sz="4400" spc="-10" dirty="0"/>
              <a:t>References:</a:t>
            </a:r>
            <a:endParaRPr sz="4400" dirty="0"/>
          </a:p>
        </p:txBody>
      </p:sp>
      <p:sp>
        <p:nvSpPr>
          <p:cNvPr id="3" name="object 3"/>
          <p:cNvSpPr txBox="1"/>
          <p:nvPr/>
        </p:nvSpPr>
        <p:spPr>
          <a:xfrm>
            <a:off x="964547" y="1333417"/>
            <a:ext cx="9627253" cy="5298886"/>
          </a:xfrm>
          <a:prstGeom prst="rect">
            <a:avLst/>
          </a:prstGeom>
        </p:spPr>
        <p:txBody>
          <a:bodyPr vert="horz" wrap="square" lIns="0" tIns="96520" rIns="0" bIns="0" rtlCol="0">
            <a:spAutoFit/>
          </a:bodyPr>
          <a:lstStyle/>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5</a:t>
            </a:r>
            <a:r>
              <a:rPr lang="en-US" sz="2000" b="1" kern="100" dirty="0">
                <a:effectLst/>
                <a:ea typeface="Calibri" panose="020F0502020204030204" pitchFamily="34" charset="0"/>
                <a:cs typeface="Times New Roman" panose="02020603050405020304" pitchFamily="18" charset="0"/>
              </a:rPr>
              <a:t>: IoT Based Air Quality Monitoring System Using Arduino Shazia Afroze 1 , Md. </a:t>
            </a:r>
            <a:r>
              <a:rPr lang="en-US" sz="2000" b="1" kern="100" dirty="0" err="1">
                <a:effectLst/>
                <a:ea typeface="Calibri" panose="020F0502020204030204" pitchFamily="34" charset="0"/>
                <a:cs typeface="Times New Roman" panose="02020603050405020304" pitchFamily="18" charset="0"/>
              </a:rPr>
              <a:t>Istiak</a:t>
            </a:r>
            <a:r>
              <a:rPr lang="en-US" sz="2000" b="1" kern="100" dirty="0">
                <a:effectLst/>
                <a:ea typeface="Calibri" panose="020F0502020204030204" pitchFamily="34" charset="0"/>
                <a:cs typeface="Times New Roman" panose="02020603050405020304" pitchFamily="18" charset="0"/>
              </a:rPr>
              <a:t> Hossain Paran 2 , Stamford University Bangladesh (SUB) 2,3Student, Dept. of Electrical &amp; Electronic Engineering, Stamford University Bangladesh (SUB). </a:t>
            </a:r>
            <a:r>
              <a:rPr lang="en-US" sz="2000" b="1" u="sng" kern="100" dirty="0">
                <a:solidFill>
                  <a:srgbClr val="0563C1"/>
                </a:solidFill>
                <a:effectLst/>
                <a:ea typeface="Calibri" panose="020F0502020204030204" pitchFamily="34" charset="0"/>
                <a:cs typeface="Times New Roman" panose="02020603050405020304" pitchFamily="18" charset="0"/>
                <a:hlinkClick r:id="rId2"/>
              </a:rPr>
              <a:t>https://www.ijfmr.com/papers/2023/2/2260.pdf</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6</a:t>
            </a:r>
            <a:r>
              <a:rPr lang="en-US" sz="2000" b="1" kern="100" dirty="0">
                <a:effectLst/>
                <a:ea typeface="Calibri" panose="020F0502020204030204" pitchFamily="34" charset="0"/>
                <a:cs typeface="Times New Roman" panose="02020603050405020304" pitchFamily="18" charset="0"/>
              </a:rPr>
              <a:t>:</a:t>
            </a:r>
            <a:r>
              <a:rPr lang="en-US" sz="2000" b="1" kern="1800" dirty="0">
                <a:solidFill>
                  <a:srgbClr val="333333"/>
                </a:solidFill>
                <a:effectLst/>
                <a:ea typeface="Times New Roman" panose="02020603050405020304" pitchFamily="18" charset="0"/>
                <a:cs typeface="Times New Roman" panose="02020603050405020304" pitchFamily="18" charset="0"/>
              </a:rPr>
              <a:t> </a:t>
            </a:r>
            <a:r>
              <a:rPr lang="en-US" sz="2000" b="1" kern="100" dirty="0">
                <a:effectLst/>
                <a:ea typeface="Calibri" panose="020F0502020204030204" pitchFamily="34" charset="0"/>
                <a:cs typeface="Times New Roman" panose="02020603050405020304" pitchFamily="18" charset="0"/>
              </a:rPr>
              <a:t>IoT Based: Air Quality Index and Traffic Volume Correlation </a:t>
            </a:r>
            <a:r>
              <a:rPr lang="en-US" sz="2000" b="1" u="sng" kern="100" dirty="0">
                <a:solidFill>
                  <a:srgbClr val="0563C1"/>
                </a:solidFill>
                <a:effectLst/>
                <a:ea typeface="Calibri" panose="020F0502020204030204" pitchFamily="34" charset="0"/>
                <a:cs typeface="Times New Roman" panose="02020603050405020304" pitchFamily="18" charset="0"/>
                <a:hlinkClick r:id="rId3"/>
              </a:rPr>
              <a:t>Omar </a:t>
            </a:r>
            <a:r>
              <a:rPr lang="en-US" sz="2000" b="1" u="sng" kern="100" dirty="0" err="1">
                <a:solidFill>
                  <a:srgbClr val="0563C1"/>
                </a:solidFill>
                <a:effectLst/>
                <a:ea typeface="Calibri" panose="020F0502020204030204" pitchFamily="34" charset="0"/>
                <a:cs typeface="Times New Roman" panose="02020603050405020304" pitchFamily="18" charset="0"/>
                <a:hlinkClick r:id="rId3"/>
              </a:rPr>
              <a:t>Alruwaili</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4"/>
              </a:rPr>
              <a:t>Ivica </a:t>
            </a:r>
            <a:r>
              <a:rPr lang="en-US" sz="2000" b="1" u="sng" kern="100" dirty="0" err="1">
                <a:solidFill>
                  <a:srgbClr val="0563C1"/>
                </a:solidFill>
                <a:effectLst/>
                <a:ea typeface="Calibri" panose="020F0502020204030204" pitchFamily="34" charset="0"/>
                <a:cs typeface="Times New Roman" panose="02020603050405020304" pitchFamily="18" charset="0"/>
                <a:hlinkClick r:id="rId4"/>
              </a:rPr>
              <a:t>Kostanic</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5"/>
              </a:rPr>
              <a:t>Ali Al-Sabbagh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6"/>
              </a:rPr>
              <a:t>Hamad </a:t>
            </a:r>
            <a:r>
              <a:rPr lang="en-US" sz="2000" b="1" u="sng" kern="100" dirty="0" err="1">
                <a:solidFill>
                  <a:srgbClr val="0563C1"/>
                </a:solidFill>
                <a:effectLst/>
                <a:ea typeface="Calibri" panose="020F0502020204030204" pitchFamily="34" charset="0"/>
                <a:cs typeface="Times New Roman" panose="02020603050405020304" pitchFamily="18" charset="0"/>
                <a:hlinkClick r:id="rId6"/>
              </a:rPr>
              <a:t>Almohamedh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7"/>
              </a:rPr>
              <a:t>https://ieeexplore.ieee.org/document/9298176/references#references</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a typeface="Calibri" panose="020F0502020204030204" pitchFamily="34" charset="0"/>
                <a:cs typeface="Times New Roman" panose="02020603050405020304" pitchFamily="18" charset="0"/>
              </a:rPr>
              <a:t>7</a:t>
            </a:r>
            <a:r>
              <a:rPr lang="en-US" sz="2000" b="1" kern="100" dirty="0">
                <a:effectLst/>
                <a:ea typeface="Calibri" panose="020F0502020204030204" pitchFamily="34" charset="0"/>
                <a:cs typeface="Times New Roman" panose="02020603050405020304" pitchFamily="18" charset="0"/>
              </a:rPr>
              <a:t>: IoT-</a:t>
            </a:r>
            <a:r>
              <a:rPr lang="en-US" sz="2000" b="1" kern="100" dirty="0" err="1">
                <a:effectLst/>
                <a:ea typeface="Calibri" panose="020F0502020204030204" pitchFamily="34" charset="0"/>
                <a:cs typeface="Times New Roman" panose="02020603050405020304" pitchFamily="18" charset="0"/>
              </a:rPr>
              <a:t>based_air_quality_monitoring_systems_for_smart</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8"/>
              </a:rPr>
              <a:t>Danny </a:t>
            </a:r>
            <a:r>
              <a:rPr lang="en-US" sz="2000" b="1" u="sng" kern="100" dirty="0" err="1">
                <a:solidFill>
                  <a:srgbClr val="0563C1"/>
                </a:solidFill>
                <a:effectLst/>
                <a:ea typeface="Calibri" panose="020F0502020204030204" pitchFamily="34" charset="0"/>
                <a:cs typeface="Times New Roman" panose="02020603050405020304" pitchFamily="18" charset="0"/>
                <a:hlinkClick r:id="rId8"/>
              </a:rPr>
              <a:t>Múnera</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9"/>
              </a:rPr>
              <a:t>Diana P. </a:t>
            </a:r>
            <a:r>
              <a:rPr lang="en-US" sz="2000" b="1" u="sng" kern="100" dirty="0" err="1">
                <a:solidFill>
                  <a:srgbClr val="0563C1"/>
                </a:solidFill>
                <a:effectLst/>
                <a:ea typeface="Calibri" panose="020F0502020204030204" pitchFamily="34" charset="0"/>
                <a:cs typeface="Times New Roman" panose="02020603050405020304" pitchFamily="18" charset="0"/>
                <a:hlinkClick r:id="rId9"/>
              </a:rPr>
              <a:t>Tobon</a:t>
            </a:r>
            <a:r>
              <a:rPr lang="en-US" sz="2000" b="1" u="sng" kern="100" dirty="0">
                <a:solidFill>
                  <a:srgbClr val="0563C1"/>
                </a:solidFill>
                <a:effectLst/>
                <a:ea typeface="Calibri" panose="020F0502020204030204" pitchFamily="34" charset="0"/>
                <a:cs typeface="Times New Roman" panose="02020603050405020304" pitchFamily="18" charset="0"/>
                <a:hlinkClick r:id="rId9"/>
              </a:rPr>
              <a:t> V.</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u="sng" kern="100" dirty="0">
                <a:solidFill>
                  <a:srgbClr val="0563C1"/>
                </a:solidFill>
                <a:effectLst/>
                <a:ea typeface="Calibri" panose="020F0502020204030204" pitchFamily="34" charset="0"/>
                <a:cs typeface="Times New Roman" panose="02020603050405020304" pitchFamily="18" charset="0"/>
                <a:hlinkClick r:id="rId10"/>
              </a:rPr>
              <a:t>Johnny Aguirre</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1"/>
              </a:rPr>
              <a:t>Natalia Gaviria</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2"/>
              </a:rPr>
              <a:t>https://www.researchgate.net/publication/350823548_IoT-based_air_quality_monitoring_systems_for_smart_cities_A_systematic_mapping_study</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ffectLst/>
                <a:ea typeface="Calibri" panose="020F0502020204030204" pitchFamily="34" charset="0"/>
                <a:cs typeface="Times New Roman" panose="02020603050405020304" pitchFamily="18" charset="0"/>
              </a:rPr>
              <a:t>8: IoT-based_AQI_Estimation_using_Image_Processing_and_Learning_Methods </a:t>
            </a:r>
            <a:r>
              <a:rPr lang="en-US" sz="2000" b="1" u="sng" kern="100" dirty="0">
                <a:solidFill>
                  <a:srgbClr val="0563C1"/>
                </a:solidFill>
                <a:effectLst/>
                <a:ea typeface="Calibri" panose="020F0502020204030204" pitchFamily="34" charset="0"/>
                <a:cs typeface="Times New Roman" panose="02020603050405020304" pitchFamily="18" charset="0"/>
                <a:hlinkClick r:id="rId13"/>
              </a:rPr>
              <a:t>Nitin Nilesh</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4"/>
              </a:rPr>
              <a:t>Ishan Patwardhan</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5"/>
              </a:rPr>
              <a:t>Jayati Narang</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6"/>
              </a:rPr>
              <a:t>Sachin Chaudhari</a:t>
            </a:r>
            <a:r>
              <a:rPr lang="en-US" sz="2000" b="1" kern="100" dirty="0">
                <a:effectLst/>
                <a:ea typeface="Calibri" panose="020F0502020204030204" pitchFamily="34" charset="0"/>
                <a:cs typeface="Times New Roman" panose="02020603050405020304" pitchFamily="18" charset="0"/>
              </a:rPr>
              <a:t>. </a:t>
            </a:r>
            <a:r>
              <a:rPr lang="en-US" sz="2000" b="1" u="sng" kern="100" dirty="0">
                <a:solidFill>
                  <a:srgbClr val="0563C1"/>
                </a:solidFill>
                <a:effectLst/>
                <a:ea typeface="Calibri" panose="020F0502020204030204" pitchFamily="34" charset="0"/>
                <a:cs typeface="Times New Roman" panose="02020603050405020304" pitchFamily="18" charset="0"/>
                <a:hlinkClick r:id="rId17"/>
              </a:rPr>
              <a:t>https://ieeexplore.ieee.org/document/10152272</a:t>
            </a:r>
            <a:endParaRPr lang="en-US" sz="2000" b="1" kern="100" dirty="0">
              <a:effectLst/>
              <a:ea typeface="Calibri" panose="020F0502020204030204" pitchFamily="34" charset="0"/>
              <a:cs typeface="Times New Roman" panose="02020603050405020304" pitchFamily="18" charset="0"/>
            </a:endParaRPr>
          </a:p>
          <a:p>
            <a:pPr marL="182880" marR="0">
              <a:lnSpc>
                <a:spcPct val="100000"/>
              </a:lnSpc>
              <a:spcBef>
                <a:spcPts val="0"/>
              </a:spcBef>
            </a:pPr>
            <a:r>
              <a:rPr lang="en-US" sz="2000" b="1" kern="100" dirty="0">
                <a:effectLst/>
                <a:ea typeface="Calibri" panose="020F0502020204030204" pitchFamily="34" charset="0"/>
                <a:cs typeface="Times New Roman" panose="02020603050405020304" pitchFamily="18" charset="0"/>
              </a:rPr>
              <a:t>9:</a:t>
            </a:r>
            <a:r>
              <a:rPr lang="en-US" sz="2000" b="1" kern="1800" dirty="0">
                <a:solidFill>
                  <a:srgbClr val="F1F1F1"/>
                </a:solidFill>
                <a:effectLst/>
                <a:ea typeface="Times New Roman" panose="02020603050405020304" pitchFamily="18" charset="0"/>
                <a:cs typeface="Times New Roman" panose="02020603050405020304" pitchFamily="18" charset="0"/>
              </a:rPr>
              <a:t> </a:t>
            </a:r>
            <a:r>
              <a:rPr lang="en-US" sz="2000" b="1" kern="100" dirty="0">
                <a:effectLst/>
                <a:ea typeface="Calibri" panose="020F0502020204030204" pitchFamily="34" charset="0"/>
                <a:cs typeface="Times New Roman" panose="02020603050405020304" pitchFamily="18" charset="0"/>
              </a:rPr>
              <a:t>IoT Based Air Quality Index (AQI) Monitoring with ESP8266 &amp; </a:t>
            </a:r>
            <a:r>
              <a:rPr lang="en-US" sz="1800" b="1" kern="100" dirty="0">
                <a:effectLst/>
                <a:ea typeface="Calibri" panose="020F0502020204030204" pitchFamily="34" charset="0"/>
                <a:cs typeface="Times New Roman" panose="02020603050405020304" pitchFamily="18" charset="0"/>
              </a:rPr>
              <a:t>Air Quality Sensor || Pollution in PPM. </a:t>
            </a:r>
            <a:r>
              <a:rPr lang="en-US" sz="1800" b="1" u="sng" kern="100" dirty="0">
                <a:solidFill>
                  <a:srgbClr val="0563C1"/>
                </a:solidFill>
                <a:effectLst/>
                <a:ea typeface="Calibri" panose="020F0502020204030204" pitchFamily="34" charset="0"/>
                <a:cs typeface="Times New Roman" panose="02020603050405020304" pitchFamily="18" charset="0"/>
                <a:hlinkClick r:id="rId18"/>
              </a:rPr>
              <a:t>https://www.youtube.com/watch?v=Ub1ciur95Nk</a:t>
            </a:r>
            <a:endParaRPr lang="en-US" sz="1800" b="1" kern="100" dirty="0">
              <a:effectLst/>
              <a:ea typeface="Calibri" panose="020F0502020204030204" pitchFamily="34" charset="0"/>
              <a:cs typeface="Times New Roman" panose="02020603050405020304" pitchFamily="18" charset="0"/>
            </a:endParaRPr>
          </a:p>
        </p:txBody>
      </p:sp>
      <p:pic>
        <p:nvPicPr>
          <p:cNvPr id="4" name="object 4"/>
          <p:cNvPicPr/>
          <p:nvPr/>
        </p:nvPicPr>
        <p:blipFill>
          <a:blip r:embed="rId19" cstate="print"/>
          <a:stretch>
            <a:fillRect/>
          </a:stretch>
        </p:blipFill>
        <p:spPr>
          <a:xfrm>
            <a:off x="10408725" y="154153"/>
            <a:ext cx="1401690" cy="1401690"/>
          </a:xfrm>
          <a:prstGeom prst="rect">
            <a:avLst/>
          </a:prstGeom>
        </p:spPr>
      </p:pic>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21</a:t>
            </a:fld>
            <a:endParaRPr dirty="0"/>
          </a:p>
        </p:txBody>
      </p:sp>
      <p:sp>
        <p:nvSpPr>
          <p:cNvPr id="5" name="Date Placeholder 4">
            <a:extLst>
              <a:ext uri="{FF2B5EF4-FFF2-40B4-BE49-F238E27FC236}">
                <a16:creationId xmlns:a16="http://schemas.microsoft.com/office/drawing/2014/main" id="{19980858-DD67-0E2B-4280-024978A240C2}"/>
              </a:ext>
            </a:extLst>
          </p:cNvPr>
          <p:cNvSpPr>
            <a:spLocks noGrp="1"/>
          </p:cNvSpPr>
          <p:nvPr>
            <p:ph type="dt" sz="half" idx="6"/>
          </p:nvPr>
        </p:nvSpPr>
        <p:spPr/>
        <p:txBody>
          <a:bodyPr/>
          <a:lstStyle/>
          <a:p>
            <a:pPr marL="12700">
              <a:lnSpc>
                <a:spcPts val="1240"/>
              </a:lnSpc>
            </a:pPr>
            <a:fld id="{F860FB93-682A-47AA-BC83-158DD8949A61}" type="datetime1">
              <a:rPr lang="LID4096" spc="-5" smtClean="0"/>
              <a:t>01/24/2025</a:t>
            </a:fld>
            <a:endParaRPr lang="en-GB" spc="-5" dirty="0"/>
          </a:p>
        </p:txBody>
      </p:sp>
    </p:spTree>
    <p:extLst>
      <p:ext uri="{BB962C8B-B14F-4D97-AF65-F5344CB8AC3E}">
        <p14:creationId xmlns:p14="http://schemas.microsoft.com/office/powerpoint/2010/main" val="23197526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43400" y="2610587"/>
            <a:ext cx="2286000" cy="628377"/>
          </a:xfrm>
          <a:prstGeom prst="rect">
            <a:avLst/>
          </a:prstGeom>
        </p:spPr>
        <p:txBody>
          <a:bodyPr vert="horz" wrap="square" lIns="0" tIns="12700" rIns="0" bIns="0" rtlCol="0">
            <a:spAutoFit/>
          </a:bodyPr>
          <a:lstStyle/>
          <a:p>
            <a:pPr marL="12700" marR="5080">
              <a:lnSpc>
                <a:spcPct val="100000"/>
              </a:lnSpc>
              <a:spcBef>
                <a:spcPts val="100"/>
              </a:spcBef>
            </a:pPr>
            <a:r>
              <a:rPr spc="-5" dirty="0"/>
              <a:t>Thank You</a:t>
            </a:r>
          </a:p>
        </p:txBody>
      </p:sp>
      <p:pic>
        <p:nvPicPr>
          <p:cNvPr id="3" name="object 3"/>
          <p:cNvPicPr/>
          <p:nvPr/>
        </p:nvPicPr>
        <p:blipFill>
          <a:blip r:embed="rId2" cstate="print"/>
          <a:stretch>
            <a:fillRect/>
          </a:stretch>
        </p:blipFill>
        <p:spPr>
          <a:xfrm>
            <a:off x="10408725" y="154153"/>
            <a:ext cx="1401690" cy="1401690"/>
          </a:xfrm>
          <a:prstGeom prst="rect">
            <a:avLst/>
          </a:prstGeom>
        </p:spPr>
      </p:pic>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fld id="{81D60167-4931-47E6-BA6A-407CBD079E47}" type="slidenum">
              <a:rPr dirty="0"/>
              <a:t>22</a:t>
            </a:fld>
            <a:endParaRPr dirty="0"/>
          </a:p>
        </p:txBody>
      </p:sp>
      <p:sp>
        <p:nvSpPr>
          <p:cNvPr id="4" name="Date Placeholder 3">
            <a:extLst>
              <a:ext uri="{FF2B5EF4-FFF2-40B4-BE49-F238E27FC236}">
                <a16:creationId xmlns:a16="http://schemas.microsoft.com/office/drawing/2014/main" id="{34A43B11-DD90-F6DC-527C-23AFCC7AD945}"/>
              </a:ext>
            </a:extLst>
          </p:cNvPr>
          <p:cNvSpPr>
            <a:spLocks noGrp="1"/>
          </p:cNvSpPr>
          <p:nvPr>
            <p:ph type="dt" sz="half" idx="6"/>
          </p:nvPr>
        </p:nvSpPr>
        <p:spPr/>
        <p:txBody>
          <a:bodyPr/>
          <a:lstStyle/>
          <a:p>
            <a:pPr marL="12700">
              <a:lnSpc>
                <a:spcPts val="1240"/>
              </a:lnSpc>
            </a:pPr>
            <a:fld id="{CF2DCEDD-F652-422E-9C56-2CBA6B9BE3AB}" type="datetime1">
              <a:rPr lang="LID4096" spc="-5" smtClean="0"/>
              <a:t>01/24/2025</a:t>
            </a:fld>
            <a:endParaRPr lang="en-GB" spc="-5"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10697</TotalTime>
  <Words>1051</Words>
  <Application>Microsoft Office PowerPoint</Application>
  <PresentationFormat>Widescreen</PresentationFormat>
  <Paragraphs>189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 MT</vt:lpstr>
      <vt:lpstr>Calibri</vt:lpstr>
      <vt:lpstr>Times New Roman</vt:lpstr>
      <vt:lpstr>Office Theme</vt:lpstr>
      <vt:lpstr> </vt:lpstr>
      <vt:lpstr>IOT-Based  Air Quality  Index Meter System</vt:lpstr>
      <vt:lpstr>Outline:</vt:lpstr>
      <vt:lpstr>Introduction:</vt:lpstr>
      <vt:lpstr>Problem Statement:</vt:lpstr>
      <vt:lpstr>Objective:</vt:lpstr>
      <vt:lpstr>Literature Review:</vt:lpstr>
      <vt:lpstr> </vt:lpstr>
      <vt:lpstr>PowerPoint Presentation</vt:lpstr>
      <vt:lpstr>     </vt:lpstr>
      <vt:lpstr>ESP32 Diagram: </vt:lpstr>
      <vt:lpstr>ESP8266 Diagram:</vt:lpstr>
      <vt:lpstr>Arduino Uno Diagram:</vt:lpstr>
      <vt:lpstr>PM Sensors Diagram:</vt:lpstr>
      <vt:lpstr>MQ Sensors Diagram:</vt:lpstr>
      <vt:lpstr>Blynk App Diagram:</vt:lpstr>
      <vt:lpstr> Results: </vt:lpstr>
      <vt:lpstr> Results: </vt:lpstr>
      <vt:lpstr>Conclusion:</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Aqsa Shah</dc:creator>
  <cp:lastModifiedBy>huzaifa shahbaz</cp:lastModifiedBy>
  <cp:revision>79</cp:revision>
  <dcterms:created xsi:type="dcterms:W3CDTF">2023-10-03T09:34:06Z</dcterms:created>
  <dcterms:modified xsi:type="dcterms:W3CDTF">2025-01-24T04:14:07Z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