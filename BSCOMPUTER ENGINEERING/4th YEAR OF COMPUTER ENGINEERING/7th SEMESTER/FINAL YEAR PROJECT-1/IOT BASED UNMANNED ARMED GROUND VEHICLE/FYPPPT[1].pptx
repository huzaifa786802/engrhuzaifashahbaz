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7" r:id="rId20"/>
    <p:sldId id="278" r:id="rId21"/>
    <p:sldId id="279" r:id="rId22"/>
    <p:sldId id="273" r:id="rId23"/>
    <p:sldId id="274" r:id="rId24"/>
    <p:sldId id="275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03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A47DF-963F-48E5-845A-7CF1DE43AF05}" type="datetimeFigureOut">
              <a:rPr lang="en-US" smtClean="0"/>
              <a:t>22-Jan-25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6392F-DFA5-4813-88C8-2A84A2FCE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488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6392F-DFA5-4813-88C8-2A84A2FCE68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64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0844" y="601218"/>
            <a:ext cx="25457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548A0-53FC-49A1-BF29-5A00B859A94B}" type="datetime1">
              <a:rPr lang="en-US" smtClean="0"/>
              <a:t>22-Jan-25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5044A-C4F5-45DF-B5D3-E38B0755D0DB}" type="datetime1">
              <a:rPr lang="en-US" smtClean="0"/>
              <a:t>22-Jan-25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51630-F6D8-45FC-BF69-2EA0A51D7649}" type="datetime1">
              <a:rPr lang="en-US" smtClean="0"/>
              <a:t>22-Jan-25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8B11A-50D9-49A1-8B96-8E25D7FE957A}" type="datetime1">
              <a:rPr lang="en-US" smtClean="0"/>
              <a:t>22-Jan-25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B6AF8-0231-40D8-9FF3-5FD8FA85B2F9}" type="datetime1">
              <a:rPr lang="en-US" smtClean="0"/>
              <a:t>22-Jan-25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93040"/>
            <a:ext cx="11577319" cy="12047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739" y="1237489"/>
            <a:ext cx="10110470" cy="4538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38ADB-942B-4C5E-AA83-D41149ECE6FC}" type="datetime1">
              <a:rPr lang="en-US" smtClean="0"/>
              <a:t>22-Jan-25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54156" y="6455232"/>
            <a:ext cx="244475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674" y="2320797"/>
            <a:ext cx="117297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0" dirty="0"/>
              <a:t>IOT-</a:t>
            </a:r>
            <a:r>
              <a:rPr sz="5400" dirty="0"/>
              <a:t>Based</a:t>
            </a:r>
            <a:r>
              <a:rPr sz="5400" spc="-114" dirty="0"/>
              <a:t> </a:t>
            </a:r>
            <a:r>
              <a:rPr sz="5400" dirty="0"/>
              <a:t>Air</a:t>
            </a:r>
            <a:r>
              <a:rPr sz="5400" spc="-125" dirty="0"/>
              <a:t> </a:t>
            </a:r>
            <a:r>
              <a:rPr sz="5400" dirty="0"/>
              <a:t>Quality</a:t>
            </a:r>
            <a:r>
              <a:rPr sz="5400" spc="-125" dirty="0"/>
              <a:t> </a:t>
            </a:r>
            <a:r>
              <a:rPr sz="5400" dirty="0"/>
              <a:t>Index</a:t>
            </a:r>
            <a:r>
              <a:rPr sz="5400" spc="-110" dirty="0"/>
              <a:t> </a:t>
            </a:r>
            <a:r>
              <a:rPr sz="5400" dirty="0"/>
              <a:t>Meter</a:t>
            </a:r>
            <a:r>
              <a:rPr sz="5400" spc="-125" dirty="0"/>
              <a:t> </a:t>
            </a:r>
            <a:r>
              <a:rPr sz="5400" spc="-10" dirty="0"/>
              <a:t>System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4338954" y="3636558"/>
            <a:ext cx="3470275" cy="194691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55"/>
              </a:spcBef>
            </a:pPr>
            <a:r>
              <a:rPr sz="2200" spc="-25" dirty="0">
                <a:latin typeface="Carlito"/>
                <a:cs typeface="Carlito"/>
              </a:rPr>
              <a:t>By</a:t>
            </a:r>
            <a:endParaRPr sz="2200">
              <a:latin typeface="Carlito"/>
              <a:cs typeface="Carlito"/>
            </a:endParaRPr>
          </a:p>
          <a:p>
            <a:pPr marL="44450" marR="29209" algn="ctr">
              <a:lnSpc>
                <a:spcPct val="104000"/>
              </a:lnSpc>
              <a:spcBef>
                <a:spcPts val="165"/>
              </a:spcBef>
            </a:pPr>
            <a:r>
              <a:rPr sz="2400" spc="-10" dirty="0">
                <a:latin typeface="Carlito"/>
                <a:cs typeface="Carlito"/>
              </a:rPr>
              <a:t>Huzaifa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Shahbaz</a:t>
            </a:r>
            <a:r>
              <a:rPr sz="2200" dirty="0">
                <a:latin typeface="Carlito"/>
                <a:cs typeface="Carlito"/>
              </a:rPr>
              <a:t>–</a:t>
            </a:r>
            <a:r>
              <a:rPr sz="2200" spc="-4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21-</a:t>
            </a:r>
            <a:r>
              <a:rPr sz="2200" spc="-20" dirty="0">
                <a:latin typeface="Carlito"/>
                <a:cs typeface="Carlito"/>
              </a:rPr>
              <a:t>CE-</a:t>
            </a:r>
            <a:r>
              <a:rPr sz="2200" spc="-25" dirty="0">
                <a:latin typeface="Carlito"/>
                <a:cs typeface="Carlito"/>
              </a:rPr>
              <a:t>009 </a:t>
            </a:r>
            <a:r>
              <a:rPr sz="2200" dirty="0">
                <a:latin typeface="Carlito"/>
                <a:cs typeface="Carlito"/>
              </a:rPr>
              <a:t>Aqsa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Shah–</a:t>
            </a:r>
            <a:r>
              <a:rPr sz="2200" spc="-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21-</a:t>
            </a:r>
            <a:r>
              <a:rPr sz="2200" spc="-20" dirty="0">
                <a:latin typeface="Carlito"/>
                <a:cs typeface="Carlito"/>
              </a:rPr>
              <a:t>CE-</a:t>
            </a:r>
            <a:r>
              <a:rPr sz="2200" spc="-25" dirty="0">
                <a:latin typeface="Carlito"/>
                <a:cs typeface="Carlito"/>
              </a:rPr>
              <a:t>039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2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Carlito"/>
                <a:cs typeface="Carlito"/>
              </a:rPr>
              <a:t>Supervisor:</a:t>
            </a:r>
            <a:r>
              <a:rPr sz="2200" spc="-65" dirty="0">
                <a:latin typeface="Carlito"/>
                <a:cs typeface="Carlito"/>
              </a:rPr>
              <a:t> </a:t>
            </a:r>
            <a:r>
              <a:rPr sz="2200" spc="-30" dirty="0">
                <a:latin typeface="Carlito"/>
                <a:cs typeface="Carlito"/>
              </a:rPr>
              <a:t>Ma’am</a:t>
            </a:r>
            <a:r>
              <a:rPr sz="2200" spc="-6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Sara</a:t>
            </a:r>
            <a:r>
              <a:rPr sz="2200" spc="-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Tehsin</a:t>
            </a:r>
            <a:endParaRPr sz="22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93845" y="523494"/>
            <a:ext cx="3935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rlito"/>
                <a:cs typeface="Carlito"/>
              </a:rPr>
              <a:t>Final</a:t>
            </a:r>
            <a:r>
              <a:rPr sz="1800" b="1" spc="-75" dirty="0">
                <a:latin typeface="Carlito"/>
                <a:cs typeface="Carlito"/>
              </a:rPr>
              <a:t> </a:t>
            </a:r>
            <a:r>
              <a:rPr sz="1800" b="1" spc="-40" dirty="0">
                <a:latin typeface="Carlito"/>
                <a:cs typeface="Carlito"/>
              </a:rPr>
              <a:t>Year</a:t>
            </a:r>
            <a:r>
              <a:rPr sz="1800" b="1" spc="-35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Project</a:t>
            </a:r>
            <a:r>
              <a:rPr sz="1800" b="1" spc="-55" dirty="0">
                <a:latin typeface="Carlito"/>
                <a:cs typeface="Carlito"/>
              </a:rPr>
              <a:t> </a:t>
            </a:r>
            <a:r>
              <a:rPr sz="1800" b="1" dirty="0">
                <a:latin typeface="Carlito"/>
                <a:cs typeface="Carlito"/>
              </a:rPr>
              <a:t>–</a:t>
            </a:r>
            <a:r>
              <a:rPr sz="1800" b="1" spc="-10" dirty="0">
                <a:latin typeface="Carlito"/>
                <a:cs typeface="Carlito"/>
              </a:rPr>
              <a:t> Proposal</a:t>
            </a:r>
            <a:r>
              <a:rPr sz="1800" b="1" spc="-70" dirty="0">
                <a:latin typeface="Carlito"/>
                <a:cs typeface="Carlito"/>
              </a:rPr>
              <a:t> </a:t>
            </a:r>
            <a:r>
              <a:rPr sz="1800" b="1" spc="-10" dirty="0">
                <a:latin typeface="Carlito"/>
                <a:cs typeface="Carlito"/>
              </a:rPr>
              <a:t>Presentation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9556" y="641705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Carlito"/>
                <a:cs typeface="Carlito"/>
              </a:rPr>
              <a:t>1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93033" y="6417055"/>
            <a:ext cx="763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77B686-B347-E1AC-90CE-4776FD7CA8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512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1880" y="1498626"/>
            <a:ext cx="3414395" cy="511048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11150" indent="-17589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311150" algn="l"/>
              </a:tabLst>
            </a:pPr>
            <a:r>
              <a:rPr sz="2800" spc="-10" dirty="0">
                <a:latin typeface="Carlito"/>
                <a:cs typeface="Carlito"/>
              </a:rPr>
              <a:t>Introduction</a:t>
            </a:r>
            <a:endParaRPr sz="2800">
              <a:latin typeface="Carlito"/>
              <a:cs typeface="Carlito"/>
            </a:endParaRPr>
          </a:p>
          <a:p>
            <a:pPr marL="310515" indent="-17526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10515" algn="l"/>
              </a:tabLst>
            </a:pPr>
            <a:r>
              <a:rPr sz="2800" dirty="0">
                <a:latin typeface="Carlito"/>
                <a:cs typeface="Carlito"/>
              </a:rPr>
              <a:t>Problem</a:t>
            </a:r>
            <a:r>
              <a:rPr sz="2800" spc="-9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Statement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11150" algn="l"/>
              </a:tabLst>
            </a:pPr>
            <a:r>
              <a:rPr sz="2800" spc="-10" dirty="0">
                <a:latin typeface="Carlito"/>
                <a:cs typeface="Carlito"/>
              </a:rPr>
              <a:t>Objective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11150" algn="l"/>
              </a:tabLst>
            </a:pPr>
            <a:r>
              <a:rPr sz="2800" dirty="0">
                <a:latin typeface="Carlito"/>
                <a:cs typeface="Carlito"/>
              </a:rPr>
              <a:t>Proposed</a:t>
            </a:r>
            <a:r>
              <a:rPr sz="2800" spc="-16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Design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11150" algn="l"/>
              </a:tabLst>
            </a:pPr>
            <a:r>
              <a:rPr sz="2800" dirty="0">
                <a:latin typeface="Carlito"/>
                <a:cs typeface="Carlito"/>
              </a:rPr>
              <a:t>Literature</a:t>
            </a:r>
            <a:r>
              <a:rPr sz="2800" spc="-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Review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11150" algn="l"/>
              </a:tabLst>
            </a:pPr>
            <a:r>
              <a:rPr sz="2800" spc="-10" dirty="0">
                <a:latin typeface="Carlito"/>
                <a:cs typeface="Carlito"/>
              </a:rPr>
              <a:t>Architecture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Diagram</a:t>
            </a:r>
            <a:endParaRPr sz="2800">
              <a:latin typeface="Carlito"/>
              <a:cs typeface="Carlito"/>
            </a:endParaRPr>
          </a:p>
          <a:p>
            <a:pPr marL="310515" indent="-17526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10515" algn="l"/>
              </a:tabLst>
            </a:pPr>
            <a:r>
              <a:rPr sz="2800" spc="-10" dirty="0">
                <a:latin typeface="Carlito"/>
                <a:cs typeface="Carlito"/>
              </a:rPr>
              <a:t>Results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311150" algn="l"/>
              </a:tabLst>
            </a:pPr>
            <a:r>
              <a:rPr sz="2800" spc="-10" dirty="0">
                <a:latin typeface="Carlito"/>
                <a:cs typeface="Carlito"/>
              </a:rPr>
              <a:t>Conclusion</a:t>
            </a:r>
            <a:endParaRPr sz="2800">
              <a:latin typeface="Carlito"/>
              <a:cs typeface="Carlito"/>
            </a:endParaRPr>
          </a:p>
          <a:p>
            <a:pPr marL="311150" indent="-17589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311150" algn="l"/>
              </a:tabLst>
            </a:pPr>
            <a:r>
              <a:rPr sz="2800" spc="-10" dirty="0">
                <a:latin typeface="Carlito"/>
                <a:cs typeface="Carlito"/>
              </a:rPr>
              <a:t>References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79556" y="6417055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Carlito"/>
                <a:cs typeface="Carlito"/>
              </a:rPr>
              <a:t>2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318A4-722D-B821-BA49-9BB23EB309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2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512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991" y="2046478"/>
            <a:ext cx="892048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Air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quality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monitoring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vital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health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environment.</a:t>
            </a:r>
            <a:endParaRPr sz="240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IoT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systems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measure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pollutants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like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PM2.5,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PM10,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CO,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NO2.</a:t>
            </a:r>
            <a:endParaRPr sz="240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2880"/>
              </a:spcBef>
              <a:buFont typeface="Arial"/>
              <a:buChar char="•"/>
              <a:tabLst>
                <a:tab pos="469265" algn="l"/>
              </a:tabLst>
            </a:pPr>
            <a:r>
              <a:rPr sz="2400" spc="-20" dirty="0">
                <a:latin typeface="Carlito"/>
                <a:cs typeface="Carlito"/>
              </a:rPr>
              <a:t>Real-</a:t>
            </a:r>
            <a:r>
              <a:rPr sz="2400" dirty="0">
                <a:latin typeface="Carlito"/>
                <a:cs typeface="Carlito"/>
              </a:rPr>
              <a:t>time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data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improves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our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understanding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air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quality.</a:t>
            </a:r>
            <a:endParaRPr sz="2400">
              <a:latin typeface="Carlito"/>
              <a:cs typeface="Carlito"/>
            </a:endParaRPr>
          </a:p>
          <a:p>
            <a:pPr marL="469265" indent="-456565">
              <a:lnSpc>
                <a:spcPct val="100000"/>
              </a:lnSpc>
              <a:spcBef>
                <a:spcPts val="2885"/>
              </a:spcBef>
              <a:buFont typeface="Arial"/>
              <a:buChar char="•"/>
              <a:tabLst>
                <a:tab pos="469265" algn="l"/>
              </a:tabLst>
            </a:pPr>
            <a:r>
              <a:rPr sz="2400" dirty="0">
                <a:latin typeface="Carlito"/>
                <a:cs typeface="Carlito"/>
              </a:rPr>
              <a:t>AQI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systems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raise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awareness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inform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policies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for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swift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responses.</a:t>
            </a:r>
            <a:endParaRPr sz="24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512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Problem</a:t>
            </a:r>
            <a:r>
              <a:rPr spc="-19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183" y="2046478"/>
            <a:ext cx="916940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rlito"/>
                <a:cs typeface="Carlito"/>
              </a:rPr>
              <a:t>The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decline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air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quality,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driven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by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urbanization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industrialization,</a:t>
            </a:r>
            <a:endParaRPr sz="2400" dirty="0">
              <a:latin typeface="Carlito"/>
              <a:cs typeface="Carlito"/>
            </a:endParaRPr>
          </a:p>
          <a:p>
            <a:pPr marL="355600" marR="5080">
              <a:lnSpc>
                <a:spcPct val="200000"/>
              </a:lnSpc>
            </a:pPr>
            <a:r>
              <a:rPr sz="2400" dirty="0">
                <a:latin typeface="Carlito"/>
                <a:cs typeface="Carlito"/>
              </a:rPr>
              <a:t>poses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serious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health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risks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environmental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challenges.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dirty="0">
                <a:latin typeface="Carlito"/>
                <a:cs typeface="Carlito"/>
              </a:rPr>
              <a:t>monitoring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systems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have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lengthy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detection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ranges,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preventing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accurate </a:t>
            </a:r>
            <a:r>
              <a:rPr sz="2400" dirty="0">
                <a:latin typeface="Carlito"/>
                <a:cs typeface="Carlito"/>
              </a:rPr>
              <a:t>local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readings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of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pollutants.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This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limitation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hinders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timely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interventions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effective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decision-making.</a:t>
            </a:r>
            <a:endParaRPr sz="2400" dirty="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512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4183" y="1628660"/>
            <a:ext cx="7568565" cy="483108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2800" dirty="0">
                <a:latin typeface="Carlito"/>
                <a:cs typeface="Carlito"/>
              </a:rPr>
              <a:t>The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objective</a:t>
            </a:r>
            <a:r>
              <a:rPr sz="2800" spc="-60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of</a:t>
            </a:r>
            <a:r>
              <a:rPr sz="2800" spc="-7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this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dirty="0">
                <a:latin typeface="Carlito"/>
                <a:cs typeface="Carlito"/>
              </a:rPr>
              <a:t>project</a:t>
            </a:r>
            <a:r>
              <a:rPr sz="2800" spc="-65" dirty="0">
                <a:latin typeface="Carlito"/>
                <a:cs typeface="Carlito"/>
              </a:rPr>
              <a:t> </a:t>
            </a:r>
            <a:r>
              <a:rPr sz="2800" spc="-25" dirty="0">
                <a:latin typeface="Carlito"/>
                <a:cs typeface="Carlito"/>
              </a:rPr>
              <a:t>is:</a:t>
            </a:r>
            <a:endParaRPr sz="2800">
              <a:latin typeface="Carlito"/>
              <a:cs typeface="Carlito"/>
            </a:endParaRPr>
          </a:p>
          <a:p>
            <a:pPr marL="743585" indent="-286385">
              <a:lnSpc>
                <a:spcPct val="100000"/>
              </a:lnSpc>
              <a:spcBef>
                <a:spcPts val="1025"/>
              </a:spcBef>
              <a:buFont typeface="Arial"/>
              <a:buChar char="•"/>
              <a:tabLst>
                <a:tab pos="743585" algn="l"/>
              </a:tabLst>
            </a:pPr>
            <a:r>
              <a:rPr sz="2400" spc="-110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Identify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key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pollutants</a:t>
            </a:r>
            <a:endParaRPr sz="2400">
              <a:latin typeface="Carlito"/>
              <a:cs typeface="Carlito"/>
            </a:endParaRPr>
          </a:p>
          <a:p>
            <a:pPr marL="743585" indent="-28638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743585" algn="l"/>
              </a:tabLst>
            </a:pPr>
            <a:r>
              <a:rPr sz="2400" spc="-110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Analyse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their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impact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health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environment</a:t>
            </a:r>
            <a:endParaRPr sz="2400">
              <a:latin typeface="Carlito"/>
              <a:cs typeface="Carlito"/>
            </a:endParaRPr>
          </a:p>
          <a:p>
            <a:pPr marL="743585" indent="-28638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743585" algn="l"/>
              </a:tabLst>
            </a:pPr>
            <a:r>
              <a:rPr sz="2400" spc="-110" dirty="0">
                <a:latin typeface="Carlito"/>
                <a:cs typeface="Carlito"/>
              </a:rPr>
              <a:t>To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Enable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real-</a:t>
            </a:r>
            <a:r>
              <a:rPr sz="2400" dirty="0">
                <a:latin typeface="Carlito"/>
                <a:cs typeface="Carlito"/>
              </a:rPr>
              <a:t>time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monitoring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for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timely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interventions</a:t>
            </a:r>
            <a:endParaRPr sz="2400">
              <a:latin typeface="Carlito"/>
              <a:cs typeface="Carlito"/>
            </a:endParaRPr>
          </a:p>
          <a:p>
            <a:pPr marL="743585" indent="-28638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743585" algn="l"/>
              </a:tabLst>
            </a:pPr>
            <a:r>
              <a:rPr sz="2400" spc="-10" dirty="0">
                <a:latin typeface="Carlito"/>
                <a:cs typeface="Carlito"/>
              </a:rPr>
              <a:t>Stakeholder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Impact:</a:t>
            </a:r>
            <a:endParaRPr sz="2400">
              <a:latin typeface="Carlito"/>
              <a:cs typeface="Carlito"/>
            </a:endParaRPr>
          </a:p>
          <a:p>
            <a:pPr marL="1213485" lvl="1" indent="-28638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1213485" algn="l"/>
              </a:tabLst>
            </a:pPr>
            <a:r>
              <a:rPr sz="1800" spc="-10" dirty="0">
                <a:latin typeface="Carlito"/>
                <a:cs typeface="Carlito"/>
              </a:rPr>
              <a:t>Environmental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agencies</a:t>
            </a:r>
            <a:endParaRPr sz="1800">
              <a:latin typeface="Carlito"/>
              <a:cs typeface="Carlito"/>
            </a:endParaRPr>
          </a:p>
          <a:p>
            <a:pPr marL="1213485" lvl="1" indent="-286385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1213485" algn="l"/>
              </a:tabLst>
            </a:pPr>
            <a:r>
              <a:rPr sz="1800" dirty="0">
                <a:latin typeface="Carlito"/>
                <a:cs typeface="Carlito"/>
              </a:rPr>
              <a:t>Local</a:t>
            </a:r>
            <a:r>
              <a:rPr sz="1800" spc="-2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governments</a:t>
            </a:r>
            <a:endParaRPr sz="1800">
              <a:latin typeface="Carlito"/>
              <a:cs typeface="Carlito"/>
            </a:endParaRPr>
          </a:p>
          <a:p>
            <a:pPr marL="12134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213485" algn="l"/>
              </a:tabLst>
            </a:pPr>
            <a:r>
              <a:rPr sz="1800" spc="-10" dirty="0">
                <a:latin typeface="Carlito"/>
                <a:cs typeface="Carlito"/>
              </a:rPr>
              <a:t>Industries</a:t>
            </a:r>
            <a:endParaRPr sz="1800">
              <a:latin typeface="Carlito"/>
              <a:cs typeface="Carlito"/>
            </a:endParaRPr>
          </a:p>
          <a:p>
            <a:pPr marL="12134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213485" algn="l"/>
              </a:tabLst>
            </a:pPr>
            <a:r>
              <a:rPr sz="1800" dirty="0">
                <a:latin typeface="Carlito"/>
                <a:cs typeface="Carlito"/>
              </a:rPr>
              <a:t>The</a:t>
            </a:r>
            <a:r>
              <a:rPr sz="1800" spc="-3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public</a:t>
            </a:r>
            <a:endParaRPr sz="1800">
              <a:latin typeface="Carlito"/>
              <a:cs typeface="Carlito"/>
            </a:endParaRPr>
          </a:p>
          <a:p>
            <a:pPr marL="1213485" lvl="1" indent="-28638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213485" algn="l"/>
              </a:tabLst>
            </a:pPr>
            <a:r>
              <a:rPr sz="1800" dirty="0">
                <a:latin typeface="Carlito"/>
                <a:cs typeface="Carlito"/>
              </a:rPr>
              <a:t>Health</a:t>
            </a:r>
            <a:r>
              <a:rPr sz="1800" spc="-6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Management</a:t>
            </a:r>
            <a:endParaRPr sz="18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521335"/>
            <a:ext cx="71608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PROPOSED</a:t>
            </a:r>
            <a:r>
              <a:rPr sz="4000" spc="-165" dirty="0"/>
              <a:t> </a:t>
            </a:r>
            <a:r>
              <a:rPr sz="4000" spc="-10" dirty="0"/>
              <a:t>DESIGN/METHOGOLDY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105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spc="-10" dirty="0"/>
              <a:t>Abstract</a:t>
            </a:r>
            <a:r>
              <a:rPr spc="-85" dirty="0"/>
              <a:t> </a:t>
            </a:r>
            <a:r>
              <a:rPr spc="-10" dirty="0"/>
              <a:t>Design:</a:t>
            </a:r>
          </a:p>
          <a:p>
            <a:pPr marL="354330">
              <a:lnSpc>
                <a:spcPct val="100000"/>
              </a:lnSpc>
              <a:spcBef>
                <a:spcPts val="845"/>
              </a:spcBef>
            </a:pPr>
            <a:r>
              <a:rPr sz="2000" b="0" dirty="0">
                <a:latin typeface="Carlito"/>
                <a:cs typeface="Carlito"/>
              </a:rPr>
              <a:t>The</a:t>
            </a:r>
            <a:r>
              <a:rPr sz="2000" b="0" spc="-45" dirty="0">
                <a:latin typeface="Carlito"/>
                <a:cs typeface="Carlito"/>
              </a:rPr>
              <a:t> </a:t>
            </a:r>
            <a:r>
              <a:rPr sz="2000" b="0" spc="-10" dirty="0">
                <a:latin typeface="Carlito"/>
                <a:cs typeface="Carlito"/>
              </a:rPr>
              <a:t>IoT-</a:t>
            </a:r>
            <a:r>
              <a:rPr sz="2000" b="0" dirty="0">
                <a:latin typeface="Carlito"/>
                <a:cs typeface="Carlito"/>
              </a:rPr>
              <a:t>based</a:t>
            </a:r>
            <a:r>
              <a:rPr sz="2000" b="0" spc="-5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AQI</a:t>
            </a:r>
            <a:r>
              <a:rPr sz="2000" b="0" spc="-5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Meter</a:t>
            </a:r>
            <a:r>
              <a:rPr sz="2000" b="0" spc="-4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uses</a:t>
            </a:r>
            <a:r>
              <a:rPr sz="2000" b="0" spc="-4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advanced</a:t>
            </a:r>
            <a:r>
              <a:rPr sz="2000" b="0" spc="-60" dirty="0">
                <a:latin typeface="Carlito"/>
                <a:cs typeface="Carlito"/>
              </a:rPr>
              <a:t> </a:t>
            </a:r>
            <a:r>
              <a:rPr sz="2000" b="0" spc="-20" dirty="0">
                <a:latin typeface="Carlito"/>
                <a:cs typeface="Carlito"/>
              </a:rPr>
              <a:t>real-</a:t>
            </a:r>
            <a:r>
              <a:rPr sz="2000" b="0" dirty="0">
                <a:latin typeface="Carlito"/>
                <a:cs typeface="Carlito"/>
              </a:rPr>
              <a:t>time</a:t>
            </a:r>
            <a:r>
              <a:rPr sz="2000" b="0" spc="-2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air</a:t>
            </a:r>
            <a:r>
              <a:rPr sz="2000" b="0" spc="-3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quality</a:t>
            </a:r>
            <a:r>
              <a:rPr sz="2000" b="0" spc="-4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monitoring</a:t>
            </a:r>
            <a:r>
              <a:rPr sz="2000" b="0" spc="-4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sensors,</a:t>
            </a:r>
            <a:r>
              <a:rPr sz="2000" b="0" spc="-3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sending</a:t>
            </a:r>
            <a:r>
              <a:rPr sz="2000" b="0" spc="-55" dirty="0">
                <a:latin typeface="Carlito"/>
                <a:cs typeface="Carlito"/>
              </a:rPr>
              <a:t> </a:t>
            </a:r>
            <a:r>
              <a:rPr sz="2000" b="0" spc="-20" dirty="0">
                <a:latin typeface="Carlito"/>
                <a:cs typeface="Carlito"/>
              </a:rPr>
              <a:t>data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latin typeface="Carlito"/>
                <a:cs typeface="Carlito"/>
              </a:rPr>
              <a:t>wirelessly</a:t>
            </a:r>
            <a:r>
              <a:rPr sz="2000" b="0" spc="-3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to</a:t>
            </a:r>
            <a:r>
              <a:rPr sz="2000" b="0" spc="-6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a</a:t>
            </a:r>
            <a:r>
              <a:rPr sz="2000" b="0" spc="-7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cloud</a:t>
            </a:r>
            <a:r>
              <a:rPr sz="2000" b="0" spc="-6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platform</a:t>
            </a:r>
            <a:r>
              <a:rPr sz="2000" b="0" spc="-75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for</a:t>
            </a:r>
            <a:r>
              <a:rPr sz="2000" b="0" spc="-70" dirty="0">
                <a:latin typeface="Carlito"/>
                <a:cs typeface="Carlito"/>
              </a:rPr>
              <a:t> </a:t>
            </a:r>
            <a:r>
              <a:rPr sz="2000" b="0" dirty="0">
                <a:latin typeface="Carlito"/>
                <a:cs typeface="Carlito"/>
              </a:rPr>
              <a:t>reliable</a:t>
            </a:r>
            <a:r>
              <a:rPr sz="2000" b="0" spc="-55" dirty="0">
                <a:latin typeface="Carlito"/>
                <a:cs typeface="Carlito"/>
              </a:rPr>
              <a:t> </a:t>
            </a:r>
            <a:r>
              <a:rPr sz="2000" b="0" spc="-10" dirty="0">
                <a:latin typeface="Carlito"/>
                <a:cs typeface="Carlito"/>
              </a:rPr>
              <a:t>analysis.</a:t>
            </a:r>
            <a:endParaRPr sz="2000">
              <a:latin typeface="Carlito"/>
              <a:cs typeface="Carlito"/>
            </a:endParaRPr>
          </a:p>
          <a:p>
            <a:pPr marL="118745" indent="-114300">
              <a:lnSpc>
                <a:spcPct val="100000"/>
              </a:lnSpc>
              <a:spcBef>
                <a:spcPts val="969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/>
              <a:t>Component</a:t>
            </a:r>
            <a:r>
              <a:rPr spc="-120" dirty="0"/>
              <a:t> </a:t>
            </a:r>
            <a:r>
              <a:rPr dirty="0"/>
              <a:t>Level</a:t>
            </a:r>
            <a:r>
              <a:rPr spc="-114" dirty="0"/>
              <a:t> </a:t>
            </a:r>
            <a:r>
              <a:rPr spc="-10" dirty="0"/>
              <a:t>Design:</a:t>
            </a:r>
          </a:p>
          <a:p>
            <a:pPr marL="12700" marR="1219835" indent="341630">
              <a:lnSpc>
                <a:spcPct val="100000"/>
              </a:lnSpc>
              <a:spcBef>
                <a:spcPts val="445"/>
              </a:spcBef>
            </a:pPr>
            <a:r>
              <a:rPr b="0" dirty="0">
                <a:latin typeface="Carlito"/>
                <a:cs typeface="Carlito"/>
              </a:rPr>
              <a:t>The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project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involves</a:t>
            </a:r>
            <a:r>
              <a:rPr b="0" spc="-55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creating</a:t>
            </a:r>
            <a:r>
              <a:rPr b="0" spc="-85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sensor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modules,</a:t>
            </a:r>
            <a:r>
              <a:rPr b="0" spc="-8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microcontrollers,</a:t>
            </a:r>
            <a:r>
              <a:rPr b="0" spc="-90" dirty="0">
                <a:latin typeface="Carlito"/>
                <a:cs typeface="Carlito"/>
              </a:rPr>
              <a:t> </a:t>
            </a:r>
            <a:r>
              <a:rPr b="0" spc="-25" dirty="0">
                <a:latin typeface="Carlito"/>
                <a:cs typeface="Carlito"/>
              </a:rPr>
              <a:t>and </a:t>
            </a:r>
            <a:r>
              <a:rPr b="0" spc="-10" dirty="0">
                <a:latin typeface="Carlito"/>
                <a:cs typeface="Carlito"/>
              </a:rPr>
              <a:t>communication</a:t>
            </a:r>
            <a:r>
              <a:rPr b="0" spc="-9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interfaces</a:t>
            </a:r>
            <a:r>
              <a:rPr b="0" spc="-8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for</a:t>
            </a:r>
            <a:r>
              <a:rPr b="0" spc="-7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effective</a:t>
            </a:r>
            <a:r>
              <a:rPr b="0" spc="-5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data</a:t>
            </a:r>
            <a:r>
              <a:rPr b="0" spc="-8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acquisition,</a:t>
            </a:r>
            <a:r>
              <a:rPr b="0" spc="-8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processing,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spc="-25" dirty="0">
                <a:latin typeface="Carlito"/>
                <a:cs typeface="Carlito"/>
              </a:rPr>
              <a:t>and </a:t>
            </a:r>
            <a:r>
              <a:rPr b="0" spc="-10" dirty="0">
                <a:latin typeface="Carlito"/>
                <a:cs typeface="Carlito"/>
              </a:rPr>
              <a:t>transmission.</a:t>
            </a:r>
          </a:p>
          <a:p>
            <a:pPr marL="118745" indent="-114300">
              <a:lnSpc>
                <a:spcPct val="100000"/>
              </a:lnSpc>
              <a:spcBef>
                <a:spcPts val="1000"/>
              </a:spcBef>
              <a:buSzPct val="95833"/>
              <a:buFont typeface="Arial"/>
              <a:buChar char="•"/>
              <a:tabLst>
                <a:tab pos="118745" algn="l"/>
              </a:tabLst>
            </a:pPr>
            <a:r>
              <a:rPr dirty="0"/>
              <a:t>SRS</a:t>
            </a:r>
            <a:r>
              <a:rPr spc="-65" dirty="0"/>
              <a:t> </a:t>
            </a:r>
            <a:r>
              <a:rPr spc="-10" dirty="0"/>
              <a:t>Overview:</a:t>
            </a:r>
          </a:p>
          <a:p>
            <a:pPr marL="12700" marR="5080" indent="272415">
              <a:lnSpc>
                <a:spcPct val="100000"/>
              </a:lnSpc>
              <a:spcBef>
                <a:spcPts val="445"/>
              </a:spcBef>
            </a:pPr>
            <a:r>
              <a:rPr b="0" dirty="0">
                <a:latin typeface="Carlito"/>
                <a:cs typeface="Carlito"/>
              </a:rPr>
              <a:t>The</a:t>
            </a:r>
            <a:r>
              <a:rPr b="0" spc="-45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Software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Requirements</a:t>
            </a:r>
            <a:r>
              <a:rPr b="0" spc="-65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Specification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(SRS)</a:t>
            </a:r>
            <a:r>
              <a:rPr b="0" spc="-85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outlines</a:t>
            </a:r>
            <a:r>
              <a:rPr b="0" spc="-5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the</a:t>
            </a:r>
            <a:r>
              <a:rPr b="0" spc="-5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essential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functional </a:t>
            </a:r>
            <a:r>
              <a:rPr b="0" dirty="0">
                <a:latin typeface="Carlito"/>
                <a:cs typeface="Carlito"/>
              </a:rPr>
              <a:t>and</a:t>
            </a:r>
            <a:r>
              <a:rPr b="0" spc="-6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non-</a:t>
            </a:r>
            <a:r>
              <a:rPr b="0" dirty="0">
                <a:latin typeface="Carlito"/>
                <a:cs typeface="Carlito"/>
              </a:rPr>
              <a:t>functional</a:t>
            </a:r>
            <a:r>
              <a:rPr b="0" spc="-4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requirements,</a:t>
            </a:r>
            <a:r>
              <a:rPr b="0" spc="-6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ensuring</a:t>
            </a:r>
            <a:r>
              <a:rPr b="0" spc="-5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accurate</a:t>
            </a:r>
            <a:r>
              <a:rPr b="0" spc="-9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pollutant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measurement</a:t>
            </a:r>
            <a:r>
              <a:rPr b="0" spc="-70" dirty="0">
                <a:latin typeface="Carlito"/>
                <a:cs typeface="Carlito"/>
              </a:rPr>
              <a:t> </a:t>
            </a:r>
            <a:r>
              <a:rPr b="0" spc="-25" dirty="0">
                <a:latin typeface="Carlito"/>
                <a:cs typeface="Carlito"/>
              </a:rPr>
              <a:t>and </a:t>
            </a:r>
            <a:r>
              <a:rPr b="0" spc="-20" dirty="0">
                <a:latin typeface="Carlito"/>
                <a:cs typeface="Carlito"/>
              </a:rPr>
              <a:t>real-</a:t>
            </a:r>
            <a:r>
              <a:rPr b="0" dirty="0">
                <a:latin typeface="Carlito"/>
                <a:cs typeface="Carlito"/>
              </a:rPr>
              <a:t>time</a:t>
            </a:r>
            <a:r>
              <a:rPr b="0" spc="-20" dirty="0">
                <a:latin typeface="Carlito"/>
                <a:cs typeface="Carlito"/>
              </a:rPr>
              <a:t> </a:t>
            </a:r>
            <a:r>
              <a:rPr b="0" dirty="0">
                <a:latin typeface="Carlito"/>
                <a:cs typeface="Carlito"/>
              </a:rPr>
              <a:t>user</a:t>
            </a:r>
            <a:r>
              <a:rPr b="0" spc="-10" dirty="0">
                <a:latin typeface="Carlito"/>
                <a:cs typeface="Carlito"/>
              </a:rPr>
              <a:t> alerts.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9159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dirty="0"/>
              <a:t>Literature</a:t>
            </a:r>
            <a:r>
              <a:rPr spc="-155" dirty="0"/>
              <a:t> </a:t>
            </a:r>
            <a:r>
              <a:rPr spc="-10" dirty="0"/>
              <a:t>Review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3736" y="957394"/>
            <a:ext cx="8746782" cy="54387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89834" y="602534"/>
          <a:ext cx="7168513" cy="6205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1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0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865">
                <a:tc rowSpan="2">
                  <a:txBody>
                    <a:bodyPr/>
                    <a:lstStyle/>
                    <a:p>
                      <a:pPr marL="82550" marR="12065">
                        <a:lnSpc>
                          <a:spcPts val="2200"/>
                        </a:lnSpc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Functionality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721995">
                        <a:lnSpc>
                          <a:spcPts val="2210"/>
                        </a:lnSpc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Proposed System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b="1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900" b="1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2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189230">
                        <a:lnSpc>
                          <a:spcPts val="2210"/>
                        </a:lnSpc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 marR="666750">
                        <a:lnSpc>
                          <a:spcPts val="2210"/>
                        </a:lnSpc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415290">
                        <a:lnSpc>
                          <a:spcPts val="2210"/>
                        </a:lnSpc>
                      </a:pPr>
                      <a:r>
                        <a:rPr sz="1900" b="1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9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9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82550" marR="407670">
                        <a:lnSpc>
                          <a:spcPts val="221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monitoring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82550" marR="558800">
                        <a:lnSpc>
                          <a:spcPts val="2210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15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1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Medium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1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1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Medium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195">
                <a:tc>
                  <a:txBody>
                    <a:bodyPr/>
                    <a:lstStyle/>
                    <a:p>
                      <a:pPr marL="82550" marR="12065">
                        <a:lnSpc>
                          <a:spcPts val="2185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Ease</a:t>
                      </a:r>
                      <a:r>
                        <a:rPr sz="19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18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8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18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8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L="82550" marR="12065">
                        <a:lnSpc>
                          <a:spcPts val="217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Security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17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7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17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7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1535">
                <a:tc>
                  <a:txBody>
                    <a:bodyPr/>
                    <a:lstStyle/>
                    <a:p>
                      <a:pPr marL="82550" marR="94615">
                        <a:lnSpc>
                          <a:spcPts val="2230"/>
                        </a:lnSpc>
                        <a:spcBef>
                          <a:spcPts val="35"/>
                        </a:spcBef>
                        <a:tabLst>
                          <a:tab pos="1127760" algn="l"/>
                        </a:tabLst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Notification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17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Multiple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82550" marR="688975">
                        <a:lnSpc>
                          <a:spcPts val="2210"/>
                        </a:lnSpc>
                        <a:spcBef>
                          <a:spcPts val="1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Sensors Supported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 marR="276225">
                        <a:lnSpc>
                          <a:spcPts val="2230"/>
                        </a:lnSpc>
                        <a:spcBef>
                          <a:spcPts val="3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Single Sensor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9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Sensor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7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Multiple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80645" marR="162560">
                        <a:lnSpc>
                          <a:spcPts val="2210"/>
                        </a:lnSpc>
                        <a:spcBef>
                          <a:spcPts val="15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Sensors Supported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82550" marR="129539">
                        <a:lnSpc>
                          <a:spcPts val="223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Historical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9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No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Yes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9130">
                <a:tc>
                  <a:txBody>
                    <a:bodyPr/>
                    <a:lstStyle/>
                    <a:p>
                      <a:pPr marL="82550" marR="481965">
                        <a:lnSpc>
                          <a:spcPts val="2230"/>
                        </a:lnSpc>
                        <a:spcBef>
                          <a:spcPts val="40"/>
                        </a:spcBef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Efficiency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Moderate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5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5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Medium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5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marL="82550" marR="12065">
                        <a:lnSpc>
                          <a:spcPts val="220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Scalability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Medium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 marL="82550">
                        <a:lnSpc>
                          <a:spcPts val="2210"/>
                        </a:lnSpc>
                        <a:spcBef>
                          <a:spcPts val="50"/>
                        </a:spcBef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Maintenance 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900" spc="5" dirty="0">
                          <a:latin typeface="Times New Roman"/>
                          <a:cs typeface="Times New Roman"/>
                        </a:rPr>
                        <a:t>qu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ire</a:t>
                      </a:r>
                      <a:r>
                        <a:rPr sz="1900" spc="-1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9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00" spc="-5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800" spc="-165" baseline="43981" dirty="0">
                          <a:solidFill>
                            <a:srgbClr val="878787"/>
                          </a:solidFill>
                          <a:latin typeface="Carlito"/>
                          <a:cs typeface="Carlito"/>
                        </a:rPr>
                        <a:t>0</a:t>
                      </a:r>
                      <a:r>
                        <a:rPr sz="1900" spc="-43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800" spc="-284" baseline="43981" dirty="0">
                          <a:solidFill>
                            <a:srgbClr val="878787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1900" spc="-56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800" baseline="43981" dirty="0">
                          <a:solidFill>
                            <a:srgbClr val="878787"/>
                          </a:solidFill>
                          <a:latin typeface="Carlito"/>
                          <a:cs typeface="Carlito"/>
                        </a:rPr>
                        <a:t>/22</a:t>
                      </a:r>
                      <a:endParaRPr sz="1800" baseline="43981">
                        <a:latin typeface="Carlito"/>
                        <a:cs typeface="Carlito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039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6510">
                        <a:lnSpc>
                          <a:spcPts val="1280"/>
                        </a:lnSpc>
                      </a:pPr>
                      <a:r>
                        <a:rPr sz="1200" spc="-20" dirty="0">
                          <a:solidFill>
                            <a:srgbClr val="878787"/>
                          </a:solidFill>
                          <a:latin typeface="Carlito"/>
                          <a:cs typeface="Carlito"/>
                        </a:rPr>
                        <a:t>/2025</a:t>
                      </a:r>
                      <a:endParaRPr sz="12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200"/>
                        </a:lnSpc>
                      </a:pPr>
                      <a:r>
                        <a:rPr sz="1900" spc="-10" dirty="0">
                          <a:latin typeface="Times New Roman"/>
                          <a:cs typeface="Times New Roman"/>
                        </a:rPr>
                        <a:t>Medium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0"/>
                        </a:lnSpc>
                      </a:pPr>
                      <a:r>
                        <a:rPr sz="1900" spc="-25" dirty="0">
                          <a:latin typeface="Times New Roman"/>
                          <a:cs typeface="Times New Roman"/>
                        </a:rPr>
                        <a:t>Low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31140" y="231724"/>
            <a:ext cx="40608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rlito"/>
                <a:cs typeface="Carlito"/>
              </a:rPr>
              <a:t>Comparison</a:t>
            </a:r>
            <a:r>
              <a:rPr sz="1400" b="1" spc="-65" dirty="0">
                <a:latin typeface="Carlito"/>
                <a:cs typeface="Carlito"/>
              </a:rPr>
              <a:t> </a:t>
            </a:r>
            <a:r>
              <a:rPr sz="1400" b="1" dirty="0">
                <a:latin typeface="Carlito"/>
                <a:cs typeface="Carlito"/>
              </a:rPr>
              <a:t>Of</a:t>
            </a:r>
            <a:r>
              <a:rPr sz="1400" b="1" spc="-25" dirty="0">
                <a:latin typeface="Carlito"/>
                <a:cs typeface="Carlito"/>
              </a:rPr>
              <a:t> </a:t>
            </a:r>
            <a:r>
              <a:rPr sz="1400" b="1" dirty="0">
                <a:latin typeface="Carlito"/>
                <a:cs typeface="Carlito"/>
              </a:rPr>
              <a:t>Proposed</a:t>
            </a:r>
            <a:r>
              <a:rPr sz="1400" b="1" spc="-50" dirty="0">
                <a:latin typeface="Carlito"/>
                <a:cs typeface="Carlito"/>
              </a:rPr>
              <a:t> </a:t>
            </a:r>
            <a:r>
              <a:rPr sz="1400" b="1" spc="-10" dirty="0">
                <a:latin typeface="Carlito"/>
                <a:cs typeface="Carlito"/>
              </a:rPr>
              <a:t>System</a:t>
            </a:r>
            <a:r>
              <a:rPr sz="1400" b="1" spc="-40" dirty="0">
                <a:latin typeface="Carlito"/>
                <a:cs typeface="Carlito"/>
              </a:rPr>
              <a:t> </a:t>
            </a:r>
            <a:r>
              <a:rPr sz="1400" b="1" dirty="0">
                <a:latin typeface="Carlito"/>
                <a:cs typeface="Carlito"/>
              </a:rPr>
              <a:t>With</a:t>
            </a:r>
            <a:r>
              <a:rPr sz="1400" b="1" spc="-20" dirty="0">
                <a:latin typeface="Carlito"/>
                <a:cs typeface="Carlito"/>
              </a:rPr>
              <a:t> </a:t>
            </a:r>
            <a:r>
              <a:rPr sz="1400" b="1" dirty="0">
                <a:latin typeface="Carlito"/>
                <a:cs typeface="Carlito"/>
              </a:rPr>
              <a:t>Existing</a:t>
            </a:r>
            <a:r>
              <a:rPr sz="1400" b="1" spc="-50" dirty="0">
                <a:latin typeface="Carlito"/>
                <a:cs typeface="Carlito"/>
              </a:rPr>
              <a:t> </a:t>
            </a:r>
            <a:r>
              <a:rPr sz="1400" b="1" spc="-10" dirty="0">
                <a:latin typeface="Carlito"/>
                <a:cs typeface="Carlito"/>
              </a:rPr>
              <a:t>System:</a:t>
            </a:r>
            <a:endParaRPr sz="1400">
              <a:latin typeface="Carlito"/>
              <a:cs typeface="Carlit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ARCHITECTURE</a:t>
            </a:r>
            <a:r>
              <a:rPr sz="4000" spc="-130" dirty="0"/>
              <a:t> </a:t>
            </a:r>
            <a:r>
              <a:rPr sz="4000" spc="-10" dirty="0"/>
              <a:t>DIAGRAM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7091" y="717169"/>
            <a:ext cx="9221724" cy="56074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79556" y="6455232"/>
            <a:ext cx="10287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50" dirty="0">
                <a:solidFill>
                  <a:srgbClr val="878787"/>
                </a:solidFill>
                <a:latin typeface="Carlito"/>
                <a:cs typeface="Carlito"/>
              </a:rPr>
              <a:t>9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291" y="6551168"/>
            <a:ext cx="763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86A2F-E2A1-D252-F94E-21788D42EC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9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225" y="179641"/>
            <a:ext cx="10411460" cy="62871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19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613549"/>
            <a:ext cx="11734800" cy="563092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19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63" y="603986"/>
            <a:ext cx="11614022" cy="5257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79556" y="6455232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12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291" y="6522516"/>
            <a:ext cx="763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6C840-CE91-2865-616E-306E89E53FA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12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79556" y="6351523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13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77545"/>
            <a:ext cx="11389233" cy="61470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6763" y="6491427"/>
            <a:ext cx="763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47A8C-B94B-7C04-2490-D7097BC7F7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13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096" y="457200"/>
            <a:ext cx="11663807" cy="57912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79556" y="6389623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14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2891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0BC50-698F-5395-F861-C250ED3049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14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80974"/>
            <a:ext cx="11563223" cy="55029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79556" y="6455232"/>
            <a:ext cx="18097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291" y="6470700"/>
            <a:ext cx="7639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60CDB-AC2C-9BA1-52F0-52E356E5FD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15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6411264"/>
            <a:ext cx="7639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76456" y="641400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16</a:t>
            </a:r>
            <a:endParaRPr sz="120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652" y="558800"/>
            <a:ext cx="11140821" cy="5334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018CB-52F1-5C74-FF18-6615338F94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16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491" y="6491122"/>
            <a:ext cx="763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22/01/2025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79556" y="6417055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78787"/>
                </a:solidFill>
                <a:latin typeface="Carlito"/>
                <a:cs typeface="Carlito"/>
              </a:rPr>
              <a:t>17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957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90864-00E5-DC59-F6E0-A79950435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39" y="838200"/>
            <a:ext cx="11984122" cy="56154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D447CC-1685-BD50-76CE-D8091A1018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17</a:t>
            </a:fld>
            <a:endParaRPr lang="en-US" spc="-5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3D2AC-835E-B2F8-562B-6271B9AE22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18</a:t>
            </a:fld>
            <a:endParaRPr lang="en-US"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585DF-371A-3CCC-D5D1-B6A3DFE1A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87" y="499653"/>
            <a:ext cx="11117226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3647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7A8FB-7D0E-9B55-06F3-3AFE932C35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19</a:t>
            </a:fld>
            <a:endParaRPr lang="en-US"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66AE7-64BA-6341-17A2-AFF3D0C5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509180"/>
            <a:ext cx="11145805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6909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04E92-AA3C-4674-4E52-7792C5E013B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20</a:t>
            </a:fld>
            <a:endParaRPr lang="en-US"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B75AF-123D-8E37-7387-BE06B012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7" y="341672"/>
            <a:ext cx="11216466" cy="610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49750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A31E7-7F6B-F3C1-BCEB-40F5B95A9A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50" smtClean="0"/>
              <a:t>21</a:t>
            </a:fld>
            <a:endParaRPr lang="en-US" spc="-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B513B8-FF11-0EB4-83A5-1F5161993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480601"/>
            <a:ext cx="11888859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6047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10844" y="601218"/>
            <a:ext cx="2545715" cy="696594"/>
          </a:xfrm>
        </p:spPr>
        <p:txBody>
          <a:bodyPr vert="horz" wrap="square" lIns="0" tIns="13335" rIns="0" bIns="0" rtlCol="0">
            <a:spAutoFit/>
          </a:bodyPr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8D5AC43-0E03-A1D7-2FB1-F09EAD627217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153775" y="6454775"/>
            <a:ext cx="244475" cy="369332"/>
          </a:xfrm>
        </p:spPr>
        <p:txBody>
          <a:bodyPr vert="horz" wrap="square" lIns="0" tIns="0" rIns="0" bIns="0" rtlCol="0">
            <a:spAutoFit/>
          </a:bodyPr>
          <a:lstStyle/>
          <a:p>
            <a:r>
              <a:rPr lang="en-US" dirty="0"/>
              <a:t>22</a:t>
            </a:r>
          </a:p>
          <a:p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964183" y="1785874"/>
            <a:ext cx="3111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latin typeface="Carlito"/>
                <a:cs typeface="Carlito"/>
              </a:rPr>
              <a:t>[1]</a:t>
            </a:r>
            <a:endParaRPr sz="2000" dirty="0">
              <a:latin typeface="Carlito"/>
              <a:cs typeface="Carli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512" rIns="0" bIns="0" rtlCol="0">
            <a:spAutoFit/>
          </a:bodyPr>
          <a:lstStyle/>
          <a:p>
            <a:pPr marL="6159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1154156" y="6455232"/>
            <a:ext cx="244475" cy="287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0"/>
              </a:lnSpc>
            </a:pPr>
            <a:r>
              <a:rPr lang="en-US" spc="-50" dirty="0"/>
              <a:t>23</a:t>
            </a:r>
          </a:p>
          <a:p>
            <a:pPr marL="38100">
              <a:lnSpc>
                <a:spcPts val="1120"/>
              </a:lnSpc>
            </a:pPr>
            <a:endParaRPr spc="-50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527" y="2579369"/>
            <a:ext cx="2172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Thank</a:t>
            </a:r>
            <a:r>
              <a:rPr sz="4000" spc="-40" dirty="0"/>
              <a:t> </a:t>
            </a:r>
            <a:r>
              <a:rPr sz="4000" spc="-25" dirty="0"/>
              <a:t>You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8666" y="154178"/>
            <a:ext cx="1401699" cy="14016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93033" y="6455232"/>
            <a:ext cx="76390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78787"/>
                </a:solidFill>
                <a:latin typeface="Carlito"/>
                <a:cs typeface="Carlito"/>
              </a:rPr>
              <a:t>01/22/2025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4200" y="6172200"/>
            <a:ext cx="457200" cy="47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0"/>
              </a:lnSpc>
            </a:pPr>
            <a:endParaRPr sz="1200" dirty="0">
              <a:latin typeface="Carlito"/>
              <a:cs typeface="Carlito"/>
            </a:endParaRPr>
          </a:p>
          <a:p>
            <a:pPr marL="12700">
              <a:lnSpc>
                <a:spcPts val="1320"/>
              </a:lnSpc>
            </a:pPr>
            <a:r>
              <a:rPr lang="en-US" sz="1200" spc="-50" dirty="0">
                <a:solidFill>
                  <a:srgbClr val="878787"/>
                </a:solidFill>
                <a:latin typeface="Carlito"/>
                <a:cs typeface="Carlito"/>
              </a:rPr>
              <a:t>24</a:t>
            </a:r>
          </a:p>
          <a:p>
            <a:pPr marL="12700">
              <a:lnSpc>
                <a:spcPts val="1320"/>
              </a:lnSpc>
            </a:pPr>
            <a:endParaRPr sz="1200" dirty="0">
              <a:latin typeface="Carlito"/>
              <a:cs typeface="Carlito"/>
            </a:endParaRP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409</Words>
  <Application>Microsoft Office PowerPoint</Application>
  <PresentationFormat>Widescreen</PresentationFormat>
  <Paragraphs>160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Carlito</vt:lpstr>
      <vt:lpstr>Times New Roman</vt:lpstr>
      <vt:lpstr>Office Theme</vt:lpstr>
      <vt:lpstr>IOT-Based Air Quality Index Meter System</vt:lpstr>
      <vt:lpstr>Outline</vt:lpstr>
      <vt:lpstr>Introduction</vt:lpstr>
      <vt:lpstr>Problem Statement</vt:lpstr>
      <vt:lpstr>Objective</vt:lpstr>
      <vt:lpstr>PROPOSED DESIGN/METHOGOLDY</vt:lpstr>
      <vt:lpstr>Literature Review</vt:lpstr>
      <vt:lpstr>PowerPoint Presentation</vt:lpstr>
      <vt:lpstr>ARCHITECTURE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References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Aqsa Shah</dc:creator>
  <cp:lastModifiedBy>huzaifa shahbaz</cp:lastModifiedBy>
  <cp:revision>2</cp:revision>
  <dcterms:created xsi:type="dcterms:W3CDTF">2025-01-22T16:10:06Z</dcterms:created>
  <dcterms:modified xsi:type="dcterms:W3CDTF">2025-01-23T01:23:07Z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2025-01-22T00:00:00Z</vt:filetime>
  </property>
  <property fmtid="{D5CDD505-2E9C-101B-9397-08002B2CF9AE}" pid="5" name="Producer">
    <vt:lpwstr>3-Heights(TM) PDF Security Shell 4.8.25.2 (http://www.pdf-tools.com)</vt:lpwstr>
  </property>
</Properties>
</file>