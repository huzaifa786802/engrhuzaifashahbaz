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8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69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4992B-29C0-456B-8B61-97E252BC8E90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814A7-1F6C-4265-90FE-5BFB9D0F1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20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814A7-1F6C-4265-90FE-5BFB9D0F18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"Digital Technology Advancement and Engineers"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814A7-1F6C-4265-90FE-5BFB9D0F18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2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B3DE-9707-67EA-5EB9-86397362F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E9081-B7BB-06C4-FDA4-3A48ED1A3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D3960-CAF6-0E19-35FF-F70A0A52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5B57-C6FE-4A0B-916A-0BD965AC329A}" type="datetime1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3040B-BFD4-3153-6106-63DD6486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C65EA-EF08-E607-6A73-8C06594F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878E-876C-E8B7-0E1C-8D48379E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95AD-7D16-2473-1116-00B3B5573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1172A-E73C-440E-0C6D-3A62FD52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F234C-C864-4418-BCBF-0964B1D21D65}" type="datetime1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DDA1B-ABBF-EFB8-5434-3916667D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561A0-2338-79F1-B134-BCFB0595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5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A859-ADE1-5DD8-795E-E52FC6CA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F150-649A-44E4-780C-8CF456184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BE2C2-FA69-6AB2-5811-EF2548424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0F4F-BDC8-4A4A-83DA-35155B9CD5AC}" type="datetime1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AE74B-8F8C-B621-021E-191C87E0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23522-67CA-0BEE-CE6B-331FECC9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7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8E0E-B51D-050E-2F99-DBCF3D28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68C6-B016-5E2B-2A18-7AFD80C46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58F0B-0AC4-599F-1ECB-14CB8CB18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4ADB3-82A6-45DD-789D-084C0A96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1B8F-1B1C-44E7-828D-AC58E1C90043}" type="datetime1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22F97-E125-7B18-D350-4982B01A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C4DD2-F72A-AC2C-2340-F15F42E7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4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4760-713F-C395-752A-9EBAD398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B14CB-7A44-7443-C120-E91D6A26C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5698B-EA51-2EC2-5FCB-B598DCECE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257FA-9755-7EFF-B3E4-04FAE58F5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88A1A8-130A-9E09-6BAB-70E251338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985F0-DA8F-6448-1E70-1561A6D8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80086-AA8E-4D34-936B-9B25FFA01B30}" type="datetime1">
              <a:rPr lang="en-US" smtClean="0"/>
              <a:t>23-Jan-25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847C1-D178-54FE-BA1C-AC4A13B2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56596-DA05-7DB7-4FBD-A0398041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7641-470A-26BF-AACF-DC5B7708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6DDA7-EA2E-8312-600D-64BDDE31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9AC6-4A9C-4996-BE9D-D6FB02A75336}" type="datetime1">
              <a:rPr lang="en-US" smtClean="0"/>
              <a:t>23-Jan-25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B22FE-1566-59C8-B99D-FE68AB03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8CB73-FD55-C9A1-DE66-BB767706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3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06F77-D4CD-2D0A-5B6A-6439F71BF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6BC10-E17B-4DE2-8B97-ADD3955DC6C6}" type="datetime1">
              <a:rPr lang="en-US" smtClean="0"/>
              <a:t>23-Jan-25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73FFB-2893-9A7A-B316-150DD1D3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8C465-1AAC-0FCB-0127-FEA2706B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4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F6CE-B451-9853-A666-4930EC07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3B68-66F8-4DB7-1AB0-C9ABF1F70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272D1-F206-0A37-347B-548599D0B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39CC9-F70B-63AA-7F0D-87EA3011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119D3-D34C-4C69-AAD7-491B2D8469B0}" type="datetime1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2B213-6704-AA1B-1E30-F9C96C2A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058FB-A696-4034-6EE9-4290F9D9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8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489B-75E3-6504-B585-25BA870FB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5B915-53CA-0A77-B813-34EE36B12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6E8FD-7DC9-77F9-075F-EB78A70ED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82253-DA10-A962-A9D2-F5E2F770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8830-1315-4BA0-820E-55631DEE2710}" type="datetime1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F743B-40C8-2A49-06D3-9D7D5A49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8213B-CDAA-0DBB-A439-51B4851D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5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337B-F37A-4AE4-2A0A-3AAA3B03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09EB4-2A54-5EBC-2E75-E3B14BBAB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045C-4807-F839-7FDD-2AF467AD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513D-1C8E-426D-ACB2-7114E9179CB8}" type="datetime1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1ACCB-2C43-9ABF-D095-2AF91446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00FBC-7EEC-5D19-A9B2-ABB6DF78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7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69D50-4F63-E792-836D-754197F9F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30B1F-EEB2-2024-9C17-687331D7A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14CA7-E456-2CC3-F6D2-3F435A81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C71D-BE6B-475F-AF0A-B538AA03CE3A}" type="datetime1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2E35-F23C-82C9-1C08-2B00C521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1272-540E-8568-16CF-471AB62C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797E9-7BB3-A76E-8E75-1BF7A5BF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296A7-9359-99B5-663C-C5A1B6BFE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F4557-8D81-2B72-C38B-22666D6FA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9DF79-5F87-486B-9AD2-F600890BFEBB}" type="datetime1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4816-29FA-730B-ABE2-16DA5E297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062F8-1AF5-8FCE-774F-073D6A523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C7B65-DFB5-4983-8D09-F3274CC4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9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48E37-4605-9FE4-0367-35260D760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0455-9BEC-5BFB-28A8-73E0672E2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A03E7-B89B-5DFC-506D-4669E1AE9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5632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E2A3D-A199-5623-F0CD-A85A5DED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0C0607F-460A-641A-B482-1020FF478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83943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E8BCD-55F3-2009-C46D-0E105190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527E-25DD-123F-1F8E-2792FEE6B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Cybercrime and Engineer’s Ethical Role</a:t>
            </a:r>
            <a:br>
              <a:rPr lang="en-US" dirty="0"/>
            </a:br>
            <a:r>
              <a:rPr lang="en-US" dirty="0"/>
              <a:t>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B932A-8F45-43CC-9273-D0DB6A56B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HUZAIFA SHAHBAZ[21-CE-009]</a:t>
            </a:r>
          </a:p>
          <a:p>
            <a:r>
              <a:rPr lang="en-US" dirty="0"/>
              <a:t>AQSA SHAH[21-CE-039]</a:t>
            </a:r>
          </a:p>
          <a:p>
            <a:r>
              <a:rPr lang="en-US" dirty="0"/>
              <a:t>SUBMITTED BY:</a:t>
            </a:r>
          </a:p>
          <a:p>
            <a:r>
              <a:rPr lang="en-US" dirty="0"/>
              <a:t>MAAM RUQYA ZUBAIR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E93D9-DCDC-2CFA-2466-5375D98A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4B1C7B65-DFB5-4983-8D09-F3274CC44643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407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2B1E-9CAB-9881-DEBE-0E024623D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890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OUTLINES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8511-690D-41F2-E140-2B34A1D94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8903"/>
            <a:ext cx="10515600" cy="5278060"/>
          </a:xfrm>
        </p:spPr>
        <p:txBody>
          <a:bodyPr/>
          <a:lstStyle/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ABSTRACT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INTRODUCTION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OBJECTIVES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HISTORY OF CYBERCRIME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ENGINEER’S ETHICAL ROLE IN CYBERCRIME MITIGATION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PEC CODE OF ETHICS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RELEVANCE PEC CODE OF CONDUCT ARTICLE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WANNA CRY RANSOMWARE ATTACK(2017)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ENGINEER’S ETHICAL ROLE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 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E80B0-4C88-8489-3F0E-517576B3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303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7FE4-BB14-0D94-C6D2-8ADBFB66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C3BE-834D-F20C-C28E-27B4C208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890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OUTLINES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EF74-86BF-DA12-E832-A7F034DF7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8903"/>
            <a:ext cx="10515600" cy="5278060"/>
          </a:xfrm>
        </p:spPr>
        <p:txBody>
          <a:bodyPr/>
          <a:lstStyle/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LESSON LEARNED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dirty="0"/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EA3B8-F004-3EA4-7DE0-DD2F81AF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6828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8615-48E5-B282-C489-EF47247D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2437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A3D0F-F428-93DA-A9DC-08F487DAF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0895"/>
            <a:ext cx="10515600" cy="5216067"/>
          </a:xfrm>
        </p:spPr>
        <p:txBody>
          <a:bodyPr>
            <a:normAutofit lnSpcReduction="10000"/>
          </a:bodyPr>
          <a:lstStyle/>
          <a:p>
            <a:pPr marL="403225" indent="-403225"/>
            <a:r>
              <a:rPr lang="en-US" sz="5400" dirty="0"/>
              <a:t>Digital Technology Advancement and Engineers</a:t>
            </a:r>
          </a:p>
          <a:p>
            <a:pPr marL="403225" indent="-403225"/>
            <a:r>
              <a:rPr lang="en-US" sz="5400" dirty="0"/>
              <a:t>Rapid technology advancements.</a:t>
            </a:r>
          </a:p>
          <a:p>
            <a:pPr marL="403225" indent="-403225"/>
            <a:r>
              <a:rPr lang="en-US" sz="5400" dirty="0"/>
              <a:t>Cybercrime and ethical challenges.</a:t>
            </a:r>
          </a:p>
          <a:p>
            <a:pPr marL="403225" indent="-403225"/>
            <a:r>
              <a:rPr lang="en-US" sz="5400" dirty="0"/>
              <a:t>Engineers' role in system security and integrity.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BBE58-BF09-6180-5F61-A2CD8975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3328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531D-BC8D-53D4-BEAD-E2155EF9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693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A25A-0602-039C-592C-24FB9E8FD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4" y="805912"/>
            <a:ext cx="11096786" cy="5371051"/>
          </a:xfrm>
        </p:spPr>
        <p:txBody>
          <a:bodyPr>
            <a:normAutofit lnSpcReduction="10000"/>
          </a:bodyPr>
          <a:lstStyle/>
          <a:p>
            <a:pPr marL="403225" indent="-403225"/>
            <a:r>
              <a:rPr lang="en-US" sz="6600" dirty="0"/>
              <a:t>Rise of cybercrime in Digital Age.</a:t>
            </a:r>
          </a:p>
          <a:p>
            <a:pPr marL="403225" indent="-403225"/>
            <a:r>
              <a:rPr lang="en-US" sz="6600" dirty="0"/>
              <a:t>Role of engineers  in secure systems.</a:t>
            </a:r>
          </a:p>
          <a:p>
            <a:pPr marL="403225" indent="-403225"/>
            <a:r>
              <a:rPr lang="en-US" sz="6600" dirty="0"/>
              <a:t>Ethical responsibility in addressing cyber threats.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D0A74-A5EF-F8F4-6CF6-21993324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1792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4819-14B8-8F1C-19FE-AF9603367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12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DBF9-5CB8-884F-9785-10F45832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>
            <a:normAutofit fontScale="92500"/>
          </a:bodyPr>
          <a:lstStyle/>
          <a:p>
            <a:pPr marL="465138" indent="-465138"/>
            <a:r>
              <a:rPr lang="en-US" sz="3600" b="0" i="0" dirty="0">
                <a:effectLst/>
              </a:rPr>
              <a:t>Explore forms of cybercrime (data breaches, hacking, etc.).</a:t>
            </a:r>
          </a:p>
          <a:p>
            <a:pPr marL="465138" indent="-465138"/>
            <a:r>
              <a:rPr lang="en-US" sz="3600" b="0" i="0" dirty="0">
                <a:effectLst/>
              </a:rPr>
              <a:t>Identify engineers' roles in secure system development.</a:t>
            </a:r>
          </a:p>
          <a:p>
            <a:pPr marL="465138" indent="-465138"/>
            <a:r>
              <a:rPr lang="en-US" sz="3600" b="0" i="0" dirty="0">
                <a:effectLst/>
              </a:rPr>
              <a:t>Examine PEC Code of Ethics regarding public safety.</a:t>
            </a:r>
          </a:p>
          <a:p>
            <a:pPr marL="465138" indent="-465138"/>
            <a:r>
              <a:rPr lang="en-US" sz="3600" b="0" i="0" dirty="0">
                <a:effectLst/>
              </a:rPr>
              <a:t>Provide guidelines for ethical decision-making.</a:t>
            </a:r>
          </a:p>
          <a:p>
            <a:pPr marL="465138" indent="-465138"/>
            <a:r>
              <a:rPr lang="en-US" sz="3600" b="0" i="0" dirty="0">
                <a:effectLst/>
              </a:rPr>
              <a:t>Compare ethical vs. unethical engineering practices.</a:t>
            </a:r>
          </a:p>
          <a:p>
            <a:pPr marL="465138" indent="-465138"/>
            <a:r>
              <a:rPr lang="en-US" sz="3600" b="0" i="0" dirty="0">
                <a:effectLst/>
              </a:rPr>
              <a:t>Study engineers' role in cybercrime awareness.</a:t>
            </a:r>
          </a:p>
          <a:p>
            <a:pPr marL="465138" indent="-465138"/>
            <a:r>
              <a:rPr lang="en-US" sz="3600" b="0" i="0" dirty="0">
                <a:effectLst/>
              </a:rPr>
              <a:t>Recommend implementation of cyberspace ethics.</a:t>
            </a:r>
          </a:p>
          <a:p>
            <a:pPr marL="465138" indent="-465138"/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4923E-C1B3-2C5F-CC39-503FA04B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9941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1631-C96A-9F96-0311-482806E6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25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History of Cybercrime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1A80-86F8-F32B-18A7-DBE4A9E22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384"/>
            <a:ext cx="10515600" cy="5107579"/>
          </a:xfrm>
        </p:spPr>
        <p:txBody>
          <a:bodyPr>
            <a:normAutofit/>
          </a:bodyPr>
          <a:lstStyle/>
          <a:p>
            <a:pPr marL="341313" indent="-341313"/>
            <a:r>
              <a:rPr lang="en-US" sz="4400" dirty="0"/>
              <a:t>Computer  Viruses  and Malware Origins</a:t>
            </a:r>
          </a:p>
          <a:p>
            <a:pPr marL="341313" indent="-341313"/>
            <a:r>
              <a:rPr lang="en-US" sz="4400" dirty="0"/>
              <a:t>Originated in 1960s to 1980s.</a:t>
            </a:r>
          </a:p>
          <a:p>
            <a:pPr marL="341313" indent="-341313"/>
            <a:r>
              <a:rPr lang="en-US" sz="4400" dirty="0"/>
              <a:t>Emergence of computer viruses  and malware  in 1980s.</a:t>
            </a:r>
          </a:p>
          <a:p>
            <a:pPr marL="341313" indent="-341313"/>
            <a:r>
              <a:rPr lang="en-US" sz="4400" dirty="0"/>
              <a:t>Notable milestones : online banking  crime(1994),Love Bug Virus (2000), WannaCry(2017)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9581A-ED04-12E7-CAA9-44F1EA7C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184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C9E4-DD29-A7AE-DCB7-4DD2CD59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8386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i="0" dirty="0">
                <a:effectLst/>
              </a:rPr>
            </a:br>
            <a:r>
              <a:rPr lang="en-US" b="1" i="0" dirty="0">
                <a:effectLst/>
              </a:rPr>
              <a:t>Engineer’s Ethical Role in Cybercrime Mitigation</a:t>
            </a:r>
            <a:br>
              <a:rPr lang="en-US" b="1" i="0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491A-BB96-6D33-4A3B-A5DF1FEF6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8387"/>
            <a:ext cx="10515600" cy="5138576"/>
          </a:xfrm>
        </p:spPr>
        <p:txBody>
          <a:bodyPr>
            <a:normAutofit/>
          </a:bodyPr>
          <a:lstStyle/>
          <a:p>
            <a:pPr marL="403225" indent="-403225" algn="l">
              <a:buFont typeface="Arial" panose="020B0604020202020204" pitchFamily="34" charset="0"/>
              <a:buChar char="•"/>
            </a:pPr>
            <a:r>
              <a:rPr lang="en-US" sz="5400" b="0" i="0" dirty="0">
                <a:effectLst/>
              </a:rPr>
              <a:t>Adherence to PEC Code of Ethics.</a:t>
            </a:r>
          </a:p>
          <a:p>
            <a:pPr marL="403225" indent="-403225" algn="l">
              <a:buFont typeface="Arial" panose="020B0604020202020204" pitchFamily="34" charset="0"/>
              <a:buChar char="•"/>
            </a:pPr>
            <a:r>
              <a:rPr lang="en-US" sz="5400" b="0" i="0" dirty="0">
                <a:effectLst/>
              </a:rPr>
              <a:t>Ethical dilemmas in cybersecurity.</a:t>
            </a:r>
          </a:p>
          <a:p>
            <a:pPr marL="403225" indent="-403225" algn="l">
              <a:buFont typeface="Arial" panose="020B0604020202020204" pitchFamily="34" charset="0"/>
              <a:buChar char="•"/>
            </a:pPr>
            <a:r>
              <a:rPr lang="en-US" sz="5400" b="0" i="0" dirty="0">
                <a:effectLst/>
              </a:rPr>
              <a:t>Importance of justice, honesty, and accountability.</a:t>
            </a:r>
          </a:p>
          <a:p>
            <a:pPr marL="403225" indent="-403225"/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24978-3928-C9D8-AABC-5E8CEDA4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5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EC57-1AF2-0748-AF71-251BE8BF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87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PEC CODE OF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9E560-7251-374E-4B46-48557A07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864"/>
            <a:ext cx="10515600" cy="4937099"/>
          </a:xfrm>
        </p:spPr>
        <p:txBody>
          <a:bodyPr>
            <a:normAutofit fontScale="92500" lnSpcReduction="10000"/>
          </a:bodyPr>
          <a:lstStyle/>
          <a:p>
            <a:pPr marL="465138" indent="-465138"/>
            <a:r>
              <a:rPr lang="en-US" sz="6000" b="0" i="0" dirty="0">
                <a:effectLst/>
                <a:latin typeface="__Inter_d65c78"/>
              </a:rPr>
              <a:t>Engineers' priority: safety, health, and welfare of the public.</a:t>
            </a:r>
          </a:p>
          <a:p>
            <a:pPr marL="465138" indent="-465138"/>
            <a:r>
              <a:rPr lang="en-US" sz="6000" b="0" i="0" dirty="0">
                <a:effectLst/>
                <a:latin typeface="__Inter_d65c78"/>
              </a:rPr>
              <a:t>Importance of compliance with data protection laws.</a:t>
            </a:r>
          </a:p>
          <a:p>
            <a:pPr marL="465138" indent="-465138"/>
            <a:r>
              <a:rPr lang="en-US" sz="6000" b="0" i="0" dirty="0">
                <a:effectLst/>
                <a:latin typeface="__Inter_d65c78"/>
              </a:rPr>
              <a:t>Role in developing secure systems.</a:t>
            </a:r>
          </a:p>
          <a:p>
            <a:pPr marL="465138" indent="-465138" algn="l">
              <a:buFont typeface="Arial" panose="020B0604020202020204" pitchFamily="34" charset="0"/>
              <a:buChar char="•"/>
            </a:pPr>
            <a:endParaRPr lang="en-US" sz="6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69ACF-0769-18CB-33BA-FC60AF4A9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2825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76C0-E08F-E1C6-57C1-6F246D0DE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477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Relevant PEC Code of Conduct 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D491-0D54-BF3C-B357-67E025E72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0380"/>
            <a:ext cx="10515600" cy="5076583"/>
          </a:xfrm>
        </p:spPr>
        <p:txBody>
          <a:bodyPr>
            <a:normAutofit fontScale="92500"/>
          </a:bodyPr>
          <a:lstStyle/>
          <a:p>
            <a:pPr marL="465138" indent="-465138" algn="l">
              <a:buFont typeface="Arial" panose="020B0604020202020204" pitchFamily="34" charset="0"/>
              <a:buChar char="•"/>
            </a:pPr>
            <a:r>
              <a:rPr lang="en-US" sz="6600" b="0" i="0" dirty="0">
                <a:effectLst/>
                <a:latin typeface="__Inter_d65c78"/>
              </a:rPr>
              <a:t>Article 1: Honesty and Integrity</a:t>
            </a:r>
          </a:p>
          <a:p>
            <a:pPr marL="465138" indent="-465138" algn="l">
              <a:buFont typeface="Arial" panose="020B0604020202020204" pitchFamily="34" charset="0"/>
              <a:buChar char="•"/>
            </a:pPr>
            <a:r>
              <a:rPr lang="en-US" sz="6600" b="0" i="0" dirty="0">
                <a:effectLst/>
                <a:latin typeface="__Inter_d65c78"/>
              </a:rPr>
              <a:t>Article 2: Competency</a:t>
            </a:r>
          </a:p>
          <a:p>
            <a:pPr marL="465138" indent="-465138" algn="l">
              <a:buFont typeface="Arial" panose="020B0604020202020204" pitchFamily="34" charset="0"/>
              <a:buChar char="•"/>
            </a:pPr>
            <a:r>
              <a:rPr lang="en-US" sz="6600" b="0" i="0" dirty="0">
                <a:effectLst/>
                <a:latin typeface="__Inter_d65c78"/>
              </a:rPr>
              <a:t>Article 3: Public Interest</a:t>
            </a:r>
          </a:p>
          <a:p>
            <a:pPr marL="465138" indent="-465138" algn="l">
              <a:buFont typeface="Arial" panose="020B0604020202020204" pitchFamily="34" charset="0"/>
              <a:buChar char="•"/>
            </a:pPr>
            <a:r>
              <a:rPr lang="en-US" sz="6600" b="0" i="0" dirty="0">
                <a:effectLst/>
                <a:latin typeface="__Inter_d65c78"/>
              </a:rPr>
              <a:t>Article 5: Confidentiality</a:t>
            </a:r>
          </a:p>
          <a:p>
            <a:pPr marL="465138" indent="-465138" algn="l">
              <a:buFont typeface="Arial" panose="020B0604020202020204" pitchFamily="34" charset="0"/>
              <a:buChar char="•"/>
            </a:pPr>
            <a:r>
              <a:rPr lang="en-US" sz="6600" b="0" i="0" dirty="0">
                <a:effectLst/>
                <a:latin typeface="__Inter_d65c78"/>
              </a:rPr>
              <a:t>Article 7: Social Responsibility</a:t>
            </a:r>
          </a:p>
          <a:p>
            <a:pPr marL="465138" indent="-465138"/>
            <a:endParaRPr lang="en-US" sz="6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87F65-6438-73B7-1FBD-F8737943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0305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CE86-DABA-CDF7-2F95-EEAF813CE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98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WANNACRY RANSOMWARE ATTACK(2017)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E3AB7-EC1A-2CF3-24C8-92EC27449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It occurred in May 2017.</a:t>
            </a:r>
          </a:p>
          <a:p>
            <a:r>
              <a:rPr lang="en-US" sz="4000" dirty="0"/>
              <a:t>And it happened to be one of the most widespread cyberattacks in history.</a:t>
            </a:r>
          </a:p>
          <a:p>
            <a:r>
              <a:rPr lang="en-US" sz="4000" dirty="0"/>
              <a:t>Targeted systems using Microsoft Windows.</a:t>
            </a:r>
          </a:p>
          <a:p>
            <a:r>
              <a:rPr lang="en-US" sz="4000" dirty="0"/>
              <a:t>For encrypted files, it demands ransom in Bitcoin.</a:t>
            </a:r>
          </a:p>
          <a:p>
            <a:r>
              <a:rPr lang="en-US" sz="4000" dirty="0"/>
              <a:t>Over 200,000 computers in 150 countries were affected.</a:t>
            </a:r>
          </a:p>
          <a:p>
            <a:r>
              <a:rPr lang="en-US" sz="4000" dirty="0"/>
              <a:t>Caused massive disruption in hospitals, businesses, and public services.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979D1-9FD8-B2A0-86A8-3E676454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2596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1E3C2-AAC9-5ADD-E588-6D79DDEF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F175-5DFF-379E-24E6-279C921F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98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ENGINEER’S ETHICAL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99D8-D757-9308-D9C8-40D6F8B7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>
            <a:normAutofit fontScale="92500" lnSpcReduction="20000"/>
          </a:bodyPr>
          <a:lstStyle/>
          <a:p>
            <a:pPr marL="403225" indent="-403225"/>
            <a:r>
              <a:rPr lang="en-US" sz="4400" b="1" i="0" dirty="0">
                <a:effectLst/>
              </a:rPr>
              <a:t>Prevention and Mitigation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sz="4000" dirty="0"/>
              <a:t>Make the software system safe by reducing the vulnerabilities. 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sz="4000" dirty="0"/>
              <a:t>Regularly patch up and update the systems against exploitation.</a:t>
            </a:r>
          </a:p>
          <a:p>
            <a:pPr marL="341313" indent="-341313"/>
            <a:r>
              <a:rPr lang="en-US" sz="4300" b="1" i="0" dirty="0">
                <a:effectLst/>
              </a:rPr>
              <a:t>Accountability</a:t>
            </a:r>
            <a:endParaRPr lang="en-US" sz="2800" b="1" i="0" dirty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Engineers should take responsibility for using secure design and testing practices.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Act according to ethical guidelines that will protect users from threats themselves.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501A2-334F-B0EE-66E3-2E0766F7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195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2FF93-8C48-8C27-7842-E816B6FE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7114-E8A9-A505-73BD-94CAFAFE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98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ENGINEER’S ETHICAL ROLE(CONT)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96A79-8955-945F-F5F7-2E718A076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>
            <a:normAutofit/>
          </a:bodyPr>
          <a:lstStyle/>
          <a:p>
            <a:pPr marL="403225" indent="-403225"/>
            <a:r>
              <a:rPr lang="en-US" sz="2800" i="0" dirty="0">
                <a:effectLst/>
              </a:rPr>
              <a:t>Awareness and Advocacy</a:t>
            </a:r>
          </a:p>
          <a:p>
            <a:pPr marL="341313" indent="-341313">
              <a:buFont typeface="Wingdings" panose="05000000000000000000" pitchFamily="2" charset="2"/>
              <a:buChar char="Ø"/>
            </a:pPr>
            <a:r>
              <a:rPr lang="en-US" sz="2800" i="0" dirty="0">
                <a:effectLst/>
              </a:rPr>
              <a:t>Organizations should be educated on the importance and value of cybersecurity. 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800" i="0" dirty="0">
                <a:effectLst/>
              </a:rPr>
              <a:t>Ethical usage of technology to avoid misuse should be encouraged.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A7ADD-F5A1-0EEF-2C50-CA726815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5574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CA67-C024-2356-9383-C7707159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F58-F5A2-5796-ED9D-68D977ED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98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LESSON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48BF-CEBE-1274-E3A7-9D0B24E99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>
            <a:normAutofit/>
          </a:bodyPr>
          <a:lstStyle/>
          <a:p>
            <a:pPr marL="341313" indent="-341313"/>
            <a:r>
              <a:rPr lang="en-US" sz="3600" b="1" i="0" dirty="0">
                <a:effectLst/>
              </a:rPr>
              <a:t>Importance of Ethical Engineering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3200" dirty="0"/>
              <a:t>Engineers make a significant contribution to the design of systems regarding public safety and data integrity.</a:t>
            </a:r>
          </a:p>
          <a:p>
            <a:r>
              <a:rPr lang="en-US" sz="3200" b="1" dirty="0"/>
              <a:t>Global  Collaboration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3200" dirty="0"/>
              <a:t>Government, engineers, and authority bodies should collaborate to limp over future cyber challenges.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B3BD0-CB97-1C04-EF0A-44B36659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8753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CD01-16B6-2283-FCBA-C84D17DA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37BF-4E52-7EE8-459C-FC21968D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98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C9A4-BA43-0A05-A838-3C3A195A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>
            <a:normAutofit lnSpcReduction="10000"/>
          </a:bodyPr>
          <a:lstStyle/>
          <a:p>
            <a:r>
              <a:rPr lang="en-US" sz="4000" b="0" i="0" dirty="0">
                <a:effectLst/>
              </a:rPr>
              <a:t>Engineering ethics guide engineers in tackling cybercrime.</a:t>
            </a:r>
          </a:p>
          <a:p>
            <a:r>
              <a:rPr lang="en-US" sz="4000" b="0" i="0" dirty="0">
                <a:effectLst/>
              </a:rPr>
              <a:t>Importance of public interest and confidentiality.</a:t>
            </a:r>
          </a:p>
          <a:p>
            <a:r>
              <a:rPr lang="en-US" sz="4000" b="0" i="0" dirty="0">
                <a:effectLst/>
              </a:rPr>
              <a:t>Engineers' role in promoting ethical practices and public trust.</a:t>
            </a:r>
            <a:endParaRPr lang="en-US" sz="4000" dirty="0"/>
          </a:p>
          <a:p>
            <a:r>
              <a:rPr lang="en-US" sz="4000" b="0" i="0">
                <a:effectLst/>
              </a:rPr>
              <a:t>The WannaCry attack did show one serious lack: the call for ethical engineering practices and global cooperation for cybersecurity.</a:t>
            </a:r>
            <a:endParaRPr lang="en-US" sz="4000" b="0" i="0" dirty="0">
              <a:effectLst/>
            </a:endParaRPr>
          </a:p>
          <a:p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CB6F2-8910-AE19-82AF-B8ED5588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C7B65-DFB5-4983-8D09-F3274CC446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2321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blue and black diamond with black text&#10;&#10;Description automatically generated">
            <a:extLst>
              <a:ext uri="{FF2B5EF4-FFF2-40B4-BE49-F238E27FC236}">
                <a16:creationId xmlns:a16="http://schemas.microsoft.com/office/drawing/2014/main" id="{ADB9494E-5E4F-F9C8-D1E3-9E2F32355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51553-BC4E-90BE-CDF0-9906804C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B1C7B65-DFB5-4983-8D09-F3274CC44643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82973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4785</TotalTime>
  <Words>575</Words>
  <Application>Microsoft Office PowerPoint</Application>
  <PresentationFormat>Widescreen</PresentationFormat>
  <Paragraphs>105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__Inter_d65c78</vt:lpstr>
      <vt:lpstr>Aptos</vt:lpstr>
      <vt:lpstr>Aptos Display</vt:lpstr>
      <vt:lpstr>Arial</vt:lpstr>
      <vt:lpstr>Wingdings</vt:lpstr>
      <vt:lpstr>Office Theme</vt:lpstr>
      <vt:lpstr>PowerPoint Presentation</vt:lpstr>
      <vt:lpstr>Cybercrime and Engineer’s Ethical Role CASE STUDY</vt:lpstr>
      <vt:lpstr>OUTLINES</vt:lpstr>
      <vt:lpstr>OUTLINES</vt:lpstr>
      <vt:lpstr>ABSTRACT</vt:lpstr>
      <vt:lpstr>INTRODUCTION</vt:lpstr>
      <vt:lpstr>Objectives</vt:lpstr>
      <vt:lpstr>History of Cybercrime</vt:lpstr>
      <vt:lpstr> Engineer’s Ethical Role in Cybercrime Mitigation </vt:lpstr>
      <vt:lpstr>PEC CODE OF ETHICS</vt:lpstr>
      <vt:lpstr>Relevant PEC Code of Conduct Articles</vt:lpstr>
      <vt:lpstr>WANNACRY RANSOMWARE ATTACK(2017)</vt:lpstr>
      <vt:lpstr>ENGINEER’S ETHICAL ROLE</vt:lpstr>
      <vt:lpstr>ENGINEER’S ETHICAL ROLE(CONT)</vt:lpstr>
      <vt:lpstr>LESSON LEARNED</vt:lpstr>
      <vt:lpstr>Conclusion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shahbaz</dc:creator>
  <cp:lastModifiedBy>huzaifa shahbaz</cp:lastModifiedBy>
  <cp:revision>7</cp:revision>
  <dcterms:created xsi:type="dcterms:W3CDTF">2024-12-16T17:12:54Z</dcterms:created>
  <dcterms:modified xsi:type="dcterms:W3CDTF">2025-01-23T17:19:16Z</dcterms:modified>
</cp:coreProperties>
</file>