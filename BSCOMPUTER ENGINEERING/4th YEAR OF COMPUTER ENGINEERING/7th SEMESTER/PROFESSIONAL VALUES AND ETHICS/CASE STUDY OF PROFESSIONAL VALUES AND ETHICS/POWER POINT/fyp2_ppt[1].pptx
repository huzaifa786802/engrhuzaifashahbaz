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99" r:id="rId2"/>
    <p:sldId id="256" r:id="rId3"/>
    <p:sldId id="257" r:id="rId4"/>
    <p:sldId id="258" r:id="rId5"/>
    <p:sldId id="259" r:id="rId6"/>
    <p:sldId id="277" r:id="rId7"/>
    <p:sldId id="260" r:id="rId8"/>
    <p:sldId id="297" r:id="rId9"/>
    <p:sldId id="285" r:id="rId10"/>
    <p:sldId id="288" r:id="rId11"/>
    <p:sldId id="298" r:id="rId12"/>
    <p:sldId id="289" r:id="rId13"/>
    <p:sldId id="290" r:id="rId14"/>
    <p:sldId id="291" r:id="rId15"/>
    <p:sldId id="292" r:id="rId16"/>
    <p:sldId id="293" r:id="rId17"/>
    <p:sldId id="294" r:id="rId18"/>
    <p:sldId id="295" r:id="rId19"/>
    <p:sldId id="296" r:id="rId20"/>
    <p:sldId id="300" r:id="rId21"/>
    <p:sldId id="278" r:id="rId22"/>
    <p:sldId id="273" r:id="rId23"/>
    <p:sldId id="264" r:id="rId24"/>
  </p:sldIdLst>
  <p:sldSz cx="12192000" cy="6858000"/>
  <p:notesSz cx="12192000" cy="6858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786" autoAdjust="0"/>
    <p:restoredTop sz="94660"/>
  </p:normalViewPr>
  <p:slideViewPr>
    <p:cSldViewPr>
      <p:cViewPr varScale="1">
        <p:scale>
          <a:sx n="66" d="100"/>
          <a:sy n="66" d="100"/>
        </p:scale>
        <p:origin x="828" y="6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A3F7C3-14AA-8DC9-CF5C-6C5D0E7E6F1D}"/>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B53378C4-FBDE-D673-F8A6-6137D2FDF52B}"/>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3E30504-739E-4561-9F69-973D8CABB88D}" type="datetime1">
              <a:rPr lang="LID4096" smtClean="0"/>
              <a:t>01/23/2025</a:t>
            </a:fld>
            <a:endParaRPr lang="en-GB" dirty="0"/>
          </a:p>
        </p:txBody>
      </p:sp>
      <p:sp>
        <p:nvSpPr>
          <p:cNvPr id="4" name="Footer Placeholder 3">
            <a:extLst>
              <a:ext uri="{FF2B5EF4-FFF2-40B4-BE49-F238E27FC236}">
                <a16:creationId xmlns:a16="http://schemas.microsoft.com/office/drawing/2014/main" id="{897C6359-A92F-3071-424B-67DA0FF08C06}"/>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68C90CE-6EA1-ACEB-E9A2-0AB7AF0FC8E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557B90D-3A1D-4138-B501-A75153F9B6DD}" type="slidenum">
              <a:rPr lang="en-GB" smtClean="0"/>
              <a:t>‹#›</a:t>
            </a:fld>
            <a:endParaRPr lang="en-GB" dirty="0"/>
          </a:p>
        </p:txBody>
      </p:sp>
    </p:spTree>
    <p:extLst>
      <p:ext uri="{BB962C8B-B14F-4D97-AF65-F5344CB8AC3E}">
        <p14:creationId xmlns:p14="http://schemas.microsoft.com/office/powerpoint/2010/main" val="294116744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DD7AFF4-43EB-4089-97D3-5EB98DEA6FFA}" type="datetime1">
              <a:rPr lang="LID4096" smtClean="0"/>
              <a:t>01/23/2025</a:t>
            </a:fld>
            <a:endParaRPr lang="en-PK"/>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1FCE99-902C-4F8E-AA98-1ADCE345B4CE}" type="slidenum">
              <a:rPr lang="en-PK" smtClean="0"/>
              <a:t>‹#›</a:t>
            </a:fld>
            <a:endParaRPr lang="en-PK"/>
          </a:p>
        </p:txBody>
      </p:sp>
    </p:spTree>
    <p:extLst>
      <p:ext uri="{BB962C8B-B14F-4D97-AF65-F5344CB8AC3E}">
        <p14:creationId xmlns:p14="http://schemas.microsoft.com/office/powerpoint/2010/main" val="1818675249"/>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E5BFB464-DC01-4359-8E96-24E0A677C0C5}" type="datetime1">
              <a:rPr lang="LID4096" spc="-5" smtClean="0"/>
              <a:t>01/23/2025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F5A67A72-DD21-47D0-BFC8-786960314E02}" type="datetime1">
              <a:rPr lang="LID4096" spc="-5" smtClean="0"/>
              <a:t>01/23/2025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AD4AF974-EFD6-4AD8-8220-0AFA99F85E84}" type="datetime1">
              <a:rPr lang="LID4096" spc="-5" smtClean="0"/>
              <a:t>01/23/2025</a:t>
            </a:fld>
            <a:endParaRPr spc="-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CD8DADA5-1412-481B-B0E9-D56AC8F033ED}" type="datetime1">
              <a:rPr lang="LID4096" spc="-5" smtClean="0"/>
              <a:t>01/23/2025</a:t>
            </a:fld>
            <a:endParaRPr spc="-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30A46687-8D2F-4F5B-9389-654AB3B55471}" type="datetime1">
              <a:rPr lang="LID4096" spc="-5" smtClean="0"/>
              <a:t>01/23/2025</a:t>
            </a:fld>
            <a:endParaRPr spc="-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17780" y="2610587"/>
            <a:ext cx="2156439" cy="1244600"/>
          </a:xfrm>
          <a:prstGeom prst="rect">
            <a:avLst/>
          </a:prstGeom>
        </p:spPr>
        <p:txBody>
          <a:bodyPr wrap="square" lIns="0" tIns="0" rIns="0" bIns="0">
            <a:spAutoFit/>
          </a:bodyPr>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a:xfrm>
            <a:off x="942357" y="1802663"/>
            <a:ext cx="10307285" cy="4286885"/>
          </a:xfrm>
          <a:prstGeom prst="rect">
            <a:avLst/>
          </a:prstGeom>
        </p:spPr>
        <p:txBody>
          <a:bodyPr wrap="square" lIns="0" tIns="0" rIns="0" bIns="0">
            <a:spAutoFit/>
          </a:bodyPr>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a:xfrm>
            <a:off x="911225" y="6466776"/>
            <a:ext cx="68326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a:xfrm>
            <a:off x="3692971" y="6466775"/>
            <a:ext cx="388683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1AEFD390-4FA4-4A9A-B835-9E03BDD82D25}" type="datetime1">
              <a:rPr lang="LID4096" spc="-5" smtClean="0"/>
              <a:t>01/23/2025</a:t>
            </a:fld>
            <a:endParaRPr spc="-5" dirty="0"/>
          </a:p>
        </p:txBody>
      </p:sp>
      <p:sp>
        <p:nvSpPr>
          <p:cNvPr id="6" name="Holder 6"/>
          <p:cNvSpPr>
            <a:spLocks noGrp="1"/>
          </p:cNvSpPr>
          <p:nvPr>
            <p:ph type="sldNum" sz="quarter" idx="7"/>
          </p:nvPr>
        </p:nvSpPr>
        <p:spPr>
          <a:xfrm>
            <a:off x="11152733" y="6466776"/>
            <a:ext cx="153670" cy="1911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09/ICCEBS58601.2023.10448896" TargetMode="External"/><Relationship Id="rId2" Type="http://schemas.openxmlformats.org/officeDocument/2006/relationships/hyperlink" Target="https://doi.org/10.1088/1742-6596/1964/6/062081"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ieeexplore.ieee.org/document/9781937" TargetMode="External"/><Relationship Id="rId4" Type="http://schemas.openxmlformats.org/officeDocument/2006/relationships/hyperlink" Target="https://doi.org/10.1109/CSPA55076.2022.9781937"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researchgate.net/profile/Danny-Munera?_tp=eyJjb250ZXh0Ijp7ImZpcnN0UGFnZSI6InB1YmxpY2F0aW9uIiwicGFnZSI6InB1YmxpY2F0aW9uIn19" TargetMode="External"/><Relationship Id="rId13" Type="http://schemas.openxmlformats.org/officeDocument/2006/relationships/hyperlink" Target="https://ieeexplore.ieee.org/author/37089025777" TargetMode="External"/><Relationship Id="rId18" Type="http://schemas.openxmlformats.org/officeDocument/2006/relationships/hyperlink" Target="https://www.youtube.com/watch?v=Ub1ciur95Nk" TargetMode="External"/><Relationship Id="rId3" Type="http://schemas.openxmlformats.org/officeDocument/2006/relationships/hyperlink" Target="https://ieeexplore.ieee.org/author/37088597650" TargetMode="External"/><Relationship Id="rId7" Type="http://schemas.openxmlformats.org/officeDocument/2006/relationships/hyperlink" Target="https://ieeexplore.ieee.org/document/9298176/references#references" TargetMode="External"/><Relationship Id="rId12" Type="http://schemas.openxmlformats.org/officeDocument/2006/relationships/hyperlink" Target="https://www.researchgate.net/publication/350823548_IoT-based_air_quality_monitoring_systems_for_smart_cities_A_systematic_mapping_study" TargetMode="External"/><Relationship Id="rId17" Type="http://schemas.openxmlformats.org/officeDocument/2006/relationships/hyperlink" Target="https://ieeexplore.ieee.org/document/10152272" TargetMode="External"/><Relationship Id="rId2" Type="http://schemas.openxmlformats.org/officeDocument/2006/relationships/hyperlink" Target="https://www.ijfmr.com/papers/2023/2/2260.pdf" TargetMode="External"/><Relationship Id="rId16" Type="http://schemas.openxmlformats.org/officeDocument/2006/relationships/hyperlink" Target="https://ieeexplore.ieee.org/author/37409477600" TargetMode="External"/><Relationship Id="rId1" Type="http://schemas.openxmlformats.org/officeDocument/2006/relationships/slideLayout" Target="../slideLayouts/slideLayout2.xml"/><Relationship Id="rId6" Type="http://schemas.openxmlformats.org/officeDocument/2006/relationships/hyperlink" Target="https://ieeexplore.ieee.org/author/37088551217" TargetMode="External"/><Relationship Id="rId11" Type="http://schemas.openxmlformats.org/officeDocument/2006/relationships/hyperlink" Target="https://www.researchgate.net/profile/Natalia-Gaviria?_tp=eyJjb250ZXh0Ijp7ImZpcnN0UGFnZSI6InB1YmxpY2F0aW9uIiwicGFnZSI6InB1YmxpY2F0aW9uIn19" TargetMode="External"/><Relationship Id="rId5" Type="http://schemas.openxmlformats.org/officeDocument/2006/relationships/hyperlink" Target="https://ieeexplore.ieee.org/author/37085829946" TargetMode="External"/><Relationship Id="rId15" Type="http://schemas.openxmlformats.org/officeDocument/2006/relationships/hyperlink" Target="https://ieeexplore.ieee.org/author/37089882651" TargetMode="External"/><Relationship Id="rId10" Type="http://schemas.openxmlformats.org/officeDocument/2006/relationships/hyperlink" Target="https://www.researchgate.net/scientific-contributions/Johnny-Aguirre-2030222276?_tp=eyJjb250ZXh0Ijp7ImZpcnN0UGFnZSI6InB1YmxpY2F0aW9uIiwicGFnZSI6InB1YmxpY2F0aW9uIn19" TargetMode="External"/><Relationship Id="rId19" Type="http://schemas.openxmlformats.org/officeDocument/2006/relationships/image" Target="../media/image2.png"/><Relationship Id="rId4" Type="http://schemas.openxmlformats.org/officeDocument/2006/relationships/hyperlink" Target="https://ieeexplore.ieee.org/author/37297914500" TargetMode="External"/><Relationship Id="rId9" Type="http://schemas.openxmlformats.org/officeDocument/2006/relationships/hyperlink" Target="https://www.researchgate.net/scientific-contributions/Diana-P-Tobon-V-2196807445?_tp=eyJjb250ZXh0Ijp7ImZpcnN0UGFnZSI6InB1YmxpY2F0aW9uIiwicGFnZSI6InB1YmxpY2F0aW9uIn19" TargetMode="External"/><Relationship Id="rId14" Type="http://schemas.openxmlformats.org/officeDocument/2006/relationships/hyperlink" Target="https://ieeexplore.ieee.org/author/37089026324"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1B9B-97F0-33F0-1076-B50389724AD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16A4D347-3729-4D01-41D4-2F7B79346C62}"/>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D74735D-4921-B815-6654-450FB1DF0D72}"/>
              </a:ext>
            </a:extLst>
          </p:cNvPr>
          <p:cNvSpPr>
            <a:spLocks noGrp="1"/>
          </p:cNvSpPr>
          <p:nvPr>
            <p:ph type="dt" sz="half" idx="6"/>
          </p:nvPr>
        </p:nvSpPr>
        <p:spPr>
          <a:xfrm>
            <a:off x="3692971" y="6466775"/>
            <a:ext cx="3886834" cy="156068"/>
          </a:xfrm>
        </p:spPr>
        <p:txBody>
          <a:bodyPr/>
          <a:lstStyle/>
          <a:p>
            <a:pPr marL="12700">
              <a:lnSpc>
                <a:spcPts val="1240"/>
              </a:lnSpc>
            </a:pPr>
            <a:r>
              <a:rPr lang="en-GB" spc="-5" dirty="0"/>
              <a:t> </a:t>
            </a:r>
          </a:p>
        </p:txBody>
      </p:sp>
      <p:sp>
        <p:nvSpPr>
          <p:cNvPr id="5" name="Slide Number Placeholder 4">
            <a:extLst>
              <a:ext uri="{FF2B5EF4-FFF2-40B4-BE49-F238E27FC236}">
                <a16:creationId xmlns:a16="http://schemas.microsoft.com/office/drawing/2014/main" id="{2C932ADA-4F83-F44B-677D-5DAB0DAC0815}"/>
              </a:ext>
            </a:extLst>
          </p:cNvPr>
          <p:cNvSpPr>
            <a:spLocks noGrp="1"/>
          </p:cNvSpPr>
          <p:nvPr>
            <p:ph type="sldNum" sz="quarter" idx="7"/>
          </p:nvPr>
        </p:nvSpPr>
        <p:spPr>
          <a:xfrm>
            <a:off x="11152733" y="6466776"/>
            <a:ext cx="153670" cy="156068"/>
          </a:xfrm>
        </p:spPr>
        <p:txBody>
          <a:bodyPr/>
          <a:lstStyle/>
          <a:p>
            <a:pPr marL="38100">
              <a:lnSpc>
                <a:spcPts val="1240"/>
              </a:lnSpc>
            </a:pPr>
            <a:r>
              <a:rPr lang="en-GB" dirty="0"/>
              <a:t> </a:t>
            </a:r>
          </a:p>
        </p:txBody>
      </p:sp>
      <p:pic>
        <p:nvPicPr>
          <p:cNvPr id="11" name="Picture 10">
            <a:extLst>
              <a:ext uri="{FF2B5EF4-FFF2-40B4-BE49-F238E27FC236}">
                <a16:creationId xmlns:a16="http://schemas.microsoft.com/office/drawing/2014/main" id="{54C19BF5-96D3-C7DD-56D7-21851D5AB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65" y="-2448234"/>
            <a:ext cx="11754468" cy="11754468"/>
          </a:xfrm>
          <a:prstGeom prst="rect">
            <a:avLst/>
          </a:prstGeom>
        </p:spPr>
      </p:pic>
    </p:spTree>
    <p:extLst>
      <p:ext uri="{BB962C8B-B14F-4D97-AF65-F5344CB8AC3E}">
        <p14:creationId xmlns:p14="http://schemas.microsoft.com/office/powerpoint/2010/main" val="172659303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764" y="1251469"/>
            <a:ext cx="11966022" cy="2505814"/>
          </a:xfrm>
          <a:prstGeom prst="rect">
            <a:avLst/>
          </a:prstGeom>
        </p:spPr>
        <p:txBody>
          <a:bodyPr vert="horz" wrap="square" lIns="0" tIns="12700" rIns="0" bIns="0" rtlCol="0">
            <a:spAutoFit/>
          </a:bodyPr>
          <a:lstStyle/>
          <a:p>
            <a:pPr marL="12700" algn="ctr">
              <a:lnSpc>
                <a:spcPct val="100000"/>
              </a:lnSpc>
              <a:spcBef>
                <a:spcPts val="100"/>
              </a:spcBef>
            </a:pPr>
            <a:r>
              <a:rPr lang="en-US" sz="5400" dirty="0">
                <a:latin typeface="Times New Roman" panose="02020603050405020304" pitchFamily="18" charset="0"/>
                <a:cs typeface="Times New Roman" panose="02020603050405020304" pitchFamily="18" charset="0"/>
              </a:rPr>
              <a:t>IOT-Based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Air Quality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Index Meter System</a:t>
            </a:r>
            <a:endParaRPr lang="en-GB" sz="5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371600" y="3657600"/>
            <a:ext cx="9404350" cy="2359492"/>
          </a:xfrm>
          <a:prstGeom prst="rect">
            <a:avLst/>
          </a:prstGeom>
        </p:spPr>
        <p:txBody>
          <a:bodyPr vert="horz" wrap="square" lIns="0" tIns="40640" rIns="0" bIns="0" rtlCol="0">
            <a:spAutoFit/>
          </a:bodyPr>
          <a:lstStyle/>
          <a:p>
            <a:pPr marL="7620" algn="ctr">
              <a:lnSpc>
                <a:spcPct val="100000"/>
              </a:lnSpc>
              <a:spcBef>
                <a:spcPts val="320"/>
              </a:spcBef>
            </a:pPr>
            <a:endParaRPr lang="en-GB" sz="2200" spc="5" dirty="0">
              <a:latin typeface="Calibri"/>
              <a:cs typeface="Calibri"/>
            </a:endParaRPr>
          </a:p>
          <a:p>
            <a:pPr marL="7620" algn="ctr">
              <a:lnSpc>
                <a:spcPct val="100000"/>
              </a:lnSpc>
              <a:spcBef>
                <a:spcPts val="320"/>
              </a:spcBef>
            </a:pPr>
            <a:r>
              <a:rPr sz="2200" spc="5" dirty="0">
                <a:latin typeface="Calibri"/>
                <a:cs typeface="Calibri"/>
              </a:rPr>
              <a:t>By</a:t>
            </a:r>
            <a:endParaRPr lang="en-US" sz="2200" dirty="0">
              <a:latin typeface="Calibri"/>
              <a:cs typeface="Calibri"/>
            </a:endParaRPr>
          </a:p>
          <a:p>
            <a:pPr marL="7620" algn="ctr">
              <a:lnSpc>
                <a:spcPct val="100000"/>
              </a:lnSpc>
              <a:spcBef>
                <a:spcPts val="320"/>
              </a:spcBef>
            </a:pPr>
            <a:r>
              <a:rPr lang="en-US" sz="2400" i="1" dirty="0">
                <a:latin typeface="Times New Roman" panose="02020603050405020304" pitchFamily="18" charset="0"/>
                <a:cs typeface="Times New Roman" panose="02020603050405020304" pitchFamily="18" charset="0"/>
              </a:rPr>
              <a:t>Huzaifa Shahbaz </a:t>
            </a:r>
            <a:r>
              <a:rPr sz="2200" spc="1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21</a:t>
            </a:r>
            <a:r>
              <a:rPr sz="2200"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E</a:t>
            </a:r>
            <a:r>
              <a:rPr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009</a:t>
            </a:r>
            <a:endParaRPr lang="en-US" sz="2200" spc="30" dirty="0">
              <a:latin typeface="Times New Roman" panose="02020603050405020304" pitchFamily="18" charset="0"/>
              <a:cs typeface="Times New Roman" panose="02020603050405020304" pitchFamily="18" charset="0"/>
            </a:endParaRPr>
          </a:p>
          <a:p>
            <a:pPr marL="12065" marR="5080" algn="ctr">
              <a:lnSpc>
                <a:spcPct val="108500"/>
              </a:lnSpc>
            </a:pPr>
            <a:r>
              <a:rPr lang="en-GB" sz="2400" i="1" spc="5" dirty="0">
                <a:latin typeface="Times New Roman" panose="02020603050405020304" pitchFamily="18" charset="0"/>
                <a:cs typeface="Times New Roman" panose="02020603050405020304" pitchFamily="18" charset="0"/>
              </a:rPr>
              <a:t>Aqsa Shah </a:t>
            </a:r>
            <a:r>
              <a:rPr sz="2400" spc="10" dirty="0">
                <a:latin typeface="Times New Roman" panose="02020603050405020304" pitchFamily="18" charset="0"/>
                <a:cs typeface="Times New Roman" panose="02020603050405020304" pitchFamily="18" charset="0"/>
              </a:rPr>
              <a: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E</a:t>
            </a:r>
            <a:r>
              <a:rP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039</a:t>
            </a:r>
            <a:endParaRPr sz="2400" dirty="0">
              <a:latin typeface="Times New Roman" panose="02020603050405020304" pitchFamily="18" charset="0"/>
              <a:cs typeface="Times New Roman" panose="02020603050405020304" pitchFamily="18" charset="0"/>
            </a:endParaRPr>
          </a:p>
          <a:p>
            <a:pPr>
              <a:lnSpc>
                <a:spcPct val="100000"/>
              </a:lnSpc>
              <a:spcBef>
                <a:spcPts val="20"/>
              </a:spcBef>
            </a:pPr>
            <a:endParaRPr sz="2950" dirty="0">
              <a:latin typeface="Calibri"/>
              <a:cs typeface="Calibri"/>
            </a:endParaRPr>
          </a:p>
          <a:p>
            <a:pPr marL="635" algn="ctr">
              <a:lnSpc>
                <a:spcPct val="100000"/>
              </a:lnSpc>
            </a:pPr>
            <a:r>
              <a:rPr sz="2200" b="1" dirty="0">
                <a:latin typeface="Calibri"/>
                <a:cs typeface="Calibri"/>
              </a:rPr>
              <a:t>Supervisor:</a:t>
            </a:r>
            <a:r>
              <a:rPr sz="2200" b="1" spc="-5" dirty="0">
                <a:latin typeface="Calibri"/>
                <a:cs typeface="Calibri"/>
              </a:rPr>
              <a:t> </a:t>
            </a:r>
            <a:r>
              <a:rPr lang="en-US" sz="2200" i="1" spc="-5" dirty="0">
                <a:latin typeface="Times New Roman" panose="02020603050405020304" pitchFamily="18" charset="0"/>
                <a:cs typeface="Times New Roman" panose="02020603050405020304" pitchFamily="18" charset="0"/>
              </a:rPr>
              <a:t>Ma’am </a:t>
            </a:r>
            <a:r>
              <a:rPr lang="en-US" sz="2200" i="1" dirty="0">
                <a:latin typeface="Times New Roman" panose="02020603050405020304" pitchFamily="18" charset="0"/>
                <a:cs typeface="Times New Roman" panose="02020603050405020304" pitchFamily="18" charset="0"/>
              </a:rPr>
              <a:t>Sara </a:t>
            </a:r>
            <a:r>
              <a:rPr lang="en-US" sz="2200" i="1" dirty="0" err="1">
                <a:latin typeface="Times New Roman" panose="02020603050405020304" pitchFamily="18" charset="0"/>
                <a:cs typeface="Times New Roman" panose="02020603050405020304" pitchFamily="18" charset="0"/>
              </a:rPr>
              <a:t>Tehsin</a:t>
            </a:r>
            <a:r>
              <a:rPr lang="en-US" sz="2200" i="1" dirty="0">
                <a:latin typeface="Times New Roman" panose="02020603050405020304" pitchFamily="18" charset="0"/>
                <a:cs typeface="Times New Roman" panose="02020603050405020304" pitchFamily="18" charset="0"/>
              </a:rPr>
              <a:t> </a:t>
            </a:r>
            <a:endParaRPr sz="2200" i="1"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0528723" y="238419"/>
            <a:ext cx="1401690" cy="140169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
        <p:nvSpPr>
          <p:cNvPr id="6" name="Date Placeholder 5">
            <a:extLst>
              <a:ext uri="{FF2B5EF4-FFF2-40B4-BE49-F238E27FC236}">
                <a16:creationId xmlns:a16="http://schemas.microsoft.com/office/drawing/2014/main" id="{B823EE3D-5E2C-FD05-18B1-FB7A95A0966E}"/>
              </a:ext>
            </a:extLst>
          </p:cNvPr>
          <p:cNvSpPr>
            <a:spLocks noGrp="1"/>
          </p:cNvSpPr>
          <p:nvPr>
            <p:ph type="dt" sz="half" idx="6"/>
          </p:nvPr>
        </p:nvSpPr>
        <p:spPr>
          <a:xfrm>
            <a:off x="90764" y="6569010"/>
            <a:ext cx="3886834" cy="156068"/>
          </a:xfrm>
        </p:spPr>
        <p:txBody>
          <a:bodyPr/>
          <a:lstStyle/>
          <a:p>
            <a:pPr marL="12700">
              <a:lnSpc>
                <a:spcPts val="1240"/>
              </a:lnSpc>
            </a:pPr>
            <a:r>
              <a:rPr lang="en-GB" dirty="0"/>
              <a:t> </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3235" y="578759"/>
            <a:ext cx="1908175" cy="689932"/>
          </a:xfrm>
          <a:prstGeom prst="rect">
            <a:avLst/>
          </a:prstGeom>
        </p:spPr>
        <p:txBody>
          <a:bodyPr vert="horz" wrap="square" lIns="0" tIns="12700" rIns="0" bIns="0" rtlCol="0">
            <a:spAutoFit/>
          </a:bodyPr>
          <a:lstStyle/>
          <a:p>
            <a:pPr marL="12700">
              <a:lnSpc>
                <a:spcPct val="100000"/>
              </a:lnSpc>
              <a:spcBef>
                <a:spcPts val="100"/>
              </a:spcBef>
            </a:pPr>
            <a:r>
              <a:rPr sz="4400" spc="-5" dirty="0"/>
              <a:t>Outline</a:t>
            </a:r>
            <a:r>
              <a:rPr lang="en-GB" sz="4400" spc="-5" dirty="0"/>
              <a:t>:</a:t>
            </a:r>
            <a:endParaRPr sz="4400" dirty="0"/>
          </a:p>
        </p:txBody>
      </p:sp>
      <p:sp>
        <p:nvSpPr>
          <p:cNvPr id="3" name="object 3"/>
          <p:cNvSpPr txBox="1">
            <a:spLocks noGrp="1"/>
          </p:cNvSpPr>
          <p:nvPr>
            <p:ph type="body" idx="1"/>
          </p:nvPr>
        </p:nvSpPr>
        <p:spPr>
          <a:xfrm>
            <a:off x="773710" y="1562858"/>
            <a:ext cx="10307285" cy="4657685"/>
          </a:xfrm>
          <a:prstGeom prst="rect">
            <a:avLst/>
          </a:prstGeom>
        </p:spPr>
        <p:txBody>
          <a:bodyPr vert="horz" wrap="square" lIns="0" tIns="60960" rIns="0" bIns="0" rtlCol="0">
            <a:spAutoFit/>
          </a:bodyPr>
          <a:lstStyle/>
          <a:p>
            <a:pPr marL="209550" indent="-175895">
              <a:lnSpc>
                <a:spcPct val="100000"/>
              </a:lnSpc>
              <a:spcBef>
                <a:spcPts val="630"/>
              </a:spcBef>
              <a:buFont typeface="Arial MT"/>
              <a:buChar char="•"/>
              <a:tabLst>
                <a:tab pos="210820" algn="l"/>
              </a:tabLst>
            </a:pPr>
            <a:r>
              <a:rPr spc="-5" dirty="0">
                <a:solidFill>
                  <a:srgbClr val="000000"/>
                </a:solidFill>
              </a:rPr>
              <a:t>Introduction</a:t>
            </a:r>
            <a:endParaRPr lang="en-US" spc="-5" dirty="0">
              <a:solidFill>
                <a:srgbClr val="000000"/>
              </a:solidFill>
            </a:endParaRPr>
          </a:p>
          <a:p>
            <a:pPr marL="209550" indent="-175895">
              <a:lnSpc>
                <a:spcPct val="100000"/>
              </a:lnSpc>
              <a:spcBef>
                <a:spcPts val="665"/>
              </a:spcBef>
              <a:buFont typeface="Arial MT"/>
              <a:buChar char="•"/>
              <a:tabLst>
                <a:tab pos="210820" algn="l"/>
              </a:tabLst>
            </a:pPr>
            <a:r>
              <a:rPr spc="-5" dirty="0">
                <a:solidFill>
                  <a:srgbClr val="000000"/>
                </a:solidFill>
              </a:rPr>
              <a:t>Problem</a:t>
            </a:r>
            <a:r>
              <a:rPr spc="-30" dirty="0">
                <a:solidFill>
                  <a:srgbClr val="000000"/>
                </a:solidFill>
              </a:rPr>
              <a:t> </a:t>
            </a:r>
            <a:r>
              <a:rPr spc="-5" dirty="0">
                <a:solidFill>
                  <a:srgbClr val="000000"/>
                </a:solidFill>
              </a:rPr>
              <a:t>Statement</a:t>
            </a:r>
            <a:endParaRPr lang="en-US" spc="-5" dirty="0">
              <a:solidFill>
                <a:srgbClr val="000000"/>
              </a:solidFill>
            </a:endParaRPr>
          </a:p>
          <a:p>
            <a:pPr marL="209550" indent="-175895">
              <a:lnSpc>
                <a:spcPct val="100000"/>
              </a:lnSpc>
              <a:spcBef>
                <a:spcPts val="665"/>
              </a:spcBef>
              <a:buFont typeface="Arial MT"/>
              <a:buChar char="•"/>
              <a:tabLst>
                <a:tab pos="210820" algn="l"/>
              </a:tabLst>
            </a:pPr>
            <a:r>
              <a:rPr lang="en-US" spc="-5" dirty="0">
                <a:solidFill>
                  <a:srgbClr val="000000"/>
                </a:solidFill>
              </a:rPr>
              <a:t>Objective</a:t>
            </a:r>
          </a:p>
          <a:p>
            <a:pPr marL="209550" indent="-175895">
              <a:lnSpc>
                <a:spcPct val="100000"/>
              </a:lnSpc>
              <a:spcBef>
                <a:spcPts val="665"/>
              </a:spcBef>
              <a:buFont typeface="Arial MT"/>
              <a:buChar char="•"/>
              <a:tabLst>
                <a:tab pos="210820" algn="l"/>
              </a:tabLst>
            </a:pPr>
            <a:r>
              <a:rPr lang="en-US" spc="-5" dirty="0">
                <a:solidFill>
                  <a:srgbClr val="000000"/>
                </a:solidFill>
              </a:rPr>
              <a:t>Proposed Design </a:t>
            </a:r>
            <a:endParaRPr spc="-5" dirty="0">
              <a:solidFill>
                <a:srgbClr val="000000"/>
              </a:solidFill>
            </a:endParaRPr>
          </a:p>
          <a:p>
            <a:pPr marL="209550" indent="-175895">
              <a:lnSpc>
                <a:spcPct val="100000"/>
              </a:lnSpc>
              <a:spcBef>
                <a:spcPts val="665"/>
              </a:spcBef>
              <a:buFont typeface="Arial MT"/>
              <a:buChar char="•"/>
              <a:tabLst>
                <a:tab pos="210820" algn="l"/>
              </a:tabLst>
            </a:pPr>
            <a:r>
              <a:rPr spc="-5" dirty="0">
                <a:solidFill>
                  <a:srgbClr val="000000"/>
                </a:solidFill>
              </a:rPr>
              <a:t>Literature</a:t>
            </a:r>
            <a:r>
              <a:rPr spc="-45" dirty="0">
                <a:solidFill>
                  <a:srgbClr val="000000"/>
                </a:solidFill>
              </a:rPr>
              <a:t> </a:t>
            </a:r>
            <a:r>
              <a:rPr spc="-5" dirty="0">
                <a:solidFill>
                  <a:srgbClr val="000000"/>
                </a:solidFill>
              </a:rPr>
              <a:t>Review</a:t>
            </a:r>
            <a:r>
              <a:rPr lang="en-US" spc="-5" dirty="0">
                <a:solidFill>
                  <a:srgbClr val="000000"/>
                </a:solidFill>
              </a:rPr>
              <a:t> </a:t>
            </a:r>
            <a:endParaRPr spc="-5" dirty="0">
              <a:solidFill>
                <a:srgbClr val="000000"/>
              </a:solidFill>
            </a:endParaRPr>
          </a:p>
          <a:p>
            <a:pPr marL="209550" indent="-175895">
              <a:lnSpc>
                <a:spcPct val="100000"/>
              </a:lnSpc>
              <a:spcBef>
                <a:spcPts val="665"/>
              </a:spcBef>
              <a:buFont typeface="Arial MT"/>
              <a:buChar char="•"/>
              <a:tabLst>
                <a:tab pos="210820" algn="l"/>
              </a:tabLst>
            </a:pPr>
            <a:r>
              <a:rPr lang="en-GB" spc="-5" dirty="0">
                <a:solidFill>
                  <a:srgbClr val="000000"/>
                </a:solidFill>
              </a:rPr>
              <a:t>Architecture Diagram</a:t>
            </a:r>
          </a:p>
          <a:p>
            <a:pPr marL="209550" indent="-175895">
              <a:lnSpc>
                <a:spcPct val="100000"/>
              </a:lnSpc>
              <a:spcBef>
                <a:spcPts val="665"/>
              </a:spcBef>
              <a:buFont typeface="Arial MT"/>
              <a:buChar char="•"/>
              <a:tabLst>
                <a:tab pos="210820" algn="l"/>
              </a:tabLst>
            </a:pPr>
            <a:r>
              <a:rPr lang="en-GB" spc="-5" dirty="0">
                <a:solidFill>
                  <a:srgbClr val="000000"/>
                </a:solidFill>
              </a:rPr>
              <a:t>Results</a:t>
            </a:r>
          </a:p>
          <a:p>
            <a:pPr marL="209550" indent="-175895">
              <a:lnSpc>
                <a:spcPct val="100000"/>
              </a:lnSpc>
              <a:spcBef>
                <a:spcPts val="665"/>
              </a:spcBef>
              <a:buFont typeface="Arial MT"/>
              <a:buChar char="•"/>
              <a:tabLst>
                <a:tab pos="210820" algn="l"/>
              </a:tabLst>
            </a:pPr>
            <a:r>
              <a:rPr lang="en-GB" spc="-5" dirty="0">
                <a:solidFill>
                  <a:srgbClr val="000000"/>
                </a:solidFill>
              </a:rPr>
              <a:t>Conclusion</a:t>
            </a:r>
          </a:p>
          <a:p>
            <a:pPr marL="209550" indent="-175895">
              <a:lnSpc>
                <a:spcPct val="100000"/>
              </a:lnSpc>
              <a:spcBef>
                <a:spcPts val="665"/>
              </a:spcBef>
              <a:buFont typeface="Arial MT"/>
              <a:buChar char="•"/>
              <a:tabLst>
                <a:tab pos="210820" algn="l"/>
              </a:tabLst>
            </a:pPr>
            <a:r>
              <a:rPr lang="en-GB" spc="-5" dirty="0">
                <a:solidFill>
                  <a:srgbClr val="000000"/>
                </a:solidFill>
              </a:rPr>
              <a:t>References</a:t>
            </a:r>
            <a:endParaRPr spc="-5" dirty="0">
              <a:solidFill>
                <a:srgbClr val="000000"/>
              </a:solidFill>
            </a:endParaRPr>
          </a:p>
        </p:txBody>
      </p:sp>
      <p:pic>
        <p:nvPicPr>
          <p:cNvPr id="4" name="object 4"/>
          <p:cNvPicPr/>
          <p:nvPr/>
        </p:nvPicPr>
        <p:blipFill>
          <a:blip r:embed="rId2" cstate="print"/>
          <a:stretch>
            <a:fillRect/>
          </a:stretch>
        </p:blipFill>
        <p:spPr>
          <a:xfrm>
            <a:off x="10528723" y="284592"/>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
        <p:nvSpPr>
          <p:cNvPr id="6" name="Date Placeholder 5">
            <a:extLst>
              <a:ext uri="{FF2B5EF4-FFF2-40B4-BE49-F238E27FC236}">
                <a16:creationId xmlns:a16="http://schemas.microsoft.com/office/drawing/2014/main" id="{EA7BFB90-DB4A-5C3E-29D8-2EAEAC03F9D2}"/>
              </a:ext>
            </a:extLst>
          </p:cNvPr>
          <p:cNvSpPr>
            <a:spLocks noGrp="1"/>
          </p:cNvSpPr>
          <p:nvPr>
            <p:ph type="dt" sz="half" idx="6"/>
          </p:nvPr>
        </p:nvSpPr>
        <p:spPr>
          <a:xfrm>
            <a:off x="672147" y="6449984"/>
            <a:ext cx="3886834" cy="177800"/>
          </a:xfrm>
        </p:spPr>
        <p:txBody>
          <a:bodyPr/>
          <a:lstStyle/>
          <a:p>
            <a:pPr marL="12700">
              <a:lnSpc>
                <a:spcPts val="1240"/>
              </a:lnSpc>
            </a:pPr>
            <a:fld id="{717FFF31-DDEF-42FB-BA87-A7625253D3E6}" type="datetime1">
              <a:rPr lang="LID4096" spc="-5" smtClean="0"/>
              <a:t>01/23/2025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15635"/>
            <a:ext cx="3736975" cy="689932"/>
          </a:xfrm>
          <a:prstGeom prst="rect">
            <a:avLst/>
          </a:prstGeom>
        </p:spPr>
        <p:txBody>
          <a:bodyPr vert="horz" wrap="square" lIns="0" tIns="12700" rIns="0" bIns="0" rtlCol="0">
            <a:spAutoFit/>
          </a:bodyPr>
          <a:lstStyle/>
          <a:p>
            <a:pPr marL="12700">
              <a:lnSpc>
                <a:spcPct val="100000"/>
              </a:lnSpc>
              <a:spcBef>
                <a:spcPts val="100"/>
              </a:spcBef>
            </a:pPr>
            <a:r>
              <a:rPr sz="4400" spc="-5" dirty="0"/>
              <a:t>Introduction</a:t>
            </a:r>
            <a:r>
              <a:rPr lang="en-GB" sz="4400" spc="-5" dirty="0"/>
              <a:t>:</a:t>
            </a:r>
            <a:endParaRPr sz="4400" dirty="0"/>
          </a:p>
        </p:txBody>
      </p:sp>
      <p:sp>
        <p:nvSpPr>
          <p:cNvPr id="3" name="object 3"/>
          <p:cNvSpPr txBox="1"/>
          <p:nvPr/>
        </p:nvSpPr>
        <p:spPr>
          <a:xfrm>
            <a:off x="964546" y="1718335"/>
            <a:ext cx="10465453" cy="3423886"/>
          </a:xfrm>
          <a:prstGeom prst="rect">
            <a:avLst/>
          </a:prstGeom>
        </p:spPr>
        <p:txBody>
          <a:bodyPr vert="horz" wrap="square" lIns="0" tIns="96520" rIns="0" bIns="0" rtlCol="0">
            <a:spAutoFit/>
          </a:bodyPr>
          <a:lstStyle/>
          <a:p>
            <a:pPr marL="457200" indent="-457200">
              <a:lnSpc>
                <a:spcPct val="200000"/>
              </a:lnSpc>
              <a:buFont typeface="Arial" panose="020B0604020202020204" pitchFamily="34" charset="0"/>
              <a:buChar char="•"/>
            </a:pPr>
            <a:r>
              <a:rPr lang="en-GB" sz="2800" dirty="0"/>
              <a:t>Air quality monitoring is vital for health and the environment.</a:t>
            </a:r>
          </a:p>
          <a:p>
            <a:pPr marL="457200" indent="-457200">
              <a:lnSpc>
                <a:spcPct val="200000"/>
              </a:lnSpc>
              <a:buFont typeface="Arial" panose="020B0604020202020204" pitchFamily="34" charset="0"/>
              <a:buChar char="•"/>
            </a:pPr>
            <a:r>
              <a:rPr lang="en-GB" sz="2800" dirty="0"/>
              <a:t>IoT systems measure pollutants like PM2.5, PM10, CO, and NO2.</a:t>
            </a:r>
          </a:p>
          <a:p>
            <a:pPr marL="457200" indent="-457200">
              <a:lnSpc>
                <a:spcPct val="200000"/>
              </a:lnSpc>
              <a:buFont typeface="Arial" panose="020B0604020202020204" pitchFamily="34" charset="0"/>
              <a:buChar char="•"/>
            </a:pPr>
            <a:r>
              <a:rPr lang="en-GB" sz="2800" dirty="0"/>
              <a:t>Real-time data improves our understanding of air quality.</a:t>
            </a:r>
          </a:p>
          <a:p>
            <a:pPr marL="457200" indent="-457200">
              <a:lnSpc>
                <a:spcPct val="200000"/>
              </a:lnSpc>
              <a:buFont typeface="Arial" panose="020B0604020202020204" pitchFamily="34" charset="0"/>
              <a:buChar char="•"/>
            </a:pPr>
            <a:r>
              <a:rPr lang="en-GB" sz="2800" dirty="0"/>
              <a:t>AQI systems raise awareness and inform policies for swift responses.</a:t>
            </a:r>
          </a:p>
        </p:txBody>
      </p:sp>
      <p:pic>
        <p:nvPicPr>
          <p:cNvPr id="4" name="object 4"/>
          <p:cNvPicPr/>
          <p:nvPr/>
        </p:nvPicPr>
        <p:blipFill>
          <a:blip r:embed="rId2" cstate="print"/>
          <a:stretch>
            <a:fillRect/>
          </a:stretch>
        </p:blipFill>
        <p:spPr>
          <a:xfrm>
            <a:off x="10528723" y="200090"/>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
        <p:nvSpPr>
          <p:cNvPr id="5" name="Date Placeholder 4">
            <a:extLst>
              <a:ext uri="{FF2B5EF4-FFF2-40B4-BE49-F238E27FC236}">
                <a16:creationId xmlns:a16="http://schemas.microsoft.com/office/drawing/2014/main" id="{9A7F146B-CCE2-447A-DBE4-D8FF797C5746}"/>
              </a:ext>
            </a:extLst>
          </p:cNvPr>
          <p:cNvSpPr>
            <a:spLocks noGrp="1"/>
          </p:cNvSpPr>
          <p:nvPr>
            <p:ph type="dt" sz="half" idx="6"/>
          </p:nvPr>
        </p:nvSpPr>
        <p:spPr>
          <a:xfrm>
            <a:off x="682335" y="6455634"/>
            <a:ext cx="3886834" cy="177800"/>
          </a:xfrm>
        </p:spPr>
        <p:txBody>
          <a:bodyPr/>
          <a:lstStyle/>
          <a:p>
            <a:pPr marL="12700">
              <a:lnSpc>
                <a:spcPts val="1240"/>
              </a:lnSpc>
            </a:pPr>
            <a:fld id="{66A22DBF-3D65-43CD-95E9-A429A5267F66}" type="datetime1">
              <a:rPr lang="LID4096" spc="-5" smtClean="0"/>
              <a:t>01/23/2025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4" y="637457"/>
            <a:ext cx="5184775" cy="695960"/>
          </a:xfrm>
          <a:prstGeom prst="rect">
            <a:avLst/>
          </a:prstGeom>
        </p:spPr>
        <p:txBody>
          <a:bodyPr vert="horz" wrap="square" lIns="0" tIns="12700" rIns="0" bIns="0" rtlCol="0">
            <a:spAutoFit/>
          </a:bodyPr>
          <a:lstStyle/>
          <a:p>
            <a:pPr marL="12700">
              <a:lnSpc>
                <a:spcPct val="100000"/>
              </a:lnSpc>
              <a:spcBef>
                <a:spcPts val="100"/>
              </a:spcBef>
            </a:pPr>
            <a:r>
              <a:rPr sz="4400" spc="-10" dirty="0"/>
              <a:t>Problem</a:t>
            </a:r>
            <a:r>
              <a:rPr sz="4400" spc="-90" dirty="0"/>
              <a:t> </a:t>
            </a:r>
            <a:r>
              <a:rPr sz="4400" spc="-5" dirty="0"/>
              <a:t>Statement</a:t>
            </a:r>
            <a:r>
              <a:rPr lang="en-GB" sz="4400" spc="-5" dirty="0"/>
              <a:t>:</a:t>
            </a:r>
            <a:endParaRPr sz="4400" dirty="0"/>
          </a:p>
        </p:txBody>
      </p:sp>
      <p:sp>
        <p:nvSpPr>
          <p:cNvPr id="3" name="object 3"/>
          <p:cNvSpPr txBox="1"/>
          <p:nvPr/>
        </p:nvSpPr>
        <p:spPr>
          <a:xfrm>
            <a:off x="964547" y="1718335"/>
            <a:ext cx="9225915" cy="3687356"/>
          </a:xfrm>
          <a:prstGeom prst="rect">
            <a:avLst/>
          </a:prstGeom>
        </p:spPr>
        <p:txBody>
          <a:bodyPr vert="horz" wrap="square" lIns="0" tIns="96520" rIns="0" bIns="0" rtlCol="0">
            <a:spAutoFit/>
          </a:bodyPr>
          <a:lstStyle/>
          <a:p>
            <a:pPr marL="354965" indent="-342900">
              <a:lnSpc>
                <a:spcPct val="200000"/>
              </a:lnSpc>
              <a:spcBef>
                <a:spcPts val="760"/>
              </a:spcBef>
              <a:buFont typeface="Arial" panose="020B0604020202020204" pitchFamily="34" charset="0"/>
              <a:buChar char="•"/>
              <a:tabLst>
                <a:tab pos="188595" algn="l"/>
              </a:tabLst>
            </a:pPr>
            <a:r>
              <a:rPr lang="en-GB" sz="2400" dirty="0"/>
              <a:t>The decline in air quality, driven by urbanization and industrialization, poses serious health risks and environmental challenges. Current monitoring systems have lengthy detection ranges, preventing accurate local readings of pollutants. This limitation hinders timely interventions and effective decision-making.</a:t>
            </a:r>
            <a:endParaRPr lang="en-US" sz="2400" dirty="0">
              <a:cs typeface="Calibri"/>
            </a:endParaRP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
        <p:nvSpPr>
          <p:cNvPr id="5" name="Date Placeholder 4">
            <a:extLst>
              <a:ext uri="{FF2B5EF4-FFF2-40B4-BE49-F238E27FC236}">
                <a16:creationId xmlns:a16="http://schemas.microsoft.com/office/drawing/2014/main" id="{CCF47F65-2CD3-6F80-8BD6-204FD57ECB77}"/>
              </a:ext>
            </a:extLst>
          </p:cNvPr>
          <p:cNvSpPr>
            <a:spLocks noGrp="1"/>
          </p:cNvSpPr>
          <p:nvPr>
            <p:ph type="dt" sz="half" idx="6"/>
          </p:nvPr>
        </p:nvSpPr>
        <p:spPr>
          <a:xfrm>
            <a:off x="858055" y="6377876"/>
            <a:ext cx="3886834" cy="177800"/>
          </a:xfrm>
        </p:spPr>
        <p:txBody>
          <a:bodyPr/>
          <a:lstStyle/>
          <a:p>
            <a:pPr marL="12700">
              <a:lnSpc>
                <a:spcPts val="1240"/>
              </a:lnSpc>
            </a:pPr>
            <a:fld id="{F10D4220-A8E0-4F71-B485-F7E23C8F41B1}" type="datetime1">
              <a:rPr lang="LID4096" spc="-5" smtClean="0"/>
              <a:t>01/23/2025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2857500" cy="695960"/>
          </a:xfrm>
          <a:prstGeom prst="rect">
            <a:avLst/>
          </a:prstGeom>
        </p:spPr>
        <p:txBody>
          <a:bodyPr vert="horz" wrap="square" lIns="0" tIns="12700" rIns="0" bIns="0" rtlCol="0">
            <a:spAutoFit/>
          </a:bodyPr>
          <a:lstStyle/>
          <a:p>
            <a:pPr marL="12700">
              <a:lnSpc>
                <a:spcPct val="100000"/>
              </a:lnSpc>
              <a:spcBef>
                <a:spcPts val="100"/>
              </a:spcBef>
            </a:pPr>
            <a:r>
              <a:rPr lang="en-US" sz="4400" spc="-5" dirty="0"/>
              <a:t>Objective:</a:t>
            </a:r>
            <a:endParaRPr sz="4400" dirty="0"/>
          </a:p>
        </p:txBody>
      </p:sp>
      <p:sp>
        <p:nvSpPr>
          <p:cNvPr id="3" name="object 3"/>
          <p:cNvSpPr txBox="1"/>
          <p:nvPr/>
        </p:nvSpPr>
        <p:spPr>
          <a:xfrm>
            <a:off x="964547" y="1718335"/>
            <a:ext cx="10188186" cy="2687082"/>
          </a:xfrm>
          <a:prstGeom prst="rect">
            <a:avLst/>
          </a:prstGeom>
        </p:spPr>
        <p:txBody>
          <a:bodyPr vert="horz" wrap="square" lIns="0" tIns="96520" rIns="0" bIns="0" rtlCol="0">
            <a:spAutoFit/>
          </a:bodyPr>
          <a:lstStyle/>
          <a:p>
            <a:pPr marL="12065">
              <a:lnSpc>
                <a:spcPct val="100000"/>
              </a:lnSpc>
              <a:spcBef>
                <a:spcPts val="760"/>
              </a:spcBef>
              <a:tabLst>
                <a:tab pos="188595" algn="l"/>
              </a:tabLst>
            </a:pPr>
            <a:r>
              <a:rPr lang="en-US" sz="2800" dirty="0">
                <a:cs typeface="Calibri"/>
              </a:rPr>
              <a:t>The objective of this project is: </a:t>
            </a:r>
          </a:p>
          <a:p>
            <a:pPr marL="742950" lvl="1" indent="-285750">
              <a:lnSpc>
                <a:spcPct val="150000"/>
              </a:lnSpc>
              <a:buFont typeface="Arial" panose="020B0604020202020204" pitchFamily="34" charset="0"/>
              <a:buChar char="•"/>
            </a:pPr>
            <a:r>
              <a:rPr lang="en-GB" sz="2400" dirty="0"/>
              <a:t>To Identify key pollutants</a:t>
            </a:r>
          </a:p>
          <a:p>
            <a:pPr marL="742950" lvl="1" indent="-285750">
              <a:lnSpc>
                <a:spcPct val="150000"/>
              </a:lnSpc>
              <a:buFont typeface="Arial" panose="020B0604020202020204" pitchFamily="34" charset="0"/>
              <a:buChar char="•"/>
            </a:pPr>
            <a:r>
              <a:rPr lang="en-GB" sz="2400" dirty="0"/>
              <a:t>To Analyse their impact on health and the environment</a:t>
            </a:r>
          </a:p>
          <a:p>
            <a:pPr marL="742950" lvl="1" indent="-285750">
              <a:lnSpc>
                <a:spcPct val="150000"/>
              </a:lnSpc>
              <a:buFont typeface="Arial" panose="020B0604020202020204" pitchFamily="34" charset="0"/>
              <a:buChar char="•"/>
            </a:pPr>
            <a:r>
              <a:rPr lang="en-GB" sz="2400" dirty="0"/>
              <a:t>To Enable real-time monitoring for timely interventions</a:t>
            </a:r>
          </a:p>
          <a:p>
            <a:pPr marL="742950" lvl="1" indent="-285750">
              <a:lnSpc>
                <a:spcPct val="150000"/>
              </a:lnSpc>
              <a:buFont typeface="Arial" panose="020B0604020202020204" pitchFamily="34" charset="0"/>
              <a:buChar char="•"/>
            </a:pPr>
            <a:r>
              <a:rPr lang="en-GB" sz="2400" dirty="0"/>
              <a:t>Stakeholder Impact:</a:t>
            </a: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
        <p:nvSpPr>
          <p:cNvPr id="6" name="TextBox 5">
            <a:extLst>
              <a:ext uri="{FF2B5EF4-FFF2-40B4-BE49-F238E27FC236}">
                <a16:creationId xmlns:a16="http://schemas.microsoft.com/office/drawing/2014/main" id="{E0FAB231-7F07-9F9A-366D-58A785B874C5}"/>
              </a:ext>
            </a:extLst>
          </p:cNvPr>
          <p:cNvSpPr txBox="1"/>
          <p:nvPr/>
        </p:nvSpPr>
        <p:spPr>
          <a:xfrm>
            <a:off x="787760" y="4405417"/>
            <a:ext cx="6679840" cy="2031325"/>
          </a:xfrm>
          <a:prstGeom prst="rect">
            <a:avLst/>
          </a:prstGeom>
          <a:noFill/>
        </p:spPr>
        <p:txBody>
          <a:bodyPr wrap="square" rtlCol="0">
            <a:spAutoFit/>
          </a:bodyPr>
          <a:lstStyle/>
          <a:p>
            <a:pPr marL="1200150" lvl="2" indent="-285750">
              <a:lnSpc>
                <a:spcPct val="150000"/>
              </a:lnSpc>
              <a:buFont typeface="Arial" panose="020B0604020202020204" pitchFamily="34" charset="0"/>
              <a:buChar char="•"/>
            </a:pPr>
            <a:endParaRPr lang="en-GB" sz="1800" dirty="0"/>
          </a:p>
          <a:p>
            <a:pPr marL="1200150" lvl="2" indent="-285750">
              <a:lnSpc>
                <a:spcPct val="150000"/>
              </a:lnSpc>
              <a:buFont typeface="Arial" panose="020B0604020202020204" pitchFamily="34" charset="0"/>
              <a:buChar char="•"/>
            </a:pPr>
            <a:r>
              <a:rPr lang="en-GB" sz="1800" dirty="0"/>
              <a:t>Environmental agencies                                                           </a:t>
            </a:r>
          </a:p>
          <a:p>
            <a:pPr marL="1200150" lvl="2" indent="-285750">
              <a:lnSpc>
                <a:spcPct val="150000"/>
              </a:lnSpc>
              <a:buFont typeface="Arial" panose="020B0604020202020204" pitchFamily="34" charset="0"/>
              <a:buChar char="•"/>
            </a:pPr>
            <a:r>
              <a:rPr lang="en-GB" sz="1800" dirty="0"/>
              <a:t>Local governments</a:t>
            </a:r>
          </a:p>
          <a:p>
            <a:pPr marL="1200150" lvl="2" indent="-285750">
              <a:lnSpc>
                <a:spcPct val="150000"/>
              </a:lnSpc>
              <a:buFont typeface="Arial" panose="020B0604020202020204" pitchFamily="34" charset="0"/>
              <a:buChar char="•"/>
            </a:pPr>
            <a:r>
              <a:rPr lang="en-GB" dirty="0"/>
              <a:t>Health Management</a:t>
            </a:r>
            <a:endParaRPr lang="en-GB" sz="1800" dirty="0"/>
          </a:p>
          <a:p>
            <a:endParaRPr lang="en-GB" dirty="0"/>
          </a:p>
        </p:txBody>
      </p:sp>
      <p:sp>
        <p:nvSpPr>
          <p:cNvPr id="5" name="Date Placeholder 4">
            <a:extLst>
              <a:ext uri="{FF2B5EF4-FFF2-40B4-BE49-F238E27FC236}">
                <a16:creationId xmlns:a16="http://schemas.microsoft.com/office/drawing/2014/main" id="{A3B172BA-7A6B-ABE7-7E83-23C05461A839}"/>
              </a:ext>
            </a:extLst>
          </p:cNvPr>
          <p:cNvSpPr>
            <a:spLocks noGrp="1"/>
          </p:cNvSpPr>
          <p:nvPr>
            <p:ph type="dt" sz="half" idx="6"/>
          </p:nvPr>
        </p:nvSpPr>
        <p:spPr>
          <a:xfrm>
            <a:off x="381445" y="6562343"/>
            <a:ext cx="3886834" cy="177800"/>
          </a:xfrm>
        </p:spPr>
        <p:txBody>
          <a:bodyPr/>
          <a:lstStyle/>
          <a:p>
            <a:pPr marL="12700">
              <a:lnSpc>
                <a:spcPts val="1240"/>
              </a:lnSpc>
            </a:pPr>
            <a:fld id="{340248E7-FDF0-4EF1-BA90-BEF3560D0C4C}" type="datetime1">
              <a:rPr lang="LID4096" spc="-5" smtClean="0"/>
              <a:t>01/23/2025</a:t>
            </a:fld>
            <a:endParaRPr lang="en-GB" spc="-5" dirty="0"/>
          </a:p>
        </p:txBody>
      </p:sp>
      <p:sp>
        <p:nvSpPr>
          <p:cNvPr id="8" name="TextBox 7">
            <a:extLst>
              <a:ext uri="{FF2B5EF4-FFF2-40B4-BE49-F238E27FC236}">
                <a16:creationId xmlns:a16="http://schemas.microsoft.com/office/drawing/2014/main" id="{2DCC4862-0494-D9F4-5C43-BF175998B400}"/>
              </a:ext>
            </a:extLst>
          </p:cNvPr>
          <p:cNvSpPr txBox="1"/>
          <p:nvPr/>
        </p:nvSpPr>
        <p:spPr>
          <a:xfrm>
            <a:off x="4800600" y="4404087"/>
            <a:ext cx="2367956" cy="1200329"/>
          </a:xfrm>
          <a:prstGeom prst="rect">
            <a:avLst/>
          </a:prstGeom>
          <a:noFill/>
        </p:spPr>
        <p:txBody>
          <a:bodyPr wrap="none" rtlCol="0">
            <a:spAutoFit/>
          </a:bodyPr>
          <a:lstStyle/>
          <a:p>
            <a:pPr marL="1200150" lvl="2" indent="-285750">
              <a:lnSpc>
                <a:spcPct val="150000"/>
              </a:lnSpc>
              <a:buFont typeface="Arial" panose="020B0604020202020204" pitchFamily="34" charset="0"/>
              <a:buChar char="•"/>
            </a:pPr>
            <a:r>
              <a:rPr lang="en-GB" sz="1800" dirty="0"/>
              <a:t>Industries</a:t>
            </a:r>
          </a:p>
          <a:p>
            <a:pPr marL="1200150" lvl="2" indent="-285750">
              <a:lnSpc>
                <a:spcPct val="150000"/>
              </a:lnSpc>
              <a:buFont typeface="Arial" panose="020B0604020202020204" pitchFamily="34" charset="0"/>
              <a:buChar char="•"/>
            </a:pPr>
            <a:r>
              <a:rPr lang="en-GB" sz="1800" dirty="0"/>
              <a:t>The public</a:t>
            </a:r>
          </a:p>
          <a:p>
            <a:endParaRPr lang="en-GB" dirty="0"/>
          </a:p>
        </p:txBody>
      </p:sp>
    </p:spTree>
    <p:extLst>
      <p:ext uri="{BB962C8B-B14F-4D97-AF65-F5344CB8AC3E}">
        <p14:creationId xmlns:p14="http://schemas.microsoft.com/office/powerpoint/2010/main" val="320823830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45613"/>
            <a:ext cx="6933565" cy="695960"/>
          </a:xfrm>
          <a:prstGeom prst="rect">
            <a:avLst/>
          </a:prstGeom>
        </p:spPr>
        <p:txBody>
          <a:bodyPr vert="horz" wrap="square" lIns="0" tIns="12700" rIns="0" bIns="0" rtlCol="0">
            <a:spAutoFit/>
          </a:bodyPr>
          <a:lstStyle/>
          <a:p>
            <a:pPr marL="12700">
              <a:lnSpc>
                <a:spcPct val="100000"/>
              </a:lnSpc>
              <a:spcBef>
                <a:spcPts val="100"/>
              </a:spcBef>
            </a:pPr>
            <a:r>
              <a:rPr sz="4400" spc="-5" dirty="0"/>
              <a:t>Literature</a:t>
            </a:r>
            <a:r>
              <a:rPr sz="4400" spc="-90" dirty="0"/>
              <a:t> </a:t>
            </a:r>
            <a:r>
              <a:rPr sz="4400" spc="-5" dirty="0"/>
              <a:t>Revie</a:t>
            </a:r>
            <a:r>
              <a:rPr lang="en-US" sz="4400" spc="-5" dirty="0"/>
              <a:t>w:</a:t>
            </a:r>
            <a:endParaRPr sz="4400" dirty="0"/>
          </a:p>
        </p:txBody>
      </p:sp>
      <p:sp>
        <p:nvSpPr>
          <p:cNvPr id="3" name="object 3"/>
          <p:cNvSpPr txBox="1"/>
          <p:nvPr/>
        </p:nvSpPr>
        <p:spPr>
          <a:xfrm>
            <a:off x="964547" y="1718335"/>
            <a:ext cx="9741535" cy="528350"/>
          </a:xfrm>
          <a:prstGeom prst="rect">
            <a:avLst/>
          </a:prstGeom>
        </p:spPr>
        <p:txBody>
          <a:bodyPr vert="horz" wrap="square" lIns="0" tIns="96520" rIns="0" bIns="0" rtlCol="0">
            <a:spAutoFit/>
          </a:bodyPr>
          <a:lstStyle/>
          <a:p>
            <a:pPr marL="187960" indent="-175895">
              <a:lnSpc>
                <a:spcPct val="100000"/>
              </a:lnSpc>
              <a:spcBef>
                <a:spcPts val="760"/>
              </a:spcBef>
              <a:buFont typeface="Arial"/>
              <a:buChar char="•"/>
              <a:tabLst>
                <a:tab pos="188595" algn="l"/>
              </a:tabLst>
            </a:pPr>
            <a:endParaRPr sz="2800" dirty="0">
              <a:latin typeface="Calibri"/>
              <a:cs typeface="Calibri"/>
            </a:endParaRPr>
          </a:p>
        </p:txBody>
      </p:sp>
      <p:pic>
        <p:nvPicPr>
          <p:cNvPr id="4" name="object 4"/>
          <p:cNvPicPr/>
          <p:nvPr/>
        </p:nvPicPr>
        <p:blipFill>
          <a:blip r:embed="rId2" cstate="print"/>
          <a:stretch>
            <a:fillRect/>
          </a:stretch>
        </p:blipFill>
        <p:spPr>
          <a:xfrm>
            <a:off x="10753707" y="154153"/>
            <a:ext cx="1056708" cy="106504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pic>
        <p:nvPicPr>
          <p:cNvPr id="8" name="Picture 7">
            <a:extLst>
              <a:ext uri="{FF2B5EF4-FFF2-40B4-BE49-F238E27FC236}">
                <a16:creationId xmlns:a16="http://schemas.microsoft.com/office/drawing/2014/main" id="{C670976E-5787-EC06-32D0-9F9CA6AF8368}"/>
              </a:ext>
            </a:extLst>
          </p:cNvPr>
          <p:cNvPicPr>
            <a:picLocks noChangeAspect="1"/>
          </p:cNvPicPr>
          <p:nvPr/>
        </p:nvPicPr>
        <p:blipFill>
          <a:blip r:embed="rId3"/>
          <a:stretch>
            <a:fillRect/>
          </a:stretch>
        </p:blipFill>
        <p:spPr>
          <a:xfrm>
            <a:off x="619107" y="1066800"/>
            <a:ext cx="10134600" cy="5285676"/>
          </a:xfrm>
          <a:prstGeom prst="rect">
            <a:avLst/>
          </a:prstGeom>
        </p:spPr>
      </p:pic>
      <p:sp>
        <p:nvSpPr>
          <p:cNvPr id="9" name="Date Placeholder 8">
            <a:extLst>
              <a:ext uri="{FF2B5EF4-FFF2-40B4-BE49-F238E27FC236}">
                <a16:creationId xmlns:a16="http://schemas.microsoft.com/office/drawing/2014/main" id="{051A7F9E-55DD-6480-BB6C-7350A07CD7FD}"/>
              </a:ext>
            </a:extLst>
          </p:cNvPr>
          <p:cNvSpPr>
            <a:spLocks noGrp="1"/>
          </p:cNvSpPr>
          <p:nvPr>
            <p:ph type="dt" sz="half" idx="6"/>
          </p:nvPr>
        </p:nvSpPr>
        <p:spPr>
          <a:xfrm>
            <a:off x="533400" y="6482585"/>
            <a:ext cx="3886834" cy="177800"/>
          </a:xfrm>
        </p:spPr>
        <p:txBody>
          <a:bodyPr/>
          <a:lstStyle/>
          <a:p>
            <a:pPr marL="12700">
              <a:lnSpc>
                <a:spcPts val="1240"/>
              </a:lnSpc>
            </a:pPr>
            <a:fld id="{53C9D867-B4FA-4A75-8F6D-C3D87AA43B3C}" type="datetime1">
              <a:rPr lang="LID4096" spc="-5" smtClean="0"/>
              <a:t>01/23/2025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62F0-4421-3D72-FBC3-312197892A27}"/>
              </a:ext>
            </a:extLst>
          </p:cNvPr>
          <p:cNvSpPr>
            <a:spLocks noGrp="1"/>
          </p:cNvSpPr>
          <p:nvPr>
            <p:ph type="title"/>
          </p:nvPr>
        </p:nvSpPr>
        <p:spPr>
          <a:xfrm flipH="1">
            <a:off x="11430000" y="425719"/>
            <a:ext cx="2426981" cy="615553"/>
          </a:xfrm>
        </p:spPr>
        <p:txBody>
          <a:bodyPr/>
          <a:lstStyle/>
          <a:p>
            <a:r>
              <a:rPr lang="en-GB" dirty="0"/>
              <a:t> </a:t>
            </a:r>
          </a:p>
        </p:txBody>
      </p:sp>
      <p:sp>
        <p:nvSpPr>
          <p:cNvPr id="3" name="Text Placeholder 2">
            <a:extLst>
              <a:ext uri="{FF2B5EF4-FFF2-40B4-BE49-F238E27FC236}">
                <a16:creationId xmlns:a16="http://schemas.microsoft.com/office/drawing/2014/main" id="{4791C11D-EC5A-F464-B983-D045D9F060D1}"/>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A9127C6-30C7-139E-CB01-0FD9EF4764D3}"/>
              </a:ext>
            </a:extLst>
          </p:cNvPr>
          <p:cNvSpPr>
            <a:spLocks noGrp="1"/>
          </p:cNvSpPr>
          <p:nvPr>
            <p:ph type="dt" sz="half" idx="6"/>
          </p:nvPr>
        </p:nvSpPr>
        <p:spPr>
          <a:xfrm>
            <a:off x="418783" y="6480110"/>
            <a:ext cx="3886834" cy="177800"/>
          </a:xfrm>
        </p:spPr>
        <p:txBody>
          <a:bodyPr/>
          <a:lstStyle/>
          <a:p>
            <a:pPr marL="12700">
              <a:lnSpc>
                <a:spcPts val="1240"/>
              </a:lnSpc>
            </a:pPr>
            <a:fld id="{4A0551FF-9DF5-46BF-8018-2740A0FD0232}"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1E9DFE71-0FCF-92A5-226C-DE9327FBF094}"/>
              </a:ext>
            </a:extLst>
          </p:cNvPr>
          <p:cNvSpPr>
            <a:spLocks noGrp="1"/>
          </p:cNvSpPr>
          <p:nvPr>
            <p:ph type="sldNum" sz="quarter" idx="7"/>
          </p:nvPr>
        </p:nvSpPr>
        <p:spPr/>
        <p:txBody>
          <a:bodyPr/>
          <a:lstStyle/>
          <a:p>
            <a:pPr marL="38100">
              <a:lnSpc>
                <a:spcPts val="1240"/>
              </a:lnSpc>
            </a:pPr>
            <a:fld id="{81D60167-4931-47E6-BA6A-407CBD079E47}" type="slidenum">
              <a:rPr lang="en-GB" smtClean="0"/>
              <a:t>8</a:t>
            </a:fld>
            <a:endParaRPr lang="en-GB" dirty="0"/>
          </a:p>
        </p:txBody>
      </p:sp>
      <p:graphicFrame>
        <p:nvGraphicFramePr>
          <p:cNvPr id="6" name="Table 5">
            <a:extLst>
              <a:ext uri="{FF2B5EF4-FFF2-40B4-BE49-F238E27FC236}">
                <a16:creationId xmlns:a16="http://schemas.microsoft.com/office/drawing/2014/main" id="{A2BB6835-BB22-9A20-1416-C92608020701}"/>
              </a:ext>
            </a:extLst>
          </p:cNvPr>
          <p:cNvGraphicFramePr>
            <a:graphicFrameLocks noGrp="1"/>
          </p:cNvGraphicFramePr>
          <p:nvPr>
            <p:extLst>
              <p:ext uri="{D42A27DB-BD31-4B8C-83A1-F6EECF244321}">
                <p14:modId xmlns:p14="http://schemas.microsoft.com/office/powerpoint/2010/main" val="495242681"/>
              </p:ext>
            </p:extLst>
          </p:nvPr>
        </p:nvGraphicFramePr>
        <p:xfrm>
          <a:off x="1558778" y="1294225"/>
          <a:ext cx="8839202" cy="1219200"/>
        </p:xfrm>
        <a:graphic>
          <a:graphicData uri="http://schemas.openxmlformats.org/drawingml/2006/table">
            <a:tbl>
              <a:tblPr firstRow="1" bandRow="1">
                <a:tableStyleId>{5C22544A-7EE6-4342-B048-85BDC9FD1C3A}</a:tableStyleId>
              </a:tblPr>
              <a:tblGrid>
                <a:gridCol w="2568894">
                  <a:extLst>
                    <a:ext uri="{9D8B030D-6E8A-4147-A177-3AD203B41FA5}">
                      <a16:colId xmlns:a16="http://schemas.microsoft.com/office/drawing/2014/main" val="1735258546"/>
                    </a:ext>
                  </a:extLst>
                </a:gridCol>
                <a:gridCol w="1325880">
                  <a:extLst>
                    <a:ext uri="{9D8B030D-6E8A-4147-A177-3AD203B41FA5}">
                      <a16:colId xmlns:a16="http://schemas.microsoft.com/office/drawing/2014/main" val="2705408008"/>
                    </a:ext>
                  </a:extLst>
                </a:gridCol>
                <a:gridCol w="1408748">
                  <a:extLst>
                    <a:ext uri="{9D8B030D-6E8A-4147-A177-3AD203B41FA5}">
                      <a16:colId xmlns:a16="http://schemas.microsoft.com/office/drawing/2014/main" val="2246426893"/>
                    </a:ext>
                  </a:extLst>
                </a:gridCol>
                <a:gridCol w="1740218">
                  <a:extLst>
                    <a:ext uri="{9D8B030D-6E8A-4147-A177-3AD203B41FA5}">
                      <a16:colId xmlns:a16="http://schemas.microsoft.com/office/drawing/2014/main" val="2409495278"/>
                    </a:ext>
                  </a:extLst>
                </a:gridCol>
                <a:gridCol w="1795462">
                  <a:extLst>
                    <a:ext uri="{9D8B030D-6E8A-4147-A177-3AD203B41FA5}">
                      <a16:colId xmlns:a16="http://schemas.microsoft.com/office/drawing/2014/main" val="1966146454"/>
                    </a:ext>
                  </a:extLst>
                </a:gridCol>
              </a:tblGrid>
              <a:tr h="397218">
                <a:tc rowSpan="2">
                  <a:txBody>
                    <a:bodyPr/>
                    <a:lstStyle/>
                    <a:p>
                      <a:pPr algn="l"/>
                      <a:r>
                        <a:rPr lang="en-GB" sz="1800" dirty="0">
                          <a:solidFill>
                            <a:schemeClr val="bg1"/>
                          </a:solidFill>
                        </a:rPr>
                        <a:t>Functionality</a:t>
                      </a:r>
                    </a:p>
                  </a:txBody>
                  <a:tcPr/>
                </a:tc>
                <a:tc>
                  <a:txBody>
                    <a:bodyPr/>
                    <a:lstStyle/>
                    <a:p>
                      <a:pPr algn="l"/>
                      <a:r>
                        <a:rPr lang="en-GB" dirty="0"/>
                        <a:t>Proposed System</a:t>
                      </a:r>
                    </a:p>
                  </a:txBody>
                  <a:tcPr/>
                </a:tc>
                <a:tc gridSpan="3">
                  <a:txBody>
                    <a:bodyPr/>
                    <a:lstStyle/>
                    <a:p>
                      <a:pPr algn="ctr"/>
                      <a:r>
                        <a:rPr lang="en-GB" dirty="0"/>
                        <a:t>Existing System</a:t>
                      </a:r>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03429551"/>
                  </a:ext>
                </a:extLst>
              </a:tr>
              <a:tr h="359388">
                <a:tc vMerge="1">
                  <a:txBody>
                    <a:bodyPr/>
                    <a:lstStyle/>
                    <a:p>
                      <a:endParaRPr lang="en-GB"/>
                    </a:p>
                  </a:txBody>
                  <a:tcPr/>
                </a:tc>
                <a:tc>
                  <a:txBody>
                    <a:bodyPr/>
                    <a:lstStyle/>
                    <a:p>
                      <a:pPr algn="ctr">
                        <a:lnSpc>
                          <a:spcPct val="150000"/>
                        </a:lnSpc>
                      </a:pPr>
                      <a:r>
                        <a:rPr lang="en-GB" sz="1600" b="1" dirty="0">
                          <a:solidFill>
                            <a:schemeClr val="tx1"/>
                          </a:solidFill>
                        </a:rPr>
                        <a:t>AQIM</a:t>
                      </a:r>
                    </a:p>
                  </a:txBody>
                  <a:tcPr/>
                </a:tc>
                <a:tc>
                  <a:txBody>
                    <a:bodyPr/>
                    <a:lstStyle/>
                    <a:p>
                      <a:pPr lvl="0" algn="ctr"/>
                      <a:r>
                        <a:rPr lang="en-GB" sz="1600" b="1" dirty="0"/>
                        <a:t>System 1</a:t>
                      </a:r>
                    </a:p>
                    <a:p>
                      <a:pPr lvl="0" algn="ctr"/>
                      <a:r>
                        <a:rPr lang="en-GB" sz="1600" b="1" dirty="0"/>
                        <a:t>(2020)</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(2022)</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(2023)</a:t>
                      </a:r>
                    </a:p>
                  </a:txBody>
                  <a:tcPr/>
                </a:tc>
                <a:extLst>
                  <a:ext uri="{0D108BD9-81ED-4DB2-BD59-A6C34878D82A}">
                    <a16:rowId xmlns:a16="http://schemas.microsoft.com/office/drawing/2014/main" val="954952394"/>
                  </a:ext>
                </a:extLst>
              </a:tr>
            </a:tbl>
          </a:graphicData>
        </a:graphic>
      </p:graphicFrame>
      <p:graphicFrame>
        <p:nvGraphicFramePr>
          <p:cNvPr id="9" name="Table 8">
            <a:extLst>
              <a:ext uri="{FF2B5EF4-FFF2-40B4-BE49-F238E27FC236}">
                <a16:creationId xmlns:a16="http://schemas.microsoft.com/office/drawing/2014/main" id="{0DE96F3A-1D69-C484-0291-C4A2890EFED8}"/>
              </a:ext>
            </a:extLst>
          </p:cNvPr>
          <p:cNvGraphicFramePr>
            <a:graphicFrameLocks noGrp="1"/>
          </p:cNvGraphicFramePr>
          <p:nvPr>
            <p:extLst>
              <p:ext uri="{D42A27DB-BD31-4B8C-83A1-F6EECF244321}">
                <p14:modId xmlns:p14="http://schemas.microsoft.com/office/powerpoint/2010/main" val="2134704233"/>
              </p:ext>
            </p:extLst>
          </p:nvPr>
        </p:nvGraphicFramePr>
        <p:xfrm>
          <a:off x="1558780" y="2526260"/>
          <a:ext cx="8839200" cy="3860469"/>
        </p:xfrm>
        <a:graphic>
          <a:graphicData uri="http://schemas.openxmlformats.org/drawingml/2006/table">
            <a:tbl>
              <a:tblPr bandRow="1">
                <a:tableStyleId>{5C22544A-7EE6-4342-B048-85BDC9FD1C3A}</a:tableStyleId>
              </a:tblPr>
              <a:tblGrid>
                <a:gridCol w="2568892">
                  <a:extLst>
                    <a:ext uri="{9D8B030D-6E8A-4147-A177-3AD203B41FA5}">
                      <a16:colId xmlns:a16="http://schemas.microsoft.com/office/drawing/2014/main" val="1186996919"/>
                    </a:ext>
                  </a:extLst>
                </a:gridCol>
                <a:gridCol w="1574483">
                  <a:extLst>
                    <a:ext uri="{9D8B030D-6E8A-4147-A177-3AD203B41FA5}">
                      <a16:colId xmlns:a16="http://schemas.microsoft.com/office/drawing/2014/main" val="2458733133"/>
                    </a:ext>
                  </a:extLst>
                </a:gridCol>
                <a:gridCol w="1160145">
                  <a:extLst>
                    <a:ext uri="{9D8B030D-6E8A-4147-A177-3AD203B41FA5}">
                      <a16:colId xmlns:a16="http://schemas.microsoft.com/office/drawing/2014/main" val="2960493634"/>
                    </a:ext>
                  </a:extLst>
                </a:gridCol>
                <a:gridCol w="1767840">
                  <a:extLst>
                    <a:ext uri="{9D8B030D-6E8A-4147-A177-3AD203B41FA5}">
                      <a16:colId xmlns:a16="http://schemas.microsoft.com/office/drawing/2014/main" val="3172901527"/>
                    </a:ext>
                  </a:extLst>
                </a:gridCol>
                <a:gridCol w="1767840">
                  <a:extLst>
                    <a:ext uri="{9D8B030D-6E8A-4147-A177-3AD203B41FA5}">
                      <a16:colId xmlns:a16="http://schemas.microsoft.com/office/drawing/2014/main" val="1788498870"/>
                    </a:ext>
                  </a:extLst>
                </a:gridCol>
              </a:tblGrid>
              <a:tr h="362334">
                <a:tc>
                  <a:txBody>
                    <a:bodyPr/>
                    <a:lstStyle/>
                    <a:p>
                      <a:r>
                        <a:rPr lang="en-GB" sz="1800" dirty="0"/>
                        <a:t>Real-time monitoring</a:t>
                      </a:r>
                    </a:p>
                  </a:txBody>
                  <a:tcPr/>
                </a:tc>
                <a:tc>
                  <a:txBody>
                    <a:bodyPr/>
                    <a:lstStyle/>
                    <a:p>
                      <a:pPr algn="ctr"/>
                      <a:r>
                        <a:rPr lang="en-GB" sz="1600" b="1" dirty="0"/>
                        <a:t>Yes</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2834761536"/>
                  </a:ext>
                </a:extLst>
              </a:tr>
              <a:tr h="369482">
                <a:tc>
                  <a:txBody>
                    <a:bodyPr/>
                    <a:lstStyle/>
                    <a:p>
                      <a:r>
                        <a:rPr lang="en-GB" sz="1800" dirty="0"/>
                        <a:t>Data Accuracy</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tc>
                  <a:txBody>
                    <a:bodyPr/>
                    <a:lstStyle/>
                    <a:p>
                      <a:pPr algn="ctr"/>
                      <a:r>
                        <a:rPr lang="en-GB" sz="1600" b="1" dirty="0"/>
                        <a:t>Medium</a:t>
                      </a:r>
                    </a:p>
                  </a:txBody>
                  <a:tcPr/>
                </a:tc>
                <a:extLst>
                  <a:ext uri="{0D108BD9-81ED-4DB2-BD59-A6C34878D82A}">
                    <a16:rowId xmlns:a16="http://schemas.microsoft.com/office/drawing/2014/main" val="2867023915"/>
                  </a:ext>
                </a:extLst>
              </a:tr>
              <a:tr h="369482">
                <a:tc>
                  <a:txBody>
                    <a:bodyPr/>
                    <a:lstStyle/>
                    <a:p>
                      <a:r>
                        <a:rPr lang="en-GB" sz="1800" dirty="0"/>
                        <a:t>Ease of use</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3099669292"/>
                  </a:ext>
                </a:extLst>
              </a:tr>
              <a:tr h="369482">
                <a:tc>
                  <a:txBody>
                    <a:bodyPr/>
                    <a:lstStyle/>
                    <a:p>
                      <a:r>
                        <a:rPr lang="en-GB" sz="1800" dirty="0"/>
                        <a:t>Security</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2148807272"/>
                  </a:ext>
                </a:extLst>
              </a:tr>
              <a:tr h="637737">
                <a:tc>
                  <a:txBody>
                    <a:bodyPr/>
                    <a:lstStyle/>
                    <a:p>
                      <a:r>
                        <a:rPr lang="en-GB" sz="1800" dirty="0"/>
                        <a:t>Alerts and Notification</a:t>
                      </a:r>
                    </a:p>
                  </a:txBody>
                  <a:tcPr/>
                </a:tc>
                <a:tc>
                  <a:txBody>
                    <a:bodyPr/>
                    <a:lstStyle/>
                    <a:p>
                      <a:pPr algn="ctr"/>
                      <a:r>
                        <a:rPr lang="en-GB" sz="1600" b="1" dirty="0"/>
                        <a:t>Multiple Sensors</a:t>
                      </a:r>
                    </a:p>
                  </a:txBody>
                  <a:tcPr/>
                </a:tc>
                <a:tc>
                  <a:txBody>
                    <a:bodyPr/>
                    <a:lstStyle/>
                    <a:p>
                      <a:pPr algn="ctr"/>
                      <a:r>
                        <a:rPr lang="en-GB" sz="1600" b="1" dirty="0"/>
                        <a:t>Single Sensor</a:t>
                      </a:r>
                    </a:p>
                  </a:txBody>
                  <a:tcPr/>
                </a:tc>
                <a:tc>
                  <a:txBody>
                    <a:bodyPr/>
                    <a:lstStyle/>
                    <a:p>
                      <a:pPr algn="ctr"/>
                      <a:r>
                        <a:rPr lang="en-GB" sz="1600" b="1" dirty="0"/>
                        <a:t>Single Sensor</a:t>
                      </a:r>
                    </a:p>
                  </a:txBody>
                  <a:tcPr/>
                </a:tc>
                <a:tc>
                  <a:txBody>
                    <a:bodyPr/>
                    <a:lstStyle/>
                    <a:p>
                      <a:pPr algn="ctr"/>
                      <a:r>
                        <a:rPr lang="en-GB" sz="1600" b="1" dirty="0"/>
                        <a:t>Multiple Sensors</a:t>
                      </a:r>
                    </a:p>
                  </a:txBody>
                  <a:tcPr/>
                </a:tc>
                <a:extLst>
                  <a:ext uri="{0D108BD9-81ED-4DB2-BD59-A6C34878D82A}">
                    <a16:rowId xmlns:a16="http://schemas.microsoft.com/office/drawing/2014/main" val="812906036"/>
                  </a:ext>
                </a:extLst>
              </a:tr>
              <a:tr h="369482">
                <a:tc>
                  <a:txBody>
                    <a:bodyPr/>
                    <a:lstStyle/>
                    <a:p>
                      <a:r>
                        <a:rPr lang="en-GB" sz="1800" dirty="0"/>
                        <a:t>Historical Data Analysis</a:t>
                      </a:r>
                    </a:p>
                  </a:txBody>
                  <a:tcPr/>
                </a:tc>
                <a:tc>
                  <a:txBody>
                    <a:bodyPr/>
                    <a:lstStyle/>
                    <a:p>
                      <a:pPr algn="ctr"/>
                      <a:r>
                        <a:rPr lang="en-GB" sz="1600" b="1" dirty="0"/>
                        <a:t>Yes</a:t>
                      </a:r>
                    </a:p>
                  </a:txBody>
                  <a:tcPr/>
                </a:tc>
                <a:tc>
                  <a:txBody>
                    <a:bodyPr/>
                    <a:lstStyle/>
                    <a:p>
                      <a:pPr algn="ctr"/>
                      <a:r>
                        <a:rPr lang="en-GB" sz="1600" b="1"/>
                        <a:t>No</a:t>
                      </a:r>
                      <a:endParaRPr lang="en-GB" sz="1600" b="1" dirty="0"/>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3190559512"/>
                  </a:ext>
                </a:extLst>
              </a:tr>
              <a:tr h="369482">
                <a:tc>
                  <a:txBody>
                    <a:bodyPr/>
                    <a:lstStyle/>
                    <a:p>
                      <a:r>
                        <a:rPr lang="en-GB" sz="1800" dirty="0"/>
                        <a:t>Cost Efficiency</a:t>
                      </a:r>
                    </a:p>
                  </a:txBody>
                  <a:tcPr/>
                </a:tc>
                <a:tc>
                  <a:txBody>
                    <a:bodyPr/>
                    <a:lstStyle/>
                    <a:p>
                      <a:pPr algn="ctr"/>
                      <a:endParaRPr lang="en-GB" sz="1600" b="1"/>
                    </a:p>
                  </a:txBody>
                  <a:tcPr/>
                </a:tc>
                <a:tc>
                  <a:txBody>
                    <a:bodyPr/>
                    <a:lstStyle/>
                    <a:p>
                      <a:pPr algn="ctr"/>
                      <a:r>
                        <a:rPr lang="en-GB" sz="1600" b="1" dirty="0"/>
                        <a:t>High</a:t>
                      </a:r>
                    </a:p>
                  </a:txBody>
                  <a:tcPr/>
                </a:tc>
                <a:tc>
                  <a:txBody>
                    <a:bodyPr/>
                    <a:lstStyle/>
                    <a:p>
                      <a:pPr algn="ctr"/>
                      <a:r>
                        <a:rPr lang="en-GB" sz="1600" b="1"/>
                        <a:t>Medium</a:t>
                      </a:r>
                    </a:p>
                  </a:txBody>
                  <a:tcPr/>
                </a:tc>
                <a:tc>
                  <a:txBody>
                    <a:bodyPr/>
                    <a:lstStyle/>
                    <a:p>
                      <a:pPr algn="ctr"/>
                      <a:r>
                        <a:rPr lang="en-GB" sz="1600" b="1" dirty="0"/>
                        <a:t>Low</a:t>
                      </a:r>
                    </a:p>
                  </a:txBody>
                  <a:tcPr/>
                </a:tc>
                <a:extLst>
                  <a:ext uri="{0D108BD9-81ED-4DB2-BD59-A6C34878D82A}">
                    <a16:rowId xmlns:a16="http://schemas.microsoft.com/office/drawing/2014/main" val="3854268561"/>
                  </a:ext>
                </a:extLst>
              </a:tr>
              <a:tr h="369482">
                <a:tc>
                  <a:txBody>
                    <a:bodyPr/>
                    <a:lstStyle/>
                    <a:p>
                      <a:r>
                        <a:rPr lang="en-GB" sz="1800" dirty="0"/>
                        <a:t>Scalability</a:t>
                      </a:r>
                    </a:p>
                  </a:txBody>
                  <a:tcPr/>
                </a:tc>
                <a:tc>
                  <a:txBody>
                    <a:bodyPr/>
                    <a:lstStyle/>
                    <a:p>
                      <a:pPr algn="ctr"/>
                      <a:r>
                        <a:rPr lang="en-GB" sz="1600" b="1" dirty="0"/>
                        <a:t>High</a:t>
                      </a:r>
                    </a:p>
                  </a:txBody>
                  <a:tcPr/>
                </a:tc>
                <a:tc>
                  <a:txBody>
                    <a:bodyPr/>
                    <a:lstStyle/>
                    <a:p>
                      <a:pPr algn="ctr"/>
                      <a:r>
                        <a:rPr lang="en-GB" sz="1600" b="1" dirty="0"/>
                        <a:t>Low</a:t>
                      </a:r>
                    </a:p>
                  </a:txBody>
                  <a:tcPr/>
                </a:tc>
                <a:tc>
                  <a:txBody>
                    <a:bodyPr/>
                    <a:lstStyle/>
                    <a:p>
                      <a:pPr algn="ctr"/>
                      <a:r>
                        <a:rPr lang="en-GB" sz="1600" b="1"/>
                        <a:t>Medium</a:t>
                      </a:r>
                    </a:p>
                  </a:txBody>
                  <a:tcPr/>
                </a:tc>
                <a:tc>
                  <a:txBody>
                    <a:bodyPr/>
                    <a:lstStyle/>
                    <a:p>
                      <a:pPr algn="ctr"/>
                      <a:r>
                        <a:rPr lang="en-GB" sz="1600" b="1" dirty="0"/>
                        <a:t>High</a:t>
                      </a:r>
                    </a:p>
                  </a:txBody>
                  <a:tcPr/>
                </a:tc>
                <a:extLst>
                  <a:ext uri="{0D108BD9-81ED-4DB2-BD59-A6C34878D82A}">
                    <a16:rowId xmlns:a16="http://schemas.microsoft.com/office/drawing/2014/main" val="4283338373"/>
                  </a:ext>
                </a:extLst>
              </a:tr>
              <a:tr h="637737">
                <a:tc>
                  <a:txBody>
                    <a:bodyPr/>
                    <a:lstStyle/>
                    <a:p>
                      <a:r>
                        <a:rPr lang="en-GB" sz="1800" dirty="0"/>
                        <a:t>Maintenance Requirements</a:t>
                      </a:r>
                    </a:p>
                  </a:txBody>
                  <a:tcPr/>
                </a:tc>
                <a:tc>
                  <a:txBody>
                    <a:bodyPr/>
                    <a:lstStyle/>
                    <a:p>
                      <a:pPr algn="ctr"/>
                      <a:r>
                        <a:rPr lang="en-GB" sz="1600" b="1" dirty="0"/>
                        <a:t>Low</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extLst>
                  <a:ext uri="{0D108BD9-81ED-4DB2-BD59-A6C34878D82A}">
                    <a16:rowId xmlns:a16="http://schemas.microsoft.com/office/drawing/2014/main" val="726291378"/>
                  </a:ext>
                </a:extLst>
              </a:tr>
            </a:tbl>
          </a:graphicData>
        </a:graphic>
      </p:graphicFrame>
      <p:sp>
        <p:nvSpPr>
          <p:cNvPr id="11" name="TextBox 10">
            <a:extLst>
              <a:ext uri="{FF2B5EF4-FFF2-40B4-BE49-F238E27FC236}">
                <a16:creationId xmlns:a16="http://schemas.microsoft.com/office/drawing/2014/main" id="{11185FD9-D96C-9B33-B32B-81934F54E065}"/>
              </a:ext>
            </a:extLst>
          </p:cNvPr>
          <p:cNvSpPr txBox="1"/>
          <p:nvPr/>
        </p:nvSpPr>
        <p:spPr>
          <a:xfrm>
            <a:off x="418783" y="358374"/>
            <a:ext cx="5749779" cy="769441"/>
          </a:xfrm>
          <a:prstGeom prst="rect">
            <a:avLst/>
          </a:prstGeom>
          <a:noFill/>
        </p:spPr>
        <p:txBody>
          <a:bodyPr wrap="none" rtlCol="0">
            <a:spAutoFit/>
          </a:bodyPr>
          <a:lstStyle/>
          <a:p>
            <a:r>
              <a:rPr lang="en-GB" sz="4400" dirty="0">
                <a:latin typeface="+mj-lt"/>
              </a:rPr>
              <a:t>Comparison Of Systems:</a:t>
            </a:r>
          </a:p>
        </p:txBody>
      </p:sp>
      <p:pic>
        <p:nvPicPr>
          <p:cNvPr id="12" name="Picture 11">
            <a:extLst>
              <a:ext uri="{FF2B5EF4-FFF2-40B4-BE49-F238E27FC236}">
                <a16:creationId xmlns:a16="http://schemas.microsoft.com/office/drawing/2014/main" id="{A7E014DE-56FA-D6DF-109A-472624CD6F50}"/>
              </a:ext>
            </a:extLst>
          </p:cNvPr>
          <p:cNvPicPr>
            <a:picLocks noChangeAspect="1"/>
          </p:cNvPicPr>
          <p:nvPr/>
        </p:nvPicPr>
        <p:blipFill>
          <a:blip r:embed="rId2"/>
          <a:stretch>
            <a:fillRect/>
          </a:stretch>
        </p:blipFill>
        <p:spPr>
          <a:xfrm>
            <a:off x="10744199" y="217246"/>
            <a:ext cx="1186469" cy="1186469"/>
          </a:xfrm>
          <a:prstGeom prst="rect">
            <a:avLst/>
          </a:prstGeom>
        </p:spPr>
      </p:pic>
    </p:spTree>
    <p:extLst>
      <p:ext uri="{BB962C8B-B14F-4D97-AF65-F5344CB8AC3E}">
        <p14:creationId xmlns:p14="http://schemas.microsoft.com/office/powerpoint/2010/main" val="100005166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t>9</a:t>
            </a:fld>
            <a:endParaRPr lang="en-US" dirty="0"/>
          </a:p>
        </p:txBody>
      </p:sp>
      <p:sp>
        <p:nvSpPr>
          <p:cNvPr id="10" name="Title 1"/>
          <p:cNvSpPr txBox="1">
            <a:spLocks/>
          </p:cNvSpPr>
          <p:nvPr/>
        </p:nvSpPr>
        <p:spPr>
          <a:xfrm>
            <a:off x="762000" y="519997"/>
            <a:ext cx="7924800" cy="623003"/>
          </a:xfrm>
          <a:prstGeom prst="rect">
            <a:avLst/>
          </a:prstGeom>
        </p:spPr>
        <p:txBody>
          <a:bodyPr/>
          <a:lstStyle>
            <a:lvl1pPr>
              <a:defRPr>
                <a:latin typeface="+mj-lt"/>
                <a:ea typeface="+mj-ea"/>
                <a:cs typeface="+mj-cs"/>
              </a:defRPr>
            </a:lvl1pPr>
          </a:lstStyle>
          <a:p>
            <a:r>
              <a:rPr lang="en-US" sz="4000" dirty="0"/>
              <a:t>PROPOSED DESIGN/METHOGOLDY: </a:t>
            </a:r>
            <a:endParaRPr lang="en-US" sz="4000" kern="0" dirty="0">
              <a:solidFill>
                <a:sysClr val="windowText" lastClr="000000"/>
              </a:solidFill>
            </a:endParaRPr>
          </a:p>
        </p:txBody>
      </p:sp>
      <p:sp>
        <p:nvSpPr>
          <p:cNvPr id="11" name="Text Placeholder 2"/>
          <p:cNvSpPr txBox="1">
            <a:spLocks/>
          </p:cNvSpPr>
          <p:nvPr/>
        </p:nvSpPr>
        <p:spPr>
          <a:xfrm>
            <a:off x="762000" y="1225153"/>
            <a:ext cx="10307285" cy="473975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Abstract Design:</a:t>
            </a:r>
            <a:r>
              <a:rPr lang="en-GB" sz="2400" dirty="0">
                <a:latin typeface="Times New Roman" panose="02020603050405020304" pitchFamily="18" charset="0"/>
                <a:cs typeface="Times New Roman" panose="02020603050405020304" pitchFamily="18" charset="0"/>
              </a:rPr>
              <a:t> </a:t>
            </a:r>
          </a:p>
          <a:p>
            <a:pPr algn="just"/>
            <a:r>
              <a:rPr lang="en-GB" sz="2400" dirty="0"/>
              <a:t>     The IoT-based AQI Meter uses advanced real-time air quality monitoring sensors, sending data wirelessly to a cloud platform for reliable analysis.</a:t>
            </a:r>
            <a:endParaRPr lang="en-GB" sz="2800" dirty="0"/>
          </a:p>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Component Level Design:</a:t>
            </a:r>
            <a:r>
              <a:rPr lang="en-GB" sz="2400" dirty="0">
                <a:latin typeface="Times New Roman" panose="02020603050405020304" pitchFamily="18" charset="0"/>
                <a:cs typeface="Times New Roman" panose="02020603050405020304" pitchFamily="18" charset="0"/>
              </a:rPr>
              <a:t> </a:t>
            </a:r>
          </a:p>
          <a:p>
            <a:pPr algn="just"/>
            <a:r>
              <a:rPr lang="en-GB" sz="2400" dirty="0"/>
              <a:t>     The project involves creating sensor modules, microcontrollers, and communication interfaces for effective data acquisition, processing, and transmission.</a:t>
            </a:r>
          </a:p>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SRS Overview:</a:t>
            </a:r>
            <a:r>
              <a:rPr lang="en-GB" sz="2400" dirty="0">
                <a:latin typeface="Times New Roman" panose="02020603050405020304" pitchFamily="18" charset="0"/>
                <a:cs typeface="Times New Roman" panose="02020603050405020304" pitchFamily="18" charset="0"/>
              </a:rPr>
              <a:t> </a:t>
            </a:r>
          </a:p>
          <a:p>
            <a:pPr algn="just"/>
            <a:r>
              <a:rPr lang="en-GB" sz="2400" dirty="0"/>
              <a:t>    The Software Requirements Specification (SRS) outlines the essential functional and non-functional requirements, ensuring accurate pollutant measurement and real-time user alerts.</a:t>
            </a:r>
            <a:endParaRPr lang="en-GB" sz="2800" dirty="0"/>
          </a:p>
        </p:txBody>
      </p:sp>
      <p:sp>
        <p:nvSpPr>
          <p:cNvPr id="13" name="Slide Number Placeholder 4"/>
          <p:cNvSpPr txBox="1">
            <a:spLocks/>
          </p:cNvSpPr>
          <p:nvPr/>
        </p:nvSpPr>
        <p:spPr>
          <a:xfrm>
            <a:off x="11152733" y="6466776"/>
            <a:ext cx="153670" cy="191134"/>
          </a:xfrm>
          <a:prstGeom prst="rect">
            <a:avLst/>
          </a:prstGeom>
        </p:spPr>
        <p:txBody>
          <a:bodyPr wrap="square" lIns="0" tIns="0" rIns="0" bIns="0">
            <a:spAutoFit/>
          </a:bodyPr>
          <a:lstStyle>
            <a:defPPr>
              <a:defRPr lang="en-PK"/>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US" smtClean="0"/>
              <a:pPr marL="38100">
                <a:lnSpc>
                  <a:spcPts val="1240"/>
                </a:lnSpc>
              </a:pPr>
              <a:t>9</a:t>
            </a:fld>
            <a:endParaRPr lang="en-US" dirty="0"/>
          </a:p>
        </p:txBody>
      </p:sp>
      <p:sp>
        <p:nvSpPr>
          <p:cNvPr id="2" name="Date Placeholder 1">
            <a:extLst>
              <a:ext uri="{FF2B5EF4-FFF2-40B4-BE49-F238E27FC236}">
                <a16:creationId xmlns:a16="http://schemas.microsoft.com/office/drawing/2014/main" id="{84C3CCAE-5AB2-A803-620C-3224F3F42552}"/>
              </a:ext>
            </a:extLst>
          </p:cNvPr>
          <p:cNvSpPr>
            <a:spLocks noGrp="1"/>
          </p:cNvSpPr>
          <p:nvPr>
            <p:ph type="dt" sz="half" idx="6"/>
          </p:nvPr>
        </p:nvSpPr>
        <p:spPr/>
        <p:txBody>
          <a:bodyPr/>
          <a:lstStyle/>
          <a:p>
            <a:pPr marL="12700">
              <a:lnSpc>
                <a:spcPts val="1240"/>
              </a:lnSpc>
            </a:pPr>
            <a:fld id="{7713B774-6D85-4A5A-918A-5799941DBD80}" type="datetime1">
              <a:rPr lang="LID4096" spc="-5" smtClean="0"/>
              <a:t>01/23/2025</a:t>
            </a:fld>
            <a:endParaRPr lang="en-GB" spc="-5" dirty="0"/>
          </a:p>
        </p:txBody>
      </p:sp>
      <p:pic>
        <p:nvPicPr>
          <p:cNvPr id="4" name="Picture 3">
            <a:extLst>
              <a:ext uri="{FF2B5EF4-FFF2-40B4-BE49-F238E27FC236}">
                <a16:creationId xmlns:a16="http://schemas.microsoft.com/office/drawing/2014/main" id="{8A9DD6C6-79E5-464F-BA83-706557B1E32F}"/>
              </a:ext>
            </a:extLst>
          </p:cNvPr>
          <p:cNvPicPr>
            <a:picLocks noChangeAspect="1"/>
          </p:cNvPicPr>
          <p:nvPr/>
        </p:nvPicPr>
        <p:blipFill>
          <a:blip r:embed="rId2"/>
          <a:stretch>
            <a:fillRect/>
          </a:stretch>
        </p:blipFill>
        <p:spPr>
          <a:xfrm>
            <a:off x="10835588" y="99576"/>
            <a:ext cx="1188823" cy="1182727"/>
          </a:xfrm>
          <a:prstGeom prst="rect">
            <a:avLst/>
          </a:prstGeom>
        </p:spPr>
      </p:pic>
    </p:spTree>
    <p:extLst>
      <p:ext uri="{BB962C8B-B14F-4D97-AF65-F5344CB8AC3E}">
        <p14:creationId xmlns:p14="http://schemas.microsoft.com/office/powerpoint/2010/main" val="18557993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3D0A-60EC-7F8F-F7A0-CCFE4F32FA7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8FAD162A-D9EA-225E-A1B8-5D319CC92D59}"/>
              </a:ext>
            </a:extLst>
          </p:cNvPr>
          <p:cNvSpPr>
            <a:spLocks noGrp="1"/>
          </p:cNvSpPr>
          <p:nvPr>
            <p:ph type="body" idx="1"/>
          </p:nvPr>
        </p:nvSpPr>
        <p:spPr>
          <a:xfrm>
            <a:off x="942357" y="1802663"/>
            <a:ext cx="10307285" cy="430887"/>
          </a:xfrm>
        </p:spPr>
        <p:txBody>
          <a:bodyPr/>
          <a:lstStyle/>
          <a:p>
            <a:r>
              <a:rPr lang="en-GB" dirty="0"/>
              <a:t>      </a:t>
            </a:r>
          </a:p>
        </p:txBody>
      </p:sp>
      <p:sp>
        <p:nvSpPr>
          <p:cNvPr id="5" name="Slide Number Placeholder 4">
            <a:extLst>
              <a:ext uri="{FF2B5EF4-FFF2-40B4-BE49-F238E27FC236}">
                <a16:creationId xmlns:a16="http://schemas.microsoft.com/office/drawing/2014/main" id="{7D5075FF-78DD-124F-A671-C710C26DA7F3}"/>
              </a:ext>
            </a:extLst>
          </p:cNvPr>
          <p:cNvSpPr>
            <a:spLocks noGrp="1"/>
          </p:cNvSpPr>
          <p:nvPr>
            <p:ph type="sldNum" sz="quarter" idx="7"/>
          </p:nvPr>
        </p:nvSpPr>
        <p:spPr>
          <a:xfrm>
            <a:off x="11152732" y="6466776"/>
            <a:ext cx="582067" cy="391224"/>
          </a:xfrm>
        </p:spPr>
        <p:txBody>
          <a:bodyPr/>
          <a:lstStyle/>
          <a:p>
            <a:pPr marL="38100">
              <a:lnSpc>
                <a:spcPts val="1240"/>
              </a:lnSpc>
            </a:pPr>
            <a:fld id="{81D60167-4931-47E6-BA6A-407CBD079E47}" type="slidenum">
              <a:rPr lang="en-GB" smtClean="0"/>
              <a:t>10</a:t>
            </a:fld>
            <a:endParaRPr lang="en-GB" dirty="0"/>
          </a:p>
        </p:txBody>
      </p:sp>
      <p:sp>
        <p:nvSpPr>
          <p:cNvPr id="7" name="TextBox 6">
            <a:extLst>
              <a:ext uri="{FF2B5EF4-FFF2-40B4-BE49-F238E27FC236}">
                <a16:creationId xmlns:a16="http://schemas.microsoft.com/office/drawing/2014/main" id="{EEC687D5-05E5-C36B-1FB4-36B64AD026E1}"/>
              </a:ext>
            </a:extLst>
          </p:cNvPr>
          <p:cNvSpPr txBox="1"/>
          <p:nvPr/>
        </p:nvSpPr>
        <p:spPr>
          <a:xfrm>
            <a:off x="457200" y="266641"/>
            <a:ext cx="4960204" cy="707886"/>
          </a:xfrm>
          <a:prstGeom prst="rect">
            <a:avLst/>
          </a:prstGeom>
          <a:noFill/>
        </p:spPr>
        <p:txBody>
          <a:bodyPr wrap="none" rtlCol="0">
            <a:spAutoFit/>
          </a:bodyPr>
          <a:lstStyle/>
          <a:p>
            <a:r>
              <a:rPr lang="en-GB" sz="4000" dirty="0">
                <a:latin typeface="+mj-lt"/>
              </a:rPr>
              <a:t>Architecture Diagrams:</a:t>
            </a:r>
          </a:p>
        </p:txBody>
      </p:sp>
      <p:sp>
        <p:nvSpPr>
          <p:cNvPr id="10" name="Date Placeholder 9">
            <a:extLst>
              <a:ext uri="{FF2B5EF4-FFF2-40B4-BE49-F238E27FC236}">
                <a16:creationId xmlns:a16="http://schemas.microsoft.com/office/drawing/2014/main" id="{46E11BE6-B1C9-EFE3-13D7-85EE77129444}"/>
              </a:ext>
            </a:extLst>
          </p:cNvPr>
          <p:cNvSpPr>
            <a:spLocks noGrp="1"/>
          </p:cNvSpPr>
          <p:nvPr>
            <p:ph type="dt" sz="half" idx="6"/>
          </p:nvPr>
        </p:nvSpPr>
        <p:spPr>
          <a:xfrm>
            <a:off x="685800" y="6562278"/>
            <a:ext cx="3886834" cy="177800"/>
          </a:xfrm>
        </p:spPr>
        <p:txBody>
          <a:bodyPr/>
          <a:lstStyle/>
          <a:p>
            <a:pPr marL="12700">
              <a:lnSpc>
                <a:spcPts val="1240"/>
              </a:lnSpc>
            </a:pPr>
            <a:fld id="{06C9D15C-D8F6-408A-AD49-BB2A28646A72}" type="datetime1">
              <a:rPr lang="LID4096" spc="-5" smtClean="0"/>
              <a:t>01/23/2025</a:t>
            </a:fld>
            <a:endParaRPr lang="en-GB" spc="-5" dirty="0"/>
          </a:p>
        </p:txBody>
      </p:sp>
      <p:pic>
        <p:nvPicPr>
          <p:cNvPr id="15" name="Picture 14">
            <a:extLst>
              <a:ext uri="{FF2B5EF4-FFF2-40B4-BE49-F238E27FC236}">
                <a16:creationId xmlns:a16="http://schemas.microsoft.com/office/drawing/2014/main" id="{368605F8-0961-AFFF-29DB-EE80F571849F}"/>
              </a:ext>
            </a:extLst>
          </p:cNvPr>
          <p:cNvPicPr>
            <a:picLocks noChangeAspect="1"/>
          </p:cNvPicPr>
          <p:nvPr/>
        </p:nvPicPr>
        <p:blipFill>
          <a:blip r:embed="rId2"/>
          <a:stretch>
            <a:fillRect/>
          </a:stretch>
        </p:blipFill>
        <p:spPr>
          <a:xfrm>
            <a:off x="10849353" y="234444"/>
            <a:ext cx="1188823" cy="1182727"/>
          </a:xfrm>
          <a:prstGeom prst="rect">
            <a:avLst/>
          </a:prstGeom>
        </p:spPr>
      </p:pic>
      <p:sp>
        <p:nvSpPr>
          <p:cNvPr id="17" name="TextBox 16">
            <a:extLst>
              <a:ext uri="{FF2B5EF4-FFF2-40B4-BE49-F238E27FC236}">
                <a16:creationId xmlns:a16="http://schemas.microsoft.com/office/drawing/2014/main" id="{C6EFA0FD-8248-22B7-AA1E-4320BB8822EB}"/>
              </a:ext>
            </a:extLst>
          </p:cNvPr>
          <p:cNvSpPr txBox="1"/>
          <p:nvPr/>
        </p:nvSpPr>
        <p:spPr>
          <a:xfrm>
            <a:off x="513379" y="974527"/>
            <a:ext cx="7620000" cy="5635517"/>
          </a:xfrm>
          <a:prstGeom prst="rect">
            <a:avLst/>
          </a:prstGeom>
          <a:noFill/>
        </p:spPr>
        <p:txBody>
          <a:bodyPr wrap="square" rtlCol="0">
            <a:spAutoFit/>
          </a:bodyPr>
          <a:lstStyle/>
          <a:p>
            <a:pPr marL="342900" indent="-342900">
              <a:lnSpc>
                <a:spcPct val="150000"/>
              </a:lnSpc>
              <a:buFont typeface="+mj-lt"/>
              <a:buAutoNum type="arabicPeriod"/>
            </a:pPr>
            <a:r>
              <a:rPr lang="en-GB" sz="2800" dirty="0"/>
              <a:t>ESP32</a:t>
            </a:r>
          </a:p>
          <a:p>
            <a:pPr marL="342900" indent="-342900">
              <a:lnSpc>
                <a:spcPct val="150000"/>
              </a:lnSpc>
              <a:buFont typeface="+mj-lt"/>
              <a:buAutoNum type="arabicPeriod"/>
            </a:pPr>
            <a:r>
              <a:rPr lang="en-GB" sz="2800" dirty="0"/>
              <a:t>ESP8266</a:t>
            </a:r>
          </a:p>
          <a:p>
            <a:pPr marL="342900" indent="-342900">
              <a:lnSpc>
                <a:spcPct val="150000"/>
              </a:lnSpc>
              <a:buFont typeface="+mj-lt"/>
              <a:buAutoNum type="arabicPeriod"/>
            </a:pPr>
            <a:r>
              <a:rPr lang="en-GB" sz="2800" dirty="0"/>
              <a:t>Arduino Uno</a:t>
            </a:r>
          </a:p>
          <a:p>
            <a:pPr marL="342900" indent="-342900">
              <a:lnSpc>
                <a:spcPct val="150000"/>
              </a:lnSpc>
              <a:buFont typeface="+mj-lt"/>
              <a:buAutoNum type="arabicPeriod"/>
            </a:pPr>
            <a:r>
              <a:rPr lang="en-GB" sz="2800" dirty="0"/>
              <a:t>PM2.5 &amp; PM10 Sensors</a:t>
            </a:r>
          </a:p>
          <a:p>
            <a:pPr marL="342900" indent="-342900">
              <a:lnSpc>
                <a:spcPct val="150000"/>
              </a:lnSpc>
              <a:buFont typeface="+mj-lt"/>
              <a:buAutoNum type="arabicPeriod"/>
            </a:pPr>
            <a:r>
              <a:rPr lang="en-GB" sz="2800" dirty="0"/>
              <a:t>MQ-Gas Sensors (MQ-05 &amp;MQ-135)</a:t>
            </a:r>
          </a:p>
          <a:p>
            <a:pPr marL="342900" indent="-342900">
              <a:lnSpc>
                <a:spcPct val="150000"/>
              </a:lnSpc>
              <a:buFont typeface="+mj-lt"/>
              <a:buAutoNum type="arabicPeriod"/>
            </a:pPr>
            <a:r>
              <a:rPr lang="en-GB" sz="2800" dirty="0"/>
              <a:t>Weatherproof Housing</a:t>
            </a:r>
          </a:p>
          <a:p>
            <a:pPr marL="342900" indent="-342900">
              <a:lnSpc>
                <a:spcPct val="150000"/>
              </a:lnSpc>
              <a:buFont typeface="+mj-lt"/>
              <a:buAutoNum type="arabicPeriod"/>
            </a:pPr>
            <a:r>
              <a:rPr lang="en-GB" sz="2800" dirty="0"/>
              <a:t>Android Studio &amp; Firebase</a:t>
            </a:r>
          </a:p>
          <a:p>
            <a:pPr marL="342900" indent="-342900">
              <a:lnSpc>
                <a:spcPct val="150000"/>
              </a:lnSpc>
              <a:buFont typeface="+mj-lt"/>
              <a:buAutoNum type="arabicPeriod"/>
            </a:pPr>
            <a:r>
              <a:rPr lang="en-GB" sz="2800" dirty="0"/>
              <a:t>Blynk App</a:t>
            </a:r>
            <a:br>
              <a:rPr lang="en-GB" dirty="0"/>
            </a:br>
            <a:endParaRPr lang="en-GB" dirty="0"/>
          </a:p>
        </p:txBody>
      </p:sp>
    </p:spTree>
    <p:extLst>
      <p:ext uri="{BB962C8B-B14F-4D97-AF65-F5344CB8AC3E}">
        <p14:creationId xmlns:p14="http://schemas.microsoft.com/office/powerpoint/2010/main" val="99974138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A47D-4D6F-16A3-0E7D-BCFD5AA842F0}"/>
              </a:ext>
            </a:extLst>
          </p:cNvPr>
          <p:cNvSpPr>
            <a:spLocks noGrp="1"/>
          </p:cNvSpPr>
          <p:nvPr>
            <p:ph type="title"/>
          </p:nvPr>
        </p:nvSpPr>
        <p:spPr>
          <a:xfrm>
            <a:off x="533400" y="331113"/>
            <a:ext cx="7552239" cy="1292662"/>
          </a:xfrm>
        </p:spPr>
        <p:txBody>
          <a:bodyPr/>
          <a:lstStyle/>
          <a:p>
            <a:r>
              <a:rPr lang="en-GB" sz="4400" dirty="0">
                <a:latin typeface="+mj-lt"/>
              </a:rPr>
              <a:t>ESP32 Diagram:</a:t>
            </a:r>
            <a:br>
              <a:rPr lang="en-GB" sz="4000" dirty="0">
                <a:latin typeface="+mj-lt"/>
              </a:rPr>
            </a:br>
            <a:endParaRPr lang="en-GB" dirty="0"/>
          </a:p>
        </p:txBody>
      </p:sp>
      <p:sp>
        <p:nvSpPr>
          <p:cNvPr id="3" name="Text Placeholder 2">
            <a:extLst>
              <a:ext uri="{FF2B5EF4-FFF2-40B4-BE49-F238E27FC236}">
                <a16:creationId xmlns:a16="http://schemas.microsoft.com/office/drawing/2014/main" id="{3D3A71A1-4489-AFA1-4298-52316D974780}"/>
              </a:ext>
            </a:extLst>
          </p:cNvPr>
          <p:cNvSpPr>
            <a:spLocks noGrp="1"/>
          </p:cNvSpPr>
          <p:nvPr>
            <p:ph type="body" idx="1"/>
          </p:nvPr>
        </p:nvSpPr>
        <p:spPr>
          <a:xfrm>
            <a:off x="6115050" y="2971800"/>
            <a:ext cx="1953243" cy="176150"/>
          </a:xfrm>
        </p:spPr>
        <p:txBody>
          <a:bodyPr/>
          <a:lstStyle/>
          <a:p>
            <a:r>
              <a:rPr lang="en-GB" dirty="0"/>
              <a:t> </a:t>
            </a:r>
          </a:p>
        </p:txBody>
      </p:sp>
      <p:sp>
        <p:nvSpPr>
          <p:cNvPr id="4" name="Date Placeholder 3">
            <a:extLst>
              <a:ext uri="{FF2B5EF4-FFF2-40B4-BE49-F238E27FC236}">
                <a16:creationId xmlns:a16="http://schemas.microsoft.com/office/drawing/2014/main" id="{2F21D34C-395D-D553-AF59-36101B47CC9B}"/>
              </a:ext>
            </a:extLst>
          </p:cNvPr>
          <p:cNvSpPr>
            <a:spLocks noGrp="1"/>
          </p:cNvSpPr>
          <p:nvPr>
            <p:ph type="dt" sz="half" idx="6"/>
          </p:nvPr>
        </p:nvSpPr>
        <p:spPr>
          <a:xfrm>
            <a:off x="533400" y="6504810"/>
            <a:ext cx="3886834" cy="177800"/>
          </a:xfrm>
        </p:spPr>
        <p:txBody>
          <a:bodyPr/>
          <a:lstStyle/>
          <a:p>
            <a:pPr marL="12700">
              <a:lnSpc>
                <a:spcPts val="1240"/>
              </a:lnSpc>
            </a:pPr>
            <a:fld id="{25D5C1E0-21E3-464B-AD13-2014201F9F44}"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E675DB30-0021-F83B-535D-692A6F0A3C93}"/>
              </a:ext>
            </a:extLst>
          </p:cNvPr>
          <p:cNvSpPr>
            <a:spLocks noGrp="1"/>
          </p:cNvSpPr>
          <p:nvPr>
            <p:ph type="sldNum" sz="quarter" idx="7"/>
          </p:nvPr>
        </p:nvSpPr>
        <p:spPr>
          <a:xfrm>
            <a:off x="11152732" y="6466776"/>
            <a:ext cx="353467" cy="215834"/>
          </a:xfrm>
        </p:spPr>
        <p:txBody>
          <a:bodyPr/>
          <a:lstStyle/>
          <a:p>
            <a:pPr marL="38100">
              <a:lnSpc>
                <a:spcPts val="1240"/>
              </a:lnSpc>
            </a:pPr>
            <a:fld id="{81D60167-4931-47E6-BA6A-407CBD079E47}" type="slidenum">
              <a:rPr lang="en-GB" smtClean="0"/>
              <a:t>11</a:t>
            </a:fld>
            <a:endParaRPr lang="en-GB" dirty="0"/>
          </a:p>
        </p:txBody>
      </p:sp>
      <p:pic>
        <p:nvPicPr>
          <p:cNvPr id="7" name="Picture 6">
            <a:extLst>
              <a:ext uri="{FF2B5EF4-FFF2-40B4-BE49-F238E27FC236}">
                <a16:creationId xmlns:a16="http://schemas.microsoft.com/office/drawing/2014/main" id="{B4AAD81B-C8E9-29AD-23FA-35E72BD2D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74861"/>
            <a:ext cx="11277600" cy="4572000"/>
          </a:xfrm>
          <a:prstGeom prst="rect">
            <a:avLst/>
          </a:prstGeom>
        </p:spPr>
      </p:pic>
      <p:pic>
        <p:nvPicPr>
          <p:cNvPr id="8" name="Picture 7">
            <a:extLst>
              <a:ext uri="{FF2B5EF4-FFF2-40B4-BE49-F238E27FC236}">
                <a16:creationId xmlns:a16="http://schemas.microsoft.com/office/drawing/2014/main" id="{C77F9758-087B-E2C6-4505-FC1876F8DE46}"/>
              </a:ext>
            </a:extLst>
          </p:cNvPr>
          <p:cNvPicPr>
            <a:picLocks noChangeAspect="1"/>
          </p:cNvPicPr>
          <p:nvPr/>
        </p:nvPicPr>
        <p:blipFill>
          <a:blip r:embed="rId3"/>
          <a:stretch>
            <a:fillRect/>
          </a:stretch>
        </p:blipFill>
        <p:spPr>
          <a:xfrm>
            <a:off x="10911787" y="82176"/>
            <a:ext cx="1188823" cy="1182727"/>
          </a:xfrm>
          <a:prstGeom prst="rect">
            <a:avLst/>
          </a:prstGeom>
        </p:spPr>
      </p:pic>
    </p:spTree>
    <p:extLst>
      <p:ext uri="{BB962C8B-B14F-4D97-AF65-F5344CB8AC3E}">
        <p14:creationId xmlns:p14="http://schemas.microsoft.com/office/powerpoint/2010/main" val="15012050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B8B9-E258-5204-02D1-7B7A7AF3D82C}"/>
              </a:ext>
            </a:extLst>
          </p:cNvPr>
          <p:cNvSpPr>
            <a:spLocks noGrp="1"/>
          </p:cNvSpPr>
          <p:nvPr>
            <p:ph type="title"/>
          </p:nvPr>
        </p:nvSpPr>
        <p:spPr>
          <a:xfrm>
            <a:off x="381000" y="228783"/>
            <a:ext cx="7467600" cy="677108"/>
          </a:xfrm>
        </p:spPr>
        <p:txBody>
          <a:bodyPr/>
          <a:lstStyle/>
          <a:p>
            <a:r>
              <a:rPr lang="en-GB" sz="4400" dirty="0">
                <a:latin typeface="+mj-lt"/>
              </a:rPr>
              <a:t>ESP8266 Diagram:</a:t>
            </a:r>
            <a:endParaRPr lang="en-GB" sz="4400" dirty="0"/>
          </a:p>
        </p:txBody>
      </p:sp>
      <p:sp>
        <p:nvSpPr>
          <p:cNvPr id="3" name="Text Placeholder 2">
            <a:extLst>
              <a:ext uri="{FF2B5EF4-FFF2-40B4-BE49-F238E27FC236}">
                <a16:creationId xmlns:a16="http://schemas.microsoft.com/office/drawing/2014/main" id="{2CED694A-5623-C30C-2F13-FD8C5DA9AE91}"/>
              </a:ext>
            </a:extLst>
          </p:cNvPr>
          <p:cNvSpPr>
            <a:spLocks noGrp="1"/>
          </p:cNvSpPr>
          <p:nvPr>
            <p:ph type="body" idx="1"/>
          </p:nvPr>
        </p:nvSpPr>
        <p:spPr>
          <a:xfrm>
            <a:off x="942357" y="2133600"/>
            <a:ext cx="1648443" cy="430887"/>
          </a:xfrm>
        </p:spPr>
        <p:txBody>
          <a:bodyPr/>
          <a:lstStyle/>
          <a:p>
            <a:r>
              <a:rPr lang="en-GB" dirty="0"/>
              <a:t>  </a:t>
            </a:r>
          </a:p>
        </p:txBody>
      </p:sp>
      <p:sp>
        <p:nvSpPr>
          <p:cNvPr id="5" name="Slide Number Placeholder 4">
            <a:extLst>
              <a:ext uri="{FF2B5EF4-FFF2-40B4-BE49-F238E27FC236}">
                <a16:creationId xmlns:a16="http://schemas.microsoft.com/office/drawing/2014/main" id="{0A703C43-1EBF-097F-F755-A82CE5AE3612}"/>
              </a:ext>
            </a:extLst>
          </p:cNvPr>
          <p:cNvSpPr>
            <a:spLocks noGrp="1"/>
          </p:cNvSpPr>
          <p:nvPr>
            <p:ph type="sldNum" sz="quarter" idx="7"/>
          </p:nvPr>
        </p:nvSpPr>
        <p:spPr>
          <a:xfrm>
            <a:off x="11152732" y="6466775"/>
            <a:ext cx="353467" cy="211615"/>
          </a:xfrm>
        </p:spPr>
        <p:txBody>
          <a:bodyPr/>
          <a:lstStyle/>
          <a:p>
            <a:pPr marL="38100">
              <a:lnSpc>
                <a:spcPts val="1240"/>
              </a:lnSpc>
            </a:pPr>
            <a:fld id="{81D60167-4931-47E6-BA6A-407CBD079E47}" type="slidenum">
              <a:rPr lang="en-GB" smtClean="0"/>
              <a:t>12</a:t>
            </a:fld>
            <a:endParaRPr lang="en-GB" dirty="0"/>
          </a:p>
        </p:txBody>
      </p:sp>
      <p:sp>
        <p:nvSpPr>
          <p:cNvPr id="8" name="Date Placeholder 7">
            <a:extLst>
              <a:ext uri="{FF2B5EF4-FFF2-40B4-BE49-F238E27FC236}">
                <a16:creationId xmlns:a16="http://schemas.microsoft.com/office/drawing/2014/main" id="{7C5AC172-5143-C1FA-4B28-26CC9762C85B}"/>
              </a:ext>
            </a:extLst>
          </p:cNvPr>
          <p:cNvSpPr>
            <a:spLocks noGrp="1"/>
          </p:cNvSpPr>
          <p:nvPr>
            <p:ph type="dt" sz="half" idx="6"/>
          </p:nvPr>
        </p:nvSpPr>
        <p:spPr>
          <a:xfrm>
            <a:off x="942357" y="6466776"/>
            <a:ext cx="3886834" cy="177800"/>
          </a:xfrm>
        </p:spPr>
        <p:txBody>
          <a:bodyPr/>
          <a:lstStyle/>
          <a:p>
            <a:pPr marL="12700">
              <a:lnSpc>
                <a:spcPts val="1240"/>
              </a:lnSpc>
            </a:pPr>
            <a:fld id="{B8A65F91-F553-4983-9DD7-5DC2987CE34E}" type="datetime1">
              <a:rPr lang="LID4096" spc="-5" smtClean="0"/>
              <a:t>01/23/2025</a:t>
            </a:fld>
            <a:endParaRPr lang="en-GB" spc="-5" dirty="0"/>
          </a:p>
        </p:txBody>
      </p:sp>
      <p:pic>
        <p:nvPicPr>
          <p:cNvPr id="10" name="Picture 9">
            <a:extLst>
              <a:ext uri="{FF2B5EF4-FFF2-40B4-BE49-F238E27FC236}">
                <a16:creationId xmlns:a16="http://schemas.microsoft.com/office/drawing/2014/main" id="{58E05405-BFEC-DBED-0C9F-15F1AED16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84795"/>
            <a:ext cx="11506200" cy="4879276"/>
          </a:xfrm>
          <a:prstGeom prst="rect">
            <a:avLst/>
          </a:prstGeom>
        </p:spPr>
      </p:pic>
      <p:pic>
        <p:nvPicPr>
          <p:cNvPr id="11" name="Picture 10">
            <a:extLst>
              <a:ext uri="{FF2B5EF4-FFF2-40B4-BE49-F238E27FC236}">
                <a16:creationId xmlns:a16="http://schemas.microsoft.com/office/drawing/2014/main" id="{81C7F0A2-C373-5878-127D-32A5C5B88901}"/>
              </a:ext>
            </a:extLst>
          </p:cNvPr>
          <p:cNvPicPr>
            <a:picLocks noChangeAspect="1"/>
          </p:cNvPicPr>
          <p:nvPr/>
        </p:nvPicPr>
        <p:blipFill>
          <a:blip r:embed="rId3"/>
          <a:stretch>
            <a:fillRect/>
          </a:stretch>
        </p:blipFill>
        <p:spPr>
          <a:xfrm>
            <a:off x="10911787" y="179610"/>
            <a:ext cx="1188823" cy="1182727"/>
          </a:xfrm>
          <a:prstGeom prst="rect">
            <a:avLst/>
          </a:prstGeom>
        </p:spPr>
      </p:pic>
    </p:spTree>
    <p:extLst>
      <p:ext uri="{BB962C8B-B14F-4D97-AF65-F5344CB8AC3E}">
        <p14:creationId xmlns:p14="http://schemas.microsoft.com/office/powerpoint/2010/main" val="17403270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1DFD-D6D7-F163-AFAB-5126C5E2D940}"/>
              </a:ext>
            </a:extLst>
          </p:cNvPr>
          <p:cNvSpPr>
            <a:spLocks noGrp="1"/>
          </p:cNvSpPr>
          <p:nvPr>
            <p:ph type="title"/>
          </p:nvPr>
        </p:nvSpPr>
        <p:spPr>
          <a:xfrm>
            <a:off x="457200" y="399915"/>
            <a:ext cx="5486400" cy="677108"/>
          </a:xfrm>
        </p:spPr>
        <p:txBody>
          <a:bodyPr/>
          <a:lstStyle/>
          <a:p>
            <a:r>
              <a:rPr lang="en-GB" sz="4400" dirty="0"/>
              <a:t>Arduino Uno Diagram:</a:t>
            </a:r>
          </a:p>
        </p:txBody>
      </p:sp>
      <p:sp>
        <p:nvSpPr>
          <p:cNvPr id="3" name="Text Placeholder 2">
            <a:extLst>
              <a:ext uri="{FF2B5EF4-FFF2-40B4-BE49-F238E27FC236}">
                <a16:creationId xmlns:a16="http://schemas.microsoft.com/office/drawing/2014/main" id="{F5135254-F290-CEF2-CAC3-B39BD990B8C4}"/>
              </a:ext>
            </a:extLst>
          </p:cNvPr>
          <p:cNvSpPr>
            <a:spLocks noGrp="1"/>
          </p:cNvSpPr>
          <p:nvPr>
            <p:ph type="body" idx="1"/>
          </p:nvPr>
        </p:nvSpPr>
        <p:spPr>
          <a:xfrm>
            <a:off x="3048000" y="3360555"/>
            <a:ext cx="2486643" cy="430887"/>
          </a:xfrm>
        </p:spPr>
        <p:txBody>
          <a:bodyPr/>
          <a:lstStyle/>
          <a:p>
            <a:r>
              <a:rPr lang="en-GB" dirty="0"/>
              <a:t> </a:t>
            </a:r>
          </a:p>
        </p:txBody>
      </p:sp>
      <p:sp>
        <p:nvSpPr>
          <p:cNvPr id="4" name="Date Placeholder 3">
            <a:extLst>
              <a:ext uri="{FF2B5EF4-FFF2-40B4-BE49-F238E27FC236}">
                <a16:creationId xmlns:a16="http://schemas.microsoft.com/office/drawing/2014/main" id="{98292E30-63C4-8109-D7FE-3ED093851BC7}"/>
              </a:ext>
            </a:extLst>
          </p:cNvPr>
          <p:cNvSpPr>
            <a:spLocks noGrp="1"/>
          </p:cNvSpPr>
          <p:nvPr>
            <p:ph type="dt" sz="half" idx="6"/>
          </p:nvPr>
        </p:nvSpPr>
        <p:spPr>
          <a:xfrm>
            <a:off x="762000" y="6466776"/>
            <a:ext cx="3886834" cy="177800"/>
          </a:xfrm>
        </p:spPr>
        <p:txBody>
          <a:bodyPr/>
          <a:lstStyle/>
          <a:p>
            <a:pPr marL="12700">
              <a:lnSpc>
                <a:spcPts val="1240"/>
              </a:lnSpc>
            </a:pPr>
            <a:fld id="{226DA364-CBBC-4D19-856A-5F3444F7AB58}"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643259C0-9D36-A563-5707-D25F17487C77}"/>
              </a:ext>
            </a:extLst>
          </p:cNvPr>
          <p:cNvSpPr>
            <a:spLocks noGrp="1"/>
          </p:cNvSpPr>
          <p:nvPr>
            <p:ph type="sldNum" sz="quarter" idx="7"/>
          </p:nvPr>
        </p:nvSpPr>
        <p:spPr>
          <a:xfrm>
            <a:off x="11152732" y="6466776"/>
            <a:ext cx="277267" cy="177800"/>
          </a:xfrm>
        </p:spPr>
        <p:txBody>
          <a:bodyPr/>
          <a:lstStyle/>
          <a:p>
            <a:pPr marL="38100">
              <a:lnSpc>
                <a:spcPts val="1240"/>
              </a:lnSpc>
            </a:pPr>
            <a:fld id="{81D60167-4931-47E6-BA6A-407CBD079E47}" type="slidenum">
              <a:rPr lang="en-GB" smtClean="0"/>
              <a:t>13</a:t>
            </a:fld>
            <a:endParaRPr lang="en-GB" dirty="0"/>
          </a:p>
        </p:txBody>
      </p:sp>
      <p:pic>
        <p:nvPicPr>
          <p:cNvPr id="10" name="Picture 9">
            <a:extLst>
              <a:ext uri="{FF2B5EF4-FFF2-40B4-BE49-F238E27FC236}">
                <a16:creationId xmlns:a16="http://schemas.microsoft.com/office/drawing/2014/main" id="{D79442EC-BC7D-0C90-5FC6-08A4D540D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8" y="1447800"/>
            <a:ext cx="11506201" cy="4495801"/>
          </a:xfrm>
          <a:prstGeom prst="rect">
            <a:avLst/>
          </a:prstGeom>
        </p:spPr>
      </p:pic>
      <p:pic>
        <p:nvPicPr>
          <p:cNvPr id="11" name="Picture 10">
            <a:extLst>
              <a:ext uri="{FF2B5EF4-FFF2-40B4-BE49-F238E27FC236}">
                <a16:creationId xmlns:a16="http://schemas.microsoft.com/office/drawing/2014/main" id="{B7C2217C-EF1E-A8A3-5390-D4F1E17463E4}"/>
              </a:ext>
            </a:extLst>
          </p:cNvPr>
          <p:cNvPicPr>
            <a:picLocks noChangeAspect="1"/>
          </p:cNvPicPr>
          <p:nvPr/>
        </p:nvPicPr>
        <p:blipFill>
          <a:blip r:embed="rId3"/>
          <a:stretch>
            <a:fillRect/>
          </a:stretch>
        </p:blipFill>
        <p:spPr>
          <a:xfrm>
            <a:off x="10835587" y="147105"/>
            <a:ext cx="1188823" cy="1182727"/>
          </a:xfrm>
          <a:prstGeom prst="rect">
            <a:avLst/>
          </a:prstGeom>
        </p:spPr>
      </p:pic>
    </p:spTree>
    <p:extLst>
      <p:ext uri="{BB962C8B-B14F-4D97-AF65-F5344CB8AC3E}">
        <p14:creationId xmlns:p14="http://schemas.microsoft.com/office/powerpoint/2010/main" val="302575406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F961-4A70-901F-94D1-6082980C9E70}"/>
              </a:ext>
            </a:extLst>
          </p:cNvPr>
          <p:cNvSpPr>
            <a:spLocks noGrp="1"/>
          </p:cNvSpPr>
          <p:nvPr>
            <p:ph type="title"/>
          </p:nvPr>
        </p:nvSpPr>
        <p:spPr>
          <a:xfrm>
            <a:off x="609600" y="304801"/>
            <a:ext cx="5257800" cy="677108"/>
          </a:xfrm>
        </p:spPr>
        <p:txBody>
          <a:bodyPr/>
          <a:lstStyle/>
          <a:p>
            <a:r>
              <a:rPr lang="en-GB" sz="4400" dirty="0">
                <a:latin typeface="+mj-lt"/>
              </a:rPr>
              <a:t>PM Sensors Diagram:</a:t>
            </a:r>
          </a:p>
        </p:txBody>
      </p:sp>
      <p:sp>
        <p:nvSpPr>
          <p:cNvPr id="3" name="Text Placeholder 2">
            <a:extLst>
              <a:ext uri="{FF2B5EF4-FFF2-40B4-BE49-F238E27FC236}">
                <a16:creationId xmlns:a16="http://schemas.microsoft.com/office/drawing/2014/main" id="{8E680854-A9A0-04A9-D910-660EC294BC35}"/>
              </a:ext>
            </a:extLst>
          </p:cNvPr>
          <p:cNvSpPr>
            <a:spLocks noGrp="1"/>
          </p:cNvSpPr>
          <p:nvPr>
            <p:ph type="body" idx="1"/>
          </p:nvPr>
        </p:nvSpPr>
        <p:spPr>
          <a:xfrm>
            <a:off x="5791200" y="3348888"/>
            <a:ext cx="1953243" cy="45719"/>
          </a:xfrm>
        </p:spPr>
        <p:txBody>
          <a:bodyPr/>
          <a:lstStyle/>
          <a:p>
            <a:r>
              <a:rPr lang="en-GB" dirty="0"/>
              <a:t>   </a:t>
            </a:r>
          </a:p>
        </p:txBody>
      </p:sp>
      <p:sp>
        <p:nvSpPr>
          <p:cNvPr id="4" name="Date Placeholder 3">
            <a:extLst>
              <a:ext uri="{FF2B5EF4-FFF2-40B4-BE49-F238E27FC236}">
                <a16:creationId xmlns:a16="http://schemas.microsoft.com/office/drawing/2014/main" id="{8225EF6D-0D61-97C1-494A-EEA54D3D6449}"/>
              </a:ext>
            </a:extLst>
          </p:cNvPr>
          <p:cNvSpPr>
            <a:spLocks noGrp="1"/>
          </p:cNvSpPr>
          <p:nvPr>
            <p:ph type="dt" sz="half" idx="6"/>
          </p:nvPr>
        </p:nvSpPr>
        <p:spPr>
          <a:xfrm>
            <a:off x="685800" y="6533768"/>
            <a:ext cx="3886834" cy="177800"/>
          </a:xfrm>
        </p:spPr>
        <p:txBody>
          <a:bodyPr/>
          <a:lstStyle/>
          <a:p>
            <a:pPr marL="12700">
              <a:lnSpc>
                <a:spcPts val="1240"/>
              </a:lnSpc>
            </a:pPr>
            <a:fld id="{72CB6DD3-8190-418F-A1DB-0F19BD910999}"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11299E7A-57C9-56D6-D18E-BE9615C7C4E1}"/>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14</a:t>
            </a:fld>
            <a:endParaRPr lang="en-GB" dirty="0"/>
          </a:p>
        </p:txBody>
      </p:sp>
      <p:pic>
        <p:nvPicPr>
          <p:cNvPr id="10" name="Picture 9">
            <a:extLst>
              <a:ext uri="{FF2B5EF4-FFF2-40B4-BE49-F238E27FC236}">
                <a16:creationId xmlns:a16="http://schemas.microsoft.com/office/drawing/2014/main" id="{61598559-6EC4-8593-868D-B8C7717E7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781" y="1676400"/>
            <a:ext cx="11440438" cy="4638676"/>
          </a:xfrm>
          <a:prstGeom prst="rect">
            <a:avLst/>
          </a:prstGeom>
        </p:spPr>
      </p:pic>
      <p:pic>
        <p:nvPicPr>
          <p:cNvPr id="11" name="Picture 10">
            <a:extLst>
              <a:ext uri="{FF2B5EF4-FFF2-40B4-BE49-F238E27FC236}">
                <a16:creationId xmlns:a16="http://schemas.microsoft.com/office/drawing/2014/main" id="{9D23A19E-F807-C205-1A21-EB40CB0B1D44}"/>
              </a:ext>
            </a:extLst>
          </p:cNvPr>
          <p:cNvPicPr>
            <a:picLocks noChangeAspect="1"/>
          </p:cNvPicPr>
          <p:nvPr/>
        </p:nvPicPr>
        <p:blipFill>
          <a:blip r:embed="rId3"/>
          <a:stretch>
            <a:fillRect/>
          </a:stretch>
        </p:blipFill>
        <p:spPr>
          <a:xfrm>
            <a:off x="10896600" y="146427"/>
            <a:ext cx="1188823" cy="1182727"/>
          </a:xfrm>
          <a:prstGeom prst="rect">
            <a:avLst/>
          </a:prstGeom>
        </p:spPr>
      </p:pic>
    </p:spTree>
    <p:extLst>
      <p:ext uri="{BB962C8B-B14F-4D97-AF65-F5344CB8AC3E}">
        <p14:creationId xmlns:p14="http://schemas.microsoft.com/office/powerpoint/2010/main" val="13086138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367B3-6AEB-B1DF-D2D2-079B8EE10177}"/>
              </a:ext>
            </a:extLst>
          </p:cNvPr>
          <p:cNvSpPr>
            <a:spLocks noGrp="1"/>
          </p:cNvSpPr>
          <p:nvPr>
            <p:ph type="title"/>
          </p:nvPr>
        </p:nvSpPr>
        <p:spPr>
          <a:xfrm>
            <a:off x="417205" y="381000"/>
            <a:ext cx="4802495" cy="615553"/>
          </a:xfrm>
        </p:spPr>
        <p:txBody>
          <a:bodyPr/>
          <a:lstStyle/>
          <a:p>
            <a:r>
              <a:rPr lang="en-GB" sz="4000" dirty="0">
                <a:latin typeface="+mj-lt"/>
              </a:rPr>
              <a:t>MQ Sensors Diagram:</a:t>
            </a:r>
            <a:endParaRPr lang="en-GB" dirty="0"/>
          </a:p>
        </p:txBody>
      </p:sp>
      <p:sp>
        <p:nvSpPr>
          <p:cNvPr id="3" name="Text Placeholder 2">
            <a:extLst>
              <a:ext uri="{FF2B5EF4-FFF2-40B4-BE49-F238E27FC236}">
                <a16:creationId xmlns:a16="http://schemas.microsoft.com/office/drawing/2014/main" id="{F67EAB9A-B7F3-BEC7-3AEA-527F4709B1B7}"/>
              </a:ext>
            </a:extLst>
          </p:cNvPr>
          <p:cNvSpPr>
            <a:spLocks noGrp="1"/>
          </p:cNvSpPr>
          <p:nvPr>
            <p:ph type="body" idx="1"/>
          </p:nvPr>
        </p:nvSpPr>
        <p:spPr>
          <a:xfrm>
            <a:off x="7010400" y="4724400"/>
            <a:ext cx="762000" cy="126087"/>
          </a:xfrm>
        </p:spPr>
        <p:txBody>
          <a:bodyPr/>
          <a:lstStyle/>
          <a:p>
            <a:r>
              <a:rPr lang="en-GB" dirty="0"/>
              <a:t> </a:t>
            </a:r>
          </a:p>
        </p:txBody>
      </p:sp>
      <p:sp>
        <p:nvSpPr>
          <p:cNvPr id="4" name="Date Placeholder 3">
            <a:extLst>
              <a:ext uri="{FF2B5EF4-FFF2-40B4-BE49-F238E27FC236}">
                <a16:creationId xmlns:a16="http://schemas.microsoft.com/office/drawing/2014/main" id="{9A01AB1C-2E63-D815-2CEA-15E03851FB81}"/>
              </a:ext>
            </a:extLst>
          </p:cNvPr>
          <p:cNvSpPr>
            <a:spLocks noGrp="1"/>
          </p:cNvSpPr>
          <p:nvPr>
            <p:ph type="dt" sz="half" idx="6"/>
          </p:nvPr>
        </p:nvSpPr>
        <p:spPr>
          <a:xfrm>
            <a:off x="417205" y="6502666"/>
            <a:ext cx="3886834" cy="177800"/>
          </a:xfrm>
        </p:spPr>
        <p:txBody>
          <a:bodyPr/>
          <a:lstStyle/>
          <a:p>
            <a:pPr marL="12700">
              <a:lnSpc>
                <a:spcPts val="1240"/>
              </a:lnSpc>
            </a:pPr>
            <a:fld id="{7DB435B7-9EDC-4454-AB5E-FA6DD15C2F3A}"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6F0B180B-C9A6-DBC9-82C1-541B61588D8F}"/>
              </a:ext>
            </a:extLst>
          </p:cNvPr>
          <p:cNvSpPr>
            <a:spLocks noGrp="1"/>
          </p:cNvSpPr>
          <p:nvPr>
            <p:ph type="sldNum" sz="quarter" idx="7"/>
          </p:nvPr>
        </p:nvSpPr>
        <p:spPr>
          <a:xfrm>
            <a:off x="11152732" y="6400800"/>
            <a:ext cx="353467" cy="213690"/>
          </a:xfrm>
        </p:spPr>
        <p:txBody>
          <a:bodyPr/>
          <a:lstStyle/>
          <a:p>
            <a:pPr marL="38100">
              <a:lnSpc>
                <a:spcPts val="1240"/>
              </a:lnSpc>
            </a:pPr>
            <a:fld id="{81D60167-4931-47E6-BA6A-407CBD079E47}" type="slidenum">
              <a:rPr lang="en-GB" smtClean="0"/>
              <a:t>15</a:t>
            </a:fld>
            <a:endParaRPr lang="en-GB" dirty="0"/>
          </a:p>
        </p:txBody>
      </p:sp>
      <p:pic>
        <p:nvPicPr>
          <p:cNvPr id="8" name="Picture 7">
            <a:extLst>
              <a:ext uri="{FF2B5EF4-FFF2-40B4-BE49-F238E27FC236}">
                <a16:creationId xmlns:a16="http://schemas.microsoft.com/office/drawing/2014/main" id="{9109F42F-96AA-3BF1-A6C0-63FF04B8D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381125"/>
            <a:ext cx="11658600" cy="5019675"/>
          </a:xfrm>
          <a:prstGeom prst="rect">
            <a:avLst/>
          </a:prstGeom>
        </p:spPr>
      </p:pic>
      <p:pic>
        <p:nvPicPr>
          <p:cNvPr id="9" name="Picture 8">
            <a:extLst>
              <a:ext uri="{FF2B5EF4-FFF2-40B4-BE49-F238E27FC236}">
                <a16:creationId xmlns:a16="http://schemas.microsoft.com/office/drawing/2014/main" id="{582D5963-3B75-98BE-4DB7-1D72F8580566}"/>
              </a:ext>
            </a:extLst>
          </p:cNvPr>
          <p:cNvPicPr>
            <a:picLocks noChangeAspect="1"/>
          </p:cNvPicPr>
          <p:nvPr/>
        </p:nvPicPr>
        <p:blipFill>
          <a:blip r:embed="rId3"/>
          <a:stretch>
            <a:fillRect/>
          </a:stretch>
        </p:blipFill>
        <p:spPr>
          <a:xfrm>
            <a:off x="10911787" y="97412"/>
            <a:ext cx="1188823" cy="1182727"/>
          </a:xfrm>
          <a:prstGeom prst="rect">
            <a:avLst/>
          </a:prstGeom>
        </p:spPr>
      </p:pic>
    </p:spTree>
    <p:extLst>
      <p:ext uri="{BB962C8B-B14F-4D97-AF65-F5344CB8AC3E}">
        <p14:creationId xmlns:p14="http://schemas.microsoft.com/office/powerpoint/2010/main" val="401190181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EAF2F-9B78-C725-CFE5-EFDAFF568EA5}"/>
              </a:ext>
            </a:extLst>
          </p:cNvPr>
          <p:cNvSpPr>
            <a:spLocks noGrp="1"/>
          </p:cNvSpPr>
          <p:nvPr>
            <p:ph type="title"/>
          </p:nvPr>
        </p:nvSpPr>
        <p:spPr>
          <a:xfrm>
            <a:off x="495300" y="381000"/>
            <a:ext cx="7124700" cy="530527"/>
          </a:xfrm>
        </p:spPr>
        <p:txBody>
          <a:bodyPr/>
          <a:lstStyle/>
          <a:p>
            <a:r>
              <a:rPr lang="en-GB" sz="4000">
                <a:latin typeface="+mj-lt"/>
              </a:rPr>
              <a:t>Weatherproof Housing Diagram:</a:t>
            </a:r>
            <a:br>
              <a:rPr lang="en-GB" sz="3600"/>
            </a:br>
            <a:endParaRPr lang="en-GB" dirty="0"/>
          </a:p>
        </p:txBody>
      </p:sp>
      <p:sp>
        <p:nvSpPr>
          <p:cNvPr id="3" name="Text Placeholder 2">
            <a:extLst>
              <a:ext uri="{FF2B5EF4-FFF2-40B4-BE49-F238E27FC236}">
                <a16:creationId xmlns:a16="http://schemas.microsoft.com/office/drawing/2014/main" id="{0EF330B5-6459-9145-301A-DC95551DB771}"/>
              </a:ext>
            </a:extLst>
          </p:cNvPr>
          <p:cNvSpPr>
            <a:spLocks noGrp="1"/>
          </p:cNvSpPr>
          <p:nvPr>
            <p:ph type="body" idx="1"/>
          </p:nvPr>
        </p:nvSpPr>
        <p:spPr>
          <a:xfrm>
            <a:off x="6248400" y="4038600"/>
            <a:ext cx="1267442" cy="177800"/>
          </a:xfrm>
        </p:spPr>
        <p:txBody>
          <a:bodyPr/>
          <a:lstStyle/>
          <a:p>
            <a:r>
              <a:rPr lang="en-GB" dirty="0"/>
              <a:t> </a:t>
            </a:r>
          </a:p>
        </p:txBody>
      </p:sp>
      <p:sp>
        <p:nvSpPr>
          <p:cNvPr id="4" name="Date Placeholder 3">
            <a:extLst>
              <a:ext uri="{FF2B5EF4-FFF2-40B4-BE49-F238E27FC236}">
                <a16:creationId xmlns:a16="http://schemas.microsoft.com/office/drawing/2014/main" id="{8CA0AE66-391D-194B-D34C-660F1E328F89}"/>
              </a:ext>
            </a:extLst>
          </p:cNvPr>
          <p:cNvSpPr>
            <a:spLocks noGrp="1"/>
          </p:cNvSpPr>
          <p:nvPr>
            <p:ph type="dt" sz="half" idx="6"/>
          </p:nvPr>
        </p:nvSpPr>
        <p:spPr>
          <a:xfrm>
            <a:off x="533400" y="6466776"/>
            <a:ext cx="3886834" cy="177800"/>
          </a:xfrm>
        </p:spPr>
        <p:txBody>
          <a:bodyPr/>
          <a:lstStyle/>
          <a:p>
            <a:pPr marL="12700">
              <a:lnSpc>
                <a:spcPts val="1240"/>
              </a:lnSpc>
            </a:pPr>
            <a:fld id="{11B9E305-BE71-47AF-9698-88783D62CCB4}"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69979DF7-A1DD-7C57-AE89-C68DD2175F66}"/>
              </a:ext>
            </a:extLst>
          </p:cNvPr>
          <p:cNvSpPr>
            <a:spLocks noGrp="1"/>
          </p:cNvSpPr>
          <p:nvPr>
            <p:ph type="sldNum" sz="quarter" idx="7"/>
          </p:nvPr>
        </p:nvSpPr>
        <p:spPr>
          <a:xfrm>
            <a:off x="11152732" y="6400800"/>
            <a:ext cx="429667" cy="257110"/>
          </a:xfrm>
        </p:spPr>
        <p:txBody>
          <a:bodyPr/>
          <a:lstStyle/>
          <a:p>
            <a:pPr marL="38100">
              <a:lnSpc>
                <a:spcPts val="1240"/>
              </a:lnSpc>
            </a:pPr>
            <a:fld id="{81D60167-4931-47E6-BA6A-407CBD079E47}" type="slidenum">
              <a:rPr lang="en-GB" smtClean="0"/>
              <a:t>16</a:t>
            </a:fld>
            <a:endParaRPr lang="en-GB" dirty="0"/>
          </a:p>
        </p:txBody>
      </p:sp>
      <p:pic>
        <p:nvPicPr>
          <p:cNvPr id="8" name="Picture 7">
            <a:extLst>
              <a:ext uri="{FF2B5EF4-FFF2-40B4-BE49-F238E27FC236}">
                <a16:creationId xmlns:a16="http://schemas.microsoft.com/office/drawing/2014/main" id="{91F2C885-02D2-6840-8243-3BB49392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864546"/>
            <a:ext cx="11277600" cy="4572741"/>
          </a:xfrm>
          <a:prstGeom prst="rect">
            <a:avLst/>
          </a:prstGeom>
        </p:spPr>
      </p:pic>
      <p:pic>
        <p:nvPicPr>
          <p:cNvPr id="9" name="Picture 8">
            <a:extLst>
              <a:ext uri="{FF2B5EF4-FFF2-40B4-BE49-F238E27FC236}">
                <a16:creationId xmlns:a16="http://schemas.microsoft.com/office/drawing/2014/main" id="{633B4642-3989-92B6-1947-2D9A40EEB224}"/>
              </a:ext>
            </a:extLst>
          </p:cNvPr>
          <p:cNvPicPr>
            <a:picLocks noChangeAspect="1"/>
          </p:cNvPicPr>
          <p:nvPr/>
        </p:nvPicPr>
        <p:blipFill>
          <a:blip r:embed="rId3"/>
          <a:stretch>
            <a:fillRect/>
          </a:stretch>
        </p:blipFill>
        <p:spPr>
          <a:xfrm>
            <a:off x="10896600" y="200090"/>
            <a:ext cx="1188823" cy="1182727"/>
          </a:xfrm>
          <a:prstGeom prst="rect">
            <a:avLst/>
          </a:prstGeom>
        </p:spPr>
      </p:pic>
    </p:spTree>
    <p:extLst>
      <p:ext uri="{BB962C8B-B14F-4D97-AF65-F5344CB8AC3E}">
        <p14:creationId xmlns:p14="http://schemas.microsoft.com/office/powerpoint/2010/main" val="20230333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C2DC9-35BF-3929-02B2-1A008EFDC5CB}"/>
              </a:ext>
            </a:extLst>
          </p:cNvPr>
          <p:cNvSpPr>
            <a:spLocks noGrp="1"/>
          </p:cNvSpPr>
          <p:nvPr>
            <p:ph type="title"/>
          </p:nvPr>
        </p:nvSpPr>
        <p:spPr>
          <a:xfrm>
            <a:off x="533399" y="366599"/>
            <a:ext cx="12801600" cy="801969"/>
          </a:xfrm>
        </p:spPr>
        <p:txBody>
          <a:bodyPr/>
          <a:lstStyle/>
          <a:p>
            <a:r>
              <a:rPr lang="en-GB" sz="4400" dirty="0"/>
              <a:t>Android Studio &amp; Firebase </a:t>
            </a:r>
            <a:r>
              <a:rPr lang="en-GB" sz="4400" dirty="0">
                <a:latin typeface="+mj-lt"/>
              </a:rPr>
              <a:t>Diagram:</a:t>
            </a:r>
            <a:br>
              <a:rPr lang="en-GB" sz="4000" dirty="0"/>
            </a:br>
            <a:endParaRPr lang="en-GB" dirty="0"/>
          </a:p>
        </p:txBody>
      </p:sp>
      <p:sp>
        <p:nvSpPr>
          <p:cNvPr id="3" name="Text Placeholder 2">
            <a:extLst>
              <a:ext uri="{FF2B5EF4-FFF2-40B4-BE49-F238E27FC236}">
                <a16:creationId xmlns:a16="http://schemas.microsoft.com/office/drawing/2014/main" id="{14015697-A5E5-0B6A-BDCE-DB81A8E721C3}"/>
              </a:ext>
            </a:extLst>
          </p:cNvPr>
          <p:cNvSpPr>
            <a:spLocks noGrp="1"/>
          </p:cNvSpPr>
          <p:nvPr>
            <p:ph type="body" idx="1"/>
          </p:nvPr>
        </p:nvSpPr>
        <p:spPr>
          <a:xfrm>
            <a:off x="5257799" y="3055086"/>
            <a:ext cx="1676400" cy="177801"/>
          </a:xfrm>
        </p:spPr>
        <p:txBody>
          <a:bodyPr/>
          <a:lstStyle/>
          <a:p>
            <a:r>
              <a:rPr lang="en-GB" dirty="0"/>
              <a:t> </a:t>
            </a:r>
          </a:p>
        </p:txBody>
      </p:sp>
      <p:sp>
        <p:nvSpPr>
          <p:cNvPr id="4" name="Date Placeholder 3">
            <a:extLst>
              <a:ext uri="{FF2B5EF4-FFF2-40B4-BE49-F238E27FC236}">
                <a16:creationId xmlns:a16="http://schemas.microsoft.com/office/drawing/2014/main" id="{DF8BC50C-0D59-229C-DAC2-1C68F139AD91}"/>
              </a:ext>
            </a:extLst>
          </p:cNvPr>
          <p:cNvSpPr>
            <a:spLocks noGrp="1"/>
          </p:cNvSpPr>
          <p:nvPr>
            <p:ph type="dt" sz="half" idx="6"/>
          </p:nvPr>
        </p:nvSpPr>
        <p:spPr>
          <a:xfrm>
            <a:off x="304800" y="6481950"/>
            <a:ext cx="3886834" cy="177800"/>
          </a:xfrm>
        </p:spPr>
        <p:txBody>
          <a:bodyPr/>
          <a:lstStyle/>
          <a:p>
            <a:pPr marL="12700">
              <a:lnSpc>
                <a:spcPts val="1240"/>
              </a:lnSpc>
            </a:pPr>
            <a:fld id="{29333D7A-2586-474F-908D-47B2F9EAE3D3}"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54F8481F-9231-E430-943D-32F8128CD5FE}"/>
              </a:ext>
            </a:extLst>
          </p:cNvPr>
          <p:cNvSpPr>
            <a:spLocks noGrp="1"/>
          </p:cNvSpPr>
          <p:nvPr>
            <p:ph type="sldNum" sz="quarter" idx="7"/>
          </p:nvPr>
        </p:nvSpPr>
        <p:spPr>
          <a:xfrm>
            <a:off x="11152732" y="6466776"/>
            <a:ext cx="429667" cy="177799"/>
          </a:xfrm>
        </p:spPr>
        <p:txBody>
          <a:bodyPr/>
          <a:lstStyle/>
          <a:p>
            <a:pPr marL="38100">
              <a:lnSpc>
                <a:spcPts val="1240"/>
              </a:lnSpc>
            </a:pPr>
            <a:fld id="{81D60167-4931-47E6-BA6A-407CBD079E47}" type="slidenum">
              <a:rPr lang="en-GB" smtClean="0"/>
              <a:t>17</a:t>
            </a:fld>
            <a:endParaRPr lang="en-GB" dirty="0"/>
          </a:p>
        </p:txBody>
      </p:sp>
      <p:pic>
        <p:nvPicPr>
          <p:cNvPr id="10" name="Picture 9">
            <a:extLst>
              <a:ext uri="{FF2B5EF4-FFF2-40B4-BE49-F238E27FC236}">
                <a16:creationId xmlns:a16="http://schemas.microsoft.com/office/drawing/2014/main" id="{E780A7D6-11CD-25FF-F8E2-81C69289FB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0"/>
            <a:ext cx="12021594" cy="4321174"/>
          </a:xfrm>
          <a:prstGeom prst="rect">
            <a:avLst/>
          </a:prstGeom>
        </p:spPr>
      </p:pic>
      <p:pic>
        <p:nvPicPr>
          <p:cNvPr id="11" name="Picture 10">
            <a:extLst>
              <a:ext uri="{FF2B5EF4-FFF2-40B4-BE49-F238E27FC236}">
                <a16:creationId xmlns:a16="http://schemas.microsoft.com/office/drawing/2014/main" id="{4D0FAC92-350A-D816-DEBB-F9EFB6E82910}"/>
              </a:ext>
            </a:extLst>
          </p:cNvPr>
          <p:cNvPicPr>
            <a:picLocks noChangeAspect="1"/>
          </p:cNvPicPr>
          <p:nvPr/>
        </p:nvPicPr>
        <p:blipFill>
          <a:blip r:embed="rId3"/>
          <a:stretch>
            <a:fillRect/>
          </a:stretch>
        </p:blipFill>
        <p:spPr>
          <a:xfrm>
            <a:off x="10832771" y="201657"/>
            <a:ext cx="1188823" cy="1182727"/>
          </a:xfrm>
          <a:prstGeom prst="rect">
            <a:avLst/>
          </a:prstGeom>
        </p:spPr>
      </p:pic>
    </p:spTree>
    <p:extLst>
      <p:ext uri="{BB962C8B-B14F-4D97-AF65-F5344CB8AC3E}">
        <p14:creationId xmlns:p14="http://schemas.microsoft.com/office/powerpoint/2010/main" val="160319243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9FC1-1DE5-F724-C985-E6EBEDFF2692}"/>
              </a:ext>
            </a:extLst>
          </p:cNvPr>
          <p:cNvSpPr>
            <a:spLocks noGrp="1"/>
          </p:cNvSpPr>
          <p:nvPr>
            <p:ph type="title"/>
          </p:nvPr>
        </p:nvSpPr>
        <p:spPr>
          <a:xfrm>
            <a:off x="685800" y="457200"/>
            <a:ext cx="4953000" cy="1354217"/>
          </a:xfrm>
        </p:spPr>
        <p:txBody>
          <a:bodyPr/>
          <a:lstStyle/>
          <a:p>
            <a:r>
              <a:rPr lang="en-GB" sz="4400" dirty="0"/>
              <a:t>Blynk App Diagram:</a:t>
            </a:r>
          </a:p>
        </p:txBody>
      </p:sp>
      <p:sp>
        <p:nvSpPr>
          <p:cNvPr id="3" name="Text Placeholder 2">
            <a:extLst>
              <a:ext uri="{FF2B5EF4-FFF2-40B4-BE49-F238E27FC236}">
                <a16:creationId xmlns:a16="http://schemas.microsoft.com/office/drawing/2014/main" id="{5ED390D3-7EAA-A2A2-5DAC-6A835A444699}"/>
              </a:ext>
            </a:extLst>
          </p:cNvPr>
          <p:cNvSpPr>
            <a:spLocks noGrp="1"/>
          </p:cNvSpPr>
          <p:nvPr>
            <p:ph type="body" idx="1"/>
          </p:nvPr>
        </p:nvSpPr>
        <p:spPr>
          <a:xfrm>
            <a:off x="5791201" y="3028213"/>
            <a:ext cx="304800" cy="95987"/>
          </a:xfrm>
        </p:spPr>
        <p:txBody>
          <a:bodyPr/>
          <a:lstStyle/>
          <a:p>
            <a:r>
              <a:rPr lang="en-GB" dirty="0"/>
              <a:t> </a:t>
            </a:r>
          </a:p>
        </p:txBody>
      </p:sp>
      <p:sp>
        <p:nvSpPr>
          <p:cNvPr id="4" name="Date Placeholder 3">
            <a:extLst>
              <a:ext uri="{FF2B5EF4-FFF2-40B4-BE49-F238E27FC236}">
                <a16:creationId xmlns:a16="http://schemas.microsoft.com/office/drawing/2014/main" id="{540D5301-00F4-C687-A5B8-8A55BAC55F43}"/>
              </a:ext>
            </a:extLst>
          </p:cNvPr>
          <p:cNvSpPr>
            <a:spLocks noGrp="1"/>
          </p:cNvSpPr>
          <p:nvPr>
            <p:ph type="dt" sz="half" idx="6"/>
          </p:nvPr>
        </p:nvSpPr>
        <p:spPr>
          <a:xfrm>
            <a:off x="762000" y="6460995"/>
            <a:ext cx="3886834" cy="177800"/>
          </a:xfrm>
        </p:spPr>
        <p:txBody>
          <a:bodyPr/>
          <a:lstStyle/>
          <a:p>
            <a:pPr marL="12700">
              <a:lnSpc>
                <a:spcPts val="1240"/>
              </a:lnSpc>
            </a:pPr>
            <a:fld id="{98C29EAC-242B-4EFD-BC2A-0A8711A277CF}"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223AE89E-DBD1-28BB-77A2-A8C4800C6D96}"/>
              </a:ext>
            </a:extLst>
          </p:cNvPr>
          <p:cNvSpPr>
            <a:spLocks noGrp="1"/>
          </p:cNvSpPr>
          <p:nvPr>
            <p:ph type="sldNum" sz="quarter" idx="7"/>
          </p:nvPr>
        </p:nvSpPr>
        <p:spPr>
          <a:xfrm>
            <a:off x="11249642" y="6463406"/>
            <a:ext cx="334028" cy="242194"/>
          </a:xfrm>
        </p:spPr>
        <p:txBody>
          <a:bodyPr/>
          <a:lstStyle/>
          <a:p>
            <a:pPr marL="38100">
              <a:lnSpc>
                <a:spcPts val="1240"/>
              </a:lnSpc>
            </a:pPr>
            <a:fld id="{81D60167-4931-47E6-BA6A-407CBD079E47}" type="slidenum">
              <a:rPr lang="en-GB" smtClean="0"/>
              <a:t>18</a:t>
            </a:fld>
            <a:endParaRPr lang="en-GB" dirty="0"/>
          </a:p>
        </p:txBody>
      </p:sp>
      <p:pic>
        <p:nvPicPr>
          <p:cNvPr id="8" name="Picture 7">
            <a:extLst>
              <a:ext uri="{FF2B5EF4-FFF2-40B4-BE49-F238E27FC236}">
                <a16:creationId xmlns:a16="http://schemas.microsoft.com/office/drawing/2014/main" id="{8E21CA99-2976-A540-B3B9-CD514AA73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525" y="1600200"/>
            <a:ext cx="10972800" cy="4572000"/>
          </a:xfrm>
          <a:prstGeom prst="rect">
            <a:avLst/>
          </a:prstGeom>
        </p:spPr>
      </p:pic>
      <p:pic>
        <p:nvPicPr>
          <p:cNvPr id="9" name="Picture 8">
            <a:extLst>
              <a:ext uri="{FF2B5EF4-FFF2-40B4-BE49-F238E27FC236}">
                <a16:creationId xmlns:a16="http://schemas.microsoft.com/office/drawing/2014/main" id="{B677FDAC-0FB7-6338-1F8A-9CC055F5364D}"/>
              </a:ext>
            </a:extLst>
          </p:cNvPr>
          <p:cNvPicPr>
            <a:picLocks noChangeAspect="1"/>
          </p:cNvPicPr>
          <p:nvPr/>
        </p:nvPicPr>
        <p:blipFill>
          <a:blip r:embed="rId3"/>
          <a:stretch>
            <a:fillRect/>
          </a:stretch>
        </p:blipFill>
        <p:spPr>
          <a:xfrm>
            <a:off x="10822244" y="200025"/>
            <a:ext cx="1188823" cy="1182727"/>
          </a:xfrm>
          <a:prstGeom prst="rect">
            <a:avLst/>
          </a:prstGeom>
        </p:spPr>
      </p:pic>
    </p:spTree>
    <p:extLst>
      <p:ext uri="{BB962C8B-B14F-4D97-AF65-F5344CB8AC3E}">
        <p14:creationId xmlns:p14="http://schemas.microsoft.com/office/powerpoint/2010/main" val="1263008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4382-0C03-05A7-A550-6A13B3AE80C7}"/>
              </a:ext>
            </a:extLst>
          </p:cNvPr>
          <p:cNvSpPr>
            <a:spLocks noGrp="1"/>
          </p:cNvSpPr>
          <p:nvPr>
            <p:ph type="title"/>
          </p:nvPr>
        </p:nvSpPr>
        <p:spPr>
          <a:xfrm>
            <a:off x="533400" y="381000"/>
            <a:ext cx="2156439" cy="1354217"/>
          </a:xfrm>
        </p:spPr>
        <p:txBody>
          <a:bodyPr/>
          <a:lstStyle/>
          <a:p>
            <a:r>
              <a:rPr lang="en-GB" sz="4400" dirty="0"/>
              <a:t> </a:t>
            </a:r>
            <a:r>
              <a:rPr lang="en-GB" sz="4400" dirty="0">
                <a:latin typeface="+mj-lt"/>
              </a:rPr>
              <a:t>Results:</a:t>
            </a:r>
            <a:br>
              <a:rPr lang="en-GB" sz="4400" dirty="0">
                <a:latin typeface="+mj-lt"/>
              </a:rPr>
            </a:br>
            <a:endParaRPr lang="en-GB" sz="4400" dirty="0"/>
          </a:p>
        </p:txBody>
      </p:sp>
      <p:sp>
        <p:nvSpPr>
          <p:cNvPr id="3" name="Text Placeholder 2">
            <a:extLst>
              <a:ext uri="{FF2B5EF4-FFF2-40B4-BE49-F238E27FC236}">
                <a16:creationId xmlns:a16="http://schemas.microsoft.com/office/drawing/2014/main" id="{0486A5F2-8173-5DC7-E3F5-E1D1BA00B9C4}"/>
              </a:ext>
            </a:extLst>
          </p:cNvPr>
          <p:cNvSpPr>
            <a:spLocks noGrp="1"/>
          </p:cNvSpPr>
          <p:nvPr>
            <p:ph type="body" idx="1"/>
          </p:nvPr>
        </p:nvSpPr>
        <p:spPr>
          <a:xfrm>
            <a:off x="5181600" y="3016987"/>
            <a:ext cx="1371600" cy="430887"/>
          </a:xfrm>
        </p:spPr>
        <p:txBody>
          <a:bodyPr/>
          <a:lstStyle/>
          <a:p>
            <a:r>
              <a:rPr lang="en-GB" dirty="0"/>
              <a:t> </a:t>
            </a:r>
          </a:p>
        </p:txBody>
      </p:sp>
      <p:sp>
        <p:nvSpPr>
          <p:cNvPr id="4" name="Date Placeholder 3">
            <a:extLst>
              <a:ext uri="{FF2B5EF4-FFF2-40B4-BE49-F238E27FC236}">
                <a16:creationId xmlns:a16="http://schemas.microsoft.com/office/drawing/2014/main" id="{ADCD7212-A497-2BEB-F19E-C7D6528929E4}"/>
              </a:ext>
            </a:extLst>
          </p:cNvPr>
          <p:cNvSpPr>
            <a:spLocks noGrp="1"/>
          </p:cNvSpPr>
          <p:nvPr>
            <p:ph type="dt" sz="half" idx="6"/>
          </p:nvPr>
        </p:nvSpPr>
        <p:spPr>
          <a:xfrm>
            <a:off x="381000" y="6540500"/>
            <a:ext cx="3886834" cy="177800"/>
          </a:xfrm>
        </p:spPr>
        <p:txBody>
          <a:bodyPr/>
          <a:lstStyle/>
          <a:p>
            <a:pPr marL="12700">
              <a:lnSpc>
                <a:spcPts val="1240"/>
              </a:lnSpc>
            </a:pPr>
            <a:fld id="{514631FB-7875-4B0F-9DEF-BF6BCCEDF61E}" type="datetime1">
              <a:rPr lang="LID4096" spc="-5" smtClean="0"/>
              <a:t>01/23/2025</a:t>
            </a:fld>
            <a:endParaRPr lang="en-GB" spc="-5" dirty="0"/>
          </a:p>
        </p:txBody>
      </p:sp>
      <p:sp>
        <p:nvSpPr>
          <p:cNvPr id="5" name="Slide Number Placeholder 4">
            <a:extLst>
              <a:ext uri="{FF2B5EF4-FFF2-40B4-BE49-F238E27FC236}">
                <a16:creationId xmlns:a16="http://schemas.microsoft.com/office/drawing/2014/main" id="{D4714501-715F-8ED5-D1B1-5CF8571B6003}"/>
              </a:ext>
            </a:extLst>
          </p:cNvPr>
          <p:cNvSpPr>
            <a:spLocks noGrp="1"/>
          </p:cNvSpPr>
          <p:nvPr>
            <p:ph type="sldNum" sz="quarter" idx="7"/>
          </p:nvPr>
        </p:nvSpPr>
        <p:spPr>
          <a:xfrm>
            <a:off x="11152732" y="6466776"/>
            <a:ext cx="277267" cy="251524"/>
          </a:xfrm>
        </p:spPr>
        <p:txBody>
          <a:bodyPr/>
          <a:lstStyle/>
          <a:p>
            <a:pPr marL="38100">
              <a:lnSpc>
                <a:spcPts val="1240"/>
              </a:lnSpc>
            </a:pPr>
            <a:fld id="{81D60167-4931-47E6-BA6A-407CBD079E47}" type="slidenum">
              <a:rPr lang="en-GB" smtClean="0"/>
              <a:t>19</a:t>
            </a:fld>
            <a:endParaRPr lang="en-GB" dirty="0"/>
          </a:p>
        </p:txBody>
      </p:sp>
      <p:pic>
        <p:nvPicPr>
          <p:cNvPr id="7" name="Picture 6">
            <a:extLst>
              <a:ext uri="{FF2B5EF4-FFF2-40B4-BE49-F238E27FC236}">
                <a16:creationId xmlns:a16="http://schemas.microsoft.com/office/drawing/2014/main" id="{5E20C36C-6EB1-EEC8-F4C8-D6AD497058C2}"/>
              </a:ext>
            </a:extLst>
          </p:cNvPr>
          <p:cNvPicPr>
            <a:picLocks noChangeAspect="1"/>
          </p:cNvPicPr>
          <p:nvPr/>
        </p:nvPicPr>
        <p:blipFill>
          <a:blip r:embed="rId2"/>
          <a:stretch>
            <a:fillRect/>
          </a:stretch>
        </p:blipFill>
        <p:spPr>
          <a:xfrm>
            <a:off x="10835587" y="228600"/>
            <a:ext cx="1188823" cy="1182727"/>
          </a:xfrm>
          <a:prstGeom prst="rect">
            <a:avLst/>
          </a:prstGeom>
        </p:spPr>
      </p:pic>
      <p:pic>
        <p:nvPicPr>
          <p:cNvPr id="10" name="Picture 9">
            <a:extLst>
              <a:ext uri="{FF2B5EF4-FFF2-40B4-BE49-F238E27FC236}">
                <a16:creationId xmlns:a16="http://schemas.microsoft.com/office/drawing/2014/main" id="{54E8A2A0-1313-F5D6-90D0-75EB4981B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088404"/>
            <a:ext cx="10337116" cy="5452096"/>
          </a:xfrm>
          <a:prstGeom prst="rect">
            <a:avLst/>
          </a:prstGeom>
        </p:spPr>
      </p:pic>
    </p:spTree>
    <p:extLst>
      <p:ext uri="{BB962C8B-B14F-4D97-AF65-F5344CB8AC3E}">
        <p14:creationId xmlns:p14="http://schemas.microsoft.com/office/powerpoint/2010/main" val="341287179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6B90-9BA6-2159-D816-163E381D768E}"/>
              </a:ext>
            </a:extLst>
          </p:cNvPr>
          <p:cNvSpPr>
            <a:spLocks noGrp="1"/>
          </p:cNvSpPr>
          <p:nvPr>
            <p:ph type="title"/>
          </p:nvPr>
        </p:nvSpPr>
        <p:spPr>
          <a:xfrm>
            <a:off x="304800" y="228600"/>
            <a:ext cx="2156439" cy="1292662"/>
          </a:xfrm>
        </p:spPr>
        <p:txBody>
          <a:bodyPr/>
          <a:lstStyle/>
          <a:p>
            <a:r>
              <a:rPr lang="en-GB" sz="4400" dirty="0"/>
              <a:t> </a:t>
            </a:r>
            <a:r>
              <a:rPr lang="en-GB" sz="4400" dirty="0">
                <a:latin typeface="+mj-lt"/>
              </a:rPr>
              <a:t>Results:</a:t>
            </a:r>
            <a:br>
              <a:rPr lang="en-GB" sz="4000" dirty="0">
                <a:latin typeface="+mj-lt"/>
              </a:rPr>
            </a:br>
            <a:endParaRPr lang="en-GB" dirty="0"/>
          </a:p>
        </p:txBody>
      </p:sp>
      <p:sp>
        <p:nvSpPr>
          <p:cNvPr id="3" name="Text Placeholder 2">
            <a:extLst>
              <a:ext uri="{FF2B5EF4-FFF2-40B4-BE49-F238E27FC236}">
                <a16:creationId xmlns:a16="http://schemas.microsoft.com/office/drawing/2014/main" id="{3D5C4937-608E-424A-CB1E-DA3A98CFC065}"/>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F8235153-9EFB-B9B8-12ED-142114EED437}"/>
              </a:ext>
            </a:extLst>
          </p:cNvPr>
          <p:cNvSpPr>
            <a:spLocks noGrp="1"/>
          </p:cNvSpPr>
          <p:nvPr>
            <p:ph type="dt" sz="half" idx="6"/>
          </p:nvPr>
        </p:nvSpPr>
        <p:spPr>
          <a:xfrm>
            <a:off x="316735" y="6466776"/>
            <a:ext cx="3886834" cy="177800"/>
          </a:xfrm>
        </p:spPr>
        <p:txBody>
          <a:bodyPr/>
          <a:lstStyle/>
          <a:p>
            <a:pPr marL="12700">
              <a:lnSpc>
                <a:spcPts val="1240"/>
              </a:lnSpc>
            </a:pPr>
            <a:fld id="{F5A67A72-DD21-47D0-BFC8-786960314E02}" type="datetime1">
              <a:rPr lang="en-GB" spc="-5" smtClean="0"/>
              <a:t>23/01/2025</a:t>
            </a:fld>
            <a:endParaRPr lang="en-GB" spc="-5" dirty="0"/>
          </a:p>
        </p:txBody>
      </p:sp>
      <p:sp>
        <p:nvSpPr>
          <p:cNvPr id="5" name="Slide Number Placeholder 4">
            <a:extLst>
              <a:ext uri="{FF2B5EF4-FFF2-40B4-BE49-F238E27FC236}">
                <a16:creationId xmlns:a16="http://schemas.microsoft.com/office/drawing/2014/main" id="{A21D5CA0-AF44-B4BC-72D8-9F1EF206BE70}"/>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20</a:t>
            </a:fld>
            <a:endParaRPr lang="en-GB" dirty="0"/>
          </a:p>
        </p:txBody>
      </p:sp>
      <p:pic>
        <p:nvPicPr>
          <p:cNvPr id="7" name="Picture 6">
            <a:extLst>
              <a:ext uri="{FF2B5EF4-FFF2-40B4-BE49-F238E27FC236}">
                <a16:creationId xmlns:a16="http://schemas.microsoft.com/office/drawing/2014/main" id="{0631A309-3FD8-D434-E856-5C9F445D8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143000"/>
            <a:ext cx="10896600" cy="5192911"/>
          </a:xfrm>
          <a:prstGeom prst="rect">
            <a:avLst/>
          </a:prstGeom>
        </p:spPr>
      </p:pic>
      <p:pic>
        <p:nvPicPr>
          <p:cNvPr id="8" name="Picture 7">
            <a:extLst>
              <a:ext uri="{FF2B5EF4-FFF2-40B4-BE49-F238E27FC236}">
                <a16:creationId xmlns:a16="http://schemas.microsoft.com/office/drawing/2014/main" id="{4AC3F6AF-3FB6-7085-1503-6C3B95D78C48}"/>
              </a:ext>
            </a:extLst>
          </p:cNvPr>
          <p:cNvPicPr>
            <a:picLocks noChangeAspect="1"/>
          </p:cNvPicPr>
          <p:nvPr/>
        </p:nvPicPr>
        <p:blipFill>
          <a:blip r:embed="rId3"/>
          <a:stretch>
            <a:fillRect/>
          </a:stretch>
        </p:blipFill>
        <p:spPr>
          <a:xfrm>
            <a:off x="10896600" y="228600"/>
            <a:ext cx="1194920" cy="1182727"/>
          </a:xfrm>
          <a:prstGeom prst="rect">
            <a:avLst/>
          </a:prstGeom>
        </p:spPr>
      </p:pic>
    </p:spTree>
    <p:extLst>
      <p:ext uri="{BB962C8B-B14F-4D97-AF65-F5344CB8AC3E}">
        <p14:creationId xmlns:p14="http://schemas.microsoft.com/office/powerpoint/2010/main" val="82071242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507018"/>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465460" y="1192589"/>
            <a:ext cx="10341856" cy="5114221"/>
          </a:xfrm>
          <a:prstGeom prst="rect">
            <a:avLst/>
          </a:prstGeom>
        </p:spPr>
        <p:txBody>
          <a:bodyPr vert="horz" wrap="square" lIns="0" tIns="96520" rIns="0" bIns="0" rtlCol="0">
            <a:spAutoFit/>
          </a:bodyPr>
          <a:lstStyle/>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1:Dineshkumar, T., V. Suresh Babu, </a:t>
            </a:r>
            <a:r>
              <a:rPr lang="en-US" b="1" kern="100" dirty="0" err="1">
                <a:effectLst/>
                <a:ea typeface="Calibri" panose="020F0502020204030204" pitchFamily="34" charset="0"/>
                <a:cs typeface="Times New Roman" panose="02020603050405020304" pitchFamily="18" charset="0"/>
              </a:rPr>
              <a:t>Pachaivannan</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Partheeban</a:t>
            </a:r>
            <a:r>
              <a:rPr lang="en-US" b="1" kern="100" dirty="0">
                <a:effectLst/>
                <a:ea typeface="Calibri" panose="020F0502020204030204" pitchFamily="34" charset="0"/>
                <a:cs typeface="Times New Roman" panose="02020603050405020304" pitchFamily="18" charset="0"/>
              </a:rPr>
              <a:t>, and R. </a:t>
            </a:r>
            <a:r>
              <a:rPr lang="en-US" b="1" kern="100" dirty="0" err="1">
                <a:effectLst/>
                <a:ea typeface="Calibri" panose="020F0502020204030204" pitchFamily="34" charset="0"/>
                <a:cs typeface="Times New Roman" panose="02020603050405020304" pitchFamily="18" charset="0"/>
              </a:rPr>
              <a:t>Puviarasi</a:t>
            </a:r>
            <a:r>
              <a:rPr lang="en-US" b="1" kern="100" dirty="0">
                <a:effectLst/>
                <a:ea typeface="Calibri" panose="020F0502020204030204" pitchFamily="34" charset="0"/>
                <a:cs typeface="Times New Roman" panose="02020603050405020304" pitchFamily="18" charset="0"/>
              </a:rPr>
              <a:t>. "Air Quality Monitoring System Based on IoT." *Journal of Physics: Conference Series* 1964, no. 6 (2021): 062081. </a:t>
            </a:r>
            <a:r>
              <a:rPr lang="en-US" b="1" u="sng" kern="100" dirty="0">
                <a:solidFill>
                  <a:srgbClr val="0563C1"/>
                </a:solidFill>
                <a:effectLst/>
                <a:ea typeface="Calibri" panose="020F0502020204030204" pitchFamily="34" charset="0"/>
                <a:cs typeface="Times New Roman" panose="02020603050405020304" pitchFamily="18" charset="0"/>
                <a:hlinkClick r:id="rId2"/>
              </a:rPr>
              <a:t>https://doi.org/10.1088/1742-6596/1964/6/062081</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2: </a:t>
            </a:r>
            <a:r>
              <a:rPr lang="en-US" b="1" kern="100" dirty="0" err="1">
                <a:effectLst/>
                <a:ea typeface="Calibri" panose="020F0502020204030204" pitchFamily="34" charset="0"/>
                <a:cs typeface="Times New Roman" panose="02020603050405020304" pitchFamily="18" charset="0"/>
              </a:rPr>
              <a:t>Hemalatha</a:t>
            </a:r>
            <a:r>
              <a:rPr lang="en-US" b="1" kern="100" dirty="0">
                <a:effectLst/>
                <a:ea typeface="Calibri" panose="020F0502020204030204" pitchFamily="34" charset="0"/>
                <a:cs typeface="Times New Roman" panose="02020603050405020304" pitchFamily="18" charset="0"/>
              </a:rPr>
              <a:t>, M., R. </a:t>
            </a:r>
            <a:r>
              <a:rPr lang="en-US" b="1" kern="100" dirty="0" err="1">
                <a:effectLst/>
                <a:ea typeface="Calibri" panose="020F0502020204030204" pitchFamily="34" charset="0"/>
                <a:cs typeface="Times New Roman" panose="02020603050405020304" pitchFamily="18" charset="0"/>
              </a:rPr>
              <a:t>Arunprasath</a:t>
            </a:r>
            <a:r>
              <a:rPr lang="en-US" b="1" kern="100" dirty="0">
                <a:effectLst/>
                <a:ea typeface="Calibri" panose="020F0502020204030204" pitchFamily="34" charset="0"/>
                <a:cs typeface="Times New Roman" panose="02020603050405020304" pitchFamily="18" charset="0"/>
              </a:rPr>
              <a:t>, J. Shalini Priya, A. M. </a:t>
            </a:r>
            <a:r>
              <a:rPr lang="en-US" b="1" kern="100" dirty="0" err="1">
                <a:effectLst/>
                <a:ea typeface="Calibri" panose="020F0502020204030204" pitchFamily="34" charset="0"/>
                <a:cs typeface="Times New Roman" panose="02020603050405020304" pitchFamily="18" charset="0"/>
              </a:rPr>
              <a:t>Shivashankari</a:t>
            </a:r>
            <a:r>
              <a:rPr lang="en-US" b="1" kern="100" dirty="0">
                <a:effectLst/>
                <a:ea typeface="Calibri" panose="020F0502020204030204" pitchFamily="34" charset="0"/>
                <a:cs typeface="Times New Roman" panose="02020603050405020304" pitchFamily="18" charset="0"/>
              </a:rPr>
              <a:t>, K. Rajkumar, and R. </a:t>
            </a:r>
            <a:r>
              <a:rPr lang="en-US" b="1" kern="100" dirty="0" err="1">
                <a:effectLst/>
                <a:ea typeface="Calibri" panose="020F0502020204030204" pitchFamily="34" charset="0"/>
                <a:cs typeface="Times New Roman" panose="02020603050405020304" pitchFamily="18" charset="0"/>
              </a:rPr>
              <a:t>Jeyashri</a:t>
            </a:r>
            <a:r>
              <a:rPr lang="en-US" b="1" kern="100" dirty="0">
                <a:effectLst/>
                <a:ea typeface="Calibri" panose="020F0502020204030204" pitchFamily="34" charset="0"/>
                <a:cs typeface="Times New Roman" panose="02020603050405020304" pitchFamily="18" charset="0"/>
              </a:rPr>
              <a:t>. "An IoT Enabled Air Pollution Meter with Digital Dashboard on Smartphone." In </a:t>
            </a:r>
            <a:r>
              <a:rPr lang="en-US" b="1" i="1" kern="100" dirty="0">
                <a:effectLst/>
                <a:ea typeface="Calibri" panose="020F0502020204030204" pitchFamily="34" charset="0"/>
                <a:cs typeface="Times New Roman" panose="02020603050405020304" pitchFamily="18" charset="0"/>
              </a:rPr>
              <a:t>2023 Intelligent Computing and Control for Engineering and Business Systems (ICCEBS)</a:t>
            </a:r>
            <a:r>
              <a:rPr lang="en-US" b="1" kern="100" dirty="0">
                <a:effectLst/>
                <a:ea typeface="Calibri" panose="020F0502020204030204" pitchFamily="34" charset="0"/>
                <a:cs typeface="Times New Roman" panose="02020603050405020304" pitchFamily="18" charset="0"/>
              </a:rPr>
              <a:t>, IEEE, 2023. </a:t>
            </a:r>
            <a:r>
              <a:rPr lang="en-US" b="1" u="sng" kern="100" dirty="0">
                <a:solidFill>
                  <a:srgbClr val="0563C1"/>
                </a:solidFill>
                <a:effectLst/>
                <a:ea typeface="Calibri" panose="020F0502020204030204" pitchFamily="34" charset="0"/>
                <a:cs typeface="Times New Roman" panose="02020603050405020304" pitchFamily="18" charset="0"/>
                <a:hlinkClick r:id="rId3"/>
              </a:rPr>
              <a:t>https://doi.org/10.1109/ICCEBS58601.2023.10448896</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3: Yusof, Khairul Huda, M.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Fadhilah</a:t>
            </a:r>
            <a:r>
              <a:rPr lang="en-US" b="1" kern="100" dirty="0">
                <a:effectLst/>
                <a:ea typeface="Calibri" panose="020F0502020204030204" pitchFamily="34" charset="0"/>
                <a:cs typeface="Times New Roman" panose="02020603050405020304" pitchFamily="18" charset="0"/>
              </a:rPr>
              <a:t> Aman, M. N. Mohammed, Amirul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Ahmad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Ahmad, and Mohamad </a:t>
            </a:r>
            <a:r>
              <a:rPr lang="en-US" b="1" kern="100" dirty="0" err="1">
                <a:effectLst/>
                <a:ea typeface="Calibri" panose="020F0502020204030204" pitchFamily="34" charset="0"/>
                <a:cs typeface="Times New Roman" panose="02020603050405020304" pitchFamily="18" charset="0"/>
              </a:rPr>
              <a:t>Syahrul</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Zahwan</a:t>
            </a:r>
            <a:r>
              <a:rPr lang="en-US" b="1" kern="100" dirty="0">
                <a:effectLst/>
                <a:ea typeface="Calibri" panose="020F0502020204030204" pitchFamily="34" charset="0"/>
                <a:cs typeface="Times New Roman" panose="02020603050405020304" pitchFamily="18" charset="0"/>
              </a:rPr>
              <a:t> Mohd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"Design and Development of Real Time Indoor and Outdoor Air Quality Monitoring System Based on IoT Technology." In </a:t>
            </a:r>
            <a:r>
              <a:rPr lang="en-US" b="1" i="1" kern="100" dirty="0">
                <a:effectLst/>
                <a:ea typeface="Calibri" panose="020F0502020204030204" pitchFamily="34" charset="0"/>
                <a:cs typeface="Times New Roman" panose="02020603050405020304" pitchFamily="18" charset="0"/>
              </a:rPr>
              <a:t>2022 IEEE 18th International Colloquium on Signal Processing &amp; Applications (CSPA 2022)</a:t>
            </a:r>
            <a:r>
              <a:rPr lang="en-US" b="1" kern="100" dirty="0">
                <a:effectLst/>
                <a:ea typeface="Calibri" panose="020F0502020204030204" pitchFamily="34" charset="0"/>
                <a:cs typeface="Times New Roman" panose="02020603050405020304" pitchFamily="18" charset="0"/>
              </a:rPr>
              <a:t>, Selangor, Malaysia, May 12, 2022. IEEE. </a:t>
            </a:r>
            <a:r>
              <a:rPr lang="en-US" b="1" u="sng" kern="100" dirty="0">
                <a:solidFill>
                  <a:srgbClr val="0563C1"/>
                </a:solidFill>
                <a:effectLst/>
                <a:ea typeface="Calibri" panose="020F0502020204030204" pitchFamily="34" charset="0"/>
                <a:cs typeface="Times New Roman" panose="02020603050405020304" pitchFamily="18" charset="0"/>
                <a:hlinkClick r:id="rId4"/>
              </a:rPr>
              <a:t>https://doi.org/10.1109/CSPA55076.2022.9781937</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4:</a:t>
            </a:r>
            <a:r>
              <a:rPr lang="en-US" b="1" kern="100" dirty="0">
                <a:solidFill>
                  <a:srgbClr val="374151"/>
                </a:solidFill>
                <a:effectLst/>
                <a:ea typeface="Calibri" panose="020F0502020204030204" pitchFamily="34" charset="0"/>
                <a:cs typeface="Times New Roman" panose="02020603050405020304" pitchFamily="18" charset="0"/>
              </a:rPr>
              <a:t> </a:t>
            </a:r>
            <a:r>
              <a:rPr lang="en-US" b="1" kern="100" dirty="0">
                <a:effectLst/>
                <a:ea typeface="Calibri" panose="020F0502020204030204" pitchFamily="34" charset="0"/>
                <a:cs typeface="Times New Roman" panose="02020603050405020304" pitchFamily="18" charset="0"/>
              </a:rPr>
              <a:t>Yusof, K. H.,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M., Aman, F., Mohammed, M. N.,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M. S. M., &amp; </a:t>
            </a:r>
            <a:r>
              <a:rPr lang="en-US" b="1" kern="100" dirty="0" err="1">
                <a:effectLst/>
                <a:ea typeface="Calibri" panose="020F0502020204030204" pitchFamily="34" charset="0"/>
                <a:cs typeface="Times New Roman" panose="02020603050405020304" pitchFamily="18" charset="0"/>
              </a:rPr>
              <a:t>Alayham</a:t>
            </a:r>
            <a:r>
              <a:rPr lang="en-US" b="1" kern="100" dirty="0">
                <a:effectLst/>
                <a:ea typeface="Calibri" panose="020F0502020204030204" pitchFamily="34" charset="0"/>
                <a:cs typeface="Times New Roman" panose="02020603050405020304" pitchFamily="18" charset="0"/>
              </a:rPr>
              <a:t>, A. R. (2022). Design and Development of Real Time Indoor and Outdoor Air Quality Monitoring System Based on IoT Technology. 2022 IEEE 18th International Colloquium on Signal Processing &amp; Applications (CSPA 2022), 12 May 2022, Selangor, Malaysia. </a:t>
            </a:r>
          </a:p>
          <a:p>
            <a:pPr marR="0" algn="just">
              <a:lnSpc>
                <a:spcPct val="100000"/>
              </a:lnSpc>
              <a:spcBef>
                <a:spcPts val="0"/>
              </a:spcBef>
              <a:spcAft>
                <a:spcPts val="600"/>
              </a:spcAft>
            </a:pPr>
            <a:r>
              <a:rPr lang="en-US" b="1" u="sng" kern="100" dirty="0">
                <a:solidFill>
                  <a:srgbClr val="0563C1"/>
                </a:solidFill>
                <a:effectLst/>
                <a:ea typeface="Calibri" panose="020F0502020204030204" pitchFamily="34" charset="0"/>
                <a:cs typeface="Times New Roman" panose="02020603050405020304" pitchFamily="18" charset="0"/>
                <a:hlinkClick r:id="rId5"/>
              </a:rPr>
              <a:t>https://ieeexplore.ieee.org/document/9781937</a:t>
            </a:r>
            <a:endParaRPr lang="en-US"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6"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sp>
        <p:nvSpPr>
          <p:cNvPr id="6" name="Date Placeholder 5">
            <a:extLst>
              <a:ext uri="{FF2B5EF4-FFF2-40B4-BE49-F238E27FC236}">
                <a16:creationId xmlns:a16="http://schemas.microsoft.com/office/drawing/2014/main" id="{8F6A3A82-A974-1223-6E47-16940D7F086A}"/>
              </a:ext>
            </a:extLst>
          </p:cNvPr>
          <p:cNvSpPr>
            <a:spLocks noGrp="1"/>
          </p:cNvSpPr>
          <p:nvPr>
            <p:ph type="dt" sz="half" idx="6"/>
          </p:nvPr>
        </p:nvSpPr>
        <p:spPr/>
        <p:txBody>
          <a:bodyPr/>
          <a:lstStyle/>
          <a:p>
            <a:pPr marL="12700">
              <a:lnSpc>
                <a:spcPts val="1240"/>
              </a:lnSpc>
            </a:pPr>
            <a:fld id="{32A6C190-B267-4023-AF82-8333AC94F0AE}" type="datetime1">
              <a:rPr lang="LID4096" spc="-5" smtClean="0"/>
              <a:t>01/23/2025</a:t>
            </a:fld>
            <a:endParaRPr lang="en-GB" spc="-5" dirty="0"/>
          </a:p>
        </p:txBody>
      </p:sp>
    </p:spTree>
    <p:extLst>
      <p:ext uri="{BB962C8B-B14F-4D97-AF65-F5344CB8AC3E}">
        <p14:creationId xmlns:p14="http://schemas.microsoft.com/office/powerpoint/2010/main" val="347648240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964547" y="1333417"/>
            <a:ext cx="9627253" cy="5298886"/>
          </a:xfrm>
          <a:prstGeom prst="rect">
            <a:avLst/>
          </a:prstGeom>
        </p:spPr>
        <p:txBody>
          <a:bodyPr vert="horz" wrap="square" lIns="0" tIns="96520" rIns="0" bIns="0" rtlCol="0">
            <a:spAutoFit/>
          </a:bodyPr>
          <a:lstStyle/>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5</a:t>
            </a:r>
            <a:r>
              <a:rPr lang="en-US" sz="2000" b="1" kern="100" dirty="0">
                <a:effectLst/>
                <a:ea typeface="Calibri" panose="020F0502020204030204" pitchFamily="34" charset="0"/>
                <a:cs typeface="Times New Roman" panose="02020603050405020304" pitchFamily="18" charset="0"/>
              </a:rPr>
              <a:t>: IoT Based Air Quality Monitoring System Using Arduino Shazia Afroze 1 , Md. </a:t>
            </a:r>
            <a:r>
              <a:rPr lang="en-US" sz="2000" b="1" kern="100" dirty="0" err="1">
                <a:effectLst/>
                <a:ea typeface="Calibri" panose="020F0502020204030204" pitchFamily="34" charset="0"/>
                <a:cs typeface="Times New Roman" panose="02020603050405020304" pitchFamily="18" charset="0"/>
              </a:rPr>
              <a:t>Istiak</a:t>
            </a:r>
            <a:r>
              <a:rPr lang="en-US" sz="2000" b="1" kern="100" dirty="0">
                <a:effectLst/>
                <a:ea typeface="Calibri" panose="020F0502020204030204" pitchFamily="34" charset="0"/>
                <a:cs typeface="Times New Roman" panose="02020603050405020304" pitchFamily="18" charset="0"/>
              </a:rPr>
              <a:t> Hossain Paran 2 , Stamford University Bangladesh (SUB) 2,3Student, Dept. of Electrical &amp; Electronic Engineering, Stamford University Bangladesh (SUB). </a:t>
            </a:r>
            <a:r>
              <a:rPr lang="en-US" sz="2000" b="1" u="sng" kern="100" dirty="0">
                <a:solidFill>
                  <a:srgbClr val="0563C1"/>
                </a:solidFill>
                <a:effectLst/>
                <a:ea typeface="Calibri" panose="020F0502020204030204" pitchFamily="34" charset="0"/>
                <a:cs typeface="Times New Roman" panose="02020603050405020304" pitchFamily="18" charset="0"/>
                <a:hlinkClick r:id="rId2"/>
              </a:rPr>
              <a:t>https://www.ijfmr.com/papers/2023/2/2260.pdf</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6</a:t>
            </a:r>
            <a:r>
              <a:rPr lang="en-US" sz="2000" b="1" kern="100" dirty="0">
                <a:effectLst/>
                <a:ea typeface="Calibri" panose="020F0502020204030204" pitchFamily="34" charset="0"/>
                <a:cs typeface="Times New Roman" panose="02020603050405020304" pitchFamily="18" charset="0"/>
              </a:rPr>
              <a:t>:</a:t>
            </a:r>
            <a:r>
              <a:rPr lang="en-US" sz="2000" b="1" kern="1800" dirty="0">
                <a:solidFill>
                  <a:srgbClr val="333333"/>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and Traffic Volume Correlation </a:t>
            </a:r>
            <a:r>
              <a:rPr lang="en-US" sz="2000" b="1" u="sng" kern="100" dirty="0">
                <a:solidFill>
                  <a:srgbClr val="0563C1"/>
                </a:solidFill>
                <a:effectLst/>
                <a:ea typeface="Calibri" panose="020F0502020204030204" pitchFamily="34" charset="0"/>
                <a:cs typeface="Times New Roman" panose="02020603050405020304" pitchFamily="18" charset="0"/>
                <a:hlinkClick r:id="rId3"/>
              </a:rPr>
              <a:t>Omar </a:t>
            </a:r>
            <a:r>
              <a:rPr lang="en-US" sz="2000" b="1" u="sng" kern="100" dirty="0" err="1">
                <a:solidFill>
                  <a:srgbClr val="0563C1"/>
                </a:solidFill>
                <a:effectLst/>
                <a:ea typeface="Calibri" panose="020F0502020204030204" pitchFamily="34" charset="0"/>
                <a:cs typeface="Times New Roman" panose="02020603050405020304" pitchFamily="18" charset="0"/>
                <a:hlinkClick r:id="rId3"/>
              </a:rPr>
              <a:t>Alruwaili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4"/>
              </a:rPr>
              <a:t>Ivica </a:t>
            </a:r>
            <a:r>
              <a:rPr lang="en-US" sz="2000" b="1" u="sng" kern="100" dirty="0" err="1">
                <a:solidFill>
                  <a:srgbClr val="0563C1"/>
                </a:solidFill>
                <a:effectLst/>
                <a:ea typeface="Calibri" panose="020F0502020204030204" pitchFamily="34" charset="0"/>
                <a:cs typeface="Times New Roman" panose="02020603050405020304" pitchFamily="18" charset="0"/>
                <a:hlinkClick r:id="rId4"/>
              </a:rPr>
              <a:t>Kostanic</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5"/>
              </a:rPr>
              <a:t>Ali Al-Sabbagh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6"/>
              </a:rPr>
              <a:t>Hamad </a:t>
            </a:r>
            <a:r>
              <a:rPr lang="en-US" sz="2000" b="1" u="sng" kern="100" dirty="0" err="1">
                <a:solidFill>
                  <a:srgbClr val="0563C1"/>
                </a:solidFill>
                <a:effectLst/>
                <a:ea typeface="Calibri" panose="020F0502020204030204" pitchFamily="34" charset="0"/>
                <a:cs typeface="Times New Roman" panose="02020603050405020304" pitchFamily="18" charset="0"/>
                <a:hlinkClick r:id="rId6"/>
              </a:rPr>
              <a:t>Almohamedh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7"/>
              </a:rPr>
              <a:t>https://ieeexplore.ieee.org/document/9298176/references#references</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7</a:t>
            </a:r>
            <a:r>
              <a:rPr lang="en-US" sz="2000" b="1" kern="100" dirty="0">
                <a:effectLst/>
                <a:ea typeface="Calibri" panose="020F0502020204030204" pitchFamily="34" charset="0"/>
                <a:cs typeface="Times New Roman" panose="02020603050405020304" pitchFamily="18" charset="0"/>
              </a:rPr>
              <a:t>: IoT-</a:t>
            </a:r>
            <a:r>
              <a:rPr lang="en-US" sz="2000" b="1" kern="100" dirty="0" err="1">
                <a:effectLst/>
                <a:ea typeface="Calibri" panose="020F0502020204030204" pitchFamily="34" charset="0"/>
                <a:cs typeface="Times New Roman" panose="02020603050405020304" pitchFamily="18" charset="0"/>
              </a:rPr>
              <a:t>based_air_quality_monitoring_systems_for_smart</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8"/>
              </a:rPr>
              <a:t>Danny </a:t>
            </a:r>
            <a:r>
              <a:rPr lang="en-US" sz="2000" b="1" u="sng" kern="100" dirty="0" err="1">
                <a:solidFill>
                  <a:srgbClr val="0563C1"/>
                </a:solidFill>
                <a:effectLst/>
                <a:ea typeface="Calibri" panose="020F0502020204030204" pitchFamily="34" charset="0"/>
                <a:cs typeface="Times New Roman" panose="02020603050405020304" pitchFamily="18" charset="0"/>
                <a:hlinkClick r:id="rId8"/>
              </a:rPr>
              <a:t>Múnera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Diana P. </a:t>
            </a:r>
            <a:r>
              <a:rPr lang="en-US" sz="2000" b="1" u="sng" kern="100" dirty="0" err="1">
                <a:solidFill>
                  <a:srgbClr val="0563C1"/>
                </a:solidFill>
                <a:effectLst/>
                <a:ea typeface="Calibri" panose="020F0502020204030204" pitchFamily="34" charset="0"/>
                <a:cs typeface="Times New Roman" panose="02020603050405020304" pitchFamily="18" charset="0"/>
                <a:hlinkClick r:id="rId9"/>
              </a:rPr>
              <a:t>Tobon</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 V.</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u="sng" kern="100" dirty="0">
                <a:solidFill>
                  <a:srgbClr val="0563C1"/>
                </a:solidFill>
                <a:effectLst/>
                <a:ea typeface="Calibri" panose="020F0502020204030204" pitchFamily="34" charset="0"/>
                <a:cs typeface="Times New Roman" panose="02020603050405020304" pitchFamily="18" charset="0"/>
                <a:hlinkClick r:id="rId10"/>
              </a:rPr>
              <a:t>Johnny Aguirre</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1"/>
              </a:rPr>
              <a:t>Natalia Gaviria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2"/>
              </a:rPr>
              <a:t>https://www.researchgate.net/publication/350823548_IoT-based_air_quality_monitoring_systems_for_smart_cities_A_systematic_mapping_study</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8: IoT-based_AQI_Estimation_using_Image_Processing_and_Learning_Methods </a:t>
            </a:r>
            <a:r>
              <a:rPr lang="en-US" sz="2000" b="1" u="sng" kern="100" dirty="0">
                <a:solidFill>
                  <a:srgbClr val="0563C1"/>
                </a:solidFill>
                <a:effectLst/>
                <a:ea typeface="Calibri" panose="020F0502020204030204" pitchFamily="34" charset="0"/>
                <a:cs typeface="Times New Roman" panose="02020603050405020304" pitchFamily="18" charset="0"/>
                <a:hlinkClick r:id="rId13"/>
              </a:rPr>
              <a:t>Nitin Nilesh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4"/>
              </a:rPr>
              <a:t>Ishan Patwardhan</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5"/>
              </a:rPr>
              <a:t>Jayati Narang</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6"/>
              </a:rPr>
              <a:t>Sachin Chaudhari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7"/>
              </a:rPr>
              <a:t>https://ieeexplore.ieee.org/document/10152272</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9:</a:t>
            </a:r>
            <a:r>
              <a:rPr lang="en-US" sz="2000" b="1" kern="1800" dirty="0">
                <a:solidFill>
                  <a:srgbClr val="F1F1F1"/>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(AQI) Monitoring with ESP8266 &amp; </a:t>
            </a:r>
            <a:r>
              <a:rPr lang="en-US" sz="1800" b="1" kern="100" dirty="0">
                <a:effectLst/>
                <a:ea typeface="Calibri" panose="020F0502020204030204" pitchFamily="34" charset="0"/>
                <a:cs typeface="Times New Roman" panose="02020603050405020304" pitchFamily="18" charset="0"/>
              </a:rPr>
              <a:t>Air Quality Sensor || Pollution in PPM. </a:t>
            </a:r>
            <a:r>
              <a:rPr lang="en-US" sz="1800" b="1" u="sng" kern="100" dirty="0">
                <a:solidFill>
                  <a:srgbClr val="0563C1"/>
                </a:solidFill>
                <a:effectLst/>
                <a:ea typeface="Calibri" panose="020F0502020204030204" pitchFamily="34" charset="0"/>
                <a:cs typeface="Times New Roman" panose="02020603050405020304" pitchFamily="18" charset="0"/>
                <a:hlinkClick r:id="rId18"/>
              </a:rPr>
              <a:t>https://www.youtube.com/watch?v=Ub1ciur95Nk</a:t>
            </a:r>
            <a:endParaRPr lang="en-US" sz="1800"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19"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
        <p:nvSpPr>
          <p:cNvPr id="5" name="Date Placeholder 4">
            <a:extLst>
              <a:ext uri="{FF2B5EF4-FFF2-40B4-BE49-F238E27FC236}">
                <a16:creationId xmlns:a16="http://schemas.microsoft.com/office/drawing/2014/main" id="{19980858-DD67-0E2B-4280-024978A240C2}"/>
              </a:ext>
            </a:extLst>
          </p:cNvPr>
          <p:cNvSpPr>
            <a:spLocks noGrp="1"/>
          </p:cNvSpPr>
          <p:nvPr>
            <p:ph type="dt" sz="half" idx="6"/>
          </p:nvPr>
        </p:nvSpPr>
        <p:spPr/>
        <p:txBody>
          <a:bodyPr/>
          <a:lstStyle/>
          <a:p>
            <a:pPr marL="12700">
              <a:lnSpc>
                <a:spcPts val="1240"/>
              </a:lnSpc>
            </a:pPr>
            <a:fld id="{F860FB93-682A-47AA-BC83-158DD8949A61}" type="datetime1">
              <a:rPr lang="LID4096" spc="-5" smtClean="0"/>
              <a:t>01/23/2025</a:t>
            </a:fld>
            <a:endParaRPr lang="en-GB" spc="-5" dirty="0"/>
          </a:p>
        </p:txBody>
      </p:sp>
    </p:spTree>
    <p:extLst>
      <p:ext uri="{BB962C8B-B14F-4D97-AF65-F5344CB8AC3E}">
        <p14:creationId xmlns:p14="http://schemas.microsoft.com/office/powerpoint/2010/main" val="23197526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2610587"/>
            <a:ext cx="2286000" cy="628377"/>
          </a:xfrm>
          <a:prstGeom prst="rect">
            <a:avLst/>
          </a:prstGeom>
        </p:spPr>
        <p:txBody>
          <a:bodyPr vert="horz" wrap="square" lIns="0" tIns="12700" rIns="0" bIns="0" rtlCol="0">
            <a:spAutoFit/>
          </a:bodyPr>
          <a:lstStyle/>
          <a:p>
            <a:pPr marL="12700" marR="5080">
              <a:lnSpc>
                <a:spcPct val="100000"/>
              </a:lnSpc>
              <a:spcBef>
                <a:spcPts val="100"/>
              </a:spcBef>
            </a:pPr>
            <a:r>
              <a:rPr spc="-5" dirty="0"/>
              <a:t>Thank You</a:t>
            </a:r>
          </a:p>
        </p:txBody>
      </p:sp>
      <p:pic>
        <p:nvPicPr>
          <p:cNvPr id="3" name="object 3"/>
          <p:cNvPicPr/>
          <p:nvPr/>
        </p:nvPicPr>
        <p:blipFill>
          <a:blip r:embed="rId2" cstate="print"/>
          <a:stretch>
            <a:fillRect/>
          </a:stretch>
        </p:blipFill>
        <p:spPr>
          <a:xfrm>
            <a:off x="10408725" y="154153"/>
            <a:ext cx="1401690" cy="140169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23</a:t>
            </a:fld>
            <a:endParaRPr dirty="0"/>
          </a:p>
        </p:txBody>
      </p:sp>
      <p:sp>
        <p:nvSpPr>
          <p:cNvPr id="4" name="Date Placeholder 3">
            <a:extLst>
              <a:ext uri="{FF2B5EF4-FFF2-40B4-BE49-F238E27FC236}">
                <a16:creationId xmlns:a16="http://schemas.microsoft.com/office/drawing/2014/main" id="{34A43B11-DD90-F6DC-527C-23AFCC7AD945}"/>
              </a:ext>
            </a:extLst>
          </p:cNvPr>
          <p:cNvSpPr>
            <a:spLocks noGrp="1"/>
          </p:cNvSpPr>
          <p:nvPr>
            <p:ph type="dt" sz="half" idx="6"/>
          </p:nvPr>
        </p:nvSpPr>
        <p:spPr/>
        <p:txBody>
          <a:bodyPr/>
          <a:lstStyle/>
          <a:p>
            <a:pPr marL="12700">
              <a:lnSpc>
                <a:spcPts val="1240"/>
              </a:lnSpc>
            </a:pPr>
            <a:fld id="{CF2DCEDD-F652-422E-9C56-2CBA6B9BE3AB}" type="datetime1">
              <a:rPr lang="LID4096" spc="-5" smtClean="0"/>
              <a:t>01/23/2025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10780</TotalTime>
  <Words>1042</Words>
  <Application>Microsoft Office PowerPoint</Application>
  <PresentationFormat>Widescreen</PresentationFormat>
  <Paragraphs>195</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Arial MT</vt:lpstr>
      <vt:lpstr>Calibri</vt:lpstr>
      <vt:lpstr>Times New Roman</vt:lpstr>
      <vt:lpstr>Office Theme</vt:lpstr>
      <vt:lpstr> </vt:lpstr>
      <vt:lpstr>IOT-Based  Air Quality  Index Meter System</vt:lpstr>
      <vt:lpstr>Outline:</vt:lpstr>
      <vt:lpstr>Introduction:</vt:lpstr>
      <vt:lpstr>Problem Statement:</vt:lpstr>
      <vt:lpstr>Objective:</vt:lpstr>
      <vt:lpstr>Literature Review:</vt:lpstr>
      <vt:lpstr> </vt:lpstr>
      <vt:lpstr>PowerPoint Presentation</vt:lpstr>
      <vt:lpstr>     </vt:lpstr>
      <vt:lpstr>ESP32 Diagram: </vt:lpstr>
      <vt:lpstr>ESP8266 Diagram:</vt:lpstr>
      <vt:lpstr>Arduino Uno Diagram:</vt:lpstr>
      <vt:lpstr>PM Sensors Diagram:</vt:lpstr>
      <vt:lpstr>MQ Sensors Diagram:</vt:lpstr>
      <vt:lpstr>Weatherproof Housing Diagram: </vt:lpstr>
      <vt:lpstr>Android Studio &amp; Firebase Diagram: </vt:lpstr>
      <vt:lpstr>Blynk App Diagram:</vt:lpstr>
      <vt:lpstr> Results: </vt:lpstr>
      <vt:lpstr> Results: </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Aqsa Shah</dc:creator>
  <cp:lastModifiedBy>huzaifa shahbaz</cp:lastModifiedBy>
  <cp:revision>78</cp:revision>
  <dcterms:created xsi:type="dcterms:W3CDTF">2023-10-03T09:34:06Z</dcterms:created>
  <dcterms:modified xsi:type="dcterms:W3CDTF">2025-01-23T19:02:16Z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