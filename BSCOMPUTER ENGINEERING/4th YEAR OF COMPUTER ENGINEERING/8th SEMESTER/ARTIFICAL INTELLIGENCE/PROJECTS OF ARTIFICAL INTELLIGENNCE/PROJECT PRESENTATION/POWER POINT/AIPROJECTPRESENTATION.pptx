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1" r:id="rId16"/>
    <p:sldId id="272" r:id="rId17"/>
    <p:sldId id="273" r:id="rId18"/>
    <p:sldId id="274" r:id="rId19"/>
    <p:sldId id="275" r:id="rId20"/>
    <p:sldId id="276" r:id="rId21"/>
    <p:sldId id="27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000" autoAdjust="0"/>
    <p:restoredTop sz="94660"/>
  </p:normalViewPr>
  <p:slideViewPr>
    <p:cSldViewPr snapToGrid="0">
      <p:cViewPr varScale="1">
        <p:scale>
          <a:sx n="62" d="100"/>
          <a:sy n="62" d="100"/>
        </p:scale>
        <p:origin x="978" y="66"/>
      </p:cViewPr>
      <p:guideLst/>
    </p:cSldViewPr>
  </p:slideViewPr>
  <p:notesTextViewPr>
    <p:cViewPr>
      <p:scale>
        <a:sx n="1" d="1"/>
        <a:sy n="1" d="1"/>
      </p:scale>
      <p:origin x="0" y="0"/>
    </p:cViewPr>
  </p:notesTextViewPr>
  <p:sorterViewPr>
    <p:cViewPr>
      <p:scale>
        <a:sx n="100" d="100"/>
        <a:sy n="100" d="100"/>
      </p:scale>
      <p:origin x="0" y="-678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3F52439-4304-4C91-92D5-7B23BF0C70D7}" type="doc">
      <dgm:prSet loTypeId="urn:microsoft.com/office/officeart/2016/7/layout/RepeatingBendingProcessNew" loCatId="process" qsTypeId="urn:microsoft.com/office/officeart/2005/8/quickstyle/simple1" qsCatId="simple" csTypeId="urn:microsoft.com/office/officeart/2005/8/colors/colorful1" csCatId="colorful"/>
      <dgm:spPr/>
      <dgm:t>
        <a:bodyPr/>
        <a:lstStyle/>
        <a:p>
          <a:endParaRPr lang="en-US"/>
        </a:p>
      </dgm:t>
    </dgm:pt>
    <dgm:pt modelId="{AA163294-0DB3-44DF-9235-3E1E46DEF68F}">
      <dgm:prSet/>
      <dgm:spPr/>
      <dgm:t>
        <a:bodyPr/>
        <a:lstStyle/>
        <a:p>
          <a:r>
            <a:rPr lang="en-US" b="0" i="0" dirty="0"/>
            <a:t>The process of using artificial intelligence for medical diagnosis through image classification typically follows these steps:</a:t>
          </a:r>
          <a:endParaRPr lang="en-US" dirty="0"/>
        </a:p>
      </dgm:t>
    </dgm:pt>
    <dgm:pt modelId="{0BC90D47-BFE8-4695-8A33-1B73890A37B4}" type="parTrans" cxnId="{1E9299F6-3C5C-43B1-9A9E-1FD18DD96672}">
      <dgm:prSet/>
      <dgm:spPr/>
      <dgm:t>
        <a:bodyPr/>
        <a:lstStyle/>
        <a:p>
          <a:endParaRPr lang="en-US"/>
        </a:p>
      </dgm:t>
    </dgm:pt>
    <dgm:pt modelId="{5B11D81E-F896-45A9-969F-389A62C76FBD}" type="sibTrans" cxnId="{1E9299F6-3C5C-43B1-9A9E-1FD18DD96672}">
      <dgm:prSet/>
      <dgm:spPr/>
      <dgm:t>
        <a:bodyPr/>
        <a:lstStyle/>
        <a:p>
          <a:endParaRPr lang="en-US"/>
        </a:p>
      </dgm:t>
    </dgm:pt>
    <dgm:pt modelId="{86911458-87F4-4840-8D85-4BCD6F003965}">
      <dgm:prSet/>
      <dgm:spPr/>
      <dgm:t>
        <a:bodyPr/>
        <a:lstStyle/>
        <a:p>
          <a:r>
            <a:rPr lang="en-US" b="0" i="0"/>
            <a:t>Data collection and preprocessing</a:t>
          </a:r>
          <a:endParaRPr lang="en-US"/>
        </a:p>
      </dgm:t>
    </dgm:pt>
    <dgm:pt modelId="{AB3376CE-BA26-4D70-AAD5-1AD1ACA8C7ED}" type="parTrans" cxnId="{6440B674-31CC-45DC-B61B-70C13171A2D1}">
      <dgm:prSet/>
      <dgm:spPr/>
      <dgm:t>
        <a:bodyPr/>
        <a:lstStyle/>
        <a:p>
          <a:endParaRPr lang="en-US"/>
        </a:p>
      </dgm:t>
    </dgm:pt>
    <dgm:pt modelId="{EF927AD3-0EE5-43EA-BFD1-6B057ADF2A52}" type="sibTrans" cxnId="{6440B674-31CC-45DC-B61B-70C13171A2D1}">
      <dgm:prSet/>
      <dgm:spPr/>
      <dgm:t>
        <a:bodyPr/>
        <a:lstStyle/>
        <a:p>
          <a:endParaRPr lang="en-US"/>
        </a:p>
      </dgm:t>
    </dgm:pt>
    <dgm:pt modelId="{E5A4DF8D-6232-4C4B-ADE8-6CC85C125B7C}">
      <dgm:prSet/>
      <dgm:spPr/>
      <dgm:t>
        <a:bodyPr/>
        <a:lstStyle/>
        <a:p>
          <a:r>
            <a:rPr lang="en-US" b="0" i="0"/>
            <a:t>Feature extraction</a:t>
          </a:r>
          <a:endParaRPr lang="en-US"/>
        </a:p>
      </dgm:t>
    </dgm:pt>
    <dgm:pt modelId="{4C7B94A3-1483-4B94-9593-613EA6F06444}" type="parTrans" cxnId="{2F0A4DD5-E1B6-4C10-9538-93088FA056EA}">
      <dgm:prSet/>
      <dgm:spPr/>
      <dgm:t>
        <a:bodyPr/>
        <a:lstStyle/>
        <a:p>
          <a:endParaRPr lang="en-US"/>
        </a:p>
      </dgm:t>
    </dgm:pt>
    <dgm:pt modelId="{4D93A476-1E6C-412E-99C9-9E7961B54923}" type="sibTrans" cxnId="{2F0A4DD5-E1B6-4C10-9538-93088FA056EA}">
      <dgm:prSet/>
      <dgm:spPr/>
      <dgm:t>
        <a:bodyPr/>
        <a:lstStyle/>
        <a:p>
          <a:endParaRPr lang="en-US"/>
        </a:p>
      </dgm:t>
    </dgm:pt>
    <dgm:pt modelId="{465E305B-0D43-4A91-818C-396853254F11}">
      <dgm:prSet/>
      <dgm:spPr/>
      <dgm:t>
        <a:bodyPr/>
        <a:lstStyle/>
        <a:p>
          <a:r>
            <a:rPr lang="en-US" b="0" i="0"/>
            <a:t>Model training and validation</a:t>
          </a:r>
          <a:endParaRPr lang="en-US"/>
        </a:p>
      </dgm:t>
    </dgm:pt>
    <dgm:pt modelId="{646698E7-F5A3-4506-80BC-0FCCEFB6EB69}" type="parTrans" cxnId="{C48DE0A2-B736-47DB-B2C2-4868751FEED2}">
      <dgm:prSet/>
      <dgm:spPr/>
      <dgm:t>
        <a:bodyPr/>
        <a:lstStyle/>
        <a:p>
          <a:endParaRPr lang="en-US"/>
        </a:p>
      </dgm:t>
    </dgm:pt>
    <dgm:pt modelId="{D36B5792-AC4C-4EA9-95B8-BA0CFB246A4B}" type="sibTrans" cxnId="{C48DE0A2-B736-47DB-B2C2-4868751FEED2}">
      <dgm:prSet/>
      <dgm:spPr/>
      <dgm:t>
        <a:bodyPr/>
        <a:lstStyle/>
        <a:p>
          <a:endParaRPr lang="en-US"/>
        </a:p>
      </dgm:t>
    </dgm:pt>
    <dgm:pt modelId="{C4945A59-A0BA-4456-9F2A-8C055BC77285}">
      <dgm:prSet/>
      <dgm:spPr/>
      <dgm:t>
        <a:bodyPr/>
        <a:lstStyle/>
        <a:p>
          <a:r>
            <a:rPr lang="en-US" b="0" i="0"/>
            <a:t>Model testing and performance evaluation</a:t>
          </a:r>
          <a:endParaRPr lang="en-US"/>
        </a:p>
      </dgm:t>
    </dgm:pt>
    <dgm:pt modelId="{15BC9061-1AD7-4031-8222-047A31384C9D}" type="parTrans" cxnId="{4FA54A77-45CD-412D-87C4-F0073E789673}">
      <dgm:prSet/>
      <dgm:spPr/>
      <dgm:t>
        <a:bodyPr/>
        <a:lstStyle/>
        <a:p>
          <a:endParaRPr lang="en-US"/>
        </a:p>
      </dgm:t>
    </dgm:pt>
    <dgm:pt modelId="{BD472A33-99A5-48B5-BFD2-A24A67BA4B8F}" type="sibTrans" cxnId="{4FA54A77-45CD-412D-87C4-F0073E789673}">
      <dgm:prSet/>
      <dgm:spPr/>
      <dgm:t>
        <a:bodyPr/>
        <a:lstStyle/>
        <a:p>
          <a:endParaRPr lang="en-US"/>
        </a:p>
      </dgm:t>
    </dgm:pt>
    <dgm:pt modelId="{2A62B1BC-923D-4F9C-B2E7-EFE2A6387AB2}">
      <dgm:prSet/>
      <dgm:spPr/>
      <dgm:t>
        <a:bodyPr/>
        <a:lstStyle/>
        <a:p>
          <a:r>
            <a:rPr lang="en-US" b="0" i="0"/>
            <a:t>Model deployment and clinical integration</a:t>
          </a:r>
          <a:endParaRPr lang="en-US"/>
        </a:p>
      </dgm:t>
    </dgm:pt>
    <dgm:pt modelId="{C3114F92-2AAF-4713-92ED-A1136FEDD6E9}" type="parTrans" cxnId="{6C5D3E63-8D85-4159-8EE7-BA0E19D37184}">
      <dgm:prSet/>
      <dgm:spPr/>
      <dgm:t>
        <a:bodyPr/>
        <a:lstStyle/>
        <a:p>
          <a:endParaRPr lang="en-US"/>
        </a:p>
      </dgm:t>
    </dgm:pt>
    <dgm:pt modelId="{55533B49-3204-4CA2-9D15-32B68F6209A1}" type="sibTrans" cxnId="{6C5D3E63-8D85-4159-8EE7-BA0E19D37184}">
      <dgm:prSet/>
      <dgm:spPr/>
      <dgm:t>
        <a:bodyPr/>
        <a:lstStyle/>
        <a:p>
          <a:endParaRPr lang="en-US"/>
        </a:p>
      </dgm:t>
    </dgm:pt>
    <dgm:pt modelId="{75BB5FE3-F387-41BF-873B-C91568780C15}">
      <dgm:prSet/>
      <dgm:spPr/>
      <dgm:t>
        <a:bodyPr/>
        <a:lstStyle/>
        <a:p>
          <a:r>
            <a:rPr lang="en-US" b="0" i="0"/>
            <a:t>Ethical consideration and bias mitigation</a:t>
          </a:r>
          <a:endParaRPr lang="en-US"/>
        </a:p>
      </dgm:t>
    </dgm:pt>
    <dgm:pt modelId="{EA0BE760-3AAD-4170-859D-D70FBBCD6A78}" type="parTrans" cxnId="{1BC7B60B-E118-44E9-8A67-26DA19EFA19E}">
      <dgm:prSet/>
      <dgm:spPr/>
      <dgm:t>
        <a:bodyPr/>
        <a:lstStyle/>
        <a:p>
          <a:endParaRPr lang="en-US"/>
        </a:p>
      </dgm:t>
    </dgm:pt>
    <dgm:pt modelId="{C885D142-0D07-4A57-B668-23AC350C116B}" type="sibTrans" cxnId="{1BC7B60B-E118-44E9-8A67-26DA19EFA19E}">
      <dgm:prSet/>
      <dgm:spPr/>
      <dgm:t>
        <a:bodyPr/>
        <a:lstStyle/>
        <a:p>
          <a:endParaRPr lang="en-US"/>
        </a:p>
      </dgm:t>
    </dgm:pt>
    <dgm:pt modelId="{AC7A267D-1CE1-4DD3-B041-65368B30BED0}" type="pres">
      <dgm:prSet presAssocID="{D3F52439-4304-4C91-92D5-7B23BF0C70D7}" presName="Name0" presStyleCnt="0">
        <dgm:presLayoutVars>
          <dgm:dir/>
          <dgm:resizeHandles val="exact"/>
        </dgm:presLayoutVars>
      </dgm:prSet>
      <dgm:spPr/>
    </dgm:pt>
    <dgm:pt modelId="{F3378C25-0732-458B-BB82-0E41439F1257}" type="pres">
      <dgm:prSet presAssocID="{AA163294-0DB3-44DF-9235-3E1E46DEF68F}" presName="node" presStyleLbl="node1" presStyleIdx="0" presStyleCnt="7">
        <dgm:presLayoutVars>
          <dgm:bulletEnabled val="1"/>
        </dgm:presLayoutVars>
      </dgm:prSet>
      <dgm:spPr/>
    </dgm:pt>
    <dgm:pt modelId="{E3E05C06-208A-4CEC-AF59-31E99B189579}" type="pres">
      <dgm:prSet presAssocID="{5B11D81E-F896-45A9-969F-389A62C76FBD}" presName="sibTrans" presStyleLbl="sibTrans1D1" presStyleIdx="0" presStyleCnt="6"/>
      <dgm:spPr/>
    </dgm:pt>
    <dgm:pt modelId="{B9ABB552-1D0C-4AC1-8243-6558F29693B3}" type="pres">
      <dgm:prSet presAssocID="{5B11D81E-F896-45A9-969F-389A62C76FBD}" presName="connectorText" presStyleLbl="sibTrans1D1" presStyleIdx="0" presStyleCnt="6"/>
      <dgm:spPr/>
    </dgm:pt>
    <dgm:pt modelId="{3F1ECBCC-6A41-4BE6-B1C9-BE6097F1D26D}" type="pres">
      <dgm:prSet presAssocID="{86911458-87F4-4840-8D85-4BCD6F003965}" presName="node" presStyleLbl="node1" presStyleIdx="1" presStyleCnt="7">
        <dgm:presLayoutVars>
          <dgm:bulletEnabled val="1"/>
        </dgm:presLayoutVars>
      </dgm:prSet>
      <dgm:spPr/>
    </dgm:pt>
    <dgm:pt modelId="{64EE6277-99E2-48DD-8EC9-BCDF6C83DB83}" type="pres">
      <dgm:prSet presAssocID="{EF927AD3-0EE5-43EA-BFD1-6B057ADF2A52}" presName="sibTrans" presStyleLbl="sibTrans1D1" presStyleIdx="1" presStyleCnt="6"/>
      <dgm:spPr/>
    </dgm:pt>
    <dgm:pt modelId="{718CFE94-3420-4CEB-80EA-11DABBDDFA3F}" type="pres">
      <dgm:prSet presAssocID="{EF927AD3-0EE5-43EA-BFD1-6B057ADF2A52}" presName="connectorText" presStyleLbl="sibTrans1D1" presStyleIdx="1" presStyleCnt="6"/>
      <dgm:spPr/>
    </dgm:pt>
    <dgm:pt modelId="{66B7F064-5C94-4EE2-AAF2-FA6982F0B6FB}" type="pres">
      <dgm:prSet presAssocID="{E5A4DF8D-6232-4C4B-ADE8-6CC85C125B7C}" presName="node" presStyleLbl="node1" presStyleIdx="2" presStyleCnt="7">
        <dgm:presLayoutVars>
          <dgm:bulletEnabled val="1"/>
        </dgm:presLayoutVars>
      </dgm:prSet>
      <dgm:spPr/>
    </dgm:pt>
    <dgm:pt modelId="{96A1FC1D-2CBA-4629-94CD-9890A6EA902F}" type="pres">
      <dgm:prSet presAssocID="{4D93A476-1E6C-412E-99C9-9E7961B54923}" presName="sibTrans" presStyleLbl="sibTrans1D1" presStyleIdx="2" presStyleCnt="6"/>
      <dgm:spPr/>
    </dgm:pt>
    <dgm:pt modelId="{0AB5B19A-FD2E-4EF2-AC07-6CEB16680F4E}" type="pres">
      <dgm:prSet presAssocID="{4D93A476-1E6C-412E-99C9-9E7961B54923}" presName="connectorText" presStyleLbl="sibTrans1D1" presStyleIdx="2" presStyleCnt="6"/>
      <dgm:spPr/>
    </dgm:pt>
    <dgm:pt modelId="{D07C8279-C64E-4E6E-8C36-8CF5456BF5F9}" type="pres">
      <dgm:prSet presAssocID="{465E305B-0D43-4A91-818C-396853254F11}" presName="node" presStyleLbl="node1" presStyleIdx="3" presStyleCnt="7">
        <dgm:presLayoutVars>
          <dgm:bulletEnabled val="1"/>
        </dgm:presLayoutVars>
      </dgm:prSet>
      <dgm:spPr/>
    </dgm:pt>
    <dgm:pt modelId="{1623FC9C-1134-42E6-BDC4-53ED31B4D720}" type="pres">
      <dgm:prSet presAssocID="{D36B5792-AC4C-4EA9-95B8-BA0CFB246A4B}" presName="sibTrans" presStyleLbl="sibTrans1D1" presStyleIdx="3" presStyleCnt="6"/>
      <dgm:spPr/>
    </dgm:pt>
    <dgm:pt modelId="{92226C86-6E16-4063-9BA3-F09FA901BD44}" type="pres">
      <dgm:prSet presAssocID="{D36B5792-AC4C-4EA9-95B8-BA0CFB246A4B}" presName="connectorText" presStyleLbl="sibTrans1D1" presStyleIdx="3" presStyleCnt="6"/>
      <dgm:spPr/>
    </dgm:pt>
    <dgm:pt modelId="{2FC5260B-662F-4F51-80BD-77F7C3BFB095}" type="pres">
      <dgm:prSet presAssocID="{C4945A59-A0BA-4456-9F2A-8C055BC77285}" presName="node" presStyleLbl="node1" presStyleIdx="4" presStyleCnt="7">
        <dgm:presLayoutVars>
          <dgm:bulletEnabled val="1"/>
        </dgm:presLayoutVars>
      </dgm:prSet>
      <dgm:spPr/>
    </dgm:pt>
    <dgm:pt modelId="{523F8CE1-CEA2-4F0A-81CA-2D3CE526481F}" type="pres">
      <dgm:prSet presAssocID="{BD472A33-99A5-48B5-BFD2-A24A67BA4B8F}" presName="sibTrans" presStyleLbl="sibTrans1D1" presStyleIdx="4" presStyleCnt="6"/>
      <dgm:spPr/>
    </dgm:pt>
    <dgm:pt modelId="{CEFD2810-A8A8-4F7E-A9B1-D11E660EE81E}" type="pres">
      <dgm:prSet presAssocID="{BD472A33-99A5-48B5-BFD2-A24A67BA4B8F}" presName="connectorText" presStyleLbl="sibTrans1D1" presStyleIdx="4" presStyleCnt="6"/>
      <dgm:spPr/>
    </dgm:pt>
    <dgm:pt modelId="{F90652E2-3F1D-4C8A-882D-F9C6B91ADE9D}" type="pres">
      <dgm:prSet presAssocID="{2A62B1BC-923D-4F9C-B2E7-EFE2A6387AB2}" presName="node" presStyleLbl="node1" presStyleIdx="5" presStyleCnt="7">
        <dgm:presLayoutVars>
          <dgm:bulletEnabled val="1"/>
        </dgm:presLayoutVars>
      </dgm:prSet>
      <dgm:spPr/>
    </dgm:pt>
    <dgm:pt modelId="{4D58418C-41D2-435D-8B6B-2EA0CF6E846D}" type="pres">
      <dgm:prSet presAssocID="{55533B49-3204-4CA2-9D15-32B68F6209A1}" presName="sibTrans" presStyleLbl="sibTrans1D1" presStyleIdx="5" presStyleCnt="6"/>
      <dgm:spPr/>
    </dgm:pt>
    <dgm:pt modelId="{2CA08C8E-C23C-42EA-8CD8-F2D2636DC366}" type="pres">
      <dgm:prSet presAssocID="{55533B49-3204-4CA2-9D15-32B68F6209A1}" presName="connectorText" presStyleLbl="sibTrans1D1" presStyleIdx="5" presStyleCnt="6"/>
      <dgm:spPr/>
    </dgm:pt>
    <dgm:pt modelId="{9F0EF6A0-77AC-4A41-8D67-4C51896E87D8}" type="pres">
      <dgm:prSet presAssocID="{75BB5FE3-F387-41BF-873B-C91568780C15}" presName="node" presStyleLbl="node1" presStyleIdx="6" presStyleCnt="7">
        <dgm:presLayoutVars>
          <dgm:bulletEnabled val="1"/>
        </dgm:presLayoutVars>
      </dgm:prSet>
      <dgm:spPr/>
    </dgm:pt>
  </dgm:ptLst>
  <dgm:cxnLst>
    <dgm:cxn modelId="{CBCB2004-A09C-408E-B12E-55F6D6DE9348}" type="presOf" srcId="{BD472A33-99A5-48B5-BFD2-A24A67BA4B8F}" destId="{CEFD2810-A8A8-4F7E-A9B1-D11E660EE81E}" srcOrd="1" destOrd="0" presId="urn:microsoft.com/office/officeart/2016/7/layout/RepeatingBendingProcessNew"/>
    <dgm:cxn modelId="{8F238305-CD41-485C-92F9-9579FE45E955}" type="presOf" srcId="{D3F52439-4304-4C91-92D5-7B23BF0C70D7}" destId="{AC7A267D-1CE1-4DD3-B041-65368B30BED0}" srcOrd="0" destOrd="0" presId="urn:microsoft.com/office/officeart/2016/7/layout/RepeatingBendingProcessNew"/>
    <dgm:cxn modelId="{1BC7B60B-E118-44E9-8A67-26DA19EFA19E}" srcId="{D3F52439-4304-4C91-92D5-7B23BF0C70D7}" destId="{75BB5FE3-F387-41BF-873B-C91568780C15}" srcOrd="6" destOrd="0" parTransId="{EA0BE760-3AAD-4170-859D-D70FBBCD6A78}" sibTransId="{C885D142-0D07-4A57-B668-23AC350C116B}"/>
    <dgm:cxn modelId="{13BFA913-F553-4531-87DC-666FFC68C08E}" type="presOf" srcId="{EF927AD3-0EE5-43EA-BFD1-6B057ADF2A52}" destId="{64EE6277-99E2-48DD-8EC9-BCDF6C83DB83}" srcOrd="0" destOrd="0" presId="urn:microsoft.com/office/officeart/2016/7/layout/RepeatingBendingProcessNew"/>
    <dgm:cxn modelId="{A3BB291D-A356-4B2D-AABA-ED66EB30CC1F}" type="presOf" srcId="{EF927AD3-0EE5-43EA-BFD1-6B057ADF2A52}" destId="{718CFE94-3420-4CEB-80EA-11DABBDDFA3F}" srcOrd="1" destOrd="0" presId="urn:microsoft.com/office/officeart/2016/7/layout/RepeatingBendingProcessNew"/>
    <dgm:cxn modelId="{D375DA31-6358-4DED-882D-8F99B87F2F97}" type="presOf" srcId="{AA163294-0DB3-44DF-9235-3E1E46DEF68F}" destId="{F3378C25-0732-458B-BB82-0E41439F1257}" srcOrd="0" destOrd="0" presId="urn:microsoft.com/office/officeart/2016/7/layout/RepeatingBendingProcessNew"/>
    <dgm:cxn modelId="{F355ED5C-C97B-4A24-9B33-467C6AFED22D}" type="presOf" srcId="{55533B49-3204-4CA2-9D15-32B68F6209A1}" destId="{4D58418C-41D2-435D-8B6B-2EA0CF6E846D}" srcOrd="0" destOrd="0" presId="urn:microsoft.com/office/officeart/2016/7/layout/RepeatingBendingProcessNew"/>
    <dgm:cxn modelId="{6C5D3E63-8D85-4159-8EE7-BA0E19D37184}" srcId="{D3F52439-4304-4C91-92D5-7B23BF0C70D7}" destId="{2A62B1BC-923D-4F9C-B2E7-EFE2A6387AB2}" srcOrd="5" destOrd="0" parTransId="{C3114F92-2AAF-4713-92ED-A1136FEDD6E9}" sibTransId="{55533B49-3204-4CA2-9D15-32B68F6209A1}"/>
    <dgm:cxn modelId="{B34F3368-0C7A-4CE9-B13B-FCD8C3F87DF5}" type="presOf" srcId="{D36B5792-AC4C-4EA9-95B8-BA0CFB246A4B}" destId="{92226C86-6E16-4063-9BA3-F09FA901BD44}" srcOrd="1" destOrd="0" presId="urn:microsoft.com/office/officeart/2016/7/layout/RepeatingBendingProcessNew"/>
    <dgm:cxn modelId="{6440B674-31CC-45DC-B61B-70C13171A2D1}" srcId="{D3F52439-4304-4C91-92D5-7B23BF0C70D7}" destId="{86911458-87F4-4840-8D85-4BCD6F003965}" srcOrd="1" destOrd="0" parTransId="{AB3376CE-BA26-4D70-AAD5-1AD1ACA8C7ED}" sibTransId="{EF927AD3-0EE5-43EA-BFD1-6B057ADF2A52}"/>
    <dgm:cxn modelId="{197E9676-CEF3-48C7-BAAB-EE23BDB95F7D}" type="presOf" srcId="{5B11D81E-F896-45A9-969F-389A62C76FBD}" destId="{B9ABB552-1D0C-4AC1-8243-6558F29693B3}" srcOrd="1" destOrd="0" presId="urn:microsoft.com/office/officeart/2016/7/layout/RepeatingBendingProcessNew"/>
    <dgm:cxn modelId="{4FA54A77-45CD-412D-87C4-F0073E789673}" srcId="{D3F52439-4304-4C91-92D5-7B23BF0C70D7}" destId="{C4945A59-A0BA-4456-9F2A-8C055BC77285}" srcOrd="4" destOrd="0" parTransId="{15BC9061-1AD7-4031-8222-047A31384C9D}" sibTransId="{BD472A33-99A5-48B5-BFD2-A24A67BA4B8F}"/>
    <dgm:cxn modelId="{7051A659-A9D3-4E4E-9A5E-890C5670FAA5}" type="presOf" srcId="{C4945A59-A0BA-4456-9F2A-8C055BC77285}" destId="{2FC5260B-662F-4F51-80BD-77F7C3BFB095}" srcOrd="0" destOrd="0" presId="urn:microsoft.com/office/officeart/2016/7/layout/RepeatingBendingProcessNew"/>
    <dgm:cxn modelId="{1EA7727C-73F6-4A31-ABDC-CB78908B9905}" type="presOf" srcId="{5B11D81E-F896-45A9-969F-389A62C76FBD}" destId="{E3E05C06-208A-4CEC-AF59-31E99B189579}" srcOrd="0" destOrd="0" presId="urn:microsoft.com/office/officeart/2016/7/layout/RepeatingBendingProcessNew"/>
    <dgm:cxn modelId="{33CA828B-A843-4565-820B-A3F86EC3326F}" type="presOf" srcId="{86911458-87F4-4840-8D85-4BCD6F003965}" destId="{3F1ECBCC-6A41-4BE6-B1C9-BE6097F1D26D}" srcOrd="0" destOrd="0" presId="urn:microsoft.com/office/officeart/2016/7/layout/RepeatingBendingProcessNew"/>
    <dgm:cxn modelId="{7B7A7CA1-4BBE-44F1-B626-7C46F99C67B0}" type="presOf" srcId="{2A62B1BC-923D-4F9C-B2E7-EFE2A6387AB2}" destId="{F90652E2-3F1D-4C8A-882D-F9C6B91ADE9D}" srcOrd="0" destOrd="0" presId="urn:microsoft.com/office/officeart/2016/7/layout/RepeatingBendingProcessNew"/>
    <dgm:cxn modelId="{C48DE0A2-B736-47DB-B2C2-4868751FEED2}" srcId="{D3F52439-4304-4C91-92D5-7B23BF0C70D7}" destId="{465E305B-0D43-4A91-818C-396853254F11}" srcOrd="3" destOrd="0" parTransId="{646698E7-F5A3-4506-80BC-0FCCEFB6EB69}" sibTransId="{D36B5792-AC4C-4EA9-95B8-BA0CFB246A4B}"/>
    <dgm:cxn modelId="{827C30B1-E180-42CA-BD3F-C8B51EC0C990}" type="presOf" srcId="{4D93A476-1E6C-412E-99C9-9E7961B54923}" destId="{0AB5B19A-FD2E-4EF2-AC07-6CEB16680F4E}" srcOrd="1" destOrd="0" presId="urn:microsoft.com/office/officeart/2016/7/layout/RepeatingBendingProcessNew"/>
    <dgm:cxn modelId="{7B4EC2B7-6857-45DE-B496-C694463B4CDD}" type="presOf" srcId="{55533B49-3204-4CA2-9D15-32B68F6209A1}" destId="{2CA08C8E-C23C-42EA-8CD8-F2D2636DC366}" srcOrd="1" destOrd="0" presId="urn:microsoft.com/office/officeart/2016/7/layout/RepeatingBendingProcessNew"/>
    <dgm:cxn modelId="{11082DC0-6316-418C-9B4E-BE2D61FF7971}" type="presOf" srcId="{E5A4DF8D-6232-4C4B-ADE8-6CC85C125B7C}" destId="{66B7F064-5C94-4EE2-AAF2-FA6982F0B6FB}" srcOrd="0" destOrd="0" presId="urn:microsoft.com/office/officeart/2016/7/layout/RepeatingBendingProcessNew"/>
    <dgm:cxn modelId="{505EAACE-CC02-4C7F-8D5B-DE7EAC08F728}" type="presOf" srcId="{BD472A33-99A5-48B5-BFD2-A24A67BA4B8F}" destId="{523F8CE1-CEA2-4F0A-81CA-2D3CE526481F}" srcOrd="0" destOrd="0" presId="urn:microsoft.com/office/officeart/2016/7/layout/RepeatingBendingProcessNew"/>
    <dgm:cxn modelId="{2F0A4DD5-E1B6-4C10-9538-93088FA056EA}" srcId="{D3F52439-4304-4C91-92D5-7B23BF0C70D7}" destId="{E5A4DF8D-6232-4C4B-ADE8-6CC85C125B7C}" srcOrd="2" destOrd="0" parTransId="{4C7B94A3-1483-4B94-9593-613EA6F06444}" sibTransId="{4D93A476-1E6C-412E-99C9-9E7961B54923}"/>
    <dgm:cxn modelId="{66EFFDDD-48F8-4CA6-A555-3D4CDEDF6F38}" type="presOf" srcId="{D36B5792-AC4C-4EA9-95B8-BA0CFB246A4B}" destId="{1623FC9C-1134-42E6-BDC4-53ED31B4D720}" srcOrd="0" destOrd="0" presId="urn:microsoft.com/office/officeart/2016/7/layout/RepeatingBendingProcessNew"/>
    <dgm:cxn modelId="{1BC2FDE3-52BA-4FF7-B940-6C7B420CD6C8}" type="presOf" srcId="{75BB5FE3-F387-41BF-873B-C91568780C15}" destId="{9F0EF6A0-77AC-4A41-8D67-4C51896E87D8}" srcOrd="0" destOrd="0" presId="urn:microsoft.com/office/officeart/2016/7/layout/RepeatingBendingProcessNew"/>
    <dgm:cxn modelId="{2ECE76E9-13FF-455D-8F90-C655A00231ED}" type="presOf" srcId="{4D93A476-1E6C-412E-99C9-9E7961B54923}" destId="{96A1FC1D-2CBA-4629-94CD-9890A6EA902F}" srcOrd="0" destOrd="0" presId="urn:microsoft.com/office/officeart/2016/7/layout/RepeatingBendingProcessNew"/>
    <dgm:cxn modelId="{E07291F6-5E94-4167-A10E-A8BA4D0E448E}" type="presOf" srcId="{465E305B-0D43-4A91-818C-396853254F11}" destId="{D07C8279-C64E-4E6E-8C36-8CF5456BF5F9}" srcOrd="0" destOrd="0" presId="urn:microsoft.com/office/officeart/2016/7/layout/RepeatingBendingProcessNew"/>
    <dgm:cxn modelId="{1E9299F6-3C5C-43B1-9A9E-1FD18DD96672}" srcId="{D3F52439-4304-4C91-92D5-7B23BF0C70D7}" destId="{AA163294-0DB3-44DF-9235-3E1E46DEF68F}" srcOrd="0" destOrd="0" parTransId="{0BC90D47-BFE8-4695-8A33-1B73890A37B4}" sibTransId="{5B11D81E-F896-45A9-969F-389A62C76FBD}"/>
    <dgm:cxn modelId="{9ED4289A-E2B2-42D2-A3E8-BF79C0ECD33A}" type="presParOf" srcId="{AC7A267D-1CE1-4DD3-B041-65368B30BED0}" destId="{F3378C25-0732-458B-BB82-0E41439F1257}" srcOrd="0" destOrd="0" presId="urn:microsoft.com/office/officeart/2016/7/layout/RepeatingBendingProcessNew"/>
    <dgm:cxn modelId="{55F5AA87-DC97-494F-BB1F-414E702DB259}" type="presParOf" srcId="{AC7A267D-1CE1-4DD3-B041-65368B30BED0}" destId="{E3E05C06-208A-4CEC-AF59-31E99B189579}" srcOrd="1" destOrd="0" presId="urn:microsoft.com/office/officeart/2016/7/layout/RepeatingBendingProcessNew"/>
    <dgm:cxn modelId="{08DD5E72-33B2-4A77-A007-6D3622C77A08}" type="presParOf" srcId="{E3E05C06-208A-4CEC-AF59-31E99B189579}" destId="{B9ABB552-1D0C-4AC1-8243-6558F29693B3}" srcOrd="0" destOrd="0" presId="urn:microsoft.com/office/officeart/2016/7/layout/RepeatingBendingProcessNew"/>
    <dgm:cxn modelId="{0DF4C6AD-22F3-45B2-ACB6-A3D738108AEB}" type="presParOf" srcId="{AC7A267D-1CE1-4DD3-B041-65368B30BED0}" destId="{3F1ECBCC-6A41-4BE6-B1C9-BE6097F1D26D}" srcOrd="2" destOrd="0" presId="urn:microsoft.com/office/officeart/2016/7/layout/RepeatingBendingProcessNew"/>
    <dgm:cxn modelId="{7DC4AC16-3483-40C5-82D0-A7BFDE853A1B}" type="presParOf" srcId="{AC7A267D-1CE1-4DD3-B041-65368B30BED0}" destId="{64EE6277-99E2-48DD-8EC9-BCDF6C83DB83}" srcOrd="3" destOrd="0" presId="urn:microsoft.com/office/officeart/2016/7/layout/RepeatingBendingProcessNew"/>
    <dgm:cxn modelId="{6697F116-367B-4F3C-9FE9-8C044D04D7E6}" type="presParOf" srcId="{64EE6277-99E2-48DD-8EC9-BCDF6C83DB83}" destId="{718CFE94-3420-4CEB-80EA-11DABBDDFA3F}" srcOrd="0" destOrd="0" presId="urn:microsoft.com/office/officeart/2016/7/layout/RepeatingBendingProcessNew"/>
    <dgm:cxn modelId="{3CC8B11C-6B50-4BC5-A724-F4DE8DEADEF2}" type="presParOf" srcId="{AC7A267D-1CE1-4DD3-B041-65368B30BED0}" destId="{66B7F064-5C94-4EE2-AAF2-FA6982F0B6FB}" srcOrd="4" destOrd="0" presId="urn:microsoft.com/office/officeart/2016/7/layout/RepeatingBendingProcessNew"/>
    <dgm:cxn modelId="{AEB9C98B-DE74-448F-9D16-654F5D533B15}" type="presParOf" srcId="{AC7A267D-1CE1-4DD3-B041-65368B30BED0}" destId="{96A1FC1D-2CBA-4629-94CD-9890A6EA902F}" srcOrd="5" destOrd="0" presId="urn:microsoft.com/office/officeart/2016/7/layout/RepeatingBendingProcessNew"/>
    <dgm:cxn modelId="{603B1D8B-26FC-4BF4-909C-8D989FB88DF3}" type="presParOf" srcId="{96A1FC1D-2CBA-4629-94CD-9890A6EA902F}" destId="{0AB5B19A-FD2E-4EF2-AC07-6CEB16680F4E}" srcOrd="0" destOrd="0" presId="urn:microsoft.com/office/officeart/2016/7/layout/RepeatingBendingProcessNew"/>
    <dgm:cxn modelId="{B21BF5E7-3F32-4522-913D-AB9B13ED00E1}" type="presParOf" srcId="{AC7A267D-1CE1-4DD3-B041-65368B30BED0}" destId="{D07C8279-C64E-4E6E-8C36-8CF5456BF5F9}" srcOrd="6" destOrd="0" presId="urn:microsoft.com/office/officeart/2016/7/layout/RepeatingBendingProcessNew"/>
    <dgm:cxn modelId="{D3665981-947C-484B-A897-BBCDFFA16CCA}" type="presParOf" srcId="{AC7A267D-1CE1-4DD3-B041-65368B30BED0}" destId="{1623FC9C-1134-42E6-BDC4-53ED31B4D720}" srcOrd="7" destOrd="0" presId="urn:microsoft.com/office/officeart/2016/7/layout/RepeatingBendingProcessNew"/>
    <dgm:cxn modelId="{53F2C163-36D6-407F-8534-B740D356D104}" type="presParOf" srcId="{1623FC9C-1134-42E6-BDC4-53ED31B4D720}" destId="{92226C86-6E16-4063-9BA3-F09FA901BD44}" srcOrd="0" destOrd="0" presId="urn:microsoft.com/office/officeart/2016/7/layout/RepeatingBendingProcessNew"/>
    <dgm:cxn modelId="{A66979A3-2D0C-4856-B09D-621A76B04577}" type="presParOf" srcId="{AC7A267D-1CE1-4DD3-B041-65368B30BED0}" destId="{2FC5260B-662F-4F51-80BD-77F7C3BFB095}" srcOrd="8" destOrd="0" presId="urn:microsoft.com/office/officeart/2016/7/layout/RepeatingBendingProcessNew"/>
    <dgm:cxn modelId="{7554CA30-1EF3-494C-A1B3-8782576B47F9}" type="presParOf" srcId="{AC7A267D-1CE1-4DD3-B041-65368B30BED0}" destId="{523F8CE1-CEA2-4F0A-81CA-2D3CE526481F}" srcOrd="9" destOrd="0" presId="urn:microsoft.com/office/officeart/2016/7/layout/RepeatingBendingProcessNew"/>
    <dgm:cxn modelId="{CFADB9B1-66E9-4529-A9BE-12F1F68795B9}" type="presParOf" srcId="{523F8CE1-CEA2-4F0A-81CA-2D3CE526481F}" destId="{CEFD2810-A8A8-4F7E-A9B1-D11E660EE81E}" srcOrd="0" destOrd="0" presId="urn:microsoft.com/office/officeart/2016/7/layout/RepeatingBendingProcessNew"/>
    <dgm:cxn modelId="{27189505-1523-4C33-82B7-B5AF1028B576}" type="presParOf" srcId="{AC7A267D-1CE1-4DD3-B041-65368B30BED0}" destId="{F90652E2-3F1D-4C8A-882D-F9C6B91ADE9D}" srcOrd="10" destOrd="0" presId="urn:microsoft.com/office/officeart/2016/7/layout/RepeatingBendingProcessNew"/>
    <dgm:cxn modelId="{B1DFE8A3-1BA2-4D9A-A0F3-D6CBFA8D07B9}" type="presParOf" srcId="{AC7A267D-1CE1-4DD3-B041-65368B30BED0}" destId="{4D58418C-41D2-435D-8B6B-2EA0CF6E846D}" srcOrd="11" destOrd="0" presId="urn:microsoft.com/office/officeart/2016/7/layout/RepeatingBendingProcessNew"/>
    <dgm:cxn modelId="{F80B415C-4F97-45F3-8B77-8B6C017376FB}" type="presParOf" srcId="{4D58418C-41D2-435D-8B6B-2EA0CF6E846D}" destId="{2CA08C8E-C23C-42EA-8CD8-F2D2636DC366}" srcOrd="0" destOrd="0" presId="urn:microsoft.com/office/officeart/2016/7/layout/RepeatingBendingProcessNew"/>
    <dgm:cxn modelId="{0E848634-B409-459F-A7BE-6540A77A4875}" type="presParOf" srcId="{AC7A267D-1CE1-4DD3-B041-65368B30BED0}" destId="{9F0EF6A0-77AC-4A41-8D67-4C51896E87D8}" srcOrd="12"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E404A31-7ED4-4CF5-B26D-3D313EA6CE18}"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8E1A7CB3-1075-4B62-9339-FA4F546C4201}">
      <dgm:prSet/>
      <dgm:spPr/>
      <dgm:t>
        <a:bodyPr/>
        <a:lstStyle/>
        <a:p>
          <a:r>
            <a:rPr lang="en-US" b="0" i="0"/>
            <a:t>In 2012, the success of deep convolutional neural networks (CNNs) on ImageNet led to their adoption in medical image classification.</a:t>
          </a:r>
          <a:endParaRPr lang="en-US"/>
        </a:p>
      </dgm:t>
    </dgm:pt>
    <dgm:pt modelId="{83733BF7-DBB3-407D-B596-78A0061B9EB2}" type="parTrans" cxnId="{EF1A51C0-C69F-45AC-876D-1E41A3F36A50}">
      <dgm:prSet/>
      <dgm:spPr/>
      <dgm:t>
        <a:bodyPr/>
        <a:lstStyle/>
        <a:p>
          <a:endParaRPr lang="en-US"/>
        </a:p>
      </dgm:t>
    </dgm:pt>
    <dgm:pt modelId="{5D41D14B-7C93-4F59-BBCD-B9E75D7A93C5}" type="sibTrans" cxnId="{EF1A51C0-C69F-45AC-876D-1E41A3F36A50}">
      <dgm:prSet/>
      <dgm:spPr/>
      <dgm:t>
        <a:bodyPr/>
        <a:lstStyle/>
        <a:p>
          <a:endParaRPr lang="en-US"/>
        </a:p>
      </dgm:t>
    </dgm:pt>
    <dgm:pt modelId="{7E25ED06-A546-4EE4-ACF0-CFFBB24B62A9}">
      <dgm:prSet/>
      <dgm:spPr/>
      <dgm:t>
        <a:bodyPr/>
        <a:lstStyle/>
        <a:p>
          <a:r>
            <a:rPr lang="en-US" b="0" i="0"/>
            <a:t>Key milestones:</a:t>
          </a:r>
          <a:endParaRPr lang="en-US"/>
        </a:p>
      </dgm:t>
    </dgm:pt>
    <dgm:pt modelId="{9D5B1B6D-205B-4F41-B7E7-8D9EC784A412}" type="parTrans" cxnId="{5773CA00-DC3D-43E9-BF2A-05637CC7DD2D}">
      <dgm:prSet/>
      <dgm:spPr/>
      <dgm:t>
        <a:bodyPr/>
        <a:lstStyle/>
        <a:p>
          <a:endParaRPr lang="en-US"/>
        </a:p>
      </dgm:t>
    </dgm:pt>
    <dgm:pt modelId="{48BE942D-BD8E-462F-9EFD-4CA77693B48E}" type="sibTrans" cxnId="{5773CA00-DC3D-43E9-BF2A-05637CC7DD2D}">
      <dgm:prSet/>
      <dgm:spPr/>
      <dgm:t>
        <a:bodyPr/>
        <a:lstStyle/>
        <a:p>
          <a:endParaRPr lang="en-US"/>
        </a:p>
      </dgm:t>
    </dgm:pt>
    <dgm:pt modelId="{66F3346C-8F8C-4B23-8A6D-235DA1392A1F}">
      <dgm:prSet/>
      <dgm:spPr/>
      <dgm:t>
        <a:bodyPr/>
        <a:lstStyle/>
        <a:p>
          <a:r>
            <a:rPr lang="en-US" b="0" i="0"/>
            <a:t>2016</a:t>
          </a:r>
          <a:r>
            <a:rPr lang="en-US"/>
            <a:t> </a:t>
          </a:r>
          <a:r>
            <a:rPr lang="en-US" b="0" i="0"/>
            <a:t> Google's DeepMind has developed an AI that accurately diagnoses diabetic retinopathy using retinal fundus images</a:t>
          </a:r>
          <a:endParaRPr lang="en-US"/>
        </a:p>
      </dgm:t>
    </dgm:pt>
    <dgm:pt modelId="{6077202A-7713-47BB-B417-19CD46B42C74}" type="parTrans" cxnId="{C82BB15C-E770-4961-8DEE-78D14F1B4505}">
      <dgm:prSet/>
      <dgm:spPr/>
      <dgm:t>
        <a:bodyPr/>
        <a:lstStyle/>
        <a:p>
          <a:endParaRPr lang="en-US"/>
        </a:p>
      </dgm:t>
    </dgm:pt>
    <dgm:pt modelId="{262A36D4-4377-4EA4-B4F0-2899505BFCD8}" type="sibTrans" cxnId="{C82BB15C-E770-4961-8DEE-78D14F1B4505}">
      <dgm:prSet/>
      <dgm:spPr/>
      <dgm:t>
        <a:bodyPr/>
        <a:lstStyle/>
        <a:p>
          <a:endParaRPr lang="en-US"/>
        </a:p>
      </dgm:t>
    </dgm:pt>
    <dgm:pt modelId="{4B55804F-EC65-4ECC-9DE7-6930BCBAADE9}">
      <dgm:prSet/>
      <dgm:spPr/>
      <dgm:t>
        <a:bodyPr/>
        <a:lstStyle/>
        <a:p>
          <a:r>
            <a:rPr lang="en-US" b="0" i="0"/>
            <a:t>2017-2018  Stanford researchers utilized CNNs for skin cancer classification, achieving dermatologists' level accuracy</a:t>
          </a:r>
          <a:endParaRPr lang="en-US"/>
        </a:p>
      </dgm:t>
    </dgm:pt>
    <dgm:pt modelId="{3C1F645B-A6A6-4985-A830-C5A6F3B21F44}" type="parTrans" cxnId="{7EC1A776-0DA2-47D3-B2DB-93E83920D046}">
      <dgm:prSet/>
      <dgm:spPr/>
      <dgm:t>
        <a:bodyPr/>
        <a:lstStyle/>
        <a:p>
          <a:endParaRPr lang="en-US"/>
        </a:p>
      </dgm:t>
    </dgm:pt>
    <dgm:pt modelId="{1F5627A3-3568-429D-B027-EFA4B5035905}" type="sibTrans" cxnId="{7EC1A776-0DA2-47D3-B2DB-93E83920D046}">
      <dgm:prSet/>
      <dgm:spPr/>
      <dgm:t>
        <a:bodyPr/>
        <a:lstStyle/>
        <a:p>
          <a:endParaRPr lang="en-US"/>
        </a:p>
      </dgm:t>
    </dgm:pt>
    <dgm:pt modelId="{D7712E38-298C-485F-9EC8-A55E1F3FF282}">
      <dgm:prSet/>
      <dgm:spPr/>
      <dgm:t>
        <a:bodyPr/>
        <a:lstStyle/>
        <a:p>
          <a:r>
            <a:rPr lang="en-US" b="0" i="0"/>
            <a:t>Radiology   AI models have significantly outperformed radiologists in detecting pneumonia, COVID-19, and breast cancer using X-rays and MRIs</a:t>
          </a:r>
          <a:endParaRPr lang="en-US"/>
        </a:p>
      </dgm:t>
    </dgm:pt>
    <dgm:pt modelId="{D0C75A9E-AD0D-41FE-81E7-FC2F936173AD}" type="parTrans" cxnId="{01F20B84-852A-4491-8C03-0E2742FA2032}">
      <dgm:prSet/>
      <dgm:spPr/>
      <dgm:t>
        <a:bodyPr/>
        <a:lstStyle/>
        <a:p>
          <a:endParaRPr lang="en-US"/>
        </a:p>
      </dgm:t>
    </dgm:pt>
    <dgm:pt modelId="{3CF1DB85-9183-4F3A-86CE-493553B558F8}" type="sibTrans" cxnId="{01F20B84-852A-4491-8C03-0E2742FA2032}">
      <dgm:prSet/>
      <dgm:spPr/>
      <dgm:t>
        <a:bodyPr/>
        <a:lstStyle/>
        <a:p>
          <a:endParaRPr lang="en-US"/>
        </a:p>
      </dgm:t>
    </dgm:pt>
    <dgm:pt modelId="{C9342DAE-2D08-4B0A-B8D3-C79A42ADF820}" type="pres">
      <dgm:prSet presAssocID="{BE404A31-7ED4-4CF5-B26D-3D313EA6CE18}" presName="linear" presStyleCnt="0">
        <dgm:presLayoutVars>
          <dgm:animLvl val="lvl"/>
          <dgm:resizeHandles val="exact"/>
        </dgm:presLayoutVars>
      </dgm:prSet>
      <dgm:spPr/>
    </dgm:pt>
    <dgm:pt modelId="{51766594-3006-449B-8F73-2C3CF0AA033E}" type="pres">
      <dgm:prSet presAssocID="{8E1A7CB3-1075-4B62-9339-FA4F546C4201}" presName="parentText" presStyleLbl="node1" presStyleIdx="0" presStyleCnt="5">
        <dgm:presLayoutVars>
          <dgm:chMax val="0"/>
          <dgm:bulletEnabled val="1"/>
        </dgm:presLayoutVars>
      </dgm:prSet>
      <dgm:spPr/>
    </dgm:pt>
    <dgm:pt modelId="{9D3F23E8-8376-4EFE-9F2A-4EEEE7AF7A79}" type="pres">
      <dgm:prSet presAssocID="{5D41D14B-7C93-4F59-BBCD-B9E75D7A93C5}" presName="spacer" presStyleCnt="0"/>
      <dgm:spPr/>
    </dgm:pt>
    <dgm:pt modelId="{52081FEB-2B51-4E14-A4EB-E3848C2F7A67}" type="pres">
      <dgm:prSet presAssocID="{7E25ED06-A546-4EE4-ACF0-CFFBB24B62A9}" presName="parentText" presStyleLbl="node1" presStyleIdx="1" presStyleCnt="5">
        <dgm:presLayoutVars>
          <dgm:chMax val="0"/>
          <dgm:bulletEnabled val="1"/>
        </dgm:presLayoutVars>
      </dgm:prSet>
      <dgm:spPr/>
    </dgm:pt>
    <dgm:pt modelId="{FF5B62A8-A5C8-4672-A615-FA4CECD90108}" type="pres">
      <dgm:prSet presAssocID="{48BE942D-BD8E-462F-9EFD-4CA77693B48E}" presName="spacer" presStyleCnt="0"/>
      <dgm:spPr/>
    </dgm:pt>
    <dgm:pt modelId="{C6774F4C-43C7-4456-8B47-47FCE54FC06C}" type="pres">
      <dgm:prSet presAssocID="{66F3346C-8F8C-4B23-8A6D-235DA1392A1F}" presName="parentText" presStyleLbl="node1" presStyleIdx="2" presStyleCnt="5">
        <dgm:presLayoutVars>
          <dgm:chMax val="0"/>
          <dgm:bulletEnabled val="1"/>
        </dgm:presLayoutVars>
      </dgm:prSet>
      <dgm:spPr/>
    </dgm:pt>
    <dgm:pt modelId="{F5590E17-F21F-4C70-8720-032684ACAAA5}" type="pres">
      <dgm:prSet presAssocID="{262A36D4-4377-4EA4-B4F0-2899505BFCD8}" presName="spacer" presStyleCnt="0"/>
      <dgm:spPr/>
    </dgm:pt>
    <dgm:pt modelId="{A3EC5A7A-65F5-471B-944E-7D072EF6FCAA}" type="pres">
      <dgm:prSet presAssocID="{4B55804F-EC65-4ECC-9DE7-6930BCBAADE9}" presName="parentText" presStyleLbl="node1" presStyleIdx="3" presStyleCnt="5">
        <dgm:presLayoutVars>
          <dgm:chMax val="0"/>
          <dgm:bulletEnabled val="1"/>
        </dgm:presLayoutVars>
      </dgm:prSet>
      <dgm:spPr/>
    </dgm:pt>
    <dgm:pt modelId="{203C8DAE-9281-435E-AB68-7C30A1AE8964}" type="pres">
      <dgm:prSet presAssocID="{1F5627A3-3568-429D-B027-EFA4B5035905}" presName="spacer" presStyleCnt="0"/>
      <dgm:spPr/>
    </dgm:pt>
    <dgm:pt modelId="{1C342FF8-6499-4984-A6F4-1EF975D01F43}" type="pres">
      <dgm:prSet presAssocID="{D7712E38-298C-485F-9EC8-A55E1F3FF282}" presName="parentText" presStyleLbl="node1" presStyleIdx="4" presStyleCnt="5">
        <dgm:presLayoutVars>
          <dgm:chMax val="0"/>
          <dgm:bulletEnabled val="1"/>
        </dgm:presLayoutVars>
      </dgm:prSet>
      <dgm:spPr/>
    </dgm:pt>
  </dgm:ptLst>
  <dgm:cxnLst>
    <dgm:cxn modelId="{5773CA00-DC3D-43E9-BF2A-05637CC7DD2D}" srcId="{BE404A31-7ED4-4CF5-B26D-3D313EA6CE18}" destId="{7E25ED06-A546-4EE4-ACF0-CFFBB24B62A9}" srcOrd="1" destOrd="0" parTransId="{9D5B1B6D-205B-4F41-B7E7-8D9EC784A412}" sibTransId="{48BE942D-BD8E-462F-9EFD-4CA77693B48E}"/>
    <dgm:cxn modelId="{93F25E10-AF5C-4ED6-8529-027111850605}" type="presOf" srcId="{7E25ED06-A546-4EE4-ACF0-CFFBB24B62A9}" destId="{52081FEB-2B51-4E14-A4EB-E3848C2F7A67}" srcOrd="0" destOrd="0" presId="urn:microsoft.com/office/officeart/2005/8/layout/vList2"/>
    <dgm:cxn modelId="{C97DF519-0C78-4012-88BF-834317D76120}" type="presOf" srcId="{8E1A7CB3-1075-4B62-9339-FA4F546C4201}" destId="{51766594-3006-449B-8F73-2C3CF0AA033E}" srcOrd="0" destOrd="0" presId="urn:microsoft.com/office/officeart/2005/8/layout/vList2"/>
    <dgm:cxn modelId="{C82BB15C-E770-4961-8DEE-78D14F1B4505}" srcId="{BE404A31-7ED4-4CF5-B26D-3D313EA6CE18}" destId="{66F3346C-8F8C-4B23-8A6D-235DA1392A1F}" srcOrd="2" destOrd="0" parTransId="{6077202A-7713-47BB-B417-19CD46B42C74}" sibTransId="{262A36D4-4377-4EA4-B4F0-2899505BFCD8}"/>
    <dgm:cxn modelId="{7EC1A776-0DA2-47D3-B2DB-93E83920D046}" srcId="{BE404A31-7ED4-4CF5-B26D-3D313EA6CE18}" destId="{4B55804F-EC65-4ECC-9DE7-6930BCBAADE9}" srcOrd="3" destOrd="0" parTransId="{3C1F645B-A6A6-4985-A830-C5A6F3B21F44}" sibTransId="{1F5627A3-3568-429D-B027-EFA4B5035905}"/>
    <dgm:cxn modelId="{668D6280-B3C8-4A0F-A4EB-6951D6DEE14D}" type="presOf" srcId="{66F3346C-8F8C-4B23-8A6D-235DA1392A1F}" destId="{C6774F4C-43C7-4456-8B47-47FCE54FC06C}" srcOrd="0" destOrd="0" presId="urn:microsoft.com/office/officeart/2005/8/layout/vList2"/>
    <dgm:cxn modelId="{01F20B84-852A-4491-8C03-0E2742FA2032}" srcId="{BE404A31-7ED4-4CF5-B26D-3D313EA6CE18}" destId="{D7712E38-298C-485F-9EC8-A55E1F3FF282}" srcOrd="4" destOrd="0" parTransId="{D0C75A9E-AD0D-41FE-81E7-FC2F936173AD}" sibTransId="{3CF1DB85-9183-4F3A-86CE-493553B558F8}"/>
    <dgm:cxn modelId="{6E6B589E-58B9-420F-ABF5-99BC2FDEF0E2}" type="presOf" srcId="{4B55804F-EC65-4ECC-9DE7-6930BCBAADE9}" destId="{A3EC5A7A-65F5-471B-944E-7D072EF6FCAA}" srcOrd="0" destOrd="0" presId="urn:microsoft.com/office/officeart/2005/8/layout/vList2"/>
    <dgm:cxn modelId="{EF1A51C0-C69F-45AC-876D-1E41A3F36A50}" srcId="{BE404A31-7ED4-4CF5-B26D-3D313EA6CE18}" destId="{8E1A7CB3-1075-4B62-9339-FA4F546C4201}" srcOrd="0" destOrd="0" parTransId="{83733BF7-DBB3-407D-B596-78A0061B9EB2}" sibTransId="{5D41D14B-7C93-4F59-BBCD-B9E75D7A93C5}"/>
    <dgm:cxn modelId="{662B8DC3-08E8-42F7-85B6-9A190C6363E8}" type="presOf" srcId="{BE404A31-7ED4-4CF5-B26D-3D313EA6CE18}" destId="{C9342DAE-2D08-4B0A-B8D3-C79A42ADF820}" srcOrd="0" destOrd="0" presId="urn:microsoft.com/office/officeart/2005/8/layout/vList2"/>
    <dgm:cxn modelId="{3F5B42EB-5CAB-4177-9ECB-CB0696B2609E}" type="presOf" srcId="{D7712E38-298C-485F-9EC8-A55E1F3FF282}" destId="{1C342FF8-6499-4984-A6F4-1EF975D01F43}" srcOrd="0" destOrd="0" presId="urn:microsoft.com/office/officeart/2005/8/layout/vList2"/>
    <dgm:cxn modelId="{F7D6DD8B-9DCE-4F70-BD61-F5E98D7EBC33}" type="presParOf" srcId="{C9342DAE-2D08-4B0A-B8D3-C79A42ADF820}" destId="{51766594-3006-449B-8F73-2C3CF0AA033E}" srcOrd="0" destOrd="0" presId="urn:microsoft.com/office/officeart/2005/8/layout/vList2"/>
    <dgm:cxn modelId="{23473E81-7294-4A85-A992-81780BF071C4}" type="presParOf" srcId="{C9342DAE-2D08-4B0A-B8D3-C79A42ADF820}" destId="{9D3F23E8-8376-4EFE-9F2A-4EEEE7AF7A79}" srcOrd="1" destOrd="0" presId="urn:microsoft.com/office/officeart/2005/8/layout/vList2"/>
    <dgm:cxn modelId="{463246FC-B76D-498A-BC19-9FC70ED7BC98}" type="presParOf" srcId="{C9342DAE-2D08-4B0A-B8D3-C79A42ADF820}" destId="{52081FEB-2B51-4E14-A4EB-E3848C2F7A67}" srcOrd="2" destOrd="0" presId="urn:microsoft.com/office/officeart/2005/8/layout/vList2"/>
    <dgm:cxn modelId="{1034DDCC-0AFC-4658-80CC-C41C8BDC7F34}" type="presParOf" srcId="{C9342DAE-2D08-4B0A-B8D3-C79A42ADF820}" destId="{FF5B62A8-A5C8-4672-A615-FA4CECD90108}" srcOrd="3" destOrd="0" presId="urn:microsoft.com/office/officeart/2005/8/layout/vList2"/>
    <dgm:cxn modelId="{B413D357-855A-4499-80B1-221469FD7691}" type="presParOf" srcId="{C9342DAE-2D08-4B0A-B8D3-C79A42ADF820}" destId="{C6774F4C-43C7-4456-8B47-47FCE54FC06C}" srcOrd="4" destOrd="0" presId="urn:microsoft.com/office/officeart/2005/8/layout/vList2"/>
    <dgm:cxn modelId="{DE47066B-84BF-44C9-87E4-7EAD7BC2A9F9}" type="presParOf" srcId="{C9342DAE-2D08-4B0A-B8D3-C79A42ADF820}" destId="{F5590E17-F21F-4C70-8720-032684ACAAA5}" srcOrd="5" destOrd="0" presId="urn:microsoft.com/office/officeart/2005/8/layout/vList2"/>
    <dgm:cxn modelId="{30DD1573-77F4-440B-AF54-55915EAE3024}" type="presParOf" srcId="{C9342DAE-2D08-4B0A-B8D3-C79A42ADF820}" destId="{A3EC5A7A-65F5-471B-944E-7D072EF6FCAA}" srcOrd="6" destOrd="0" presId="urn:microsoft.com/office/officeart/2005/8/layout/vList2"/>
    <dgm:cxn modelId="{6DF707F7-2D80-4302-AA92-B2B421012640}" type="presParOf" srcId="{C9342DAE-2D08-4B0A-B8D3-C79A42ADF820}" destId="{203C8DAE-9281-435E-AB68-7C30A1AE8964}" srcOrd="7" destOrd="0" presId="urn:microsoft.com/office/officeart/2005/8/layout/vList2"/>
    <dgm:cxn modelId="{163C200F-9309-4D2D-A226-C505C1EB08A3}" type="presParOf" srcId="{C9342DAE-2D08-4B0A-B8D3-C79A42ADF820}" destId="{1C342FF8-6499-4984-A6F4-1EF975D01F43}"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DB4F9CD-45E6-453D-BE25-EB9C22BD6A2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3CCA9AB9-1986-4F83-A7A3-5891261DDBAD}">
      <dgm:prSet/>
      <dgm:spPr/>
      <dgm:t>
        <a:bodyPr/>
        <a:lstStyle/>
        <a:p>
          <a:r>
            <a:rPr lang="en-US" b="0" i="0"/>
            <a:t>The medical imaging industry is transitioning towards explainable AI , multi-modal models, and federated learning to enhance trust, performance, and privacy.</a:t>
          </a:r>
          <a:endParaRPr lang="en-US"/>
        </a:p>
      </dgm:t>
    </dgm:pt>
    <dgm:pt modelId="{E9C92121-C945-4FFE-9E45-5D7FC7A51D48}" type="parTrans" cxnId="{DD0293BB-A651-4457-AF51-21E8CC0D8D94}">
      <dgm:prSet/>
      <dgm:spPr/>
      <dgm:t>
        <a:bodyPr/>
        <a:lstStyle/>
        <a:p>
          <a:endParaRPr lang="en-US"/>
        </a:p>
      </dgm:t>
    </dgm:pt>
    <dgm:pt modelId="{FC4372AD-E5EE-40D5-AA07-65045909579D}" type="sibTrans" cxnId="{DD0293BB-A651-4457-AF51-21E8CC0D8D94}">
      <dgm:prSet/>
      <dgm:spPr/>
      <dgm:t>
        <a:bodyPr/>
        <a:lstStyle/>
        <a:p>
          <a:endParaRPr lang="en-US"/>
        </a:p>
      </dgm:t>
    </dgm:pt>
    <dgm:pt modelId="{A3C941CE-F6A8-4008-A68C-2728283510AF}">
      <dgm:prSet/>
      <dgm:spPr/>
      <dgm:t>
        <a:bodyPr/>
        <a:lstStyle/>
        <a:p>
          <a:r>
            <a:rPr lang="en-US" b="0" i="0"/>
            <a:t>Multi-modal learning is the integration of image data with electronic health records (EHRs) is a significant advancement in healthcare technology</a:t>
          </a:r>
          <a:endParaRPr lang="en-US"/>
        </a:p>
      </dgm:t>
    </dgm:pt>
    <dgm:pt modelId="{B8A84B19-808B-491B-B479-DD6B3A903387}" type="parTrans" cxnId="{4B9278B0-E5D6-44A9-8EDD-BC48EDB47B8B}">
      <dgm:prSet/>
      <dgm:spPr/>
      <dgm:t>
        <a:bodyPr/>
        <a:lstStyle/>
        <a:p>
          <a:endParaRPr lang="en-US"/>
        </a:p>
      </dgm:t>
    </dgm:pt>
    <dgm:pt modelId="{91B7725C-22D0-41B5-9C72-7304EF6093E3}" type="sibTrans" cxnId="{4B9278B0-E5D6-44A9-8EDD-BC48EDB47B8B}">
      <dgm:prSet/>
      <dgm:spPr/>
      <dgm:t>
        <a:bodyPr/>
        <a:lstStyle/>
        <a:p>
          <a:endParaRPr lang="en-US"/>
        </a:p>
      </dgm:t>
    </dgm:pt>
    <dgm:pt modelId="{B083AF08-8725-4060-A5DB-D79B0CFA717C}">
      <dgm:prSet/>
      <dgm:spPr/>
      <dgm:t>
        <a:bodyPr/>
        <a:lstStyle/>
        <a:p>
          <a:r>
            <a:rPr lang="en-US" b="0" i="0"/>
            <a:t>Self-supervised learning is the goal is to decrease the reliance on labeled datasets</a:t>
          </a:r>
          <a:endParaRPr lang="en-US"/>
        </a:p>
      </dgm:t>
    </dgm:pt>
    <dgm:pt modelId="{7278806A-B69E-46C2-AC64-BEFD3FB9C1D4}" type="parTrans" cxnId="{3EF5EB06-ED78-4792-8E66-919604252BF6}">
      <dgm:prSet/>
      <dgm:spPr/>
      <dgm:t>
        <a:bodyPr/>
        <a:lstStyle/>
        <a:p>
          <a:endParaRPr lang="en-US"/>
        </a:p>
      </dgm:t>
    </dgm:pt>
    <dgm:pt modelId="{8AC36773-5AE0-4D3B-B4CF-B3D5874638A7}" type="sibTrans" cxnId="{3EF5EB06-ED78-4792-8E66-919604252BF6}">
      <dgm:prSet/>
      <dgm:spPr/>
      <dgm:t>
        <a:bodyPr/>
        <a:lstStyle/>
        <a:p>
          <a:endParaRPr lang="en-US"/>
        </a:p>
      </dgm:t>
    </dgm:pt>
    <dgm:pt modelId="{2E8B4EFC-7A82-463B-9202-63326933299E}">
      <dgm:prSet/>
      <dgm:spPr/>
      <dgm:t>
        <a:bodyPr/>
        <a:lstStyle/>
        <a:p>
          <a:r>
            <a:rPr lang="en-US" b="0" i="0"/>
            <a:t>FDA approvals is over 100 AI-based medical imaging systems have been FDA-cleared for clinical use</a:t>
          </a:r>
          <a:endParaRPr lang="en-US"/>
        </a:p>
      </dgm:t>
    </dgm:pt>
    <dgm:pt modelId="{1084C2D7-7DF6-4EB9-A410-3038B926AFF1}" type="parTrans" cxnId="{3867701D-D2A7-439B-BF8B-553F49E1B566}">
      <dgm:prSet/>
      <dgm:spPr/>
      <dgm:t>
        <a:bodyPr/>
        <a:lstStyle/>
        <a:p>
          <a:endParaRPr lang="en-US"/>
        </a:p>
      </dgm:t>
    </dgm:pt>
    <dgm:pt modelId="{AA4505E0-0460-44CA-A1C0-B01667E2EFA3}" type="sibTrans" cxnId="{3867701D-D2A7-439B-BF8B-553F49E1B566}">
      <dgm:prSet/>
      <dgm:spPr/>
      <dgm:t>
        <a:bodyPr/>
        <a:lstStyle/>
        <a:p>
          <a:endParaRPr lang="en-US"/>
        </a:p>
      </dgm:t>
    </dgm:pt>
    <dgm:pt modelId="{E554CA7F-7477-4A06-8B0D-05AF7818DBB1}" type="pres">
      <dgm:prSet presAssocID="{ADB4F9CD-45E6-453D-BE25-EB9C22BD6A25}" presName="linear" presStyleCnt="0">
        <dgm:presLayoutVars>
          <dgm:animLvl val="lvl"/>
          <dgm:resizeHandles val="exact"/>
        </dgm:presLayoutVars>
      </dgm:prSet>
      <dgm:spPr/>
    </dgm:pt>
    <dgm:pt modelId="{675E6CB1-BD39-47F4-B130-54FE70FBE24D}" type="pres">
      <dgm:prSet presAssocID="{3CCA9AB9-1986-4F83-A7A3-5891261DDBAD}" presName="parentText" presStyleLbl="node1" presStyleIdx="0" presStyleCnt="4">
        <dgm:presLayoutVars>
          <dgm:chMax val="0"/>
          <dgm:bulletEnabled val="1"/>
        </dgm:presLayoutVars>
      </dgm:prSet>
      <dgm:spPr/>
    </dgm:pt>
    <dgm:pt modelId="{3A09E995-492A-4A10-BC1F-C09CD40950C3}" type="pres">
      <dgm:prSet presAssocID="{FC4372AD-E5EE-40D5-AA07-65045909579D}" presName="spacer" presStyleCnt="0"/>
      <dgm:spPr/>
    </dgm:pt>
    <dgm:pt modelId="{4FD46A94-4A58-4AAD-A767-51C75C54D92D}" type="pres">
      <dgm:prSet presAssocID="{A3C941CE-F6A8-4008-A68C-2728283510AF}" presName="parentText" presStyleLbl="node1" presStyleIdx="1" presStyleCnt="4">
        <dgm:presLayoutVars>
          <dgm:chMax val="0"/>
          <dgm:bulletEnabled val="1"/>
        </dgm:presLayoutVars>
      </dgm:prSet>
      <dgm:spPr/>
    </dgm:pt>
    <dgm:pt modelId="{1DC022BC-3E31-4DDA-A754-68A684E519CD}" type="pres">
      <dgm:prSet presAssocID="{91B7725C-22D0-41B5-9C72-7304EF6093E3}" presName="spacer" presStyleCnt="0"/>
      <dgm:spPr/>
    </dgm:pt>
    <dgm:pt modelId="{A926FEC0-F5E3-4690-920B-C8EC86C91E31}" type="pres">
      <dgm:prSet presAssocID="{B083AF08-8725-4060-A5DB-D79B0CFA717C}" presName="parentText" presStyleLbl="node1" presStyleIdx="2" presStyleCnt="4">
        <dgm:presLayoutVars>
          <dgm:chMax val="0"/>
          <dgm:bulletEnabled val="1"/>
        </dgm:presLayoutVars>
      </dgm:prSet>
      <dgm:spPr/>
    </dgm:pt>
    <dgm:pt modelId="{7857E703-B3C0-4842-B096-BBF848426E18}" type="pres">
      <dgm:prSet presAssocID="{8AC36773-5AE0-4D3B-B4CF-B3D5874638A7}" presName="spacer" presStyleCnt="0"/>
      <dgm:spPr/>
    </dgm:pt>
    <dgm:pt modelId="{950C0140-9089-44F5-BD70-4605F2904144}" type="pres">
      <dgm:prSet presAssocID="{2E8B4EFC-7A82-463B-9202-63326933299E}" presName="parentText" presStyleLbl="node1" presStyleIdx="3" presStyleCnt="4">
        <dgm:presLayoutVars>
          <dgm:chMax val="0"/>
          <dgm:bulletEnabled val="1"/>
        </dgm:presLayoutVars>
      </dgm:prSet>
      <dgm:spPr/>
    </dgm:pt>
  </dgm:ptLst>
  <dgm:cxnLst>
    <dgm:cxn modelId="{3EF5EB06-ED78-4792-8E66-919604252BF6}" srcId="{ADB4F9CD-45E6-453D-BE25-EB9C22BD6A25}" destId="{B083AF08-8725-4060-A5DB-D79B0CFA717C}" srcOrd="2" destOrd="0" parTransId="{7278806A-B69E-46C2-AC64-BEFD3FB9C1D4}" sibTransId="{8AC36773-5AE0-4D3B-B4CF-B3D5874638A7}"/>
    <dgm:cxn modelId="{3867701D-D2A7-439B-BF8B-553F49E1B566}" srcId="{ADB4F9CD-45E6-453D-BE25-EB9C22BD6A25}" destId="{2E8B4EFC-7A82-463B-9202-63326933299E}" srcOrd="3" destOrd="0" parTransId="{1084C2D7-7DF6-4EB9-A410-3038B926AFF1}" sibTransId="{AA4505E0-0460-44CA-A1C0-B01667E2EFA3}"/>
    <dgm:cxn modelId="{C95BF731-BF64-4CEE-B8FB-C0A6336C99D1}" type="presOf" srcId="{A3C941CE-F6A8-4008-A68C-2728283510AF}" destId="{4FD46A94-4A58-4AAD-A767-51C75C54D92D}" srcOrd="0" destOrd="0" presId="urn:microsoft.com/office/officeart/2005/8/layout/vList2"/>
    <dgm:cxn modelId="{F4EF73AD-F701-4C3D-A8B1-4CE1D88F6995}" type="presOf" srcId="{ADB4F9CD-45E6-453D-BE25-EB9C22BD6A25}" destId="{E554CA7F-7477-4A06-8B0D-05AF7818DBB1}" srcOrd="0" destOrd="0" presId="urn:microsoft.com/office/officeart/2005/8/layout/vList2"/>
    <dgm:cxn modelId="{4B9278B0-E5D6-44A9-8EDD-BC48EDB47B8B}" srcId="{ADB4F9CD-45E6-453D-BE25-EB9C22BD6A25}" destId="{A3C941CE-F6A8-4008-A68C-2728283510AF}" srcOrd="1" destOrd="0" parTransId="{B8A84B19-808B-491B-B479-DD6B3A903387}" sibTransId="{91B7725C-22D0-41B5-9C72-7304EF6093E3}"/>
    <dgm:cxn modelId="{DD0293BB-A651-4457-AF51-21E8CC0D8D94}" srcId="{ADB4F9CD-45E6-453D-BE25-EB9C22BD6A25}" destId="{3CCA9AB9-1986-4F83-A7A3-5891261DDBAD}" srcOrd="0" destOrd="0" parTransId="{E9C92121-C945-4FFE-9E45-5D7FC7A51D48}" sibTransId="{FC4372AD-E5EE-40D5-AA07-65045909579D}"/>
    <dgm:cxn modelId="{547964C0-D787-4E57-B56D-D77F2950DC3E}" type="presOf" srcId="{3CCA9AB9-1986-4F83-A7A3-5891261DDBAD}" destId="{675E6CB1-BD39-47F4-B130-54FE70FBE24D}" srcOrd="0" destOrd="0" presId="urn:microsoft.com/office/officeart/2005/8/layout/vList2"/>
    <dgm:cxn modelId="{7EC89DD1-817E-4EAD-8B53-5253F358DBF8}" type="presOf" srcId="{B083AF08-8725-4060-A5DB-D79B0CFA717C}" destId="{A926FEC0-F5E3-4690-920B-C8EC86C91E31}" srcOrd="0" destOrd="0" presId="urn:microsoft.com/office/officeart/2005/8/layout/vList2"/>
    <dgm:cxn modelId="{553939E5-5CC7-4253-AE6B-30120DF3CB5D}" type="presOf" srcId="{2E8B4EFC-7A82-463B-9202-63326933299E}" destId="{950C0140-9089-44F5-BD70-4605F2904144}" srcOrd="0" destOrd="0" presId="urn:microsoft.com/office/officeart/2005/8/layout/vList2"/>
    <dgm:cxn modelId="{444F6DE6-D959-4620-9030-4AEA25475439}" type="presParOf" srcId="{E554CA7F-7477-4A06-8B0D-05AF7818DBB1}" destId="{675E6CB1-BD39-47F4-B130-54FE70FBE24D}" srcOrd="0" destOrd="0" presId="urn:microsoft.com/office/officeart/2005/8/layout/vList2"/>
    <dgm:cxn modelId="{82A8BD3A-A3D9-4326-93DB-F0723017F071}" type="presParOf" srcId="{E554CA7F-7477-4A06-8B0D-05AF7818DBB1}" destId="{3A09E995-492A-4A10-BC1F-C09CD40950C3}" srcOrd="1" destOrd="0" presId="urn:microsoft.com/office/officeart/2005/8/layout/vList2"/>
    <dgm:cxn modelId="{21859D03-15DB-446A-8633-9F6C51F62229}" type="presParOf" srcId="{E554CA7F-7477-4A06-8B0D-05AF7818DBB1}" destId="{4FD46A94-4A58-4AAD-A767-51C75C54D92D}" srcOrd="2" destOrd="0" presId="urn:microsoft.com/office/officeart/2005/8/layout/vList2"/>
    <dgm:cxn modelId="{79BD87C8-F5AA-4062-A1A1-72762E2105D4}" type="presParOf" srcId="{E554CA7F-7477-4A06-8B0D-05AF7818DBB1}" destId="{1DC022BC-3E31-4DDA-A754-68A684E519CD}" srcOrd="3" destOrd="0" presId="urn:microsoft.com/office/officeart/2005/8/layout/vList2"/>
    <dgm:cxn modelId="{6AC4E8F2-6E75-4DC3-9C82-EB65B3AFB741}" type="presParOf" srcId="{E554CA7F-7477-4A06-8B0D-05AF7818DBB1}" destId="{A926FEC0-F5E3-4690-920B-C8EC86C91E31}" srcOrd="4" destOrd="0" presId="urn:microsoft.com/office/officeart/2005/8/layout/vList2"/>
    <dgm:cxn modelId="{DEC606A1-DBE8-46BC-AEF5-2374D75C9661}" type="presParOf" srcId="{E554CA7F-7477-4A06-8B0D-05AF7818DBB1}" destId="{7857E703-B3C0-4842-B096-BBF848426E18}" srcOrd="5" destOrd="0" presId="urn:microsoft.com/office/officeart/2005/8/layout/vList2"/>
    <dgm:cxn modelId="{96D0375A-40CC-46A1-AC47-EC93417D4599}" type="presParOf" srcId="{E554CA7F-7477-4A06-8B0D-05AF7818DBB1}" destId="{950C0140-9089-44F5-BD70-4605F2904144}"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E480D07-1750-42E4-839C-8EE1F47C432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E641BAAD-BCE9-48A2-89F3-455CE3E8DA19}">
      <dgm:prSet/>
      <dgm:spPr/>
      <dgm:t>
        <a:bodyPr/>
        <a:lstStyle/>
        <a:p>
          <a:r>
            <a:rPr lang="en-US" b="0" i="0"/>
            <a:t>AI for medical diagnosis has the potential to revolutionize healthcare by providing accurate and efficient diagnosis of diseases</a:t>
          </a:r>
          <a:endParaRPr lang="en-US"/>
        </a:p>
      </dgm:t>
    </dgm:pt>
    <dgm:pt modelId="{8EA26AE2-AC25-440F-8FB4-051CBE1BE706}" type="parTrans" cxnId="{F6D2F8FE-06DC-4736-B590-6C9F24E4D539}">
      <dgm:prSet/>
      <dgm:spPr/>
      <dgm:t>
        <a:bodyPr/>
        <a:lstStyle/>
        <a:p>
          <a:endParaRPr lang="en-US"/>
        </a:p>
      </dgm:t>
    </dgm:pt>
    <dgm:pt modelId="{2AD39504-2DEC-4456-97FC-DE76F5C015C2}" type="sibTrans" cxnId="{F6D2F8FE-06DC-4736-B590-6C9F24E4D539}">
      <dgm:prSet/>
      <dgm:spPr/>
      <dgm:t>
        <a:bodyPr/>
        <a:lstStyle/>
        <a:p>
          <a:endParaRPr lang="en-US"/>
        </a:p>
      </dgm:t>
    </dgm:pt>
    <dgm:pt modelId="{753AE81A-7F05-46B6-AFE3-76F46118921E}">
      <dgm:prSet/>
      <dgm:spPr/>
      <dgm:t>
        <a:bodyPr/>
        <a:lstStyle/>
        <a:p>
          <a:r>
            <a:rPr lang="en-US" b="0" i="0"/>
            <a:t>AI has demonstrated exceptional accuracy in identifying cancer and other diseases</a:t>
          </a:r>
          <a:endParaRPr lang="en-US"/>
        </a:p>
      </dgm:t>
    </dgm:pt>
    <dgm:pt modelId="{8B868A04-3615-46DF-B136-845D8A89E1B5}" type="parTrans" cxnId="{7A53676E-464F-4B28-8BBC-FC2276DA9038}">
      <dgm:prSet/>
      <dgm:spPr/>
      <dgm:t>
        <a:bodyPr/>
        <a:lstStyle/>
        <a:p>
          <a:endParaRPr lang="en-US"/>
        </a:p>
      </dgm:t>
    </dgm:pt>
    <dgm:pt modelId="{2A886118-D652-4008-B891-60B911297EB7}" type="sibTrans" cxnId="{7A53676E-464F-4B28-8BBC-FC2276DA9038}">
      <dgm:prSet/>
      <dgm:spPr/>
      <dgm:t>
        <a:bodyPr/>
        <a:lstStyle/>
        <a:p>
          <a:endParaRPr lang="en-US"/>
        </a:p>
      </dgm:t>
    </dgm:pt>
    <dgm:pt modelId="{5C5FB811-3538-4BD6-87ED-41FB4E65E282}">
      <dgm:prSet/>
      <dgm:spPr/>
      <dgm:t>
        <a:bodyPr/>
        <a:lstStyle/>
        <a:p>
          <a:r>
            <a:rPr lang="en-US" b="0" i="0"/>
            <a:t>Advanced models for highly accurate identification of mammograms and skin cancer in dermatological images</a:t>
          </a:r>
          <a:endParaRPr lang="en-US"/>
        </a:p>
      </dgm:t>
    </dgm:pt>
    <dgm:pt modelId="{6289CCC3-1FBC-4A25-A762-B0889D358C57}" type="parTrans" cxnId="{20D8BB58-7615-4CBF-8123-C6233C625649}">
      <dgm:prSet/>
      <dgm:spPr/>
      <dgm:t>
        <a:bodyPr/>
        <a:lstStyle/>
        <a:p>
          <a:endParaRPr lang="en-US"/>
        </a:p>
      </dgm:t>
    </dgm:pt>
    <dgm:pt modelId="{9963295A-9D06-4B6C-B364-123AC2C17A31}" type="sibTrans" cxnId="{20D8BB58-7615-4CBF-8123-C6233C625649}">
      <dgm:prSet/>
      <dgm:spPr/>
      <dgm:t>
        <a:bodyPr/>
        <a:lstStyle/>
        <a:p>
          <a:endParaRPr lang="en-US"/>
        </a:p>
      </dgm:t>
    </dgm:pt>
    <dgm:pt modelId="{7DB0F1AA-85D7-4577-B9D9-0856ED9F1DD9}">
      <dgm:prSet/>
      <dgm:spPr/>
      <dgm:t>
        <a:bodyPr/>
        <a:lstStyle/>
        <a:p>
          <a:r>
            <a:rPr lang="en-US" b="0" i="0"/>
            <a:t>Obstacles: difficulty in understanding AI decisions, concerns about data privacy, and the requirement for large, high-quality datasets</a:t>
          </a:r>
          <a:endParaRPr lang="en-US"/>
        </a:p>
      </dgm:t>
    </dgm:pt>
    <dgm:pt modelId="{93D6880F-3CD8-4516-AD4B-AB43C32111D7}" type="parTrans" cxnId="{39DC57A2-A3A6-4A1B-B58F-C3178D19D9FA}">
      <dgm:prSet/>
      <dgm:spPr/>
      <dgm:t>
        <a:bodyPr/>
        <a:lstStyle/>
        <a:p>
          <a:endParaRPr lang="en-US"/>
        </a:p>
      </dgm:t>
    </dgm:pt>
    <dgm:pt modelId="{FF94C6D1-9DA4-4050-8F71-7D4FA5B7E904}" type="sibTrans" cxnId="{39DC57A2-A3A6-4A1B-B58F-C3178D19D9FA}">
      <dgm:prSet/>
      <dgm:spPr/>
      <dgm:t>
        <a:bodyPr/>
        <a:lstStyle/>
        <a:p>
          <a:endParaRPr lang="en-US"/>
        </a:p>
      </dgm:t>
    </dgm:pt>
    <dgm:pt modelId="{13E69F12-9EDD-420F-B7B2-B98A9DC7E472}" type="pres">
      <dgm:prSet presAssocID="{2E480D07-1750-42E4-839C-8EE1F47C4325}" presName="linear" presStyleCnt="0">
        <dgm:presLayoutVars>
          <dgm:animLvl val="lvl"/>
          <dgm:resizeHandles val="exact"/>
        </dgm:presLayoutVars>
      </dgm:prSet>
      <dgm:spPr/>
    </dgm:pt>
    <dgm:pt modelId="{171D6332-B671-4BCE-84FA-5F3A1A521EA0}" type="pres">
      <dgm:prSet presAssocID="{E641BAAD-BCE9-48A2-89F3-455CE3E8DA19}" presName="parentText" presStyleLbl="node1" presStyleIdx="0" presStyleCnt="4">
        <dgm:presLayoutVars>
          <dgm:chMax val="0"/>
          <dgm:bulletEnabled val="1"/>
        </dgm:presLayoutVars>
      </dgm:prSet>
      <dgm:spPr/>
    </dgm:pt>
    <dgm:pt modelId="{2FFEF00E-89EC-448F-A2EA-1FAC6766B683}" type="pres">
      <dgm:prSet presAssocID="{2AD39504-2DEC-4456-97FC-DE76F5C015C2}" presName="spacer" presStyleCnt="0"/>
      <dgm:spPr/>
    </dgm:pt>
    <dgm:pt modelId="{E12BC0A6-4099-4206-9593-C70A799DD020}" type="pres">
      <dgm:prSet presAssocID="{753AE81A-7F05-46B6-AFE3-76F46118921E}" presName="parentText" presStyleLbl="node1" presStyleIdx="1" presStyleCnt="4">
        <dgm:presLayoutVars>
          <dgm:chMax val="0"/>
          <dgm:bulletEnabled val="1"/>
        </dgm:presLayoutVars>
      </dgm:prSet>
      <dgm:spPr/>
    </dgm:pt>
    <dgm:pt modelId="{C113A00D-D2D2-4D5A-AB3A-0235EC382D6B}" type="pres">
      <dgm:prSet presAssocID="{2A886118-D652-4008-B891-60B911297EB7}" presName="spacer" presStyleCnt="0"/>
      <dgm:spPr/>
    </dgm:pt>
    <dgm:pt modelId="{DED9C3F3-CC3D-45E7-A6FF-E91F8CA4187F}" type="pres">
      <dgm:prSet presAssocID="{5C5FB811-3538-4BD6-87ED-41FB4E65E282}" presName="parentText" presStyleLbl="node1" presStyleIdx="2" presStyleCnt="4">
        <dgm:presLayoutVars>
          <dgm:chMax val="0"/>
          <dgm:bulletEnabled val="1"/>
        </dgm:presLayoutVars>
      </dgm:prSet>
      <dgm:spPr/>
    </dgm:pt>
    <dgm:pt modelId="{882695A8-F515-45B9-8246-B9CAD9E8C317}" type="pres">
      <dgm:prSet presAssocID="{9963295A-9D06-4B6C-B364-123AC2C17A31}" presName="spacer" presStyleCnt="0"/>
      <dgm:spPr/>
    </dgm:pt>
    <dgm:pt modelId="{3D4A9289-AA9D-42AB-8895-17D14479C42D}" type="pres">
      <dgm:prSet presAssocID="{7DB0F1AA-85D7-4577-B9D9-0856ED9F1DD9}" presName="parentText" presStyleLbl="node1" presStyleIdx="3" presStyleCnt="4">
        <dgm:presLayoutVars>
          <dgm:chMax val="0"/>
          <dgm:bulletEnabled val="1"/>
        </dgm:presLayoutVars>
      </dgm:prSet>
      <dgm:spPr/>
    </dgm:pt>
  </dgm:ptLst>
  <dgm:cxnLst>
    <dgm:cxn modelId="{BC389F02-D43F-474B-866C-93067843A2CD}" type="presOf" srcId="{753AE81A-7F05-46B6-AFE3-76F46118921E}" destId="{E12BC0A6-4099-4206-9593-C70A799DD020}" srcOrd="0" destOrd="0" presId="urn:microsoft.com/office/officeart/2005/8/layout/vList2"/>
    <dgm:cxn modelId="{7A53676E-464F-4B28-8BBC-FC2276DA9038}" srcId="{2E480D07-1750-42E4-839C-8EE1F47C4325}" destId="{753AE81A-7F05-46B6-AFE3-76F46118921E}" srcOrd="1" destOrd="0" parTransId="{8B868A04-3615-46DF-B136-845D8A89E1B5}" sibTransId="{2A886118-D652-4008-B891-60B911297EB7}"/>
    <dgm:cxn modelId="{EE35B376-820B-4705-8B3C-02A0E590FFE8}" type="presOf" srcId="{5C5FB811-3538-4BD6-87ED-41FB4E65E282}" destId="{DED9C3F3-CC3D-45E7-A6FF-E91F8CA4187F}" srcOrd="0" destOrd="0" presId="urn:microsoft.com/office/officeart/2005/8/layout/vList2"/>
    <dgm:cxn modelId="{20D8BB58-7615-4CBF-8123-C6233C625649}" srcId="{2E480D07-1750-42E4-839C-8EE1F47C4325}" destId="{5C5FB811-3538-4BD6-87ED-41FB4E65E282}" srcOrd="2" destOrd="0" parTransId="{6289CCC3-1FBC-4A25-A762-B0889D358C57}" sibTransId="{9963295A-9D06-4B6C-B364-123AC2C17A31}"/>
    <dgm:cxn modelId="{29B3E358-9CF1-4421-BCFE-5B75AE1E7714}" type="presOf" srcId="{2E480D07-1750-42E4-839C-8EE1F47C4325}" destId="{13E69F12-9EDD-420F-B7B2-B98A9DC7E472}" srcOrd="0" destOrd="0" presId="urn:microsoft.com/office/officeart/2005/8/layout/vList2"/>
    <dgm:cxn modelId="{39DC57A2-A3A6-4A1B-B58F-C3178D19D9FA}" srcId="{2E480D07-1750-42E4-839C-8EE1F47C4325}" destId="{7DB0F1AA-85D7-4577-B9D9-0856ED9F1DD9}" srcOrd="3" destOrd="0" parTransId="{93D6880F-3CD8-4516-AD4B-AB43C32111D7}" sibTransId="{FF94C6D1-9DA4-4050-8F71-7D4FA5B7E904}"/>
    <dgm:cxn modelId="{28EF62C1-69F2-4EC1-B46F-D6DF5FABAE52}" type="presOf" srcId="{E641BAAD-BCE9-48A2-89F3-455CE3E8DA19}" destId="{171D6332-B671-4BCE-84FA-5F3A1A521EA0}" srcOrd="0" destOrd="0" presId="urn:microsoft.com/office/officeart/2005/8/layout/vList2"/>
    <dgm:cxn modelId="{E97A8BD0-10C1-4835-84E3-DE61332EA09C}" type="presOf" srcId="{7DB0F1AA-85D7-4577-B9D9-0856ED9F1DD9}" destId="{3D4A9289-AA9D-42AB-8895-17D14479C42D}" srcOrd="0" destOrd="0" presId="urn:microsoft.com/office/officeart/2005/8/layout/vList2"/>
    <dgm:cxn modelId="{F6D2F8FE-06DC-4736-B590-6C9F24E4D539}" srcId="{2E480D07-1750-42E4-839C-8EE1F47C4325}" destId="{E641BAAD-BCE9-48A2-89F3-455CE3E8DA19}" srcOrd="0" destOrd="0" parTransId="{8EA26AE2-AC25-440F-8FB4-051CBE1BE706}" sibTransId="{2AD39504-2DEC-4456-97FC-DE76F5C015C2}"/>
    <dgm:cxn modelId="{0F5939CC-55C5-4F28-8E24-17291ACFEF92}" type="presParOf" srcId="{13E69F12-9EDD-420F-B7B2-B98A9DC7E472}" destId="{171D6332-B671-4BCE-84FA-5F3A1A521EA0}" srcOrd="0" destOrd="0" presId="urn:microsoft.com/office/officeart/2005/8/layout/vList2"/>
    <dgm:cxn modelId="{E0DF81A7-1BB2-4CAE-9E63-0968CC17C534}" type="presParOf" srcId="{13E69F12-9EDD-420F-B7B2-B98A9DC7E472}" destId="{2FFEF00E-89EC-448F-A2EA-1FAC6766B683}" srcOrd="1" destOrd="0" presId="urn:microsoft.com/office/officeart/2005/8/layout/vList2"/>
    <dgm:cxn modelId="{CA193B54-A382-4BC7-90B5-7D9B4739F77E}" type="presParOf" srcId="{13E69F12-9EDD-420F-B7B2-B98A9DC7E472}" destId="{E12BC0A6-4099-4206-9593-C70A799DD020}" srcOrd="2" destOrd="0" presId="urn:microsoft.com/office/officeart/2005/8/layout/vList2"/>
    <dgm:cxn modelId="{22D6934F-4C14-4BC5-A184-F6B7E324F60F}" type="presParOf" srcId="{13E69F12-9EDD-420F-B7B2-B98A9DC7E472}" destId="{C113A00D-D2D2-4D5A-AB3A-0235EC382D6B}" srcOrd="3" destOrd="0" presId="urn:microsoft.com/office/officeart/2005/8/layout/vList2"/>
    <dgm:cxn modelId="{0760DEA7-9251-4FBC-8527-79CACB051CF2}" type="presParOf" srcId="{13E69F12-9EDD-420F-B7B2-B98A9DC7E472}" destId="{DED9C3F3-CC3D-45E7-A6FF-E91F8CA4187F}" srcOrd="4" destOrd="0" presId="urn:microsoft.com/office/officeart/2005/8/layout/vList2"/>
    <dgm:cxn modelId="{72992536-A25B-4A53-8EB9-3E887BAC1266}" type="presParOf" srcId="{13E69F12-9EDD-420F-B7B2-B98A9DC7E472}" destId="{882695A8-F515-45B9-8246-B9CAD9E8C317}" srcOrd="5" destOrd="0" presId="urn:microsoft.com/office/officeart/2005/8/layout/vList2"/>
    <dgm:cxn modelId="{5A01F8AF-598E-4EEF-9BD1-245B366BB3A4}" type="presParOf" srcId="{13E69F12-9EDD-420F-B7B2-B98A9DC7E472}" destId="{3D4A9289-AA9D-42AB-8895-17D14479C42D}"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E05C06-208A-4CEC-AF59-31E99B189579}">
      <dsp:nvSpPr>
        <dsp:cNvPr id="0" name=""/>
        <dsp:cNvSpPr/>
      </dsp:nvSpPr>
      <dsp:spPr>
        <a:xfrm>
          <a:off x="2007776" y="1243888"/>
          <a:ext cx="430115" cy="91440"/>
        </a:xfrm>
        <a:custGeom>
          <a:avLst/>
          <a:gdLst/>
          <a:ahLst/>
          <a:cxnLst/>
          <a:rect l="0" t="0" r="0" b="0"/>
          <a:pathLst>
            <a:path>
              <a:moveTo>
                <a:pt x="0" y="45720"/>
              </a:moveTo>
              <a:lnTo>
                <a:pt x="430115" y="45720"/>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211316" y="1287302"/>
        <a:ext cx="23035" cy="4611"/>
      </dsp:txXfrm>
    </dsp:sp>
    <dsp:sp modelId="{F3378C25-0732-458B-BB82-0E41439F1257}">
      <dsp:nvSpPr>
        <dsp:cNvPr id="0" name=""/>
        <dsp:cNvSpPr/>
      </dsp:nvSpPr>
      <dsp:spPr>
        <a:xfrm>
          <a:off x="6463" y="688674"/>
          <a:ext cx="2003112" cy="1201867"/>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8154" tIns="103030" rIns="98154" bIns="103030" numCol="1" spcCol="1270" anchor="ctr" anchorCtr="0">
          <a:noAutofit/>
        </a:bodyPr>
        <a:lstStyle/>
        <a:p>
          <a:pPr marL="0" lvl="0" indent="0" algn="ctr" defTabSz="533400">
            <a:lnSpc>
              <a:spcPct val="90000"/>
            </a:lnSpc>
            <a:spcBef>
              <a:spcPct val="0"/>
            </a:spcBef>
            <a:spcAft>
              <a:spcPct val="35000"/>
            </a:spcAft>
            <a:buNone/>
          </a:pPr>
          <a:r>
            <a:rPr lang="en-US" sz="1200" b="0" i="0" kern="1200" dirty="0"/>
            <a:t>The process of using artificial intelligence for medical diagnosis through image classification typically follows these steps:</a:t>
          </a:r>
          <a:endParaRPr lang="en-US" sz="1200" kern="1200" dirty="0"/>
        </a:p>
      </dsp:txBody>
      <dsp:txXfrm>
        <a:off x="6463" y="688674"/>
        <a:ext cx="2003112" cy="1201867"/>
      </dsp:txXfrm>
    </dsp:sp>
    <dsp:sp modelId="{64EE6277-99E2-48DD-8EC9-BCDF6C83DB83}">
      <dsp:nvSpPr>
        <dsp:cNvPr id="0" name=""/>
        <dsp:cNvSpPr/>
      </dsp:nvSpPr>
      <dsp:spPr>
        <a:xfrm>
          <a:off x="4471604" y="1243888"/>
          <a:ext cx="430115" cy="91440"/>
        </a:xfrm>
        <a:custGeom>
          <a:avLst/>
          <a:gdLst/>
          <a:ahLst/>
          <a:cxnLst/>
          <a:rect l="0" t="0" r="0" b="0"/>
          <a:pathLst>
            <a:path>
              <a:moveTo>
                <a:pt x="0" y="45720"/>
              </a:moveTo>
              <a:lnTo>
                <a:pt x="430115" y="45720"/>
              </a:lnTo>
            </a:path>
          </a:pathLst>
        </a:custGeom>
        <a:noFill/>
        <a:ln w="1270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675144" y="1287302"/>
        <a:ext cx="23035" cy="4611"/>
      </dsp:txXfrm>
    </dsp:sp>
    <dsp:sp modelId="{3F1ECBCC-6A41-4BE6-B1C9-BE6097F1D26D}">
      <dsp:nvSpPr>
        <dsp:cNvPr id="0" name=""/>
        <dsp:cNvSpPr/>
      </dsp:nvSpPr>
      <dsp:spPr>
        <a:xfrm>
          <a:off x="2470291" y="688674"/>
          <a:ext cx="2003112" cy="120186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8154" tIns="103030" rIns="98154" bIns="103030" numCol="1" spcCol="1270" anchor="ctr" anchorCtr="0">
          <a:noAutofit/>
        </a:bodyPr>
        <a:lstStyle/>
        <a:p>
          <a:pPr marL="0" lvl="0" indent="0" algn="ctr" defTabSz="533400">
            <a:lnSpc>
              <a:spcPct val="90000"/>
            </a:lnSpc>
            <a:spcBef>
              <a:spcPct val="0"/>
            </a:spcBef>
            <a:spcAft>
              <a:spcPct val="35000"/>
            </a:spcAft>
            <a:buNone/>
          </a:pPr>
          <a:r>
            <a:rPr lang="en-US" sz="1200" b="0" i="0" kern="1200"/>
            <a:t>Data collection and preprocessing</a:t>
          </a:r>
          <a:endParaRPr lang="en-US" sz="1200" kern="1200"/>
        </a:p>
      </dsp:txBody>
      <dsp:txXfrm>
        <a:off x="2470291" y="688674"/>
        <a:ext cx="2003112" cy="1201867"/>
      </dsp:txXfrm>
    </dsp:sp>
    <dsp:sp modelId="{96A1FC1D-2CBA-4629-94CD-9890A6EA902F}">
      <dsp:nvSpPr>
        <dsp:cNvPr id="0" name=""/>
        <dsp:cNvSpPr/>
      </dsp:nvSpPr>
      <dsp:spPr>
        <a:xfrm>
          <a:off x="6935433" y="1243888"/>
          <a:ext cx="430115" cy="91440"/>
        </a:xfrm>
        <a:custGeom>
          <a:avLst/>
          <a:gdLst/>
          <a:ahLst/>
          <a:cxnLst/>
          <a:rect l="0" t="0" r="0" b="0"/>
          <a:pathLst>
            <a:path>
              <a:moveTo>
                <a:pt x="0" y="45720"/>
              </a:moveTo>
              <a:lnTo>
                <a:pt x="430115" y="45720"/>
              </a:lnTo>
            </a:path>
          </a:pathLst>
        </a:custGeom>
        <a:noFill/>
        <a:ln w="1270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138973" y="1287302"/>
        <a:ext cx="23035" cy="4611"/>
      </dsp:txXfrm>
    </dsp:sp>
    <dsp:sp modelId="{66B7F064-5C94-4EE2-AAF2-FA6982F0B6FB}">
      <dsp:nvSpPr>
        <dsp:cNvPr id="0" name=""/>
        <dsp:cNvSpPr/>
      </dsp:nvSpPr>
      <dsp:spPr>
        <a:xfrm>
          <a:off x="4934120" y="688674"/>
          <a:ext cx="2003112" cy="1201867"/>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8154" tIns="103030" rIns="98154" bIns="103030" numCol="1" spcCol="1270" anchor="ctr" anchorCtr="0">
          <a:noAutofit/>
        </a:bodyPr>
        <a:lstStyle/>
        <a:p>
          <a:pPr marL="0" lvl="0" indent="0" algn="ctr" defTabSz="533400">
            <a:lnSpc>
              <a:spcPct val="90000"/>
            </a:lnSpc>
            <a:spcBef>
              <a:spcPct val="0"/>
            </a:spcBef>
            <a:spcAft>
              <a:spcPct val="35000"/>
            </a:spcAft>
            <a:buNone/>
          </a:pPr>
          <a:r>
            <a:rPr lang="en-US" sz="1200" b="0" i="0" kern="1200"/>
            <a:t>Feature extraction</a:t>
          </a:r>
          <a:endParaRPr lang="en-US" sz="1200" kern="1200"/>
        </a:p>
      </dsp:txBody>
      <dsp:txXfrm>
        <a:off x="4934120" y="688674"/>
        <a:ext cx="2003112" cy="1201867"/>
      </dsp:txXfrm>
    </dsp:sp>
    <dsp:sp modelId="{1623FC9C-1134-42E6-BDC4-53ED31B4D720}">
      <dsp:nvSpPr>
        <dsp:cNvPr id="0" name=""/>
        <dsp:cNvSpPr/>
      </dsp:nvSpPr>
      <dsp:spPr>
        <a:xfrm>
          <a:off x="1008019" y="1888742"/>
          <a:ext cx="7391485" cy="430115"/>
        </a:xfrm>
        <a:custGeom>
          <a:avLst/>
          <a:gdLst/>
          <a:ahLst/>
          <a:cxnLst/>
          <a:rect l="0" t="0" r="0" b="0"/>
          <a:pathLst>
            <a:path>
              <a:moveTo>
                <a:pt x="7391485" y="0"/>
              </a:moveTo>
              <a:lnTo>
                <a:pt x="7391485" y="232157"/>
              </a:lnTo>
              <a:lnTo>
                <a:pt x="0" y="232157"/>
              </a:lnTo>
              <a:lnTo>
                <a:pt x="0" y="430115"/>
              </a:lnTo>
            </a:path>
          </a:pathLst>
        </a:custGeom>
        <a:noFill/>
        <a:ln w="1270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518616" y="2101494"/>
        <a:ext cx="370291" cy="4611"/>
      </dsp:txXfrm>
    </dsp:sp>
    <dsp:sp modelId="{D07C8279-C64E-4E6E-8C36-8CF5456BF5F9}">
      <dsp:nvSpPr>
        <dsp:cNvPr id="0" name=""/>
        <dsp:cNvSpPr/>
      </dsp:nvSpPr>
      <dsp:spPr>
        <a:xfrm>
          <a:off x="7397948" y="688674"/>
          <a:ext cx="2003112" cy="1201867"/>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8154" tIns="103030" rIns="98154" bIns="103030" numCol="1" spcCol="1270" anchor="ctr" anchorCtr="0">
          <a:noAutofit/>
        </a:bodyPr>
        <a:lstStyle/>
        <a:p>
          <a:pPr marL="0" lvl="0" indent="0" algn="ctr" defTabSz="533400">
            <a:lnSpc>
              <a:spcPct val="90000"/>
            </a:lnSpc>
            <a:spcBef>
              <a:spcPct val="0"/>
            </a:spcBef>
            <a:spcAft>
              <a:spcPct val="35000"/>
            </a:spcAft>
            <a:buNone/>
          </a:pPr>
          <a:r>
            <a:rPr lang="en-US" sz="1200" b="0" i="0" kern="1200"/>
            <a:t>Model training and validation</a:t>
          </a:r>
          <a:endParaRPr lang="en-US" sz="1200" kern="1200"/>
        </a:p>
      </dsp:txBody>
      <dsp:txXfrm>
        <a:off x="7397948" y="688674"/>
        <a:ext cx="2003112" cy="1201867"/>
      </dsp:txXfrm>
    </dsp:sp>
    <dsp:sp modelId="{523F8CE1-CEA2-4F0A-81CA-2D3CE526481F}">
      <dsp:nvSpPr>
        <dsp:cNvPr id="0" name=""/>
        <dsp:cNvSpPr/>
      </dsp:nvSpPr>
      <dsp:spPr>
        <a:xfrm>
          <a:off x="2007776" y="2906471"/>
          <a:ext cx="430115" cy="91440"/>
        </a:xfrm>
        <a:custGeom>
          <a:avLst/>
          <a:gdLst/>
          <a:ahLst/>
          <a:cxnLst/>
          <a:rect l="0" t="0" r="0" b="0"/>
          <a:pathLst>
            <a:path>
              <a:moveTo>
                <a:pt x="0" y="45720"/>
              </a:moveTo>
              <a:lnTo>
                <a:pt x="430115" y="45720"/>
              </a:lnTo>
            </a:path>
          </a:pathLst>
        </a:custGeom>
        <a:noFill/>
        <a:ln w="1270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211316" y="2949885"/>
        <a:ext cx="23035" cy="4611"/>
      </dsp:txXfrm>
    </dsp:sp>
    <dsp:sp modelId="{2FC5260B-662F-4F51-80BD-77F7C3BFB095}">
      <dsp:nvSpPr>
        <dsp:cNvPr id="0" name=""/>
        <dsp:cNvSpPr/>
      </dsp:nvSpPr>
      <dsp:spPr>
        <a:xfrm>
          <a:off x="6463" y="2351257"/>
          <a:ext cx="2003112" cy="1201867"/>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8154" tIns="103030" rIns="98154" bIns="103030" numCol="1" spcCol="1270" anchor="ctr" anchorCtr="0">
          <a:noAutofit/>
        </a:bodyPr>
        <a:lstStyle/>
        <a:p>
          <a:pPr marL="0" lvl="0" indent="0" algn="ctr" defTabSz="533400">
            <a:lnSpc>
              <a:spcPct val="90000"/>
            </a:lnSpc>
            <a:spcBef>
              <a:spcPct val="0"/>
            </a:spcBef>
            <a:spcAft>
              <a:spcPct val="35000"/>
            </a:spcAft>
            <a:buNone/>
          </a:pPr>
          <a:r>
            <a:rPr lang="en-US" sz="1200" b="0" i="0" kern="1200"/>
            <a:t>Model testing and performance evaluation</a:t>
          </a:r>
          <a:endParaRPr lang="en-US" sz="1200" kern="1200"/>
        </a:p>
      </dsp:txBody>
      <dsp:txXfrm>
        <a:off x="6463" y="2351257"/>
        <a:ext cx="2003112" cy="1201867"/>
      </dsp:txXfrm>
    </dsp:sp>
    <dsp:sp modelId="{4D58418C-41D2-435D-8B6B-2EA0CF6E846D}">
      <dsp:nvSpPr>
        <dsp:cNvPr id="0" name=""/>
        <dsp:cNvSpPr/>
      </dsp:nvSpPr>
      <dsp:spPr>
        <a:xfrm>
          <a:off x="4471604" y="2906471"/>
          <a:ext cx="430115" cy="91440"/>
        </a:xfrm>
        <a:custGeom>
          <a:avLst/>
          <a:gdLst/>
          <a:ahLst/>
          <a:cxnLst/>
          <a:rect l="0" t="0" r="0" b="0"/>
          <a:pathLst>
            <a:path>
              <a:moveTo>
                <a:pt x="0" y="45720"/>
              </a:moveTo>
              <a:lnTo>
                <a:pt x="430115" y="45720"/>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675144" y="2949885"/>
        <a:ext cx="23035" cy="4611"/>
      </dsp:txXfrm>
    </dsp:sp>
    <dsp:sp modelId="{F90652E2-3F1D-4C8A-882D-F9C6B91ADE9D}">
      <dsp:nvSpPr>
        <dsp:cNvPr id="0" name=""/>
        <dsp:cNvSpPr/>
      </dsp:nvSpPr>
      <dsp:spPr>
        <a:xfrm>
          <a:off x="2470291" y="2351257"/>
          <a:ext cx="2003112" cy="1201867"/>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8154" tIns="103030" rIns="98154" bIns="103030" numCol="1" spcCol="1270" anchor="ctr" anchorCtr="0">
          <a:noAutofit/>
        </a:bodyPr>
        <a:lstStyle/>
        <a:p>
          <a:pPr marL="0" lvl="0" indent="0" algn="ctr" defTabSz="533400">
            <a:lnSpc>
              <a:spcPct val="90000"/>
            </a:lnSpc>
            <a:spcBef>
              <a:spcPct val="0"/>
            </a:spcBef>
            <a:spcAft>
              <a:spcPct val="35000"/>
            </a:spcAft>
            <a:buNone/>
          </a:pPr>
          <a:r>
            <a:rPr lang="en-US" sz="1200" b="0" i="0" kern="1200"/>
            <a:t>Model deployment and clinical integration</a:t>
          </a:r>
          <a:endParaRPr lang="en-US" sz="1200" kern="1200"/>
        </a:p>
      </dsp:txBody>
      <dsp:txXfrm>
        <a:off x="2470291" y="2351257"/>
        <a:ext cx="2003112" cy="1201867"/>
      </dsp:txXfrm>
    </dsp:sp>
    <dsp:sp modelId="{9F0EF6A0-77AC-4A41-8D67-4C51896E87D8}">
      <dsp:nvSpPr>
        <dsp:cNvPr id="0" name=""/>
        <dsp:cNvSpPr/>
      </dsp:nvSpPr>
      <dsp:spPr>
        <a:xfrm>
          <a:off x="4934120" y="2351257"/>
          <a:ext cx="2003112" cy="120186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8154" tIns="103030" rIns="98154" bIns="103030" numCol="1" spcCol="1270" anchor="ctr" anchorCtr="0">
          <a:noAutofit/>
        </a:bodyPr>
        <a:lstStyle/>
        <a:p>
          <a:pPr marL="0" lvl="0" indent="0" algn="ctr" defTabSz="533400">
            <a:lnSpc>
              <a:spcPct val="90000"/>
            </a:lnSpc>
            <a:spcBef>
              <a:spcPct val="0"/>
            </a:spcBef>
            <a:spcAft>
              <a:spcPct val="35000"/>
            </a:spcAft>
            <a:buNone/>
          </a:pPr>
          <a:r>
            <a:rPr lang="en-US" sz="1200" b="0" i="0" kern="1200"/>
            <a:t>Ethical consideration and bias mitigation</a:t>
          </a:r>
          <a:endParaRPr lang="en-US" sz="1200" kern="1200"/>
        </a:p>
      </dsp:txBody>
      <dsp:txXfrm>
        <a:off x="4934120" y="2351257"/>
        <a:ext cx="2003112" cy="120186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766594-3006-449B-8F73-2C3CF0AA033E}">
      <dsp:nvSpPr>
        <dsp:cNvPr id="0" name=""/>
        <dsp:cNvSpPr/>
      </dsp:nvSpPr>
      <dsp:spPr>
        <a:xfrm>
          <a:off x="0" y="71469"/>
          <a:ext cx="10515600" cy="79560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a:t>In 2012, the success of deep convolutional neural networks (CNNs) on ImageNet led to their adoption in medical image classification.</a:t>
          </a:r>
          <a:endParaRPr lang="en-US" sz="2000" kern="1200"/>
        </a:p>
      </dsp:txBody>
      <dsp:txXfrm>
        <a:off x="38838" y="110307"/>
        <a:ext cx="10437924" cy="717924"/>
      </dsp:txXfrm>
    </dsp:sp>
    <dsp:sp modelId="{52081FEB-2B51-4E14-A4EB-E3848C2F7A67}">
      <dsp:nvSpPr>
        <dsp:cNvPr id="0" name=""/>
        <dsp:cNvSpPr/>
      </dsp:nvSpPr>
      <dsp:spPr>
        <a:xfrm>
          <a:off x="0" y="924669"/>
          <a:ext cx="10515600" cy="795600"/>
        </a:xfrm>
        <a:prstGeom prst="roundRect">
          <a:avLst/>
        </a:prstGeom>
        <a:solidFill>
          <a:schemeClr val="accent5">
            <a:hueOff val="-3038037"/>
            <a:satOff val="-207"/>
            <a:lumOff val="49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a:t>Key milestones:</a:t>
          </a:r>
          <a:endParaRPr lang="en-US" sz="2000" kern="1200"/>
        </a:p>
      </dsp:txBody>
      <dsp:txXfrm>
        <a:off x="38838" y="963507"/>
        <a:ext cx="10437924" cy="717924"/>
      </dsp:txXfrm>
    </dsp:sp>
    <dsp:sp modelId="{C6774F4C-43C7-4456-8B47-47FCE54FC06C}">
      <dsp:nvSpPr>
        <dsp:cNvPr id="0" name=""/>
        <dsp:cNvSpPr/>
      </dsp:nvSpPr>
      <dsp:spPr>
        <a:xfrm>
          <a:off x="0" y="1777869"/>
          <a:ext cx="10515600" cy="795600"/>
        </a:xfrm>
        <a:prstGeom prst="roundRect">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a:t>2016</a:t>
          </a:r>
          <a:r>
            <a:rPr lang="en-US" sz="2000" kern="1200"/>
            <a:t> </a:t>
          </a:r>
          <a:r>
            <a:rPr lang="en-US" sz="2000" b="0" i="0" kern="1200"/>
            <a:t> Google's DeepMind has developed an AI that accurately diagnoses diabetic retinopathy using retinal fundus images</a:t>
          </a:r>
          <a:endParaRPr lang="en-US" sz="2000" kern="1200"/>
        </a:p>
      </dsp:txBody>
      <dsp:txXfrm>
        <a:off x="38838" y="1816707"/>
        <a:ext cx="10437924" cy="717924"/>
      </dsp:txXfrm>
    </dsp:sp>
    <dsp:sp modelId="{A3EC5A7A-65F5-471B-944E-7D072EF6FCAA}">
      <dsp:nvSpPr>
        <dsp:cNvPr id="0" name=""/>
        <dsp:cNvSpPr/>
      </dsp:nvSpPr>
      <dsp:spPr>
        <a:xfrm>
          <a:off x="0" y="2631069"/>
          <a:ext cx="10515600" cy="795600"/>
        </a:xfrm>
        <a:prstGeom prst="roundRect">
          <a:avLst/>
        </a:prstGeom>
        <a:solidFill>
          <a:schemeClr val="accent5">
            <a:hueOff val="-9114112"/>
            <a:satOff val="-620"/>
            <a:lumOff val="147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a:t>2017-2018  Stanford researchers utilized CNNs for skin cancer classification, achieving dermatologists' level accuracy</a:t>
          </a:r>
          <a:endParaRPr lang="en-US" sz="2000" kern="1200"/>
        </a:p>
      </dsp:txBody>
      <dsp:txXfrm>
        <a:off x="38838" y="2669907"/>
        <a:ext cx="10437924" cy="717924"/>
      </dsp:txXfrm>
    </dsp:sp>
    <dsp:sp modelId="{1C342FF8-6499-4984-A6F4-1EF975D01F43}">
      <dsp:nvSpPr>
        <dsp:cNvPr id="0" name=""/>
        <dsp:cNvSpPr/>
      </dsp:nvSpPr>
      <dsp:spPr>
        <a:xfrm>
          <a:off x="0" y="3484269"/>
          <a:ext cx="10515600" cy="795600"/>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a:t>Radiology   AI models have significantly outperformed radiologists in detecting pneumonia, COVID-19, and breast cancer using X-rays and MRIs</a:t>
          </a:r>
          <a:endParaRPr lang="en-US" sz="2000" kern="1200"/>
        </a:p>
      </dsp:txBody>
      <dsp:txXfrm>
        <a:off x="38838" y="3523107"/>
        <a:ext cx="10437924" cy="71792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5E6CB1-BD39-47F4-B130-54FE70FBE24D}">
      <dsp:nvSpPr>
        <dsp:cNvPr id="0" name=""/>
        <dsp:cNvSpPr/>
      </dsp:nvSpPr>
      <dsp:spPr>
        <a:xfrm>
          <a:off x="0" y="461817"/>
          <a:ext cx="10515600" cy="9149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0" i="0" kern="1200"/>
            <a:t>The medical imaging industry is transitioning towards explainable AI , multi-modal models, and federated learning to enhance trust, performance, and privacy.</a:t>
          </a:r>
          <a:endParaRPr lang="en-US" sz="2300" kern="1200"/>
        </a:p>
      </dsp:txBody>
      <dsp:txXfrm>
        <a:off x="44664" y="506481"/>
        <a:ext cx="10426272" cy="825612"/>
      </dsp:txXfrm>
    </dsp:sp>
    <dsp:sp modelId="{4FD46A94-4A58-4AAD-A767-51C75C54D92D}">
      <dsp:nvSpPr>
        <dsp:cNvPr id="0" name=""/>
        <dsp:cNvSpPr/>
      </dsp:nvSpPr>
      <dsp:spPr>
        <a:xfrm>
          <a:off x="0" y="1442997"/>
          <a:ext cx="10515600" cy="9149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0" i="0" kern="1200"/>
            <a:t>Multi-modal learning is the integration of image data with electronic health records (EHRs) is a significant advancement in healthcare technology</a:t>
          </a:r>
          <a:endParaRPr lang="en-US" sz="2300" kern="1200"/>
        </a:p>
      </dsp:txBody>
      <dsp:txXfrm>
        <a:off x="44664" y="1487661"/>
        <a:ext cx="10426272" cy="825612"/>
      </dsp:txXfrm>
    </dsp:sp>
    <dsp:sp modelId="{A926FEC0-F5E3-4690-920B-C8EC86C91E31}">
      <dsp:nvSpPr>
        <dsp:cNvPr id="0" name=""/>
        <dsp:cNvSpPr/>
      </dsp:nvSpPr>
      <dsp:spPr>
        <a:xfrm>
          <a:off x="0" y="2424177"/>
          <a:ext cx="10515600" cy="9149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0" i="0" kern="1200"/>
            <a:t>Self-supervised learning is the goal is to decrease the reliance on labeled datasets</a:t>
          </a:r>
          <a:endParaRPr lang="en-US" sz="2300" kern="1200"/>
        </a:p>
      </dsp:txBody>
      <dsp:txXfrm>
        <a:off x="44664" y="2468841"/>
        <a:ext cx="10426272" cy="825612"/>
      </dsp:txXfrm>
    </dsp:sp>
    <dsp:sp modelId="{950C0140-9089-44F5-BD70-4605F2904144}">
      <dsp:nvSpPr>
        <dsp:cNvPr id="0" name=""/>
        <dsp:cNvSpPr/>
      </dsp:nvSpPr>
      <dsp:spPr>
        <a:xfrm>
          <a:off x="0" y="3405357"/>
          <a:ext cx="10515600" cy="9149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0" i="0" kern="1200"/>
            <a:t>FDA approvals is over 100 AI-based medical imaging systems have been FDA-cleared for clinical use</a:t>
          </a:r>
          <a:endParaRPr lang="en-US" sz="2300" kern="1200"/>
        </a:p>
      </dsp:txBody>
      <dsp:txXfrm>
        <a:off x="44664" y="3450021"/>
        <a:ext cx="10426272" cy="82561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1D6332-B671-4BCE-84FA-5F3A1A521EA0}">
      <dsp:nvSpPr>
        <dsp:cNvPr id="0" name=""/>
        <dsp:cNvSpPr/>
      </dsp:nvSpPr>
      <dsp:spPr>
        <a:xfrm>
          <a:off x="0" y="25559"/>
          <a:ext cx="10515600" cy="10740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0" i="0" kern="1200"/>
            <a:t>AI for medical diagnosis has the potential to revolutionize healthcare by providing accurate and efficient diagnosis of diseases</a:t>
          </a:r>
          <a:endParaRPr lang="en-US" sz="2700" kern="1200"/>
        </a:p>
      </dsp:txBody>
      <dsp:txXfrm>
        <a:off x="52431" y="77990"/>
        <a:ext cx="10410738" cy="969198"/>
      </dsp:txXfrm>
    </dsp:sp>
    <dsp:sp modelId="{E12BC0A6-4099-4206-9593-C70A799DD020}">
      <dsp:nvSpPr>
        <dsp:cNvPr id="0" name=""/>
        <dsp:cNvSpPr/>
      </dsp:nvSpPr>
      <dsp:spPr>
        <a:xfrm>
          <a:off x="0" y="1177379"/>
          <a:ext cx="10515600" cy="10740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0" i="0" kern="1200"/>
            <a:t>AI has demonstrated exceptional accuracy in identifying cancer and other diseases</a:t>
          </a:r>
          <a:endParaRPr lang="en-US" sz="2700" kern="1200"/>
        </a:p>
      </dsp:txBody>
      <dsp:txXfrm>
        <a:off x="52431" y="1229810"/>
        <a:ext cx="10410738" cy="969198"/>
      </dsp:txXfrm>
    </dsp:sp>
    <dsp:sp modelId="{DED9C3F3-CC3D-45E7-A6FF-E91F8CA4187F}">
      <dsp:nvSpPr>
        <dsp:cNvPr id="0" name=""/>
        <dsp:cNvSpPr/>
      </dsp:nvSpPr>
      <dsp:spPr>
        <a:xfrm>
          <a:off x="0" y="2329199"/>
          <a:ext cx="10515600" cy="10740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0" i="0" kern="1200"/>
            <a:t>Advanced models for highly accurate identification of mammograms and skin cancer in dermatological images</a:t>
          </a:r>
          <a:endParaRPr lang="en-US" sz="2700" kern="1200"/>
        </a:p>
      </dsp:txBody>
      <dsp:txXfrm>
        <a:off x="52431" y="2381630"/>
        <a:ext cx="10410738" cy="969198"/>
      </dsp:txXfrm>
    </dsp:sp>
    <dsp:sp modelId="{3D4A9289-AA9D-42AB-8895-17D14479C42D}">
      <dsp:nvSpPr>
        <dsp:cNvPr id="0" name=""/>
        <dsp:cNvSpPr/>
      </dsp:nvSpPr>
      <dsp:spPr>
        <a:xfrm>
          <a:off x="0" y="3481019"/>
          <a:ext cx="10515600" cy="10740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0" i="0" kern="1200"/>
            <a:t>Obstacles: difficulty in understanding AI decisions, concerns about data privacy, and the requirement for large, high-quality datasets</a:t>
          </a:r>
          <a:endParaRPr lang="en-US" sz="2700" kern="1200"/>
        </a:p>
      </dsp:txBody>
      <dsp:txXfrm>
        <a:off x="52431" y="3533450"/>
        <a:ext cx="10410738" cy="969198"/>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1C0A68-A945-484B-8C81-CD6290FDFC2C}" type="datetimeFigureOut">
              <a:rPr lang="en-US" smtClean="0"/>
              <a:t>26-May-25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E2BB17-745D-475A-89C9-A29CCC0F9C43}" type="slidenum">
              <a:rPr lang="en-US" smtClean="0"/>
              <a:t>‹#›</a:t>
            </a:fld>
            <a:endParaRPr lang="en-US"/>
          </a:p>
        </p:txBody>
      </p:sp>
    </p:spTree>
    <p:extLst>
      <p:ext uri="{BB962C8B-B14F-4D97-AF65-F5344CB8AC3E}">
        <p14:creationId xmlns:p14="http://schemas.microsoft.com/office/powerpoint/2010/main" val="21842385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8E2BB17-745D-475A-89C9-A29CCC0F9C43}" type="slidenum">
              <a:rPr lang="en-US" smtClean="0"/>
              <a:t>14</a:t>
            </a:fld>
            <a:endParaRPr lang="en-US"/>
          </a:p>
        </p:txBody>
      </p:sp>
    </p:spTree>
    <p:extLst>
      <p:ext uri="{BB962C8B-B14F-4D97-AF65-F5344CB8AC3E}">
        <p14:creationId xmlns:p14="http://schemas.microsoft.com/office/powerpoint/2010/main" val="6719290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37D55-CFD6-9540-55C7-E19E3F8279B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4411117-B916-EBD1-F329-A4446CAE4B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73E6FEF-A2C6-CAC5-530B-BEB36433C2C4}"/>
              </a:ext>
            </a:extLst>
          </p:cNvPr>
          <p:cNvSpPr>
            <a:spLocks noGrp="1"/>
          </p:cNvSpPr>
          <p:nvPr>
            <p:ph type="dt" sz="half" idx="10"/>
          </p:nvPr>
        </p:nvSpPr>
        <p:spPr/>
        <p:txBody>
          <a:bodyPr/>
          <a:lstStyle/>
          <a:p>
            <a:fld id="{469FACE4-2D40-4D1A-A633-ECDAB5593DE0}" type="datetime1">
              <a:rPr lang="en-US" smtClean="0"/>
              <a:t>26-May-25</a:t>
            </a:fld>
            <a:endParaRPr lang="en-US"/>
          </a:p>
        </p:txBody>
      </p:sp>
      <p:sp>
        <p:nvSpPr>
          <p:cNvPr id="5" name="Footer Placeholder 4">
            <a:extLst>
              <a:ext uri="{FF2B5EF4-FFF2-40B4-BE49-F238E27FC236}">
                <a16:creationId xmlns:a16="http://schemas.microsoft.com/office/drawing/2014/main" id="{A71ABE32-A0AF-A4C5-6264-4BD9B438ED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5EE0C2-F0A9-44DA-214E-12199ECFEC6C}"/>
              </a:ext>
            </a:extLst>
          </p:cNvPr>
          <p:cNvSpPr>
            <a:spLocks noGrp="1"/>
          </p:cNvSpPr>
          <p:nvPr>
            <p:ph type="sldNum" sz="quarter" idx="12"/>
          </p:nvPr>
        </p:nvSpPr>
        <p:spPr/>
        <p:txBody>
          <a:bodyPr/>
          <a:lstStyle/>
          <a:p>
            <a:fld id="{D62167D1-4718-47CE-9837-207ADCCC574B}" type="slidenum">
              <a:rPr lang="en-US" smtClean="0"/>
              <a:t>‹#›</a:t>
            </a:fld>
            <a:endParaRPr lang="en-US"/>
          </a:p>
        </p:txBody>
      </p:sp>
    </p:spTree>
    <p:extLst>
      <p:ext uri="{BB962C8B-B14F-4D97-AF65-F5344CB8AC3E}">
        <p14:creationId xmlns:p14="http://schemas.microsoft.com/office/powerpoint/2010/main" val="1212326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66B71-7611-39F7-10BA-3FAFF5FE83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413BFA-1DEA-31EE-78D3-7841BAAC8DC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C38D9B-B28C-E73C-744A-5A49FB1CABCC}"/>
              </a:ext>
            </a:extLst>
          </p:cNvPr>
          <p:cNvSpPr>
            <a:spLocks noGrp="1"/>
          </p:cNvSpPr>
          <p:nvPr>
            <p:ph type="dt" sz="half" idx="10"/>
          </p:nvPr>
        </p:nvSpPr>
        <p:spPr/>
        <p:txBody>
          <a:bodyPr/>
          <a:lstStyle/>
          <a:p>
            <a:fld id="{A5C54D63-0200-44D0-94AD-783AB1A2EA56}" type="datetime1">
              <a:rPr lang="en-US" smtClean="0"/>
              <a:t>26-May-25</a:t>
            </a:fld>
            <a:endParaRPr lang="en-US"/>
          </a:p>
        </p:txBody>
      </p:sp>
      <p:sp>
        <p:nvSpPr>
          <p:cNvPr id="5" name="Footer Placeholder 4">
            <a:extLst>
              <a:ext uri="{FF2B5EF4-FFF2-40B4-BE49-F238E27FC236}">
                <a16:creationId xmlns:a16="http://schemas.microsoft.com/office/drawing/2014/main" id="{203597ED-7C3C-DFE0-1E25-CE675EFA4E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8F0FEF-72AC-0F8F-11E5-292816C6F4DB}"/>
              </a:ext>
            </a:extLst>
          </p:cNvPr>
          <p:cNvSpPr>
            <a:spLocks noGrp="1"/>
          </p:cNvSpPr>
          <p:nvPr>
            <p:ph type="sldNum" sz="quarter" idx="12"/>
          </p:nvPr>
        </p:nvSpPr>
        <p:spPr/>
        <p:txBody>
          <a:bodyPr/>
          <a:lstStyle/>
          <a:p>
            <a:fld id="{D62167D1-4718-47CE-9837-207ADCCC574B}" type="slidenum">
              <a:rPr lang="en-US" smtClean="0"/>
              <a:t>‹#›</a:t>
            </a:fld>
            <a:endParaRPr lang="en-US"/>
          </a:p>
        </p:txBody>
      </p:sp>
    </p:spTree>
    <p:extLst>
      <p:ext uri="{BB962C8B-B14F-4D97-AF65-F5344CB8AC3E}">
        <p14:creationId xmlns:p14="http://schemas.microsoft.com/office/powerpoint/2010/main" val="3451420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7C3DF-57B5-DF28-978A-3D212EE87EB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F1EF39E-2DA9-4B4A-B8F8-92CEC62AF27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270AC06-8A1A-627D-247D-8852578B1C41}"/>
              </a:ext>
            </a:extLst>
          </p:cNvPr>
          <p:cNvSpPr>
            <a:spLocks noGrp="1"/>
          </p:cNvSpPr>
          <p:nvPr>
            <p:ph type="dt" sz="half" idx="10"/>
          </p:nvPr>
        </p:nvSpPr>
        <p:spPr/>
        <p:txBody>
          <a:bodyPr/>
          <a:lstStyle/>
          <a:p>
            <a:fld id="{11C6C133-8C29-4A7E-BC82-40B52FA4A3CA}" type="datetime1">
              <a:rPr lang="en-US" smtClean="0"/>
              <a:t>26-May-25</a:t>
            </a:fld>
            <a:endParaRPr lang="en-US"/>
          </a:p>
        </p:txBody>
      </p:sp>
      <p:sp>
        <p:nvSpPr>
          <p:cNvPr id="5" name="Footer Placeholder 4">
            <a:extLst>
              <a:ext uri="{FF2B5EF4-FFF2-40B4-BE49-F238E27FC236}">
                <a16:creationId xmlns:a16="http://schemas.microsoft.com/office/drawing/2014/main" id="{EAA83F00-CE1D-FF3A-609E-86CE4E16E4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F2977E-41B1-0BFE-FE3E-7BBF75E9F724}"/>
              </a:ext>
            </a:extLst>
          </p:cNvPr>
          <p:cNvSpPr>
            <a:spLocks noGrp="1"/>
          </p:cNvSpPr>
          <p:nvPr>
            <p:ph type="sldNum" sz="quarter" idx="12"/>
          </p:nvPr>
        </p:nvSpPr>
        <p:spPr/>
        <p:txBody>
          <a:bodyPr/>
          <a:lstStyle/>
          <a:p>
            <a:fld id="{D62167D1-4718-47CE-9837-207ADCCC574B}" type="slidenum">
              <a:rPr lang="en-US" smtClean="0"/>
              <a:t>‹#›</a:t>
            </a:fld>
            <a:endParaRPr lang="en-US"/>
          </a:p>
        </p:txBody>
      </p:sp>
    </p:spTree>
    <p:extLst>
      <p:ext uri="{BB962C8B-B14F-4D97-AF65-F5344CB8AC3E}">
        <p14:creationId xmlns:p14="http://schemas.microsoft.com/office/powerpoint/2010/main" val="2319381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0DF38-C9BA-85A9-2F49-F8D7EBFA000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8CD69A1-4CC0-65D8-4C56-42C44D71401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419D87-33AF-5BAD-4080-EFE2C9A74B0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EE08EED-23EA-A14C-09F0-0B1EC23A2A16}"/>
              </a:ext>
            </a:extLst>
          </p:cNvPr>
          <p:cNvSpPr>
            <a:spLocks noGrp="1"/>
          </p:cNvSpPr>
          <p:nvPr>
            <p:ph type="dt" sz="half" idx="10"/>
          </p:nvPr>
        </p:nvSpPr>
        <p:spPr/>
        <p:txBody>
          <a:bodyPr/>
          <a:lstStyle/>
          <a:p>
            <a:fld id="{0BD4991A-0F5F-4BA0-AC80-6F14A72E6EF5}" type="datetime1">
              <a:rPr lang="en-US" smtClean="0"/>
              <a:t>26-May-25</a:t>
            </a:fld>
            <a:endParaRPr lang="en-US"/>
          </a:p>
        </p:txBody>
      </p:sp>
      <p:sp>
        <p:nvSpPr>
          <p:cNvPr id="6" name="Footer Placeholder 5">
            <a:extLst>
              <a:ext uri="{FF2B5EF4-FFF2-40B4-BE49-F238E27FC236}">
                <a16:creationId xmlns:a16="http://schemas.microsoft.com/office/drawing/2014/main" id="{1C16B60D-4EA5-96C5-9B7F-1C04C85EBF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19EF22-F0FF-BD4C-B8E1-3D0C406921E0}"/>
              </a:ext>
            </a:extLst>
          </p:cNvPr>
          <p:cNvSpPr>
            <a:spLocks noGrp="1"/>
          </p:cNvSpPr>
          <p:nvPr>
            <p:ph type="sldNum" sz="quarter" idx="12"/>
          </p:nvPr>
        </p:nvSpPr>
        <p:spPr/>
        <p:txBody>
          <a:bodyPr/>
          <a:lstStyle/>
          <a:p>
            <a:fld id="{D62167D1-4718-47CE-9837-207ADCCC574B}" type="slidenum">
              <a:rPr lang="en-US" smtClean="0"/>
              <a:t>‹#›</a:t>
            </a:fld>
            <a:endParaRPr lang="en-US"/>
          </a:p>
        </p:txBody>
      </p:sp>
    </p:spTree>
    <p:extLst>
      <p:ext uri="{BB962C8B-B14F-4D97-AF65-F5344CB8AC3E}">
        <p14:creationId xmlns:p14="http://schemas.microsoft.com/office/powerpoint/2010/main" val="22860597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8AC50-C253-AB45-5B49-8D74A49F974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0F1BB5E-5561-A9DF-59F6-38A8C301F2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4540E2-6974-3A13-DA1A-584C430AE23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A152055-F966-AA50-4CB7-38D9E28890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2F66046-6C48-08D1-EC3A-EB10D3D2ACA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532A1F3-29A9-78B1-2F72-6651720AC919}"/>
              </a:ext>
            </a:extLst>
          </p:cNvPr>
          <p:cNvSpPr>
            <a:spLocks noGrp="1"/>
          </p:cNvSpPr>
          <p:nvPr>
            <p:ph type="dt" sz="half" idx="10"/>
          </p:nvPr>
        </p:nvSpPr>
        <p:spPr/>
        <p:txBody>
          <a:bodyPr/>
          <a:lstStyle/>
          <a:p>
            <a:fld id="{3095C0F0-CF89-4AA3-AC5B-1CBBA8E2E941}" type="datetime1">
              <a:rPr lang="en-US" smtClean="0"/>
              <a:t>26-May-25</a:t>
            </a:fld>
            <a:endParaRPr lang="en-US"/>
          </a:p>
        </p:txBody>
      </p:sp>
      <p:sp>
        <p:nvSpPr>
          <p:cNvPr id="8" name="Footer Placeholder 7">
            <a:extLst>
              <a:ext uri="{FF2B5EF4-FFF2-40B4-BE49-F238E27FC236}">
                <a16:creationId xmlns:a16="http://schemas.microsoft.com/office/drawing/2014/main" id="{AFC74E71-0EEA-3291-A6B4-862E656EA50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28D4F40-985A-598A-47DF-37AAF27D78BE}"/>
              </a:ext>
            </a:extLst>
          </p:cNvPr>
          <p:cNvSpPr>
            <a:spLocks noGrp="1"/>
          </p:cNvSpPr>
          <p:nvPr>
            <p:ph type="sldNum" sz="quarter" idx="12"/>
          </p:nvPr>
        </p:nvSpPr>
        <p:spPr/>
        <p:txBody>
          <a:bodyPr/>
          <a:lstStyle/>
          <a:p>
            <a:fld id="{D62167D1-4718-47CE-9837-207ADCCC574B}" type="slidenum">
              <a:rPr lang="en-US" smtClean="0"/>
              <a:t>‹#›</a:t>
            </a:fld>
            <a:endParaRPr lang="en-US"/>
          </a:p>
        </p:txBody>
      </p:sp>
    </p:spTree>
    <p:extLst>
      <p:ext uri="{BB962C8B-B14F-4D97-AF65-F5344CB8AC3E}">
        <p14:creationId xmlns:p14="http://schemas.microsoft.com/office/powerpoint/2010/main" val="2359066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719B3-EB6E-DE00-BA6F-7241E89A9DA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ACAF440-1D3F-C978-1965-ACFF59001D2B}"/>
              </a:ext>
            </a:extLst>
          </p:cNvPr>
          <p:cNvSpPr>
            <a:spLocks noGrp="1"/>
          </p:cNvSpPr>
          <p:nvPr>
            <p:ph type="dt" sz="half" idx="10"/>
          </p:nvPr>
        </p:nvSpPr>
        <p:spPr/>
        <p:txBody>
          <a:bodyPr/>
          <a:lstStyle/>
          <a:p>
            <a:fld id="{97E00897-0B83-49D2-BAF7-EA875E95BA28}" type="datetime1">
              <a:rPr lang="en-US" smtClean="0"/>
              <a:t>26-May-25</a:t>
            </a:fld>
            <a:endParaRPr lang="en-US"/>
          </a:p>
        </p:txBody>
      </p:sp>
      <p:sp>
        <p:nvSpPr>
          <p:cNvPr id="4" name="Footer Placeholder 3">
            <a:extLst>
              <a:ext uri="{FF2B5EF4-FFF2-40B4-BE49-F238E27FC236}">
                <a16:creationId xmlns:a16="http://schemas.microsoft.com/office/drawing/2014/main" id="{048F4AED-A7C8-C9BA-820E-20EB2944E53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A114D43-4382-6002-76CE-B02C73829927}"/>
              </a:ext>
            </a:extLst>
          </p:cNvPr>
          <p:cNvSpPr>
            <a:spLocks noGrp="1"/>
          </p:cNvSpPr>
          <p:nvPr>
            <p:ph type="sldNum" sz="quarter" idx="12"/>
          </p:nvPr>
        </p:nvSpPr>
        <p:spPr/>
        <p:txBody>
          <a:bodyPr/>
          <a:lstStyle/>
          <a:p>
            <a:fld id="{D62167D1-4718-47CE-9837-207ADCCC574B}" type="slidenum">
              <a:rPr lang="en-US" smtClean="0"/>
              <a:t>‹#›</a:t>
            </a:fld>
            <a:endParaRPr lang="en-US"/>
          </a:p>
        </p:txBody>
      </p:sp>
    </p:spTree>
    <p:extLst>
      <p:ext uri="{BB962C8B-B14F-4D97-AF65-F5344CB8AC3E}">
        <p14:creationId xmlns:p14="http://schemas.microsoft.com/office/powerpoint/2010/main" val="1341374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6907FE-09FD-CDF6-0142-11E83CEAB414}"/>
              </a:ext>
            </a:extLst>
          </p:cNvPr>
          <p:cNvSpPr>
            <a:spLocks noGrp="1"/>
          </p:cNvSpPr>
          <p:nvPr>
            <p:ph type="dt" sz="half" idx="10"/>
          </p:nvPr>
        </p:nvSpPr>
        <p:spPr/>
        <p:txBody>
          <a:bodyPr/>
          <a:lstStyle/>
          <a:p>
            <a:fld id="{352FE73D-DE88-4E4F-8DBC-31C0FFAC147B}" type="datetime1">
              <a:rPr lang="en-US" smtClean="0"/>
              <a:t>26-May-25</a:t>
            </a:fld>
            <a:endParaRPr lang="en-US"/>
          </a:p>
        </p:txBody>
      </p:sp>
      <p:sp>
        <p:nvSpPr>
          <p:cNvPr id="3" name="Footer Placeholder 2">
            <a:extLst>
              <a:ext uri="{FF2B5EF4-FFF2-40B4-BE49-F238E27FC236}">
                <a16:creationId xmlns:a16="http://schemas.microsoft.com/office/drawing/2014/main" id="{FC2FB4F5-A590-66E2-BC89-6EB10FCA5FA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21F8AA7-1C27-75F0-D98F-D98380A48D22}"/>
              </a:ext>
            </a:extLst>
          </p:cNvPr>
          <p:cNvSpPr>
            <a:spLocks noGrp="1"/>
          </p:cNvSpPr>
          <p:nvPr>
            <p:ph type="sldNum" sz="quarter" idx="12"/>
          </p:nvPr>
        </p:nvSpPr>
        <p:spPr/>
        <p:txBody>
          <a:bodyPr/>
          <a:lstStyle/>
          <a:p>
            <a:fld id="{D62167D1-4718-47CE-9837-207ADCCC574B}" type="slidenum">
              <a:rPr lang="en-US" smtClean="0"/>
              <a:t>‹#›</a:t>
            </a:fld>
            <a:endParaRPr lang="en-US"/>
          </a:p>
        </p:txBody>
      </p:sp>
    </p:spTree>
    <p:extLst>
      <p:ext uri="{BB962C8B-B14F-4D97-AF65-F5344CB8AC3E}">
        <p14:creationId xmlns:p14="http://schemas.microsoft.com/office/powerpoint/2010/main" val="42711892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3A387-98F3-AE52-949F-9F5277688D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6EBC05-7877-BA58-3411-7FCD06ED97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47FD18F-8EDF-8231-F81F-484EA21DBC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D531B5-6A33-DEA2-19D1-8B90DF14A2A8}"/>
              </a:ext>
            </a:extLst>
          </p:cNvPr>
          <p:cNvSpPr>
            <a:spLocks noGrp="1"/>
          </p:cNvSpPr>
          <p:nvPr>
            <p:ph type="dt" sz="half" idx="10"/>
          </p:nvPr>
        </p:nvSpPr>
        <p:spPr/>
        <p:txBody>
          <a:bodyPr/>
          <a:lstStyle/>
          <a:p>
            <a:fld id="{1B38BC6A-3AE1-4293-9FD5-0D52DC6AB8BD}" type="datetime1">
              <a:rPr lang="en-US" smtClean="0"/>
              <a:t>26-May-25</a:t>
            </a:fld>
            <a:endParaRPr lang="en-US"/>
          </a:p>
        </p:txBody>
      </p:sp>
      <p:sp>
        <p:nvSpPr>
          <p:cNvPr id="6" name="Footer Placeholder 5">
            <a:extLst>
              <a:ext uri="{FF2B5EF4-FFF2-40B4-BE49-F238E27FC236}">
                <a16:creationId xmlns:a16="http://schemas.microsoft.com/office/drawing/2014/main" id="{3EDE359E-307B-34B7-10AD-29D6464C01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4727D3-BCE3-FA14-DAAF-255995EAEAB6}"/>
              </a:ext>
            </a:extLst>
          </p:cNvPr>
          <p:cNvSpPr>
            <a:spLocks noGrp="1"/>
          </p:cNvSpPr>
          <p:nvPr>
            <p:ph type="sldNum" sz="quarter" idx="12"/>
          </p:nvPr>
        </p:nvSpPr>
        <p:spPr/>
        <p:txBody>
          <a:bodyPr/>
          <a:lstStyle/>
          <a:p>
            <a:fld id="{D62167D1-4718-47CE-9837-207ADCCC574B}" type="slidenum">
              <a:rPr lang="en-US" smtClean="0"/>
              <a:t>‹#›</a:t>
            </a:fld>
            <a:endParaRPr lang="en-US"/>
          </a:p>
        </p:txBody>
      </p:sp>
    </p:spTree>
    <p:extLst>
      <p:ext uri="{BB962C8B-B14F-4D97-AF65-F5344CB8AC3E}">
        <p14:creationId xmlns:p14="http://schemas.microsoft.com/office/powerpoint/2010/main" val="8529818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52B1D-BC3B-435E-D8CC-EEF4A2904A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D31EF3E-9D0C-8825-BA9E-2AB089E534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5577FF4-C7D0-FBB3-BCBB-A1EDB2EE0A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9E5C8A-238C-32CB-562A-3AF70DC0D691}"/>
              </a:ext>
            </a:extLst>
          </p:cNvPr>
          <p:cNvSpPr>
            <a:spLocks noGrp="1"/>
          </p:cNvSpPr>
          <p:nvPr>
            <p:ph type="dt" sz="half" idx="10"/>
          </p:nvPr>
        </p:nvSpPr>
        <p:spPr/>
        <p:txBody>
          <a:bodyPr/>
          <a:lstStyle/>
          <a:p>
            <a:fld id="{21CA41D4-D304-46F9-AA7E-D17E49A35449}" type="datetime1">
              <a:rPr lang="en-US" smtClean="0"/>
              <a:t>26-May-25</a:t>
            </a:fld>
            <a:endParaRPr lang="en-US"/>
          </a:p>
        </p:txBody>
      </p:sp>
      <p:sp>
        <p:nvSpPr>
          <p:cNvPr id="6" name="Footer Placeholder 5">
            <a:extLst>
              <a:ext uri="{FF2B5EF4-FFF2-40B4-BE49-F238E27FC236}">
                <a16:creationId xmlns:a16="http://schemas.microsoft.com/office/drawing/2014/main" id="{7E644915-8208-9E2D-D649-F5653C3716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759251-A5AF-F222-5E81-E85B1D840609}"/>
              </a:ext>
            </a:extLst>
          </p:cNvPr>
          <p:cNvSpPr>
            <a:spLocks noGrp="1"/>
          </p:cNvSpPr>
          <p:nvPr>
            <p:ph type="sldNum" sz="quarter" idx="12"/>
          </p:nvPr>
        </p:nvSpPr>
        <p:spPr/>
        <p:txBody>
          <a:bodyPr/>
          <a:lstStyle/>
          <a:p>
            <a:fld id="{D62167D1-4718-47CE-9837-207ADCCC574B}" type="slidenum">
              <a:rPr lang="en-US" smtClean="0"/>
              <a:t>‹#›</a:t>
            </a:fld>
            <a:endParaRPr lang="en-US"/>
          </a:p>
        </p:txBody>
      </p:sp>
    </p:spTree>
    <p:extLst>
      <p:ext uri="{BB962C8B-B14F-4D97-AF65-F5344CB8AC3E}">
        <p14:creationId xmlns:p14="http://schemas.microsoft.com/office/powerpoint/2010/main" val="1266387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56A9B-24E1-07E3-FB79-0C42EF0A2A4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DD4120A-83AC-17A6-BCD3-CF53E5A6F25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07F0A4-80ED-A48B-359C-2C769DC994B7}"/>
              </a:ext>
            </a:extLst>
          </p:cNvPr>
          <p:cNvSpPr>
            <a:spLocks noGrp="1"/>
          </p:cNvSpPr>
          <p:nvPr>
            <p:ph type="dt" sz="half" idx="10"/>
          </p:nvPr>
        </p:nvSpPr>
        <p:spPr/>
        <p:txBody>
          <a:bodyPr/>
          <a:lstStyle/>
          <a:p>
            <a:fld id="{BB4D9C15-1EB4-4033-BB0D-875EB622D430}" type="datetime1">
              <a:rPr lang="en-US" smtClean="0"/>
              <a:t>26-May-25</a:t>
            </a:fld>
            <a:endParaRPr lang="en-US"/>
          </a:p>
        </p:txBody>
      </p:sp>
      <p:sp>
        <p:nvSpPr>
          <p:cNvPr id="5" name="Footer Placeholder 4">
            <a:extLst>
              <a:ext uri="{FF2B5EF4-FFF2-40B4-BE49-F238E27FC236}">
                <a16:creationId xmlns:a16="http://schemas.microsoft.com/office/drawing/2014/main" id="{B79F97ED-6D71-574D-DED3-D722490F03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76C4A9-64DA-DDC2-0118-23CF545F3A3C}"/>
              </a:ext>
            </a:extLst>
          </p:cNvPr>
          <p:cNvSpPr>
            <a:spLocks noGrp="1"/>
          </p:cNvSpPr>
          <p:nvPr>
            <p:ph type="sldNum" sz="quarter" idx="12"/>
          </p:nvPr>
        </p:nvSpPr>
        <p:spPr/>
        <p:txBody>
          <a:bodyPr/>
          <a:lstStyle/>
          <a:p>
            <a:fld id="{D62167D1-4718-47CE-9837-207ADCCC574B}" type="slidenum">
              <a:rPr lang="en-US" smtClean="0"/>
              <a:t>‹#›</a:t>
            </a:fld>
            <a:endParaRPr lang="en-US"/>
          </a:p>
        </p:txBody>
      </p:sp>
    </p:spTree>
    <p:extLst>
      <p:ext uri="{BB962C8B-B14F-4D97-AF65-F5344CB8AC3E}">
        <p14:creationId xmlns:p14="http://schemas.microsoft.com/office/powerpoint/2010/main" val="35879754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55FD96C-6E40-9C80-93A6-F6F94F8BD52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B47F1A2-7DA4-FA82-F2B6-AFBC3EB433F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0DC23C-8A90-7090-1298-21563E81B4A5}"/>
              </a:ext>
            </a:extLst>
          </p:cNvPr>
          <p:cNvSpPr>
            <a:spLocks noGrp="1"/>
          </p:cNvSpPr>
          <p:nvPr>
            <p:ph type="dt" sz="half" idx="10"/>
          </p:nvPr>
        </p:nvSpPr>
        <p:spPr/>
        <p:txBody>
          <a:bodyPr/>
          <a:lstStyle/>
          <a:p>
            <a:fld id="{596EB3DE-DFA5-49FB-A959-179FEA0EB6E9}" type="datetime1">
              <a:rPr lang="en-US" smtClean="0"/>
              <a:t>26-May-25</a:t>
            </a:fld>
            <a:endParaRPr lang="en-US"/>
          </a:p>
        </p:txBody>
      </p:sp>
      <p:sp>
        <p:nvSpPr>
          <p:cNvPr id="5" name="Footer Placeholder 4">
            <a:extLst>
              <a:ext uri="{FF2B5EF4-FFF2-40B4-BE49-F238E27FC236}">
                <a16:creationId xmlns:a16="http://schemas.microsoft.com/office/drawing/2014/main" id="{A804CDAB-51FA-F9FC-6209-F1481AE136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B16DF5-31F9-9070-15ED-465515BA3325}"/>
              </a:ext>
            </a:extLst>
          </p:cNvPr>
          <p:cNvSpPr>
            <a:spLocks noGrp="1"/>
          </p:cNvSpPr>
          <p:nvPr>
            <p:ph type="sldNum" sz="quarter" idx="12"/>
          </p:nvPr>
        </p:nvSpPr>
        <p:spPr/>
        <p:txBody>
          <a:bodyPr/>
          <a:lstStyle/>
          <a:p>
            <a:fld id="{D62167D1-4718-47CE-9837-207ADCCC574B}" type="slidenum">
              <a:rPr lang="en-US" smtClean="0"/>
              <a:t>‹#›</a:t>
            </a:fld>
            <a:endParaRPr lang="en-US"/>
          </a:p>
        </p:txBody>
      </p:sp>
    </p:spTree>
    <p:extLst>
      <p:ext uri="{BB962C8B-B14F-4D97-AF65-F5344CB8AC3E}">
        <p14:creationId xmlns:p14="http://schemas.microsoft.com/office/powerpoint/2010/main" val="1923495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62D5A21-F651-8992-4AC3-C009F151D6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58A7AE1-6FD6-6E29-0310-E3F1378871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910B3C-C2C5-D309-5FEF-4DD5A0638A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E4B14ED-7319-4FEF-B27B-887ABEC61AE1}" type="datetime1">
              <a:rPr lang="en-US" smtClean="0"/>
              <a:t>26-May-25</a:t>
            </a:fld>
            <a:endParaRPr lang="en-US"/>
          </a:p>
        </p:txBody>
      </p:sp>
      <p:sp>
        <p:nvSpPr>
          <p:cNvPr id="5" name="Footer Placeholder 4">
            <a:extLst>
              <a:ext uri="{FF2B5EF4-FFF2-40B4-BE49-F238E27FC236}">
                <a16:creationId xmlns:a16="http://schemas.microsoft.com/office/drawing/2014/main" id="{7CBEC86B-888D-5A2A-EBF5-6520504D2F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1D4A625-BAB8-7BA7-E849-2C1C4C066C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62167D1-4718-47CE-9837-207ADCCC574B}" type="slidenum">
              <a:rPr lang="en-US" smtClean="0"/>
              <a:t>‹#›</a:t>
            </a:fld>
            <a:endParaRPr lang="en-US"/>
          </a:p>
        </p:txBody>
      </p:sp>
    </p:spTree>
    <p:extLst>
      <p:ext uri="{BB962C8B-B14F-4D97-AF65-F5344CB8AC3E}">
        <p14:creationId xmlns:p14="http://schemas.microsoft.com/office/powerpoint/2010/main" val="31645120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9F4B-260F-2B97-F92C-097C56E010B3}"/>
              </a:ext>
            </a:extLst>
          </p:cNvPr>
          <p:cNvSpPr>
            <a:spLocks noGrp="1"/>
          </p:cNvSpPr>
          <p:nvPr>
            <p:ph type="ctrTitle"/>
          </p:nvPr>
        </p:nvSpPr>
        <p:spPr/>
        <p:txBody>
          <a:bodyPr/>
          <a:lstStyle/>
          <a:p>
            <a:endParaRPr lang="en-US" dirty="0"/>
          </a:p>
        </p:txBody>
      </p:sp>
      <p:sp>
        <p:nvSpPr>
          <p:cNvPr id="3" name="Subtitle 2">
            <a:extLst>
              <a:ext uri="{FF2B5EF4-FFF2-40B4-BE49-F238E27FC236}">
                <a16:creationId xmlns:a16="http://schemas.microsoft.com/office/drawing/2014/main" id="{7B15B694-ED26-829C-A819-DADB8A7BFD21}"/>
              </a:ext>
            </a:extLst>
          </p:cNvPr>
          <p:cNvSpPr>
            <a:spLocks noGrp="1"/>
          </p:cNvSpPr>
          <p:nvPr>
            <p:ph type="subTitle" idx="1"/>
          </p:nvPr>
        </p:nvSpPr>
        <p:spPr/>
        <p:txBody>
          <a:bodyPr/>
          <a:lstStyle/>
          <a:p>
            <a:endParaRPr lang="en-US"/>
          </a:p>
        </p:txBody>
      </p:sp>
      <p:pic>
        <p:nvPicPr>
          <p:cNvPr id="4" name="Picture 3">
            <a:extLst>
              <a:ext uri="{FF2B5EF4-FFF2-40B4-BE49-F238E27FC236}">
                <a16:creationId xmlns:a16="http://schemas.microsoft.com/office/drawing/2014/main" id="{8F1D0957-74F4-2CC4-9435-C1CE40241A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0" y="5"/>
            <a:ext cx="12191999" cy="6857990"/>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0A88F93F-AEEE-229F-FEAA-373235AB96AD}"/>
              </a:ext>
            </a:extLst>
          </p:cNvPr>
          <p:cNvSpPr>
            <a:spLocks noGrp="1"/>
          </p:cNvSpPr>
          <p:nvPr>
            <p:ph type="sldNum" sz="quarter" idx="12"/>
          </p:nvPr>
        </p:nvSpPr>
        <p:spPr/>
        <p:txBody>
          <a:bodyPr/>
          <a:lstStyle/>
          <a:p>
            <a:fld id="{D62167D1-4718-47CE-9837-207ADCCC574B}" type="slidenum">
              <a:rPr lang="en-US" smtClean="0"/>
              <a:t>1</a:t>
            </a:fld>
            <a:endParaRPr lang="en-US"/>
          </a:p>
        </p:txBody>
      </p:sp>
    </p:spTree>
    <p:extLst>
      <p:ext uri="{BB962C8B-B14F-4D97-AF65-F5344CB8AC3E}">
        <p14:creationId xmlns:p14="http://schemas.microsoft.com/office/powerpoint/2010/main" val="1494669376"/>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DBF1ABE-8590-450D-BB49-BDDCCF3EE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2">
              <a:tint val="95000"/>
              <a:satMod val="1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AF58E659-0DD1-92F7-988A-FDFA43ED09D0}"/>
              </a:ext>
            </a:extLst>
          </p:cNvPr>
          <p:cNvSpPr>
            <a:spLocks noGrp="1"/>
          </p:cNvSpPr>
          <p:nvPr>
            <p:ph type="ctrTitle"/>
          </p:nvPr>
        </p:nvSpPr>
        <p:spPr>
          <a:xfrm>
            <a:off x="6090045" y="821410"/>
            <a:ext cx="5624118" cy="2607590"/>
          </a:xfrm>
        </p:spPr>
        <p:txBody>
          <a:bodyPr anchor="b">
            <a:normAutofit/>
          </a:bodyPr>
          <a:lstStyle/>
          <a:p>
            <a:pPr algn="l"/>
            <a:r>
              <a:rPr lang="en-US" sz="5100" dirty="0"/>
              <a:t>AI FOR MEDICAL DIAGNOSIS(IMAGE CLASSIFICATION)</a:t>
            </a:r>
          </a:p>
        </p:txBody>
      </p:sp>
      <p:sp>
        <p:nvSpPr>
          <p:cNvPr id="3" name="Subtitle 2">
            <a:extLst>
              <a:ext uri="{FF2B5EF4-FFF2-40B4-BE49-F238E27FC236}">
                <a16:creationId xmlns:a16="http://schemas.microsoft.com/office/drawing/2014/main" id="{4CA142BE-EF33-F078-42A1-3625173E6764}"/>
              </a:ext>
            </a:extLst>
          </p:cNvPr>
          <p:cNvSpPr>
            <a:spLocks noGrp="1"/>
          </p:cNvSpPr>
          <p:nvPr>
            <p:ph type="subTitle" idx="1"/>
          </p:nvPr>
        </p:nvSpPr>
        <p:spPr>
          <a:xfrm>
            <a:off x="6096369" y="3429000"/>
            <a:ext cx="5617794" cy="2352675"/>
          </a:xfrm>
        </p:spPr>
        <p:txBody>
          <a:bodyPr anchor="t">
            <a:normAutofit/>
          </a:bodyPr>
          <a:lstStyle/>
          <a:p>
            <a:r>
              <a:rPr lang="en-US" sz="2800" dirty="0"/>
              <a:t>PRESENTED BY:</a:t>
            </a:r>
          </a:p>
          <a:p>
            <a:r>
              <a:rPr lang="en-US" sz="2800" dirty="0"/>
              <a:t>HUZAIFA SHAHBAZ(21-CE-009)</a:t>
            </a:r>
          </a:p>
          <a:p>
            <a:r>
              <a:rPr lang="en-US" sz="2800" dirty="0"/>
              <a:t>PRESENTED TO:</a:t>
            </a:r>
          </a:p>
          <a:p>
            <a:r>
              <a:rPr lang="en-US" sz="2800" dirty="0"/>
              <a:t>MAAM HAREEM KHAN</a:t>
            </a:r>
          </a:p>
        </p:txBody>
      </p:sp>
      <p:sp>
        <p:nvSpPr>
          <p:cNvPr id="12" name="Freeform: Shape 11">
            <a:extLst>
              <a:ext uri="{FF2B5EF4-FFF2-40B4-BE49-F238E27FC236}">
                <a16:creationId xmlns:a16="http://schemas.microsoft.com/office/drawing/2014/main" id="{18D32C3D-8F76-4E99-BE56-0836CC38CC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84938"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70766076-46F5-42D5-A773-2B3BEF2B8B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25575" y="0"/>
            <a:ext cx="2486322"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6" name="Picture 5" descr="Scan of a human brain in a neurology clinic">
            <a:extLst>
              <a:ext uri="{FF2B5EF4-FFF2-40B4-BE49-F238E27FC236}">
                <a16:creationId xmlns:a16="http://schemas.microsoft.com/office/drawing/2014/main" id="{6372F00F-EC22-2CE6-B687-C565F287E157}"/>
              </a:ext>
            </a:extLst>
          </p:cNvPr>
          <p:cNvPicPr>
            <a:picLocks noChangeAspect="1"/>
          </p:cNvPicPr>
          <p:nvPr/>
        </p:nvPicPr>
        <p:blipFill>
          <a:blip r:embed="rId2"/>
          <a:srcRect l="43067"/>
          <a:stretch>
            <a:fillRect/>
          </a:stretch>
        </p:blipFill>
        <p:spPr>
          <a:xfrm>
            <a:off x="-1507" y="10"/>
            <a:ext cx="5205951" cy="6857990"/>
          </a:xfrm>
          <a:custGeom>
            <a:avLst/>
            <a:gdLst/>
            <a:ahLst/>
            <a:cxnLst/>
            <a:rect l="l" t="t" r="r" b="b"/>
            <a:pathLst>
              <a:path w="5205951" h="6858000">
                <a:moveTo>
                  <a:pt x="0" y="0"/>
                </a:moveTo>
                <a:lnTo>
                  <a:pt x="1709529" y="0"/>
                </a:lnTo>
                <a:lnTo>
                  <a:pt x="2489695" y="0"/>
                </a:lnTo>
                <a:lnTo>
                  <a:pt x="3582928" y="0"/>
                </a:lnTo>
                <a:lnTo>
                  <a:pt x="3605052" y="14997"/>
                </a:lnTo>
                <a:cubicBezTo>
                  <a:pt x="4632215" y="754641"/>
                  <a:pt x="5205951" y="2093192"/>
                  <a:pt x="5205951" y="3621656"/>
                </a:cubicBezTo>
                <a:cubicBezTo>
                  <a:pt x="5205951" y="4969131"/>
                  <a:pt x="4277226" y="5602839"/>
                  <a:pt x="3331601" y="6374814"/>
                </a:cubicBezTo>
                <a:cubicBezTo>
                  <a:pt x="3159398" y="6515397"/>
                  <a:pt x="2988771" y="6653108"/>
                  <a:pt x="2814953" y="6780599"/>
                </a:cubicBezTo>
                <a:lnTo>
                  <a:pt x="2703197" y="6858000"/>
                </a:lnTo>
                <a:lnTo>
                  <a:pt x="2489695" y="6858000"/>
                </a:lnTo>
                <a:lnTo>
                  <a:pt x="1709529" y="6858000"/>
                </a:lnTo>
                <a:lnTo>
                  <a:pt x="0" y="6858000"/>
                </a:lnTo>
                <a:close/>
              </a:path>
            </a:pathLst>
          </a:custGeom>
        </p:spPr>
      </p:pic>
      <p:sp>
        <p:nvSpPr>
          <p:cNvPr id="16" name="Freeform: Shape 15">
            <a:extLst>
              <a:ext uri="{FF2B5EF4-FFF2-40B4-BE49-F238E27FC236}">
                <a16:creationId xmlns:a16="http://schemas.microsoft.com/office/drawing/2014/main" id="{CB7B90D9-1EC2-4A12-B24A-342C1BCA2F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59072" y="0"/>
            <a:ext cx="2845372" cy="6858000"/>
          </a:xfrm>
          <a:custGeom>
            <a:avLst/>
            <a:gdLst>
              <a:gd name="connsiteX0" fmla="*/ 939908 w 2845372"/>
              <a:gd name="connsiteY0" fmla="*/ 0 h 6858000"/>
              <a:gd name="connsiteX1" fmla="*/ 1222349 w 2845372"/>
              <a:gd name="connsiteY1" fmla="*/ 0 h 6858000"/>
              <a:gd name="connsiteX2" fmla="*/ 1244473 w 2845372"/>
              <a:gd name="connsiteY2" fmla="*/ 14997 h 6858000"/>
              <a:gd name="connsiteX3" fmla="*/ 2845372 w 2845372"/>
              <a:gd name="connsiteY3" fmla="*/ 3621656 h 6858000"/>
              <a:gd name="connsiteX4" fmla="*/ 971022 w 2845372"/>
              <a:gd name="connsiteY4" fmla="*/ 6374814 h 6858000"/>
              <a:gd name="connsiteX5" fmla="*/ 454374 w 2845372"/>
              <a:gd name="connsiteY5" fmla="*/ 6780599 h 6858000"/>
              <a:gd name="connsiteX6" fmla="*/ 342618 w 2845372"/>
              <a:gd name="connsiteY6" fmla="*/ 6858000 h 6858000"/>
              <a:gd name="connsiteX7" fmla="*/ 129116 w 2845372"/>
              <a:gd name="connsiteY7" fmla="*/ 6858000 h 6858000"/>
              <a:gd name="connsiteX8" fmla="*/ 0 w 2845372"/>
              <a:gd name="connsiteY8" fmla="*/ 6858000 h 6858000"/>
              <a:gd name="connsiteX9" fmla="*/ 119401 w 2845372"/>
              <a:gd name="connsiteY9" fmla="*/ 6780599 h 6858000"/>
              <a:gd name="connsiteX10" fmla="*/ 671389 w 2845372"/>
              <a:gd name="connsiteY10" fmla="*/ 6374814 h 6858000"/>
              <a:gd name="connsiteX11" fmla="*/ 2673952 w 2845372"/>
              <a:gd name="connsiteY11" fmla="*/ 3621656 h 6858000"/>
              <a:gd name="connsiteX12" fmla="*/ 963545 w 2845372"/>
              <a:gd name="connsiteY12"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45372" h="6858000">
                <a:moveTo>
                  <a:pt x="939908" y="0"/>
                </a:moveTo>
                <a:lnTo>
                  <a:pt x="1222349" y="0"/>
                </a:lnTo>
                <a:lnTo>
                  <a:pt x="1244473" y="14997"/>
                </a:lnTo>
                <a:cubicBezTo>
                  <a:pt x="2271636" y="754641"/>
                  <a:pt x="2845372" y="2093192"/>
                  <a:pt x="2845372" y="3621656"/>
                </a:cubicBezTo>
                <a:cubicBezTo>
                  <a:pt x="2845372" y="4969131"/>
                  <a:pt x="1916647" y="5602839"/>
                  <a:pt x="971022" y="6374814"/>
                </a:cubicBezTo>
                <a:cubicBezTo>
                  <a:pt x="798819" y="6515397"/>
                  <a:pt x="628192" y="6653108"/>
                  <a:pt x="454374" y="6780599"/>
                </a:cubicBezTo>
                <a:lnTo>
                  <a:pt x="342618" y="6858000"/>
                </a:lnTo>
                <a:lnTo>
                  <a:pt x="129116" y="6858000"/>
                </a:lnTo>
                <a:lnTo>
                  <a:pt x="0" y="6858000"/>
                </a:lnTo>
                <a:lnTo>
                  <a:pt x="119401" y="6780599"/>
                </a:lnTo>
                <a:cubicBezTo>
                  <a:pt x="305108" y="6653108"/>
                  <a:pt x="487407" y="6515397"/>
                  <a:pt x="671389" y="6374814"/>
                </a:cubicBezTo>
                <a:cubicBezTo>
                  <a:pt x="1681699" y="5602839"/>
                  <a:pt x="2673952" y="4969131"/>
                  <a:pt x="2673952" y="3621656"/>
                </a:cubicBezTo>
                <a:cubicBezTo>
                  <a:pt x="2673952" y="2093192"/>
                  <a:pt x="2060970" y="754641"/>
                  <a:pt x="963545" y="14997"/>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Slide Number Placeholder 3">
            <a:extLst>
              <a:ext uri="{FF2B5EF4-FFF2-40B4-BE49-F238E27FC236}">
                <a16:creationId xmlns:a16="http://schemas.microsoft.com/office/drawing/2014/main" id="{89F2FA94-C0EF-32C0-7CE0-F0FF4B266D0C}"/>
              </a:ext>
            </a:extLst>
          </p:cNvPr>
          <p:cNvSpPr>
            <a:spLocks noGrp="1"/>
          </p:cNvSpPr>
          <p:nvPr>
            <p:ph type="sldNum" sz="quarter" idx="12"/>
          </p:nvPr>
        </p:nvSpPr>
        <p:spPr>
          <a:xfrm>
            <a:off x="10853928" y="6356350"/>
            <a:ext cx="1188720" cy="365125"/>
          </a:xfrm>
        </p:spPr>
        <p:txBody>
          <a:bodyPr>
            <a:normAutofit/>
          </a:bodyPr>
          <a:lstStyle/>
          <a:p>
            <a:pPr algn="l">
              <a:spcAft>
                <a:spcPts val="600"/>
              </a:spcAft>
            </a:pPr>
            <a:fld id="{D62167D1-4718-47CE-9837-207ADCCC574B}" type="slidenum">
              <a:rPr lang="en-US" sz="1600">
                <a:solidFill>
                  <a:schemeClr val="tx1">
                    <a:lumMod val="75000"/>
                    <a:lumOff val="25000"/>
                  </a:schemeClr>
                </a:solidFill>
              </a:rPr>
              <a:pPr algn="l">
                <a:spcAft>
                  <a:spcPts val="600"/>
                </a:spcAft>
              </a:pPr>
              <a:t>2</a:t>
            </a:fld>
            <a:endParaRPr lang="en-US" sz="1600">
              <a:solidFill>
                <a:schemeClr val="tx1">
                  <a:lumMod val="75000"/>
                  <a:lumOff val="25000"/>
                </a:schemeClr>
              </a:solidFill>
            </a:endParaRPr>
          </a:p>
        </p:txBody>
      </p:sp>
    </p:spTree>
    <p:extLst>
      <p:ext uri="{BB962C8B-B14F-4D97-AF65-F5344CB8AC3E}">
        <p14:creationId xmlns:p14="http://schemas.microsoft.com/office/powerpoint/2010/main" val="2853874648"/>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DC48392-09DC-3467-9D8D-92428A4DFAC2}"/>
              </a:ext>
            </a:extLst>
          </p:cNvPr>
          <p:cNvSpPr>
            <a:spLocks noGrp="1"/>
          </p:cNvSpPr>
          <p:nvPr>
            <p:ph type="title"/>
          </p:nvPr>
        </p:nvSpPr>
        <p:spPr>
          <a:xfrm>
            <a:off x="6094105" y="802955"/>
            <a:ext cx="4977976" cy="1454051"/>
          </a:xfrm>
        </p:spPr>
        <p:txBody>
          <a:bodyPr>
            <a:normAutofit/>
          </a:bodyPr>
          <a:lstStyle/>
          <a:p>
            <a:pPr algn="ctr"/>
            <a:r>
              <a:rPr lang="en-US" sz="4000" b="1" dirty="0">
                <a:solidFill>
                  <a:schemeClr val="tx2"/>
                </a:solidFill>
              </a:rPr>
              <a:t>OUTLINES</a:t>
            </a:r>
          </a:p>
        </p:txBody>
      </p:sp>
      <p:pic>
        <p:nvPicPr>
          <p:cNvPr id="8" name="Graphic 7" descr="Stethoscope">
            <a:extLst>
              <a:ext uri="{FF2B5EF4-FFF2-40B4-BE49-F238E27FC236}">
                <a16:creationId xmlns:a16="http://schemas.microsoft.com/office/drawing/2014/main" id="{B93A27E4-2555-6215-C133-E11EC4387D7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6951" y="1793846"/>
            <a:ext cx="3620021" cy="3620021"/>
          </a:xfrm>
          <a:prstGeom prst="rect">
            <a:avLst/>
          </a:prstGeom>
        </p:spPr>
      </p:pic>
      <p:sp>
        <p:nvSpPr>
          <p:cNvPr id="3" name="Content Placeholder 2">
            <a:extLst>
              <a:ext uri="{FF2B5EF4-FFF2-40B4-BE49-F238E27FC236}">
                <a16:creationId xmlns:a16="http://schemas.microsoft.com/office/drawing/2014/main" id="{BC54162D-5005-7DCC-5575-A217FC3739A1}"/>
              </a:ext>
            </a:extLst>
          </p:cNvPr>
          <p:cNvSpPr>
            <a:spLocks noGrp="1"/>
          </p:cNvSpPr>
          <p:nvPr>
            <p:ph idx="1"/>
          </p:nvPr>
        </p:nvSpPr>
        <p:spPr>
          <a:xfrm>
            <a:off x="6090574" y="1983784"/>
            <a:ext cx="4977578" cy="4077188"/>
          </a:xfrm>
        </p:spPr>
        <p:txBody>
          <a:bodyPr anchor="ctr">
            <a:normAutofit/>
          </a:bodyPr>
          <a:lstStyle/>
          <a:p>
            <a:r>
              <a:rPr lang="en-US" sz="1800" dirty="0">
                <a:solidFill>
                  <a:schemeClr val="tx2"/>
                </a:solidFill>
              </a:rPr>
              <a:t>ABSTRACT</a:t>
            </a:r>
          </a:p>
          <a:p>
            <a:r>
              <a:rPr lang="en-US" sz="1800" dirty="0">
                <a:solidFill>
                  <a:schemeClr val="tx2"/>
                </a:solidFill>
              </a:rPr>
              <a:t>INTRODUCTION</a:t>
            </a:r>
          </a:p>
          <a:p>
            <a:r>
              <a:rPr lang="en-US" sz="1800" dirty="0">
                <a:solidFill>
                  <a:schemeClr val="tx2"/>
                </a:solidFill>
              </a:rPr>
              <a:t>METHODOLOGY</a:t>
            </a:r>
          </a:p>
          <a:p>
            <a:r>
              <a:rPr lang="en-US" sz="1800" dirty="0">
                <a:solidFill>
                  <a:schemeClr val="tx2"/>
                </a:solidFill>
              </a:rPr>
              <a:t>HISTORY OF  MEDICAL DIAGNOSIS</a:t>
            </a:r>
          </a:p>
          <a:p>
            <a:r>
              <a:rPr lang="en-US" sz="1800" dirty="0">
                <a:solidFill>
                  <a:schemeClr val="tx2"/>
                </a:solidFill>
              </a:rPr>
              <a:t>RECENT TRENDS AND FUTURE OUTLOOK</a:t>
            </a:r>
          </a:p>
          <a:p>
            <a:r>
              <a:rPr lang="en-US" sz="1800" dirty="0">
                <a:solidFill>
                  <a:schemeClr val="tx2"/>
                </a:solidFill>
              </a:rPr>
              <a:t>RESULTS </a:t>
            </a:r>
          </a:p>
          <a:p>
            <a:r>
              <a:rPr lang="en-US" sz="1800" dirty="0">
                <a:solidFill>
                  <a:schemeClr val="tx2"/>
                </a:solidFill>
              </a:rPr>
              <a:t>CONCLUSION</a:t>
            </a:r>
          </a:p>
          <a:p>
            <a:r>
              <a:rPr lang="en-US" sz="1800" dirty="0">
                <a:solidFill>
                  <a:schemeClr val="tx2"/>
                </a:solidFill>
              </a:rPr>
              <a:t>REFERNCES</a:t>
            </a:r>
          </a:p>
        </p:txBody>
      </p:sp>
      <p:grpSp>
        <p:nvGrpSpPr>
          <p:cNvPr id="15" name="Group 14">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6" name="Freeform: Shape 15">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Slide Number Placeholder 3">
            <a:extLst>
              <a:ext uri="{FF2B5EF4-FFF2-40B4-BE49-F238E27FC236}">
                <a16:creationId xmlns:a16="http://schemas.microsoft.com/office/drawing/2014/main" id="{5B2E9AF5-EEED-FE9C-F385-808BAF06DA63}"/>
              </a:ext>
            </a:extLst>
          </p:cNvPr>
          <p:cNvSpPr>
            <a:spLocks noGrp="1"/>
          </p:cNvSpPr>
          <p:nvPr>
            <p:ph type="sldNum" sz="quarter" idx="12"/>
          </p:nvPr>
        </p:nvSpPr>
        <p:spPr>
          <a:xfrm>
            <a:off x="8610600" y="6356350"/>
            <a:ext cx="2743200" cy="365125"/>
          </a:xfrm>
        </p:spPr>
        <p:txBody>
          <a:bodyPr>
            <a:normAutofit/>
          </a:bodyPr>
          <a:lstStyle/>
          <a:p>
            <a:pPr>
              <a:spcAft>
                <a:spcPts val="600"/>
              </a:spcAft>
            </a:pPr>
            <a:fld id="{D62167D1-4718-47CE-9837-207ADCCC574B}" type="slidenum">
              <a:rPr lang="en-US" smtClean="0"/>
              <a:pPr>
                <a:spcAft>
                  <a:spcPts val="600"/>
                </a:spcAft>
              </a:pPr>
              <a:t>3</a:t>
            </a:fld>
            <a:endParaRPr lang="en-US"/>
          </a:p>
        </p:txBody>
      </p:sp>
    </p:spTree>
    <p:extLst>
      <p:ext uri="{BB962C8B-B14F-4D97-AF65-F5344CB8AC3E}">
        <p14:creationId xmlns:p14="http://schemas.microsoft.com/office/powerpoint/2010/main" val="1777289253"/>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2" name="Rectangle 11">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0214FD-829D-D00F-4A0C-4582E0D38791}"/>
              </a:ext>
            </a:extLst>
          </p:cNvPr>
          <p:cNvSpPr>
            <a:spLocks noGrp="1"/>
          </p:cNvSpPr>
          <p:nvPr>
            <p:ph type="title"/>
          </p:nvPr>
        </p:nvSpPr>
        <p:spPr>
          <a:xfrm>
            <a:off x="761803" y="350196"/>
            <a:ext cx="4646904" cy="564204"/>
          </a:xfrm>
        </p:spPr>
        <p:txBody>
          <a:bodyPr anchor="ctr">
            <a:normAutofit fontScale="90000"/>
          </a:bodyPr>
          <a:lstStyle/>
          <a:p>
            <a:pPr algn="ctr"/>
            <a:r>
              <a:rPr lang="en-US" sz="4000" b="1" dirty="0"/>
              <a:t>ABSTRACT</a:t>
            </a:r>
          </a:p>
        </p:txBody>
      </p:sp>
      <p:sp>
        <p:nvSpPr>
          <p:cNvPr id="3" name="Content Placeholder 2">
            <a:extLst>
              <a:ext uri="{FF2B5EF4-FFF2-40B4-BE49-F238E27FC236}">
                <a16:creationId xmlns:a16="http://schemas.microsoft.com/office/drawing/2014/main" id="{FFA55317-69B6-5AF7-C16E-E9C4572F89E8}"/>
              </a:ext>
            </a:extLst>
          </p:cNvPr>
          <p:cNvSpPr>
            <a:spLocks noGrp="1"/>
          </p:cNvSpPr>
          <p:nvPr>
            <p:ph idx="1"/>
          </p:nvPr>
        </p:nvSpPr>
        <p:spPr>
          <a:xfrm>
            <a:off x="761802" y="1264596"/>
            <a:ext cx="4646905" cy="5456878"/>
          </a:xfrm>
        </p:spPr>
        <p:txBody>
          <a:bodyPr anchor="ctr">
            <a:normAutofit fontScale="92500" lnSpcReduction="20000"/>
          </a:bodyPr>
          <a:lstStyle/>
          <a:p>
            <a:endParaRPr lang="en-US" sz="1800" kern="0" dirty="0">
              <a:effectLst/>
              <a:ea typeface="Calibri" panose="020F0502020204030204" pitchFamily="34" charset="0"/>
            </a:endParaRPr>
          </a:p>
          <a:p>
            <a:r>
              <a:rPr lang="en-US" sz="1800" kern="0" dirty="0">
                <a:effectLst/>
                <a:ea typeface="Calibri" panose="020F0502020204030204" pitchFamily="34" charset="0"/>
              </a:rPr>
              <a:t>AI is revolutionizing medical diagnostics by utilizing image classification techniques that analyze intricate and delicate medical images using advanced algorithms such as deep learning and machine learning. </a:t>
            </a:r>
          </a:p>
          <a:p>
            <a:r>
              <a:rPr lang="en-US" sz="1800" kern="0" dirty="0">
                <a:effectLst/>
                <a:ea typeface="Calibri" panose="020F0502020204030204" pitchFamily="34" charset="0"/>
              </a:rPr>
              <a:t>AI has demonstrated exceptional accuracy in identifying cancer and other diseases, sometimes even matching or surpassing the level of expertise possessed by humans.</a:t>
            </a:r>
            <a:endParaRPr lang="en-US" sz="1800" kern="0" dirty="0">
              <a:ea typeface="Calibri" panose="020F0502020204030204" pitchFamily="34" charset="0"/>
            </a:endParaRPr>
          </a:p>
          <a:p>
            <a:r>
              <a:rPr lang="en-US" sz="1800" kern="0" dirty="0">
                <a:effectLst/>
                <a:ea typeface="Calibri" panose="020F0502020204030204" pitchFamily="34" charset="0"/>
              </a:rPr>
              <a:t>The integration of AI into imaging technology enhances accuracy, minimizes human error, and expedites the diagnostic process, ultimately benefiting patient outcomes.</a:t>
            </a:r>
          </a:p>
          <a:p>
            <a:r>
              <a:rPr lang="en-US" sz="1800" kern="0" dirty="0">
                <a:effectLst/>
                <a:ea typeface="Calibri" panose="020F0502020204030204" pitchFamily="34" charset="0"/>
              </a:rPr>
              <a:t>There are advanced models for highly accurate identification of mammograms and skin cancer in dermatological images.</a:t>
            </a:r>
            <a:endParaRPr lang="en-US" sz="1800" kern="0" dirty="0">
              <a:ea typeface="Calibri" panose="020F0502020204030204" pitchFamily="34" charset="0"/>
            </a:endParaRPr>
          </a:p>
          <a:p>
            <a:r>
              <a:rPr lang="en-US" sz="1800" dirty="0">
                <a:effectLst/>
                <a:ea typeface="Calibri" panose="020F0502020204030204" pitchFamily="34" charset="0"/>
              </a:rPr>
              <a:t>Nevertheless, there are still obstacles that hinder the widespread implementation of AI in clinical settings: the difficulty in understanding AI decisions, concerns about data privacy, and the requirement for large, high-quality datasets.</a:t>
            </a:r>
          </a:p>
          <a:p>
            <a:pPr marL="0" indent="0">
              <a:buNone/>
            </a:pPr>
            <a:endParaRPr lang="en-US" sz="1800" dirty="0"/>
          </a:p>
        </p:txBody>
      </p:sp>
      <p:pic>
        <p:nvPicPr>
          <p:cNvPr id="6" name="Picture 5" descr="Scan of a human brain in a neurology clinic">
            <a:extLst>
              <a:ext uri="{FF2B5EF4-FFF2-40B4-BE49-F238E27FC236}">
                <a16:creationId xmlns:a16="http://schemas.microsoft.com/office/drawing/2014/main" id="{5EC5BC0B-E80B-3B49-96D5-D43B976AD627}"/>
              </a:ext>
            </a:extLst>
          </p:cNvPr>
          <p:cNvPicPr>
            <a:picLocks noChangeAspect="1"/>
          </p:cNvPicPr>
          <p:nvPr/>
        </p:nvPicPr>
        <p:blipFill>
          <a:blip r:embed="rId2"/>
          <a:srcRect l="33259"/>
          <a:stretch>
            <a:fillRect/>
          </a:stretch>
        </p:blipFill>
        <p:spPr>
          <a:xfrm>
            <a:off x="6096000" y="1"/>
            <a:ext cx="6102825" cy="6858000"/>
          </a:xfrm>
          <a:prstGeom prst="rect">
            <a:avLst/>
          </a:prstGeom>
        </p:spPr>
      </p:pic>
      <p:sp>
        <p:nvSpPr>
          <p:cNvPr id="4" name="Slide Number Placeholder 3">
            <a:extLst>
              <a:ext uri="{FF2B5EF4-FFF2-40B4-BE49-F238E27FC236}">
                <a16:creationId xmlns:a16="http://schemas.microsoft.com/office/drawing/2014/main" id="{3B58E5F8-1C50-A942-102D-D718959D7481}"/>
              </a:ext>
            </a:extLst>
          </p:cNvPr>
          <p:cNvSpPr>
            <a:spLocks noGrp="1"/>
          </p:cNvSpPr>
          <p:nvPr>
            <p:ph type="sldNum" sz="quarter" idx="12"/>
          </p:nvPr>
        </p:nvSpPr>
        <p:spPr>
          <a:xfrm>
            <a:off x="8732520" y="6356350"/>
            <a:ext cx="3200400" cy="365125"/>
          </a:xfrm>
        </p:spPr>
        <p:txBody>
          <a:bodyPr>
            <a:normAutofit/>
          </a:bodyPr>
          <a:lstStyle/>
          <a:p>
            <a:pPr>
              <a:spcAft>
                <a:spcPts val="600"/>
              </a:spcAft>
            </a:pPr>
            <a:fld id="{D62167D1-4718-47CE-9837-207ADCCC574B}" type="slidenum">
              <a:rPr lang="en-US">
                <a:solidFill>
                  <a:srgbClr val="FFFFFF"/>
                </a:solidFill>
              </a:rPr>
              <a:pPr>
                <a:spcAft>
                  <a:spcPts val="600"/>
                </a:spcAft>
              </a:pPr>
              <a:t>4</a:t>
            </a:fld>
            <a:endParaRPr lang="en-US">
              <a:solidFill>
                <a:srgbClr val="FFFFFF"/>
              </a:solidFill>
            </a:endParaRPr>
          </a:p>
        </p:txBody>
      </p:sp>
    </p:spTree>
    <p:extLst>
      <p:ext uri="{BB962C8B-B14F-4D97-AF65-F5344CB8AC3E}">
        <p14:creationId xmlns:p14="http://schemas.microsoft.com/office/powerpoint/2010/main" val="3026246175"/>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Scan of a human brain in a neurology clinic">
            <a:extLst>
              <a:ext uri="{FF2B5EF4-FFF2-40B4-BE49-F238E27FC236}">
                <a16:creationId xmlns:a16="http://schemas.microsoft.com/office/drawing/2014/main" id="{82D9A31C-0D3F-552B-CCA5-90969E588ABC}"/>
              </a:ext>
            </a:extLst>
          </p:cNvPr>
          <p:cNvPicPr>
            <a:picLocks noChangeAspect="1"/>
          </p:cNvPicPr>
          <p:nvPr/>
        </p:nvPicPr>
        <p:blipFill>
          <a:blip r:embed="rId2"/>
          <a:srcRect l="40833"/>
          <a:stretch>
            <a:fillRect/>
          </a:stretch>
        </p:blipFill>
        <p:spPr>
          <a:xfrm>
            <a:off x="-1" y="-2"/>
            <a:ext cx="5410198" cy="6858002"/>
          </a:xfrm>
          <a:prstGeom prst="rect">
            <a:avLst/>
          </a:prstGeom>
        </p:spPr>
      </p:pic>
      <p:sp useBgFill="1">
        <p:nvSpPr>
          <p:cNvPr id="12" name="Rectangle 11">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A6FDC5-E2F0-01DA-2976-EC5765504C4B}"/>
              </a:ext>
            </a:extLst>
          </p:cNvPr>
          <p:cNvSpPr>
            <a:spLocks noGrp="1"/>
          </p:cNvSpPr>
          <p:nvPr>
            <p:ph type="title"/>
          </p:nvPr>
        </p:nvSpPr>
        <p:spPr>
          <a:xfrm>
            <a:off x="6115317" y="405685"/>
            <a:ext cx="5464968" cy="1559301"/>
          </a:xfrm>
        </p:spPr>
        <p:txBody>
          <a:bodyPr>
            <a:normAutofit/>
          </a:bodyPr>
          <a:lstStyle/>
          <a:p>
            <a:r>
              <a:rPr lang="en-US" sz="4000" b="1" dirty="0"/>
              <a:t>INTRODUCTION</a:t>
            </a:r>
            <a:endParaRPr lang="en-US" sz="4000" b="1"/>
          </a:p>
        </p:txBody>
      </p:sp>
      <p:sp>
        <p:nvSpPr>
          <p:cNvPr id="3" name="Content Placeholder 2">
            <a:extLst>
              <a:ext uri="{FF2B5EF4-FFF2-40B4-BE49-F238E27FC236}">
                <a16:creationId xmlns:a16="http://schemas.microsoft.com/office/drawing/2014/main" id="{6A03128B-9385-8302-FE27-ECCCED1F1904}"/>
              </a:ext>
            </a:extLst>
          </p:cNvPr>
          <p:cNvSpPr>
            <a:spLocks noGrp="1"/>
          </p:cNvSpPr>
          <p:nvPr>
            <p:ph idx="1"/>
          </p:nvPr>
        </p:nvSpPr>
        <p:spPr>
          <a:xfrm>
            <a:off x="6115317" y="2743200"/>
            <a:ext cx="5247340" cy="3496878"/>
          </a:xfrm>
        </p:spPr>
        <p:txBody>
          <a:bodyPr anchor="ctr">
            <a:normAutofit/>
          </a:bodyPr>
          <a:lstStyle/>
          <a:p>
            <a:r>
              <a:rPr lang="en-US" sz="1600" b="0" i="0">
                <a:effectLst/>
              </a:rPr>
              <a:t>Deep learning algorithms, specifically convolutional neural networks (CNNs), are employed to extract and learn important features from images</a:t>
            </a:r>
          </a:p>
          <a:p>
            <a:r>
              <a:rPr lang="en-US" sz="1600" b="0" i="0">
                <a:effectLst/>
              </a:rPr>
              <a:t>Reduces the workload on radiologists and pathologists for interpretation</a:t>
            </a:r>
          </a:p>
          <a:p>
            <a:r>
              <a:rPr lang="en-US" sz="1600" b="0" i="0">
                <a:effectLst/>
              </a:rPr>
              <a:t>AI systems possess the capability to identify even the most subtle patterns, thereby enhancing the accuracy of diagnoses and early detection of diseases</a:t>
            </a:r>
          </a:p>
          <a:p>
            <a:r>
              <a:rPr lang="en-US" sz="1600" b="0" i="0">
                <a:effectLst/>
              </a:rPr>
              <a:t>AI has revolutionized medical diagnostics, enabling precise, speedy, and early identification of diseases. Image classification - a branch of artificial intelligence - involves extracting meaning from various medical imaging modalities.</a:t>
            </a:r>
            <a:endParaRPr lang="en-US" sz="1600"/>
          </a:p>
        </p:txBody>
      </p:sp>
      <p:sp>
        <p:nvSpPr>
          <p:cNvPr id="4" name="Slide Number Placeholder 3">
            <a:extLst>
              <a:ext uri="{FF2B5EF4-FFF2-40B4-BE49-F238E27FC236}">
                <a16:creationId xmlns:a16="http://schemas.microsoft.com/office/drawing/2014/main" id="{457BE19F-FA33-6EF7-436D-BDCE9D39175C}"/>
              </a:ext>
            </a:extLst>
          </p:cNvPr>
          <p:cNvSpPr>
            <a:spLocks noGrp="1"/>
          </p:cNvSpPr>
          <p:nvPr>
            <p:ph type="sldNum" sz="quarter" idx="12"/>
          </p:nvPr>
        </p:nvSpPr>
        <p:spPr>
          <a:xfrm>
            <a:off x="8732520" y="6356350"/>
            <a:ext cx="3200400" cy="365125"/>
          </a:xfrm>
        </p:spPr>
        <p:txBody>
          <a:bodyPr>
            <a:normAutofit/>
          </a:bodyPr>
          <a:lstStyle/>
          <a:p>
            <a:pPr>
              <a:spcAft>
                <a:spcPts val="600"/>
              </a:spcAft>
            </a:pPr>
            <a:fld id="{D62167D1-4718-47CE-9837-207ADCCC574B}" type="slidenum">
              <a:rPr lang="en-US">
                <a:solidFill>
                  <a:schemeClr val="tx1"/>
                </a:solidFill>
              </a:rPr>
              <a:pPr>
                <a:spcAft>
                  <a:spcPts val="600"/>
                </a:spcAft>
              </a:pPr>
              <a:t>5</a:t>
            </a:fld>
            <a:endParaRPr lang="en-US">
              <a:solidFill>
                <a:schemeClr val="tx1"/>
              </a:solidFill>
            </a:endParaRPr>
          </a:p>
        </p:txBody>
      </p:sp>
    </p:spTree>
    <p:extLst>
      <p:ext uri="{BB962C8B-B14F-4D97-AF65-F5344CB8AC3E}">
        <p14:creationId xmlns:p14="http://schemas.microsoft.com/office/powerpoint/2010/main" val="1138835406"/>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Mobile device with apps">
            <a:extLst>
              <a:ext uri="{FF2B5EF4-FFF2-40B4-BE49-F238E27FC236}">
                <a16:creationId xmlns:a16="http://schemas.microsoft.com/office/drawing/2014/main" id="{1384CACC-F80E-048B-E710-85C9C5C51517}"/>
              </a:ext>
            </a:extLst>
          </p:cNvPr>
          <p:cNvPicPr>
            <a:picLocks noChangeAspect="1"/>
          </p:cNvPicPr>
          <p:nvPr/>
        </p:nvPicPr>
        <p:blipFill>
          <a:blip r:embed="rId2"/>
          <a:srcRect l="47598" r="8027"/>
          <a:stretch>
            <a:fillRect/>
          </a:stretch>
        </p:blipFill>
        <p:spPr>
          <a:xfrm>
            <a:off x="-1" y="-2"/>
            <a:ext cx="5410198" cy="6858002"/>
          </a:xfrm>
          <a:prstGeom prst="rect">
            <a:avLst/>
          </a:prstGeom>
        </p:spPr>
      </p:pic>
      <p:sp useBgFill="1">
        <p:nvSpPr>
          <p:cNvPr id="12" name="Rectangle 11">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380050-88FE-3A71-32F5-C1D031ACBCBA}"/>
              </a:ext>
            </a:extLst>
          </p:cNvPr>
          <p:cNvSpPr>
            <a:spLocks noGrp="1"/>
          </p:cNvSpPr>
          <p:nvPr>
            <p:ph type="title"/>
          </p:nvPr>
        </p:nvSpPr>
        <p:spPr>
          <a:xfrm>
            <a:off x="6115317" y="405685"/>
            <a:ext cx="5464968" cy="1559301"/>
          </a:xfrm>
        </p:spPr>
        <p:txBody>
          <a:bodyPr>
            <a:normAutofit/>
          </a:bodyPr>
          <a:lstStyle/>
          <a:p>
            <a:r>
              <a:rPr lang="en-US" sz="4000" b="1" dirty="0"/>
              <a:t>PROBLEM STATEMENT</a:t>
            </a:r>
          </a:p>
        </p:txBody>
      </p:sp>
      <p:sp>
        <p:nvSpPr>
          <p:cNvPr id="3" name="Content Placeholder 2">
            <a:extLst>
              <a:ext uri="{FF2B5EF4-FFF2-40B4-BE49-F238E27FC236}">
                <a16:creationId xmlns:a16="http://schemas.microsoft.com/office/drawing/2014/main" id="{EB402625-DACA-A51E-DA0A-27A349D6F019}"/>
              </a:ext>
            </a:extLst>
          </p:cNvPr>
          <p:cNvSpPr>
            <a:spLocks noGrp="1"/>
          </p:cNvSpPr>
          <p:nvPr>
            <p:ph idx="1"/>
          </p:nvPr>
        </p:nvSpPr>
        <p:spPr>
          <a:xfrm>
            <a:off x="6115317" y="2370671"/>
            <a:ext cx="5247340" cy="3869407"/>
          </a:xfrm>
        </p:spPr>
        <p:txBody>
          <a:bodyPr anchor="ctr">
            <a:normAutofit lnSpcReduction="10000"/>
          </a:bodyPr>
          <a:lstStyle/>
          <a:p>
            <a:r>
              <a:rPr lang="en-US" sz="1800" kern="0" dirty="0">
                <a:effectLst/>
                <a:ea typeface="Calibri" panose="020F0502020204030204" pitchFamily="34" charset="0"/>
              </a:rPr>
              <a:t>Over the past few years, technology has revolutionized the way we interact, perform our jobs, and engage in leisure activities.</a:t>
            </a:r>
          </a:p>
          <a:p>
            <a:r>
              <a:rPr lang="en-US" sz="1800" kern="0" dirty="0">
                <a:effectLst/>
                <a:ea typeface="Calibri" panose="020F0502020204030204" pitchFamily="34" charset="0"/>
              </a:rPr>
              <a:t>The advent of smartphones and social media has revolutionized communication, making it possible for us to have constant connectivity through battery-powered apps that are conveniently located in our pockets.</a:t>
            </a:r>
            <a:endParaRPr lang="en-US" sz="1800" kern="0" dirty="0">
              <a:ea typeface="Calibri" panose="020F0502020204030204" pitchFamily="34" charset="0"/>
            </a:endParaRPr>
          </a:p>
          <a:p>
            <a:r>
              <a:rPr lang="en-US" sz="1800" kern="0" dirty="0">
                <a:effectLst/>
                <a:ea typeface="Calibri" panose="020F0502020204030204" pitchFamily="34" charset="0"/>
              </a:rPr>
              <a:t>Furthermore, remote work and virtual meetings have become increasingly prevalent, offering alternative methods for collaboration.</a:t>
            </a:r>
          </a:p>
          <a:p>
            <a:r>
              <a:rPr lang="en-US" sz="1800" dirty="0">
                <a:effectLst/>
                <a:ea typeface="Calibri" panose="020F0502020204030204" pitchFamily="34" charset="0"/>
              </a:rPr>
              <a:t>As technology continues to advance, society will experience both positive and negative impacts, along with new challenges and improvements.</a:t>
            </a:r>
          </a:p>
          <a:p>
            <a:endParaRPr lang="en-US" sz="1800" dirty="0"/>
          </a:p>
        </p:txBody>
      </p:sp>
      <p:sp>
        <p:nvSpPr>
          <p:cNvPr id="4" name="Slide Number Placeholder 3">
            <a:extLst>
              <a:ext uri="{FF2B5EF4-FFF2-40B4-BE49-F238E27FC236}">
                <a16:creationId xmlns:a16="http://schemas.microsoft.com/office/drawing/2014/main" id="{D74A2F7C-1F72-97AD-CF7A-5EC0635AF566}"/>
              </a:ext>
            </a:extLst>
          </p:cNvPr>
          <p:cNvSpPr>
            <a:spLocks noGrp="1"/>
          </p:cNvSpPr>
          <p:nvPr>
            <p:ph type="sldNum" sz="quarter" idx="12"/>
          </p:nvPr>
        </p:nvSpPr>
        <p:spPr>
          <a:xfrm>
            <a:off x="8732520" y="6356350"/>
            <a:ext cx="3200400" cy="365125"/>
          </a:xfrm>
        </p:spPr>
        <p:txBody>
          <a:bodyPr>
            <a:normAutofit/>
          </a:bodyPr>
          <a:lstStyle/>
          <a:p>
            <a:pPr>
              <a:spcAft>
                <a:spcPts val="600"/>
              </a:spcAft>
            </a:pPr>
            <a:fld id="{D62167D1-4718-47CE-9837-207ADCCC574B}" type="slidenum">
              <a:rPr lang="en-US">
                <a:solidFill>
                  <a:schemeClr val="tx1"/>
                </a:solidFill>
              </a:rPr>
              <a:pPr>
                <a:spcAft>
                  <a:spcPts val="600"/>
                </a:spcAft>
              </a:pPr>
              <a:t>6</a:t>
            </a:fld>
            <a:endParaRPr lang="en-US">
              <a:solidFill>
                <a:schemeClr val="tx1"/>
              </a:solidFill>
            </a:endParaRPr>
          </a:p>
        </p:txBody>
      </p:sp>
    </p:spTree>
    <p:extLst>
      <p:ext uri="{BB962C8B-B14F-4D97-AF65-F5344CB8AC3E}">
        <p14:creationId xmlns:p14="http://schemas.microsoft.com/office/powerpoint/2010/main" val="2454704258"/>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Scan of a human brain in a neurology clinic">
            <a:extLst>
              <a:ext uri="{FF2B5EF4-FFF2-40B4-BE49-F238E27FC236}">
                <a16:creationId xmlns:a16="http://schemas.microsoft.com/office/drawing/2014/main" id="{DE6D5441-B0FD-DE01-BC1C-69849664CB5D}"/>
              </a:ext>
            </a:extLst>
          </p:cNvPr>
          <p:cNvPicPr>
            <a:picLocks noChangeAspect="1"/>
          </p:cNvPicPr>
          <p:nvPr/>
        </p:nvPicPr>
        <p:blipFill>
          <a:blip r:embed="rId2"/>
          <a:srcRect l="40833"/>
          <a:stretch>
            <a:fillRect/>
          </a:stretch>
        </p:blipFill>
        <p:spPr>
          <a:xfrm>
            <a:off x="-1" y="-2"/>
            <a:ext cx="5410198" cy="6858002"/>
          </a:xfrm>
          <a:prstGeom prst="rect">
            <a:avLst/>
          </a:prstGeom>
        </p:spPr>
      </p:pic>
      <p:sp useBgFill="1">
        <p:nvSpPr>
          <p:cNvPr id="12" name="Rectangle 11">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1A19D0-DB48-4AB6-EA05-FFE1403BCD33}"/>
              </a:ext>
            </a:extLst>
          </p:cNvPr>
          <p:cNvSpPr>
            <a:spLocks noGrp="1"/>
          </p:cNvSpPr>
          <p:nvPr>
            <p:ph type="title"/>
          </p:nvPr>
        </p:nvSpPr>
        <p:spPr>
          <a:xfrm>
            <a:off x="6115317" y="405685"/>
            <a:ext cx="5464968" cy="1559301"/>
          </a:xfrm>
        </p:spPr>
        <p:txBody>
          <a:bodyPr>
            <a:normAutofit/>
          </a:bodyPr>
          <a:lstStyle/>
          <a:p>
            <a:r>
              <a:rPr lang="en-US" sz="4000" b="1" dirty="0"/>
              <a:t>OBJECTIVES</a:t>
            </a:r>
            <a:endParaRPr lang="en-US" sz="4000" b="1"/>
          </a:p>
        </p:txBody>
      </p:sp>
      <p:sp>
        <p:nvSpPr>
          <p:cNvPr id="3" name="Content Placeholder 2">
            <a:extLst>
              <a:ext uri="{FF2B5EF4-FFF2-40B4-BE49-F238E27FC236}">
                <a16:creationId xmlns:a16="http://schemas.microsoft.com/office/drawing/2014/main" id="{7C6945A9-EB64-55B6-0B2D-BBB575472B31}"/>
              </a:ext>
            </a:extLst>
          </p:cNvPr>
          <p:cNvSpPr>
            <a:spLocks noGrp="1"/>
          </p:cNvSpPr>
          <p:nvPr>
            <p:ph idx="1"/>
          </p:nvPr>
        </p:nvSpPr>
        <p:spPr>
          <a:xfrm>
            <a:off x="6115317" y="1964986"/>
            <a:ext cx="5247340" cy="4275092"/>
          </a:xfrm>
        </p:spPr>
        <p:txBody>
          <a:bodyPr anchor="ctr">
            <a:normAutofit fontScale="92500"/>
          </a:bodyPr>
          <a:lstStyle/>
          <a:p>
            <a:r>
              <a:rPr lang="en-US" sz="1400" dirty="0">
                <a:effectLst/>
                <a:ea typeface="Calibri" panose="020F0502020204030204" pitchFamily="34" charset="0"/>
              </a:rPr>
              <a:t>Analyze the latest advancements in artificial intelligence (AI) techniques for medical image classification, including the detection of tumors, fractures, and other anomalies in radiographs, CT scans, and MRIs, while also addressing their limitations.</a:t>
            </a:r>
          </a:p>
          <a:p>
            <a:r>
              <a:rPr lang="en-US" sz="1400" dirty="0">
                <a:effectLst/>
                <a:ea typeface="Times New Roman" panose="02020603050405020304" pitchFamily="18" charset="0"/>
              </a:rPr>
              <a:t>Convolutional neural networks (CNNs) and other deep learning architectures are employed to recognize the essential characteristics in a medical image and patterns that will result in highly precise diagnostic results.</a:t>
            </a:r>
            <a:endParaRPr lang="en-US" sz="1400" dirty="0">
              <a:effectLst/>
              <a:ea typeface="Calibri" panose="020F0502020204030204" pitchFamily="34" charset="0"/>
            </a:endParaRPr>
          </a:p>
          <a:p>
            <a:r>
              <a:rPr lang="en-US" sz="1400" dirty="0">
                <a:effectLst/>
                <a:ea typeface="Times New Roman" panose="02020603050405020304" pitchFamily="18" charset="0"/>
              </a:rPr>
              <a:t>Develop an AI-powered image classification model that efficiently and accurately classifies medical images into specific diagnostic categories.</a:t>
            </a:r>
            <a:endParaRPr lang="en-US" sz="1400" dirty="0">
              <a:effectLst/>
              <a:ea typeface="Calibri" panose="020F0502020204030204" pitchFamily="34" charset="0"/>
            </a:endParaRPr>
          </a:p>
          <a:p>
            <a:r>
              <a:rPr lang="en-US" sz="1400" dirty="0">
                <a:effectLst/>
                <a:ea typeface="Calibri" panose="020F0502020204030204" pitchFamily="34" charset="0"/>
              </a:rPr>
              <a:t>The research evaluates the effectiveness of different deep learning models, such as residual network (ResNet), visual geometry group (VGG), DenseNet, and inception,  to identify the most suitable architecture for practical use in clinical settings.</a:t>
            </a:r>
          </a:p>
          <a:p>
            <a:r>
              <a:rPr lang="en-US" sz="1400" dirty="0">
                <a:effectLst/>
                <a:ea typeface="Calibri" panose="020F0502020204030204" pitchFamily="34" charset="0"/>
              </a:rPr>
              <a:t>The study investigates the ethical, regulatory, and clinical considerations of integrating artificial intelligence (ai)-based image classification tools into diagnostic workflows, with a focus on ensuring transparency, explainability, and patient safety.</a:t>
            </a:r>
          </a:p>
          <a:p>
            <a:endParaRPr lang="en-US" sz="1400" dirty="0"/>
          </a:p>
        </p:txBody>
      </p:sp>
      <p:sp>
        <p:nvSpPr>
          <p:cNvPr id="4" name="Slide Number Placeholder 3">
            <a:extLst>
              <a:ext uri="{FF2B5EF4-FFF2-40B4-BE49-F238E27FC236}">
                <a16:creationId xmlns:a16="http://schemas.microsoft.com/office/drawing/2014/main" id="{81A71783-B839-4482-28AB-0BACA4EB9CD1}"/>
              </a:ext>
            </a:extLst>
          </p:cNvPr>
          <p:cNvSpPr>
            <a:spLocks noGrp="1"/>
          </p:cNvSpPr>
          <p:nvPr>
            <p:ph type="sldNum" sz="quarter" idx="12"/>
          </p:nvPr>
        </p:nvSpPr>
        <p:spPr>
          <a:xfrm>
            <a:off x="8732520" y="6356350"/>
            <a:ext cx="3200400" cy="365125"/>
          </a:xfrm>
        </p:spPr>
        <p:txBody>
          <a:bodyPr>
            <a:normAutofit/>
          </a:bodyPr>
          <a:lstStyle/>
          <a:p>
            <a:pPr>
              <a:spcAft>
                <a:spcPts val="600"/>
              </a:spcAft>
            </a:pPr>
            <a:fld id="{D62167D1-4718-47CE-9837-207ADCCC574B}" type="slidenum">
              <a:rPr lang="en-US">
                <a:solidFill>
                  <a:schemeClr val="tx1"/>
                </a:solidFill>
              </a:rPr>
              <a:pPr>
                <a:spcAft>
                  <a:spcPts val="600"/>
                </a:spcAft>
              </a:pPr>
              <a:t>7</a:t>
            </a:fld>
            <a:endParaRPr lang="en-US">
              <a:solidFill>
                <a:schemeClr val="tx1"/>
              </a:solidFill>
            </a:endParaRPr>
          </a:p>
        </p:txBody>
      </p:sp>
    </p:spTree>
    <p:extLst>
      <p:ext uri="{BB962C8B-B14F-4D97-AF65-F5344CB8AC3E}">
        <p14:creationId xmlns:p14="http://schemas.microsoft.com/office/powerpoint/2010/main" val="2965735401"/>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E85DCA4-7BF2-B4C7-6556-3498A0DD7705}"/>
              </a:ext>
            </a:extLst>
          </p:cNvPr>
          <p:cNvSpPr>
            <a:spLocks noGrp="1"/>
          </p:cNvSpPr>
          <p:nvPr>
            <p:ph type="title"/>
          </p:nvPr>
        </p:nvSpPr>
        <p:spPr>
          <a:xfrm>
            <a:off x="826396" y="586855"/>
            <a:ext cx="4230100" cy="3387497"/>
          </a:xfrm>
        </p:spPr>
        <p:txBody>
          <a:bodyPr anchor="b">
            <a:normAutofit/>
          </a:bodyPr>
          <a:lstStyle/>
          <a:p>
            <a:pPr algn="r"/>
            <a:r>
              <a:rPr lang="en-US" sz="4000" b="1">
                <a:solidFill>
                  <a:srgbClr val="FFFFFF"/>
                </a:solidFill>
              </a:rPr>
              <a:t>METHODOLOGY</a:t>
            </a:r>
          </a:p>
        </p:txBody>
      </p:sp>
      <p:sp>
        <p:nvSpPr>
          <p:cNvPr id="3" name="Content Placeholder 2">
            <a:extLst>
              <a:ext uri="{FF2B5EF4-FFF2-40B4-BE49-F238E27FC236}">
                <a16:creationId xmlns:a16="http://schemas.microsoft.com/office/drawing/2014/main" id="{BCE0DCE4-4E9D-10F2-136C-2FE7C1C0F5C9}"/>
              </a:ext>
            </a:extLst>
          </p:cNvPr>
          <p:cNvSpPr>
            <a:spLocks noGrp="1"/>
          </p:cNvSpPr>
          <p:nvPr>
            <p:ph idx="1"/>
          </p:nvPr>
        </p:nvSpPr>
        <p:spPr>
          <a:xfrm>
            <a:off x="6503158" y="649480"/>
            <a:ext cx="4862447" cy="5546047"/>
          </a:xfrm>
        </p:spPr>
        <p:txBody>
          <a:bodyPr anchor="ctr">
            <a:normAutofit lnSpcReduction="10000"/>
          </a:bodyPr>
          <a:lstStyle/>
          <a:p>
            <a:r>
              <a:rPr lang="en-US" b="0" i="0" dirty="0">
                <a:effectLst/>
              </a:rPr>
              <a:t> The process of using artificial intelligence in medical diagnosis through image classification includes:</a:t>
            </a:r>
          </a:p>
          <a:p>
            <a:pPr>
              <a:buFont typeface="Wingdings" panose="05000000000000000000" pitchFamily="2" charset="2"/>
              <a:buChar char="Ø"/>
            </a:pPr>
            <a:r>
              <a:rPr lang="en-US" b="0" i="0" dirty="0">
                <a:effectLst/>
              </a:rPr>
              <a:t>Collecting data</a:t>
            </a:r>
          </a:p>
          <a:p>
            <a:pPr>
              <a:buFont typeface="Wingdings" panose="05000000000000000000" pitchFamily="2" charset="2"/>
              <a:buChar char="Ø"/>
            </a:pPr>
            <a:r>
              <a:rPr lang="en-US" b="0" i="0" dirty="0">
                <a:effectLst/>
              </a:rPr>
              <a:t>Preprocessing it</a:t>
            </a:r>
            <a:endParaRPr lang="en-US" dirty="0"/>
          </a:p>
          <a:p>
            <a:pPr>
              <a:buFont typeface="Wingdings" panose="05000000000000000000" pitchFamily="2" charset="2"/>
              <a:buChar char="Ø"/>
            </a:pPr>
            <a:r>
              <a:rPr lang="en-US" b="0" i="0" dirty="0">
                <a:effectLst/>
              </a:rPr>
              <a:t>Annotating it</a:t>
            </a:r>
          </a:p>
          <a:p>
            <a:pPr>
              <a:buFont typeface="Wingdings" panose="05000000000000000000" pitchFamily="2" charset="2"/>
              <a:buChar char="Ø"/>
            </a:pPr>
            <a:r>
              <a:rPr lang="en-US" b="0" i="0" dirty="0">
                <a:effectLst/>
              </a:rPr>
              <a:t>Selecting a model</a:t>
            </a:r>
          </a:p>
          <a:p>
            <a:pPr>
              <a:buFont typeface="Wingdings" panose="05000000000000000000" pitchFamily="2" charset="2"/>
              <a:buChar char="Ø"/>
            </a:pPr>
            <a:r>
              <a:rPr lang="en-US" b="0" i="0" dirty="0">
                <a:effectLst/>
              </a:rPr>
              <a:t>Training and validating it</a:t>
            </a:r>
          </a:p>
          <a:p>
            <a:pPr>
              <a:buFont typeface="Wingdings" panose="05000000000000000000" pitchFamily="2" charset="2"/>
              <a:buChar char="Ø"/>
            </a:pPr>
            <a:r>
              <a:rPr lang="en-US" b="0" i="0" dirty="0">
                <a:effectLst/>
              </a:rPr>
              <a:t>Testing and evaluating it</a:t>
            </a:r>
          </a:p>
          <a:p>
            <a:pPr>
              <a:buFont typeface="Wingdings" panose="05000000000000000000" pitchFamily="2" charset="2"/>
              <a:buChar char="Ø"/>
            </a:pPr>
            <a:r>
              <a:rPr lang="en-US" b="0" i="0" dirty="0">
                <a:effectLst/>
              </a:rPr>
              <a:t>Deploying it for practical use</a:t>
            </a:r>
          </a:p>
          <a:p>
            <a:pPr marL="0" indent="0">
              <a:buNone/>
            </a:pPr>
            <a:endParaRPr lang="en-US" b="0" i="0" dirty="0">
              <a:effectLst/>
            </a:endParaRPr>
          </a:p>
        </p:txBody>
      </p:sp>
      <p:sp>
        <p:nvSpPr>
          <p:cNvPr id="4" name="Slide Number Placeholder 3">
            <a:extLst>
              <a:ext uri="{FF2B5EF4-FFF2-40B4-BE49-F238E27FC236}">
                <a16:creationId xmlns:a16="http://schemas.microsoft.com/office/drawing/2014/main" id="{C171B651-EBFF-37E4-B1C8-E34B72F9C774}"/>
              </a:ext>
            </a:extLst>
          </p:cNvPr>
          <p:cNvSpPr>
            <a:spLocks noGrp="1"/>
          </p:cNvSpPr>
          <p:nvPr>
            <p:ph type="sldNum" sz="quarter" idx="12"/>
          </p:nvPr>
        </p:nvSpPr>
        <p:spPr>
          <a:xfrm>
            <a:off x="11704320" y="6455664"/>
            <a:ext cx="448056" cy="365125"/>
          </a:xfrm>
        </p:spPr>
        <p:txBody>
          <a:bodyPr>
            <a:normAutofit/>
          </a:bodyPr>
          <a:lstStyle/>
          <a:p>
            <a:pPr>
              <a:spcAft>
                <a:spcPts val="600"/>
              </a:spcAft>
            </a:pPr>
            <a:fld id="{D62167D1-4718-47CE-9837-207ADCCC574B}" type="slidenum">
              <a:rPr lang="en-US" sz="1100">
                <a:solidFill>
                  <a:schemeClr val="tx1">
                    <a:lumMod val="50000"/>
                    <a:lumOff val="50000"/>
                  </a:schemeClr>
                </a:solidFill>
              </a:rPr>
              <a:pPr>
                <a:spcAft>
                  <a:spcPts val="600"/>
                </a:spcAft>
              </a:pPr>
              <a:t>8</a:t>
            </a:fld>
            <a:endParaRPr lang="en-US" sz="1100">
              <a:solidFill>
                <a:schemeClr val="tx1">
                  <a:lumMod val="50000"/>
                  <a:lumOff val="50000"/>
                </a:schemeClr>
              </a:solidFill>
            </a:endParaRPr>
          </a:p>
        </p:txBody>
      </p:sp>
    </p:spTree>
    <p:extLst>
      <p:ext uri="{BB962C8B-B14F-4D97-AF65-F5344CB8AC3E}">
        <p14:creationId xmlns:p14="http://schemas.microsoft.com/office/powerpoint/2010/main" val="454036306"/>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72AF718E-AB01-24C6-74E7-BEF2ABD1AD2A}"/>
              </a:ext>
            </a:extLst>
          </p:cNvPr>
          <p:cNvSpPr>
            <a:spLocks noGrp="1"/>
          </p:cNvSpPr>
          <p:nvPr>
            <p:ph type="title"/>
          </p:nvPr>
        </p:nvSpPr>
        <p:spPr>
          <a:xfrm>
            <a:off x="838200" y="388308"/>
            <a:ext cx="5499970" cy="1021424"/>
          </a:xfrm>
        </p:spPr>
        <p:txBody>
          <a:bodyPr anchor="b">
            <a:normAutofit/>
          </a:bodyPr>
          <a:lstStyle/>
          <a:p>
            <a:pPr algn="r"/>
            <a:r>
              <a:rPr lang="en-US" sz="3700" b="1">
                <a:solidFill>
                  <a:schemeClr val="bg1"/>
                </a:solidFill>
              </a:rPr>
              <a:t>STEPS OF METHODLOGY</a:t>
            </a:r>
          </a:p>
        </p:txBody>
      </p:sp>
      <p:cxnSp>
        <p:nvCxnSpPr>
          <p:cNvPr id="12" name="Straight Connector 11">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1440584"/>
            <a:ext cx="621196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7CD7312B-883B-BABB-8E15-3D4D2CB513FB}"/>
              </a:ext>
            </a:extLst>
          </p:cNvPr>
          <p:cNvSpPr>
            <a:spLocks noGrp="1"/>
          </p:cNvSpPr>
          <p:nvPr>
            <p:ph type="sldNum" sz="quarter" idx="12"/>
          </p:nvPr>
        </p:nvSpPr>
        <p:spPr>
          <a:xfrm>
            <a:off x="8610600" y="6356350"/>
            <a:ext cx="2743200" cy="365125"/>
          </a:xfrm>
        </p:spPr>
        <p:txBody>
          <a:bodyPr>
            <a:normAutofit/>
          </a:bodyPr>
          <a:lstStyle/>
          <a:p>
            <a:pPr>
              <a:spcAft>
                <a:spcPts val="600"/>
              </a:spcAft>
            </a:pPr>
            <a:fld id="{D62167D1-4718-47CE-9837-207ADCCC574B}" type="slidenum">
              <a:rPr lang="en-US">
                <a:solidFill>
                  <a:schemeClr val="bg1">
                    <a:lumMod val="50000"/>
                  </a:schemeClr>
                </a:solidFill>
              </a:rPr>
              <a:pPr>
                <a:spcAft>
                  <a:spcPts val="600"/>
                </a:spcAft>
              </a:pPr>
              <a:t>9</a:t>
            </a:fld>
            <a:endParaRPr lang="en-US">
              <a:solidFill>
                <a:schemeClr val="bg1">
                  <a:lumMod val="50000"/>
                </a:schemeClr>
              </a:solidFill>
            </a:endParaRPr>
          </a:p>
        </p:txBody>
      </p:sp>
      <p:graphicFrame>
        <p:nvGraphicFramePr>
          <p:cNvPr id="6" name="Content Placeholder 2">
            <a:extLst>
              <a:ext uri="{FF2B5EF4-FFF2-40B4-BE49-F238E27FC236}">
                <a16:creationId xmlns:a16="http://schemas.microsoft.com/office/drawing/2014/main" id="{B4532D7B-5C8E-E394-959A-3B5418D5E617}"/>
              </a:ext>
            </a:extLst>
          </p:cNvPr>
          <p:cNvGraphicFramePr>
            <a:graphicFrameLocks noGrp="1"/>
          </p:cNvGraphicFramePr>
          <p:nvPr>
            <p:ph idx="1"/>
            <p:extLst>
              <p:ext uri="{D42A27DB-BD31-4B8C-83A1-F6EECF244321}">
                <p14:modId xmlns:p14="http://schemas.microsoft.com/office/powerpoint/2010/main" val="1227973791"/>
              </p:ext>
            </p:extLst>
          </p:nvPr>
        </p:nvGraphicFramePr>
        <p:xfrm>
          <a:off x="1392238" y="1682750"/>
          <a:ext cx="9407525" cy="4241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2848124"/>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D99CFB-1DD4-73A1-AD5B-EB6ED1839C20}"/>
              </a:ext>
            </a:extLst>
          </p:cNvPr>
          <p:cNvSpPr>
            <a:spLocks noGrp="1"/>
          </p:cNvSpPr>
          <p:nvPr>
            <p:ph type="title"/>
          </p:nvPr>
        </p:nvSpPr>
        <p:spPr>
          <a:xfrm>
            <a:off x="761800" y="762001"/>
            <a:ext cx="5334197" cy="1090322"/>
          </a:xfrm>
        </p:spPr>
        <p:txBody>
          <a:bodyPr anchor="ctr">
            <a:normAutofit fontScale="90000"/>
          </a:bodyPr>
          <a:lstStyle/>
          <a:p>
            <a:pPr algn="ctr"/>
            <a:r>
              <a:rPr lang="en-US" sz="4000" b="1" dirty="0"/>
              <a:t>HISTORY OF MEDICAL DIAGNOSIS</a:t>
            </a:r>
          </a:p>
        </p:txBody>
      </p:sp>
      <p:sp>
        <p:nvSpPr>
          <p:cNvPr id="3" name="Content Placeholder 2">
            <a:extLst>
              <a:ext uri="{FF2B5EF4-FFF2-40B4-BE49-F238E27FC236}">
                <a16:creationId xmlns:a16="http://schemas.microsoft.com/office/drawing/2014/main" id="{C7F6D420-D80E-93A5-3ECF-02D8D714E86F}"/>
              </a:ext>
            </a:extLst>
          </p:cNvPr>
          <p:cNvSpPr>
            <a:spLocks noGrp="1"/>
          </p:cNvSpPr>
          <p:nvPr>
            <p:ph idx="1"/>
          </p:nvPr>
        </p:nvSpPr>
        <p:spPr>
          <a:xfrm>
            <a:off x="761800" y="2123268"/>
            <a:ext cx="5334197" cy="4116811"/>
          </a:xfrm>
        </p:spPr>
        <p:txBody>
          <a:bodyPr anchor="ctr">
            <a:normAutofit fontScale="92500" lnSpcReduction="20000"/>
          </a:bodyPr>
          <a:lstStyle/>
          <a:p>
            <a:pPr>
              <a:buFont typeface="Arial" panose="020B0604020202020204" pitchFamily="34" charset="0"/>
              <a:buChar char="•"/>
            </a:pPr>
            <a:r>
              <a:rPr lang="en-US" sz="2000" b="0" i="0" dirty="0">
                <a:effectLst/>
              </a:rPr>
              <a:t>AI in medicine, a conceptual effort, originated from Alan Turing's theoretical work in the 1950s, but its applications were limited due to computing power limitations.</a:t>
            </a:r>
          </a:p>
          <a:p>
            <a:pPr>
              <a:buFont typeface="Arial" panose="020B0604020202020204" pitchFamily="34" charset="0"/>
              <a:buChar char="•"/>
            </a:pPr>
            <a:r>
              <a:rPr lang="en-US" sz="2000" b="0" i="0" dirty="0">
                <a:effectLst/>
              </a:rPr>
              <a:t>Early expert systems  rule-based expert systems like MYCIN were developed to diagnose infectious blood diseases</a:t>
            </a:r>
          </a:p>
          <a:p>
            <a:pPr>
              <a:buFont typeface="Arial" panose="020B0604020202020204" pitchFamily="34" charset="0"/>
              <a:buChar char="•"/>
            </a:pPr>
            <a:r>
              <a:rPr lang="en-US" sz="2000" b="0" i="0" dirty="0">
                <a:effectLst/>
              </a:rPr>
              <a:t>Introduction of medical image analysis  medical imaging advancements like CT and MRI led to increased demand for automated image analysis</a:t>
            </a:r>
          </a:p>
          <a:p>
            <a:pPr>
              <a:buFont typeface="Arial" panose="020B0604020202020204" pitchFamily="34" charset="0"/>
              <a:buChar char="•"/>
            </a:pPr>
            <a:r>
              <a:rPr lang="en-US" sz="2000" b="0" i="0" dirty="0">
                <a:effectLst/>
              </a:rPr>
              <a:t>Rise of machine learning: machine learning, specifically SVM and Random Forests, has revolutionized AI systems by enabling them to learn from data rather than relying solely on hand-crafted rules</a:t>
            </a:r>
          </a:p>
          <a:p>
            <a:pPr marL="0" indent="0">
              <a:buNone/>
            </a:pPr>
            <a:endParaRPr lang="en-US" sz="2000" b="0" i="0" dirty="0">
              <a:effectLst/>
              <a:latin typeface="__Inter_d65c78"/>
            </a:endParaRPr>
          </a:p>
        </p:txBody>
      </p:sp>
      <p:pic>
        <p:nvPicPr>
          <p:cNvPr id="6" name="Picture 5" descr="Scan of a human brain in a neurology clinic">
            <a:extLst>
              <a:ext uri="{FF2B5EF4-FFF2-40B4-BE49-F238E27FC236}">
                <a16:creationId xmlns:a16="http://schemas.microsoft.com/office/drawing/2014/main" id="{2019AF87-B3BB-D715-7AA6-A3C7372B56CD}"/>
              </a:ext>
            </a:extLst>
          </p:cNvPr>
          <p:cNvPicPr>
            <a:picLocks noChangeAspect="1"/>
          </p:cNvPicPr>
          <p:nvPr/>
        </p:nvPicPr>
        <p:blipFill>
          <a:blip r:embed="rId2"/>
          <a:srcRect l="41757" r="-1" b="-1"/>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
        <p:nvSpPr>
          <p:cNvPr id="4" name="Slide Number Placeholder 3">
            <a:extLst>
              <a:ext uri="{FF2B5EF4-FFF2-40B4-BE49-F238E27FC236}">
                <a16:creationId xmlns:a16="http://schemas.microsoft.com/office/drawing/2014/main" id="{1A0A6496-D8AD-C845-8833-495CBCAFDB4F}"/>
              </a:ext>
            </a:extLst>
          </p:cNvPr>
          <p:cNvSpPr>
            <a:spLocks noGrp="1"/>
          </p:cNvSpPr>
          <p:nvPr>
            <p:ph type="sldNum" sz="quarter" idx="12"/>
          </p:nvPr>
        </p:nvSpPr>
        <p:spPr>
          <a:xfrm>
            <a:off x="10167869" y="6356350"/>
            <a:ext cx="1768425" cy="365125"/>
          </a:xfrm>
        </p:spPr>
        <p:txBody>
          <a:bodyPr>
            <a:normAutofit/>
          </a:bodyPr>
          <a:lstStyle/>
          <a:p>
            <a:pPr>
              <a:spcAft>
                <a:spcPts val="600"/>
              </a:spcAft>
            </a:pPr>
            <a:fld id="{D62167D1-4718-47CE-9837-207ADCCC574B}" type="slidenum">
              <a:rPr lang="en-US">
                <a:solidFill>
                  <a:srgbClr val="FFFFFF"/>
                </a:solidFill>
              </a:rPr>
              <a:pPr>
                <a:spcAft>
                  <a:spcPts val="600"/>
                </a:spcAft>
              </a:pPr>
              <a:t>10</a:t>
            </a:fld>
            <a:endParaRPr lang="en-US">
              <a:solidFill>
                <a:srgbClr val="FFFFFF"/>
              </a:solidFill>
            </a:endParaRPr>
          </a:p>
        </p:txBody>
      </p:sp>
    </p:spTree>
    <p:extLst>
      <p:ext uri="{BB962C8B-B14F-4D97-AF65-F5344CB8AC3E}">
        <p14:creationId xmlns:p14="http://schemas.microsoft.com/office/powerpoint/2010/main" val="447225695"/>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blurry blue and green background&#10;&#10;AI-generated content may be incorrect.">
            <a:extLst>
              <a:ext uri="{FF2B5EF4-FFF2-40B4-BE49-F238E27FC236}">
                <a16:creationId xmlns:a16="http://schemas.microsoft.com/office/drawing/2014/main" id="{12D187E5-EED0-41D8-3D14-5026B4762BA3}"/>
              </a:ext>
            </a:extLst>
          </p:cNvPr>
          <p:cNvPicPr>
            <a:picLocks noChangeAspect="1"/>
          </p:cNvPicPr>
          <p:nvPr/>
        </p:nvPicPr>
        <p:blipFill>
          <a:blip r:embed="rId2">
            <a:alphaModFix amt="35000"/>
          </a:blip>
          <a:srcRect t="15730"/>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806AFDE9-968A-A342-E602-DF3963CF75A9}"/>
              </a:ext>
            </a:extLst>
          </p:cNvPr>
          <p:cNvSpPr>
            <a:spLocks noGrp="1"/>
          </p:cNvSpPr>
          <p:nvPr>
            <p:ph type="title"/>
          </p:nvPr>
        </p:nvSpPr>
        <p:spPr>
          <a:xfrm>
            <a:off x="838200" y="365125"/>
            <a:ext cx="10515600" cy="952231"/>
          </a:xfrm>
        </p:spPr>
        <p:txBody>
          <a:bodyPr>
            <a:normAutofit/>
          </a:bodyPr>
          <a:lstStyle/>
          <a:p>
            <a:pPr algn="ctr"/>
            <a:r>
              <a:rPr lang="en-US" sz="4000" b="1" dirty="0">
                <a:solidFill>
                  <a:srgbClr val="FFFFFF"/>
                </a:solidFill>
              </a:rPr>
              <a:t>DEEP LEARNING CONVOLUTION</a:t>
            </a:r>
          </a:p>
        </p:txBody>
      </p:sp>
      <p:sp>
        <p:nvSpPr>
          <p:cNvPr id="4" name="Slide Number Placeholder 3">
            <a:extLst>
              <a:ext uri="{FF2B5EF4-FFF2-40B4-BE49-F238E27FC236}">
                <a16:creationId xmlns:a16="http://schemas.microsoft.com/office/drawing/2014/main" id="{118CF3D0-8AFD-02D3-4978-5C753BE63922}"/>
              </a:ext>
            </a:extLst>
          </p:cNvPr>
          <p:cNvSpPr>
            <a:spLocks noGrp="1"/>
          </p:cNvSpPr>
          <p:nvPr>
            <p:ph type="sldNum" sz="quarter" idx="12"/>
          </p:nvPr>
        </p:nvSpPr>
        <p:spPr>
          <a:xfrm>
            <a:off x="8610600" y="6356350"/>
            <a:ext cx="2743200" cy="365125"/>
          </a:xfrm>
        </p:spPr>
        <p:txBody>
          <a:bodyPr>
            <a:normAutofit/>
          </a:bodyPr>
          <a:lstStyle/>
          <a:p>
            <a:pPr>
              <a:spcAft>
                <a:spcPts val="600"/>
              </a:spcAft>
            </a:pPr>
            <a:fld id="{D62167D1-4718-47CE-9837-207ADCCC574B}" type="slidenum">
              <a:rPr lang="en-US">
                <a:solidFill>
                  <a:srgbClr val="FFFFFF"/>
                </a:solidFill>
              </a:rPr>
              <a:pPr>
                <a:spcAft>
                  <a:spcPts val="600"/>
                </a:spcAft>
              </a:pPr>
              <a:t>11</a:t>
            </a:fld>
            <a:endParaRPr lang="en-US">
              <a:solidFill>
                <a:srgbClr val="FFFFFF"/>
              </a:solidFill>
            </a:endParaRPr>
          </a:p>
        </p:txBody>
      </p:sp>
      <p:graphicFrame>
        <p:nvGraphicFramePr>
          <p:cNvPr id="6" name="Content Placeholder 2">
            <a:extLst>
              <a:ext uri="{FF2B5EF4-FFF2-40B4-BE49-F238E27FC236}">
                <a16:creationId xmlns:a16="http://schemas.microsoft.com/office/drawing/2014/main" id="{1C17DA11-2CD7-9EE7-21D4-E847451CC12A}"/>
              </a:ext>
            </a:extLst>
          </p:cNvPr>
          <p:cNvGraphicFramePr>
            <a:graphicFrameLocks noGrp="1"/>
          </p:cNvGraphicFramePr>
          <p:nvPr>
            <p:ph idx="1"/>
            <p:extLst>
              <p:ext uri="{D42A27DB-BD31-4B8C-83A1-F6EECF244321}">
                <p14:modId xmlns:p14="http://schemas.microsoft.com/office/powerpoint/2010/main" val="396698736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5355322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C53A5-D866-46F2-79D1-A88506F97264}"/>
              </a:ext>
            </a:extLst>
          </p:cNvPr>
          <p:cNvSpPr>
            <a:spLocks noGrp="1"/>
          </p:cNvSpPr>
          <p:nvPr>
            <p:ph type="title"/>
          </p:nvPr>
        </p:nvSpPr>
        <p:spPr>
          <a:xfrm>
            <a:off x="838200" y="365126"/>
            <a:ext cx="10515600" cy="1029722"/>
          </a:xfrm>
        </p:spPr>
        <p:txBody>
          <a:bodyPr>
            <a:normAutofit/>
          </a:bodyPr>
          <a:lstStyle/>
          <a:p>
            <a:pPr algn="ctr"/>
            <a:r>
              <a:rPr lang="en-US" sz="4000" b="1"/>
              <a:t>RECENT TRENDS AND FUTURE OUTLOOKS</a:t>
            </a:r>
            <a:endParaRPr lang="en-US" sz="4000" b="1" dirty="0"/>
          </a:p>
        </p:txBody>
      </p:sp>
      <p:graphicFrame>
        <p:nvGraphicFramePr>
          <p:cNvPr id="6" name="Content Placeholder 2">
            <a:extLst>
              <a:ext uri="{FF2B5EF4-FFF2-40B4-BE49-F238E27FC236}">
                <a16:creationId xmlns:a16="http://schemas.microsoft.com/office/drawing/2014/main" id="{6D3800AF-CE91-B1EA-7A07-A79DD068A02B}"/>
              </a:ext>
            </a:extLst>
          </p:cNvPr>
          <p:cNvGraphicFramePr>
            <a:graphicFrameLocks noGrp="1"/>
          </p:cNvGraphicFramePr>
          <p:nvPr>
            <p:ph idx="1"/>
          </p:nvPr>
        </p:nvGraphicFramePr>
        <p:xfrm>
          <a:off x="838200" y="1394848"/>
          <a:ext cx="10515600" cy="47821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C2DA26D9-F587-F1F7-EEDF-B017DCB35305}"/>
              </a:ext>
            </a:extLst>
          </p:cNvPr>
          <p:cNvSpPr>
            <a:spLocks noGrp="1"/>
          </p:cNvSpPr>
          <p:nvPr>
            <p:ph type="sldNum" sz="quarter" idx="12"/>
          </p:nvPr>
        </p:nvSpPr>
        <p:spPr/>
        <p:txBody>
          <a:bodyPr/>
          <a:lstStyle/>
          <a:p>
            <a:fld id="{D62167D1-4718-47CE-9837-207ADCCC574B}" type="slidenum">
              <a:rPr lang="en-US" smtClean="0"/>
              <a:t>12</a:t>
            </a:fld>
            <a:endParaRPr lang="en-US"/>
          </a:p>
        </p:txBody>
      </p:sp>
    </p:spTree>
    <p:extLst>
      <p:ext uri="{BB962C8B-B14F-4D97-AF65-F5344CB8AC3E}">
        <p14:creationId xmlns:p14="http://schemas.microsoft.com/office/powerpoint/2010/main" val="2156822912"/>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Freeform: Shape 28">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1C63089F-931D-6F48-B1DC-2617D8CF2387}"/>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3200" b="1" dirty="0">
                <a:solidFill>
                  <a:srgbClr val="FFFFFF"/>
                </a:solidFill>
                <a:latin typeface="+mn-lt"/>
              </a:rPr>
              <a:t>RESULTS</a:t>
            </a:r>
            <a:r>
              <a:rPr lang="en-US" sz="3200" dirty="0">
                <a:solidFill>
                  <a:srgbClr val="FFFFFF"/>
                </a:solidFill>
                <a:latin typeface="+mn-lt"/>
              </a:rPr>
              <a:t>OF TENSOR FLOW</a:t>
            </a:r>
            <a:br>
              <a:rPr lang="en-US" sz="4000" i="1" dirty="0">
                <a:solidFill>
                  <a:srgbClr val="FFFFFF"/>
                </a:solidFill>
              </a:rPr>
            </a:br>
            <a:endParaRPr lang="en-US" sz="4000" b="1" kern="1200" dirty="0">
              <a:solidFill>
                <a:srgbClr val="FFFFFF"/>
              </a:solidFill>
              <a:latin typeface="+mj-lt"/>
              <a:ea typeface="+mj-ea"/>
              <a:cs typeface="+mj-cs"/>
            </a:endParaRPr>
          </a:p>
        </p:txBody>
      </p:sp>
      <p:sp>
        <p:nvSpPr>
          <p:cNvPr id="6" name="TextBox 5">
            <a:extLst>
              <a:ext uri="{FF2B5EF4-FFF2-40B4-BE49-F238E27FC236}">
                <a16:creationId xmlns:a16="http://schemas.microsoft.com/office/drawing/2014/main" id="{EC691A0F-8278-DFAC-2A8E-35B002115D42}"/>
              </a:ext>
            </a:extLst>
          </p:cNvPr>
          <p:cNvSpPr txBox="1"/>
          <p:nvPr/>
        </p:nvSpPr>
        <p:spPr>
          <a:xfrm>
            <a:off x="660042" y="806824"/>
            <a:ext cx="2919738" cy="1494117"/>
          </a:xfrm>
          <a:prstGeom prst="rect">
            <a:avLst/>
          </a:prstGeom>
        </p:spPr>
        <p:txBody>
          <a:bodyPr vert="horz" lIns="91440" tIns="45720" rIns="91440" bIns="45720" rtlCol="0" anchor="b">
            <a:normAutofit/>
          </a:bodyPr>
          <a:lstStyle/>
          <a:p>
            <a:pPr marR="0" algn="ctr">
              <a:lnSpc>
                <a:spcPct val="90000"/>
              </a:lnSpc>
              <a:spcBef>
                <a:spcPts val="1000"/>
              </a:spcBef>
              <a:spcAft>
                <a:spcPts val="1000"/>
              </a:spcAft>
            </a:pPr>
            <a:r>
              <a:rPr lang="en-US" sz="4000" b="1" i="0" kern="1200" dirty="0">
                <a:solidFill>
                  <a:srgbClr val="FFFFFF"/>
                </a:solidFill>
                <a:effectLst/>
                <a:latin typeface="+mj-lt"/>
                <a:ea typeface="+mn-ea"/>
                <a:cs typeface="+mn-cs"/>
              </a:rPr>
              <a:t>REUSLTS</a:t>
            </a:r>
            <a:endParaRPr lang="en-US" sz="4000" b="1" i="1" kern="1200" dirty="0">
              <a:solidFill>
                <a:srgbClr val="FFFFFF"/>
              </a:solidFill>
              <a:effectLst/>
              <a:latin typeface="+mj-lt"/>
              <a:ea typeface="+mn-ea"/>
              <a:cs typeface="+mn-cs"/>
            </a:endParaRPr>
          </a:p>
        </p:txBody>
      </p:sp>
      <p:pic>
        <p:nvPicPr>
          <p:cNvPr id="5" name="Content Placeholder 4" descr="A black screen with white text&#10;&#10;AI-generated content may be incorrect.">
            <a:extLst>
              <a:ext uri="{FF2B5EF4-FFF2-40B4-BE49-F238E27FC236}">
                <a16:creationId xmlns:a16="http://schemas.microsoft.com/office/drawing/2014/main" id="{09FD3025-A4C6-2A53-BC42-E350E2663B6B}"/>
              </a:ext>
            </a:extLst>
          </p:cNvPr>
          <p:cNvPicPr>
            <a:picLocks noGrp="1" noChangeAspect="1"/>
          </p:cNvPicPr>
          <p:nvPr>
            <p:ph idx="1"/>
          </p:nvPr>
        </p:nvPicPr>
        <p:blipFill>
          <a:blip r:embed="rId2"/>
          <a:stretch>
            <a:fillRect/>
          </a:stretch>
        </p:blipFill>
        <p:spPr>
          <a:xfrm>
            <a:off x="4502428" y="2218687"/>
            <a:ext cx="7225748" cy="2420625"/>
          </a:xfrm>
          <a:prstGeom prst="rect">
            <a:avLst/>
          </a:prstGeom>
        </p:spPr>
      </p:pic>
      <p:sp>
        <p:nvSpPr>
          <p:cNvPr id="4" name="Slide Number Placeholder 3">
            <a:extLst>
              <a:ext uri="{FF2B5EF4-FFF2-40B4-BE49-F238E27FC236}">
                <a16:creationId xmlns:a16="http://schemas.microsoft.com/office/drawing/2014/main" id="{15C167C8-0593-878D-DF94-42301142F3CF}"/>
              </a:ext>
            </a:extLst>
          </p:cNvPr>
          <p:cNvSpPr>
            <a:spLocks noGrp="1"/>
          </p:cNvSpPr>
          <p:nvPr>
            <p:ph type="sldNum" sz="quarter" idx="12"/>
          </p:nvPr>
        </p:nvSpPr>
        <p:spPr>
          <a:xfrm>
            <a:off x="11704319" y="6455664"/>
            <a:ext cx="448056" cy="365125"/>
          </a:xfrm>
        </p:spPr>
        <p:txBody>
          <a:bodyPr vert="horz" lIns="91440" tIns="45720" rIns="91440" bIns="45720" rtlCol="0" anchor="ctr">
            <a:normAutofit/>
          </a:bodyPr>
          <a:lstStyle/>
          <a:p>
            <a:pPr>
              <a:spcAft>
                <a:spcPts val="600"/>
              </a:spcAft>
            </a:pPr>
            <a:fld id="{D62167D1-4718-47CE-9837-207ADCCC574B}" type="slidenum">
              <a:rPr lang="en-US" sz="1100" smtClean="0">
                <a:solidFill>
                  <a:schemeClr val="tx1">
                    <a:lumMod val="50000"/>
                    <a:lumOff val="50000"/>
                  </a:schemeClr>
                </a:solidFill>
              </a:rPr>
              <a:pPr>
                <a:spcAft>
                  <a:spcPts val="600"/>
                </a:spcAft>
              </a:pPr>
              <a:t>13</a:t>
            </a:fld>
            <a:endParaRPr lang="en-US" sz="1100">
              <a:solidFill>
                <a:schemeClr val="tx1">
                  <a:lumMod val="50000"/>
                  <a:lumOff val="50000"/>
                </a:schemeClr>
              </a:solidFill>
            </a:endParaRPr>
          </a:p>
        </p:txBody>
      </p:sp>
    </p:spTree>
    <p:extLst>
      <p:ext uri="{BB962C8B-B14F-4D97-AF65-F5344CB8AC3E}">
        <p14:creationId xmlns:p14="http://schemas.microsoft.com/office/powerpoint/2010/main" val="1100500133"/>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0" name="Rectangle 19">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BC7551A-0A7E-AB1D-CC36-BD00A8459C56}"/>
              </a:ext>
            </a:extLst>
          </p:cNvPr>
          <p:cNvSpPr>
            <a:spLocks noGrp="1"/>
          </p:cNvSpPr>
          <p:nvPr>
            <p:ph type="title"/>
          </p:nvPr>
        </p:nvSpPr>
        <p:spPr>
          <a:xfrm>
            <a:off x="699714" y="353160"/>
            <a:ext cx="7091300" cy="898581"/>
          </a:xfrm>
        </p:spPr>
        <p:txBody>
          <a:bodyPr vert="horz" lIns="91440" tIns="45720" rIns="91440" bIns="45720" rtlCol="0" anchor="ctr">
            <a:normAutofit/>
          </a:bodyPr>
          <a:lstStyle/>
          <a:p>
            <a:r>
              <a:rPr lang="en-US" sz="4000" b="1">
                <a:solidFill>
                  <a:srgbClr val="FFFFFF"/>
                </a:solidFill>
              </a:rPr>
              <a:t>RESULTS</a:t>
            </a:r>
          </a:p>
        </p:txBody>
      </p:sp>
      <p:sp>
        <p:nvSpPr>
          <p:cNvPr id="3" name="Content Placeholder 2">
            <a:extLst>
              <a:ext uri="{FF2B5EF4-FFF2-40B4-BE49-F238E27FC236}">
                <a16:creationId xmlns:a16="http://schemas.microsoft.com/office/drawing/2014/main" id="{B36905E2-67FC-E83C-A0A4-15E9DDD408E3}"/>
              </a:ext>
            </a:extLst>
          </p:cNvPr>
          <p:cNvSpPr>
            <a:spLocks noGrp="1"/>
          </p:cNvSpPr>
          <p:nvPr>
            <p:ph idx="1"/>
          </p:nvPr>
        </p:nvSpPr>
        <p:spPr>
          <a:xfrm>
            <a:off x="8571507" y="387224"/>
            <a:ext cx="3291839" cy="830453"/>
          </a:xfrm>
        </p:spPr>
        <p:txBody>
          <a:bodyPr vert="horz" lIns="91440" tIns="45720" rIns="91440" bIns="45720" rtlCol="0" anchor="ctr">
            <a:normAutofit/>
          </a:bodyPr>
          <a:lstStyle/>
          <a:p>
            <a:pPr marL="0" indent="0">
              <a:buNone/>
            </a:pPr>
            <a:r>
              <a:rPr lang="en-US" sz="1700" b="1">
                <a:solidFill>
                  <a:srgbClr val="FFFFFF"/>
                </a:solidFill>
              </a:rPr>
              <a:t>RESULTS </a:t>
            </a:r>
            <a:r>
              <a:rPr lang="en-US" sz="1700">
                <a:solidFill>
                  <a:srgbClr val="FFFFFF"/>
                </a:solidFill>
                <a:effectLst/>
              </a:rPr>
              <a:t>OF TRAINING ARTIFICAL NEURAL NETWORK</a:t>
            </a:r>
            <a:endParaRPr lang="en-US" sz="1700">
              <a:solidFill>
                <a:srgbClr val="FFFFFF"/>
              </a:solidFill>
            </a:endParaRPr>
          </a:p>
        </p:txBody>
      </p:sp>
      <p:pic>
        <p:nvPicPr>
          <p:cNvPr id="5" name="Picture 2" descr="A screenshot of a computer&#10;&#10;AI-generated content may be incorrect.">
            <a:extLst>
              <a:ext uri="{FF2B5EF4-FFF2-40B4-BE49-F238E27FC236}">
                <a16:creationId xmlns:a16="http://schemas.microsoft.com/office/drawing/2014/main" id="{0542F5CE-7522-63FC-DEA2-69D680F0B94D}"/>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96476" y="2978856"/>
            <a:ext cx="6422452" cy="258503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A screen shot of a computer&#10;&#10;AI-generated content may be incorrect.">
            <a:extLst>
              <a:ext uri="{FF2B5EF4-FFF2-40B4-BE49-F238E27FC236}">
                <a16:creationId xmlns:a16="http://schemas.microsoft.com/office/drawing/2014/main" id="{0D19B11A-AF89-2A6F-C876-B92F59140651}"/>
              </a:ext>
            </a:extLst>
          </p:cNvPr>
          <p:cNvPicPr>
            <a:picLocks noChangeAspect="1"/>
          </p:cNvPicPr>
          <p:nvPr/>
        </p:nvPicPr>
        <p:blipFill>
          <a:blip r:embed="rId4"/>
          <a:stretch>
            <a:fillRect/>
          </a:stretch>
        </p:blipFill>
        <p:spPr>
          <a:xfrm>
            <a:off x="7060914" y="3033499"/>
            <a:ext cx="5131087" cy="2475749"/>
          </a:xfrm>
          <a:prstGeom prst="rect">
            <a:avLst/>
          </a:prstGeom>
        </p:spPr>
      </p:pic>
      <p:sp>
        <p:nvSpPr>
          <p:cNvPr id="4" name="Slide Number Placeholder 3">
            <a:extLst>
              <a:ext uri="{FF2B5EF4-FFF2-40B4-BE49-F238E27FC236}">
                <a16:creationId xmlns:a16="http://schemas.microsoft.com/office/drawing/2014/main" id="{3389A15B-A42E-78CB-1821-C33C05E0DE64}"/>
              </a:ext>
            </a:extLst>
          </p:cNvPr>
          <p:cNvSpPr>
            <a:spLocks noGrp="1"/>
          </p:cNvSpPr>
          <p:nvPr>
            <p:ph type="sldNum" sz="quarter" idx="12"/>
          </p:nvPr>
        </p:nvSpPr>
        <p:spPr>
          <a:xfrm>
            <a:off x="11704320" y="6431079"/>
            <a:ext cx="448056" cy="365125"/>
          </a:xfrm>
        </p:spPr>
        <p:txBody>
          <a:bodyPr vert="horz" lIns="91440" tIns="45720" rIns="91440" bIns="45720" rtlCol="0" anchor="ctr">
            <a:normAutofit/>
          </a:bodyPr>
          <a:lstStyle/>
          <a:p>
            <a:pPr>
              <a:spcAft>
                <a:spcPts val="600"/>
              </a:spcAft>
            </a:pPr>
            <a:fld id="{D62167D1-4718-47CE-9837-207ADCCC574B}" type="slidenum">
              <a:rPr lang="en-US" sz="1100">
                <a:solidFill>
                  <a:schemeClr val="tx1">
                    <a:lumMod val="50000"/>
                    <a:lumOff val="50000"/>
                  </a:schemeClr>
                </a:solidFill>
              </a:rPr>
              <a:pPr>
                <a:spcAft>
                  <a:spcPts val="600"/>
                </a:spcAft>
              </a:pPr>
              <a:t>14</a:t>
            </a:fld>
            <a:endParaRPr lang="en-US" sz="1100">
              <a:solidFill>
                <a:schemeClr val="tx1">
                  <a:lumMod val="50000"/>
                  <a:lumOff val="50000"/>
                </a:schemeClr>
              </a:solidFill>
            </a:endParaRPr>
          </a:p>
        </p:txBody>
      </p:sp>
    </p:spTree>
    <p:extLst>
      <p:ext uri="{BB962C8B-B14F-4D97-AF65-F5344CB8AC3E}">
        <p14:creationId xmlns:p14="http://schemas.microsoft.com/office/powerpoint/2010/main" val="787299029"/>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A4CA3-DB78-D401-BAC5-32535B08B97A}"/>
              </a:ext>
            </a:extLst>
          </p:cNvPr>
          <p:cNvSpPr>
            <a:spLocks noGrp="1"/>
          </p:cNvSpPr>
          <p:nvPr>
            <p:ph type="title"/>
          </p:nvPr>
        </p:nvSpPr>
        <p:spPr>
          <a:xfrm>
            <a:off x="838200" y="365126"/>
            <a:ext cx="10515600" cy="890238"/>
          </a:xfrm>
        </p:spPr>
        <p:txBody>
          <a:bodyPr>
            <a:normAutofit/>
          </a:bodyPr>
          <a:lstStyle/>
          <a:p>
            <a:pPr algn="ctr"/>
            <a:r>
              <a:rPr lang="en-US" sz="4000" b="1" dirty="0"/>
              <a:t>RESULTS</a:t>
            </a:r>
          </a:p>
        </p:txBody>
      </p:sp>
      <p:sp>
        <p:nvSpPr>
          <p:cNvPr id="4" name="Slide Number Placeholder 3">
            <a:extLst>
              <a:ext uri="{FF2B5EF4-FFF2-40B4-BE49-F238E27FC236}">
                <a16:creationId xmlns:a16="http://schemas.microsoft.com/office/drawing/2014/main" id="{1EC65506-FC76-B757-04C2-3FE19BAB4A39}"/>
              </a:ext>
            </a:extLst>
          </p:cNvPr>
          <p:cNvSpPr>
            <a:spLocks noGrp="1"/>
          </p:cNvSpPr>
          <p:nvPr>
            <p:ph type="sldNum" sz="quarter" idx="12"/>
          </p:nvPr>
        </p:nvSpPr>
        <p:spPr/>
        <p:txBody>
          <a:bodyPr/>
          <a:lstStyle/>
          <a:p>
            <a:fld id="{D62167D1-4718-47CE-9837-207ADCCC574B}" type="slidenum">
              <a:rPr lang="en-US" smtClean="0"/>
              <a:t>15</a:t>
            </a:fld>
            <a:endParaRPr lang="en-US"/>
          </a:p>
        </p:txBody>
      </p:sp>
      <p:pic>
        <p:nvPicPr>
          <p:cNvPr id="5" name="Content Placeholder 4" descr="A group of black and white squares&#10;&#10;AI-generated content may be incorrect.">
            <a:extLst>
              <a:ext uri="{FF2B5EF4-FFF2-40B4-BE49-F238E27FC236}">
                <a16:creationId xmlns:a16="http://schemas.microsoft.com/office/drawing/2014/main" id="{C89F6C5B-831B-C4CC-76B0-48377EAF336A}"/>
              </a:ext>
            </a:extLst>
          </p:cNvPr>
          <p:cNvPicPr>
            <a:picLocks noGrp="1" noChangeAspect="1"/>
          </p:cNvPicPr>
          <p:nvPr>
            <p:ph idx="1"/>
          </p:nvPr>
        </p:nvPicPr>
        <p:blipFill>
          <a:blip r:embed="rId2"/>
          <a:stretch>
            <a:fillRect/>
          </a:stretch>
        </p:blipFill>
        <p:spPr>
          <a:xfrm>
            <a:off x="838200" y="1507457"/>
            <a:ext cx="10515600" cy="2755918"/>
          </a:xfrm>
          <a:prstGeom prst="rect">
            <a:avLst/>
          </a:prstGeom>
        </p:spPr>
      </p:pic>
      <p:sp>
        <p:nvSpPr>
          <p:cNvPr id="6" name="TextBox 5">
            <a:extLst>
              <a:ext uri="{FF2B5EF4-FFF2-40B4-BE49-F238E27FC236}">
                <a16:creationId xmlns:a16="http://schemas.microsoft.com/office/drawing/2014/main" id="{6AEC8051-52A6-72D3-C7D6-2EB94D026A05}"/>
              </a:ext>
            </a:extLst>
          </p:cNvPr>
          <p:cNvSpPr txBox="1"/>
          <p:nvPr/>
        </p:nvSpPr>
        <p:spPr>
          <a:xfrm>
            <a:off x="1115878" y="4479010"/>
            <a:ext cx="7826644" cy="954107"/>
          </a:xfrm>
          <a:prstGeom prst="rect">
            <a:avLst/>
          </a:prstGeom>
          <a:noFill/>
        </p:spPr>
        <p:txBody>
          <a:bodyPr wrap="square" rtlCol="0">
            <a:spAutoFit/>
          </a:bodyPr>
          <a:lstStyle/>
          <a:p>
            <a:r>
              <a:rPr lang="en-US" sz="2800" kern="0" dirty="0">
                <a:effectLst/>
                <a:ea typeface="Calibri" panose="020F0502020204030204" pitchFamily="34" charset="0"/>
              </a:rPr>
              <a:t>CLASSIFICATION OF MEDICAL DIAGNOSIS OF SHAPES OF ANN EVALUATION</a:t>
            </a:r>
            <a:endParaRPr lang="en-US" sz="2800" dirty="0"/>
          </a:p>
        </p:txBody>
      </p:sp>
    </p:spTree>
    <p:extLst>
      <p:ext uri="{BB962C8B-B14F-4D97-AF65-F5344CB8AC3E}">
        <p14:creationId xmlns:p14="http://schemas.microsoft.com/office/powerpoint/2010/main" val="2438445164"/>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7508E-3871-06A3-1C21-842C9B3B347E}"/>
              </a:ext>
            </a:extLst>
          </p:cNvPr>
          <p:cNvSpPr>
            <a:spLocks noGrp="1"/>
          </p:cNvSpPr>
          <p:nvPr>
            <p:ph type="title"/>
          </p:nvPr>
        </p:nvSpPr>
        <p:spPr>
          <a:xfrm>
            <a:off x="838200" y="365126"/>
            <a:ext cx="10515600" cy="890238"/>
          </a:xfrm>
        </p:spPr>
        <p:txBody>
          <a:bodyPr>
            <a:normAutofit/>
          </a:bodyPr>
          <a:lstStyle/>
          <a:p>
            <a:pPr algn="ctr"/>
            <a:r>
              <a:rPr lang="en-US" sz="4000" b="1" dirty="0"/>
              <a:t>RESULTS</a:t>
            </a:r>
          </a:p>
        </p:txBody>
      </p:sp>
      <p:sp>
        <p:nvSpPr>
          <p:cNvPr id="4" name="Slide Number Placeholder 3">
            <a:extLst>
              <a:ext uri="{FF2B5EF4-FFF2-40B4-BE49-F238E27FC236}">
                <a16:creationId xmlns:a16="http://schemas.microsoft.com/office/drawing/2014/main" id="{6906DCCE-A6FE-8B7B-034B-30F765A23E80}"/>
              </a:ext>
            </a:extLst>
          </p:cNvPr>
          <p:cNvSpPr>
            <a:spLocks noGrp="1"/>
          </p:cNvSpPr>
          <p:nvPr>
            <p:ph type="sldNum" sz="quarter" idx="12"/>
          </p:nvPr>
        </p:nvSpPr>
        <p:spPr/>
        <p:txBody>
          <a:bodyPr/>
          <a:lstStyle/>
          <a:p>
            <a:fld id="{D62167D1-4718-47CE-9837-207ADCCC574B}" type="slidenum">
              <a:rPr lang="en-US" smtClean="0"/>
              <a:t>16</a:t>
            </a:fld>
            <a:endParaRPr lang="en-US"/>
          </a:p>
        </p:txBody>
      </p:sp>
      <p:pic>
        <p:nvPicPr>
          <p:cNvPr id="5" name="Content Placeholder 4" descr="A graph of different colored lines&#10;&#10;AI-generated content may be incorrect.">
            <a:extLst>
              <a:ext uri="{FF2B5EF4-FFF2-40B4-BE49-F238E27FC236}">
                <a16:creationId xmlns:a16="http://schemas.microsoft.com/office/drawing/2014/main" id="{03F72765-CB4B-17B4-2640-3FC506DF8A41}"/>
              </a:ext>
            </a:extLst>
          </p:cNvPr>
          <p:cNvPicPr>
            <a:picLocks noGrp="1" noChangeAspect="1"/>
          </p:cNvPicPr>
          <p:nvPr>
            <p:ph idx="1"/>
          </p:nvPr>
        </p:nvPicPr>
        <p:blipFill>
          <a:blip r:embed="rId2"/>
          <a:stretch>
            <a:fillRect/>
          </a:stretch>
        </p:blipFill>
        <p:spPr>
          <a:xfrm>
            <a:off x="1061222" y="1395413"/>
            <a:ext cx="10069555" cy="4781550"/>
          </a:xfrm>
          <a:prstGeom prst="rect">
            <a:avLst/>
          </a:prstGeom>
        </p:spPr>
      </p:pic>
      <p:sp>
        <p:nvSpPr>
          <p:cNvPr id="6" name="TextBox 5">
            <a:extLst>
              <a:ext uri="{FF2B5EF4-FFF2-40B4-BE49-F238E27FC236}">
                <a16:creationId xmlns:a16="http://schemas.microsoft.com/office/drawing/2014/main" id="{32E1E637-123C-AC3E-8A66-3139F7834137}"/>
              </a:ext>
            </a:extLst>
          </p:cNvPr>
          <p:cNvSpPr txBox="1"/>
          <p:nvPr/>
        </p:nvSpPr>
        <p:spPr>
          <a:xfrm>
            <a:off x="838200" y="6176963"/>
            <a:ext cx="5779576" cy="646331"/>
          </a:xfrm>
          <a:prstGeom prst="rect">
            <a:avLst/>
          </a:prstGeom>
          <a:noFill/>
        </p:spPr>
        <p:txBody>
          <a:bodyPr wrap="square" rtlCol="0">
            <a:spAutoFit/>
          </a:bodyPr>
          <a:lstStyle/>
          <a:p>
            <a:r>
              <a:rPr lang="en-US" sz="1800" i="0" dirty="0">
                <a:solidFill>
                  <a:srgbClr val="44546A"/>
                </a:solidFill>
                <a:effectLst/>
                <a:ea typeface="Calibri" panose="020F0502020204030204" pitchFamily="34" charset="0"/>
              </a:rPr>
              <a:t>MODEL COMPARSION OF ANN,CNN AND BNN MODEL</a:t>
            </a:r>
            <a:endParaRPr lang="en-US" sz="1800" i="1" dirty="0">
              <a:solidFill>
                <a:srgbClr val="44546A"/>
              </a:solidFill>
              <a:effectLst/>
              <a:ea typeface="Calibri" panose="020F0502020204030204" pitchFamily="34" charset="0"/>
            </a:endParaRPr>
          </a:p>
          <a:p>
            <a:endParaRPr lang="en-US" dirty="0"/>
          </a:p>
        </p:txBody>
      </p:sp>
    </p:spTree>
    <p:extLst>
      <p:ext uri="{BB962C8B-B14F-4D97-AF65-F5344CB8AC3E}">
        <p14:creationId xmlns:p14="http://schemas.microsoft.com/office/powerpoint/2010/main" val="483001709"/>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A724DBA-D2D9-471E-8ED7-2015DDD950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8402684-9169-92AC-B3BF-708C32F61DD9}"/>
              </a:ext>
            </a:extLst>
          </p:cNvPr>
          <p:cNvSpPr>
            <a:spLocks noGrp="1"/>
          </p:cNvSpPr>
          <p:nvPr>
            <p:ph type="title"/>
          </p:nvPr>
        </p:nvSpPr>
        <p:spPr>
          <a:xfrm>
            <a:off x="7239014" y="525982"/>
            <a:ext cx="4282983" cy="1200361"/>
          </a:xfrm>
        </p:spPr>
        <p:txBody>
          <a:bodyPr anchor="b">
            <a:normAutofit/>
          </a:bodyPr>
          <a:lstStyle/>
          <a:p>
            <a:r>
              <a:rPr lang="en-US" sz="3600" b="1"/>
              <a:t>RESULTS</a:t>
            </a:r>
          </a:p>
        </p:txBody>
      </p:sp>
      <p:sp>
        <p:nvSpPr>
          <p:cNvPr id="12" name="Rectangle 11">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4641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0234"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graph of cars with lines and dots&#10;&#10;AI-generated content may be incorrect.">
            <a:extLst>
              <a:ext uri="{FF2B5EF4-FFF2-40B4-BE49-F238E27FC236}">
                <a16:creationId xmlns:a16="http://schemas.microsoft.com/office/drawing/2014/main" id="{683630DB-B486-2508-9472-2415A679F84A}"/>
              </a:ext>
            </a:extLst>
          </p:cNvPr>
          <p:cNvPicPr>
            <a:picLocks noChangeAspect="1"/>
          </p:cNvPicPr>
          <p:nvPr/>
        </p:nvPicPr>
        <p:blipFill>
          <a:blip r:embed="rId2"/>
          <a:stretch>
            <a:fillRect/>
          </a:stretch>
        </p:blipFill>
        <p:spPr>
          <a:xfrm>
            <a:off x="576244" y="1905560"/>
            <a:ext cx="5628018" cy="2814009"/>
          </a:xfrm>
          <a:prstGeom prst="rect">
            <a:avLst/>
          </a:prstGeom>
        </p:spPr>
      </p:pic>
      <p:sp>
        <p:nvSpPr>
          <p:cNvPr id="16" name="Rectangle 15">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277786"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99CFA77-7B93-8250-FC03-70D7C204F320}"/>
              </a:ext>
            </a:extLst>
          </p:cNvPr>
          <p:cNvSpPr>
            <a:spLocks noGrp="1"/>
          </p:cNvSpPr>
          <p:nvPr>
            <p:ph idx="1"/>
          </p:nvPr>
        </p:nvSpPr>
        <p:spPr>
          <a:xfrm>
            <a:off x="7239012" y="2031101"/>
            <a:ext cx="4282984" cy="3511943"/>
          </a:xfrm>
        </p:spPr>
        <p:txBody>
          <a:bodyPr anchor="ctr">
            <a:normAutofit/>
          </a:bodyPr>
          <a:lstStyle/>
          <a:p>
            <a:r>
              <a:rPr lang="en-US" sz="1800" i="0" dirty="0">
                <a:effectLst/>
                <a:ea typeface="Calibri" panose="020F0502020204030204" pitchFamily="34" charset="0"/>
              </a:rPr>
              <a:t>GRAPH OF BEAM SEARCH ALGORTHIM</a:t>
            </a:r>
          </a:p>
          <a:p>
            <a:endParaRPr lang="en-US" sz="1800" i="1" dirty="0">
              <a:effectLst/>
              <a:ea typeface="Calibri" panose="020F0502020204030204" pitchFamily="34" charset="0"/>
            </a:endParaRPr>
          </a:p>
        </p:txBody>
      </p:sp>
      <p:sp>
        <p:nvSpPr>
          <p:cNvPr id="4" name="Slide Number Placeholder 3">
            <a:extLst>
              <a:ext uri="{FF2B5EF4-FFF2-40B4-BE49-F238E27FC236}">
                <a16:creationId xmlns:a16="http://schemas.microsoft.com/office/drawing/2014/main" id="{C2E672DC-9D33-6BDB-33FF-505B92A6B7AC}"/>
              </a:ext>
            </a:extLst>
          </p:cNvPr>
          <p:cNvSpPr>
            <a:spLocks noGrp="1"/>
          </p:cNvSpPr>
          <p:nvPr>
            <p:ph type="sldNum" sz="quarter" idx="12"/>
          </p:nvPr>
        </p:nvSpPr>
        <p:spPr>
          <a:xfrm>
            <a:off x="8610600" y="6492240"/>
            <a:ext cx="2743200" cy="365125"/>
          </a:xfrm>
        </p:spPr>
        <p:txBody>
          <a:bodyPr>
            <a:normAutofit/>
          </a:bodyPr>
          <a:lstStyle/>
          <a:p>
            <a:pPr>
              <a:spcAft>
                <a:spcPts val="600"/>
              </a:spcAft>
            </a:pPr>
            <a:fld id="{D62167D1-4718-47CE-9837-207ADCCC574B}" type="slidenum">
              <a:rPr lang="en-US" smtClean="0"/>
              <a:pPr>
                <a:spcAft>
                  <a:spcPts val="600"/>
                </a:spcAft>
              </a:pPr>
              <a:t>17</a:t>
            </a:fld>
            <a:endParaRPr lang="en-US"/>
          </a:p>
        </p:txBody>
      </p:sp>
      <p:sp>
        <p:nvSpPr>
          <p:cNvPr id="18" name="Rectangle 17">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677179"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05777426"/>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4ECDE7A-6944-466D-8FFE-149A29BA6B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B3420082-9415-44EC-802E-C77D71D59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12700">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Rectangle 13">
            <a:extLst>
              <a:ext uri="{FF2B5EF4-FFF2-40B4-BE49-F238E27FC236}">
                <a16:creationId xmlns:a16="http://schemas.microsoft.com/office/drawing/2014/main" id="{55A52C45-1FCB-4636-A80F-2849B8226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83EA33D-B650-F3A8-821B-AD24397A19B3}"/>
              </a:ext>
            </a:extLst>
          </p:cNvPr>
          <p:cNvSpPr>
            <a:spLocks noGrp="1"/>
          </p:cNvSpPr>
          <p:nvPr>
            <p:ph type="title"/>
          </p:nvPr>
        </p:nvSpPr>
        <p:spPr>
          <a:xfrm>
            <a:off x="1115568" y="548640"/>
            <a:ext cx="10168128" cy="1179576"/>
          </a:xfrm>
        </p:spPr>
        <p:txBody>
          <a:bodyPr>
            <a:normAutofit/>
          </a:bodyPr>
          <a:lstStyle/>
          <a:p>
            <a:r>
              <a:rPr lang="en-US" sz="4000" b="1" dirty="0"/>
              <a:t>RESULTS </a:t>
            </a:r>
            <a:endParaRPr lang="en-US" sz="4000" b="1"/>
          </a:p>
        </p:txBody>
      </p:sp>
      <p:sp>
        <p:nvSpPr>
          <p:cNvPr id="16" name="Rectangle 15">
            <a:extLst>
              <a:ext uri="{FF2B5EF4-FFF2-40B4-BE49-F238E27FC236}">
                <a16:creationId xmlns:a16="http://schemas.microsoft.com/office/drawing/2014/main" id="{768EB4DD-3704-43AD-92B3-C4E0C6EA92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7079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descr="A diagram of a network&#10;&#10;AI-generated content may be incorrect.">
            <a:extLst>
              <a:ext uri="{FF2B5EF4-FFF2-40B4-BE49-F238E27FC236}">
                <a16:creationId xmlns:a16="http://schemas.microsoft.com/office/drawing/2014/main" id="{98AAEF50-8C5D-9383-BCC7-DA154DD5F9C5}"/>
              </a:ext>
            </a:extLst>
          </p:cNvPr>
          <p:cNvPicPr>
            <a:picLocks noChangeAspect="1"/>
          </p:cNvPicPr>
          <p:nvPr/>
        </p:nvPicPr>
        <p:blipFill>
          <a:blip r:embed="rId2"/>
          <a:srcRect t="7566" r="2" b="2"/>
          <a:stretch>
            <a:fillRect/>
          </a:stretch>
        </p:blipFill>
        <p:spPr>
          <a:xfrm>
            <a:off x="908304" y="2478024"/>
            <a:ext cx="6009855" cy="3694176"/>
          </a:xfrm>
          <a:prstGeom prst="rect">
            <a:avLst/>
          </a:prstGeom>
        </p:spPr>
      </p:pic>
      <p:sp>
        <p:nvSpPr>
          <p:cNvPr id="3" name="Content Placeholder 2">
            <a:extLst>
              <a:ext uri="{FF2B5EF4-FFF2-40B4-BE49-F238E27FC236}">
                <a16:creationId xmlns:a16="http://schemas.microsoft.com/office/drawing/2014/main" id="{E9D1109D-E8AE-2736-5BB1-0CF6E950E8EA}"/>
              </a:ext>
            </a:extLst>
          </p:cNvPr>
          <p:cNvSpPr>
            <a:spLocks noGrp="1"/>
          </p:cNvSpPr>
          <p:nvPr>
            <p:ph idx="1"/>
          </p:nvPr>
        </p:nvSpPr>
        <p:spPr>
          <a:xfrm>
            <a:off x="7411453" y="2478024"/>
            <a:ext cx="3872243" cy="3694176"/>
          </a:xfrm>
        </p:spPr>
        <p:txBody>
          <a:bodyPr anchor="ctr">
            <a:normAutofit/>
          </a:bodyPr>
          <a:lstStyle/>
          <a:p>
            <a:r>
              <a:rPr lang="en-US" sz="3200" i="0" dirty="0">
                <a:effectLst/>
                <a:ea typeface="Calibri" panose="020F0502020204030204" pitchFamily="34" charset="0"/>
              </a:rPr>
              <a:t>GRPAH OF BEST-FIRST SEARCH ALGORTHIM</a:t>
            </a:r>
            <a:endParaRPr lang="en-US" sz="3200" i="1" dirty="0">
              <a:effectLst/>
              <a:ea typeface="Calibri" panose="020F0502020204030204" pitchFamily="34" charset="0"/>
            </a:endParaRPr>
          </a:p>
          <a:p>
            <a:pPr marL="0" indent="0">
              <a:buNone/>
            </a:pPr>
            <a:endParaRPr lang="en-US" sz="3200" dirty="0"/>
          </a:p>
        </p:txBody>
      </p:sp>
      <p:sp>
        <p:nvSpPr>
          <p:cNvPr id="4" name="Slide Number Placeholder 3">
            <a:extLst>
              <a:ext uri="{FF2B5EF4-FFF2-40B4-BE49-F238E27FC236}">
                <a16:creationId xmlns:a16="http://schemas.microsoft.com/office/drawing/2014/main" id="{A18D7532-957B-8B98-0E43-6C9C67468112}"/>
              </a:ext>
            </a:extLst>
          </p:cNvPr>
          <p:cNvSpPr>
            <a:spLocks noGrp="1"/>
          </p:cNvSpPr>
          <p:nvPr>
            <p:ph type="sldNum" sz="quarter" idx="12"/>
          </p:nvPr>
        </p:nvSpPr>
        <p:spPr>
          <a:xfrm>
            <a:off x="8610600" y="6356350"/>
            <a:ext cx="2743200" cy="365125"/>
          </a:xfrm>
        </p:spPr>
        <p:txBody>
          <a:bodyPr>
            <a:normAutofit/>
          </a:bodyPr>
          <a:lstStyle/>
          <a:p>
            <a:pPr>
              <a:spcAft>
                <a:spcPts val="600"/>
              </a:spcAft>
            </a:pPr>
            <a:fld id="{D62167D1-4718-47CE-9837-207ADCCC574B}" type="slidenum">
              <a:rPr lang="en-US">
                <a:solidFill>
                  <a:schemeClr val="tx1">
                    <a:lumMod val="50000"/>
                    <a:lumOff val="50000"/>
                  </a:schemeClr>
                </a:solidFill>
              </a:rPr>
              <a:pPr>
                <a:spcAft>
                  <a:spcPts val="600"/>
                </a:spcAft>
              </a:pPr>
              <a:t>18</a:t>
            </a:fld>
            <a:endParaRPr lang="en-US">
              <a:solidFill>
                <a:schemeClr val="tx1">
                  <a:lumMod val="50000"/>
                  <a:lumOff val="50000"/>
                </a:schemeClr>
              </a:solidFill>
            </a:endParaRPr>
          </a:p>
        </p:txBody>
      </p:sp>
    </p:spTree>
    <p:extLst>
      <p:ext uri="{BB962C8B-B14F-4D97-AF65-F5344CB8AC3E}">
        <p14:creationId xmlns:p14="http://schemas.microsoft.com/office/powerpoint/2010/main" val="1373767892"/>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E2876-8F4B-88CB-9D61-1EC19AAFCADF}"/>
              </a:ext>
            </a:extLst>
          </p:cNvPr>
          <p:cNvSpPr>
            <a:spLocks noGrp="1"/>
          </p:cNvSpPr>
          <p:nvPr>
            <p:ph type="title"/>
          </p:nvPr>
        </p:nvSpPr>
        <p:spPr>
          <a:xfrm>
            <a:off x="838200" y="365126"/>
            <a:ext cx="10515600" cy="828244"/>
          </a:xfrm>
        </p:spPr>
        <p:txBody>
          <a:bodyPr>
            <a:normAutofit/>
          </a:bodyPr>
          <a:lstStyle/>
          <a:p>
            <a:pPr algn="ctr"/>
            <a:r>
              <a:rPr lang="en-US" sz="4000" b="1" dirty="0"/>
              <a:t>CONCLUSION</a:t>
            </a:r>
          </a:p>
        </p:txBody>
      </p:sp>
      <p:graphicFrame>
        <p:nvGraphicFramePr>
          <p:cNvPr id="6" name="Content Placeholder 2">
            <a:extLst>
              <a:ext uri="{FF2B5EF4-FFF2-40B4-BE49-F238E27FC236}">
                <a16:creationId xmlns:a16="http://schemas.microsoft.com/office/drawing/2014/main" id="{D77C4336-8E40-C411-0B05-FFD2F1E1190B}"/>
              </a:ext>
            </a:extLst>
          </p:cNvPr>
          <p:cNvGraphicFramePr>
            <a:graphicFrameLocks noGrp="1"/>
          </p:cNvGraphicFramePr>
          <p:nvPr>
            <p:ph idx="1"/>
          </p:nvPr>
        </p:nvGraphicFramePr>
        <p:xfrm>
          <a:off x="838200" y="1596325"/>
          <a:ext cx="10515600" cy="4580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FE1CD85C-527A-7FCF-356B-DEB481387E4D}"/>
              </a:ext>
            </a:extLst>
          </p:cNvPr>
          <p:cNvSpPr>
            <a:spLocks noGrp="1"/>
          </p:cNvSpPr>
          <p:nvPr>
            <p:ph type="sldNum" sz="quarter" idx="12"/>
          </p:nvPr>
        </p:nvSpPr>
        <p:spPr/>
        <p:txBody>
          <a:bodyPr/>
          <a:lstStyle/>
          <a:p>
            <a:fld id="{D62167D1-4718-47CE-9837-207ADCCC574B}" type="slidenum">
              <a:rPr lang="en-US" smtClean="0"/>
              <a:t>19</a:t>
            </a:fld>
            <a:endParaRPr lang="en-US"/>
          </a:p>
        </p:txBody>
      </p:sp>
    </p:spTree>
    <p:extLst>
      <p:ext uri="{BB962C8B-B14F-4D97-AF65-F5344CB8AC3E}">
        <p14:creationId xmlns:p14="http://schemas.microsoft.com/office/powerpoint/2010/main" val="1272951314"/>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4AC67-0C85-D304-3B3C-FC59738A0ACD}"/>
              </a:ext>
            </a:extLst>
          </p:cNvPr>
          <p:cNvSpPr>
            <a:spLocks noGrp="1"/>
          </p:cNvSpPr>
          <p:nvPr>
            <p:ph type="title"/>
          </p:nvPr>
        </p:nvSpPr>
        <p:spPr>
          <a:xfrm>
            <a:off x="838200" y="365125"/>
            <a:ext cx="10515600" cy="750753"/>
          </a:xfrm>
        </p:spPr>
        <p:txBody>
          <a:bodyPr>
            <a:normAutofit/>
          </a:bodyPr>
          <a:lstStyle/>
          <a:p>
            <a:pPr algn="ctr"/>
            <a:r>
              <a:rPr lang="en-US" sz="4000" b="1" dirty="0"/>
              <a:t>REFERNECES</a:t>
            </a:r>
          </a:p>
        </p:txBody>
      </p:sp>
      <p:sp>
        <p:nvSpPr>
          <p:cNvPr id="3" name="Content Placeholder 2">
            <a:extLst>
              <a:ext uri="{FF2B5EF4-FFF2-40B4-BE49-F238E27FC236}">
                <a16:creationId xmlns:a16="http://schemas.microsoft.com/office/drawing/2014/main" id="{BFA89B1F-7BC9-E216-2A51-3809FF283164}"/>
              </a:ext>
            </a:extLst>
          </p:cNvPr>
          <p:cNvSpPr>
            <a:spLocks noGrp="1"/>
          </p:cNvSpPr>
          <p:nvPr>
            <p:ph idx="1"/>
          </p:nvPr>
        </p:nvSpPr>
        <p:spPr>
          <a:xfrm>
            <a:off x="838200" y="1224366"/>
            <a:ext cx="10515600" cy="4952597"/>
          </a:xfrm>
        </p:spPr>
        <p:txBody>
          <a:bodyPr>
            <a:normAutofit fontScale="92500"/>
          </a:bodyPr>
          <a:lstStyle/>
          <a:p>
            <a:pPr marL="0" indent="0">
              <a:buNone/>
            </a:pPr>
            <a:r>
              <a:rPr lang="en-US" sz="2200" dirty="0">
                <a:effectLst/>
                <a:ea typeface="Calibri" panose="020F0502020204030204" pitchFamily="34" charset="0"/>
              </a:rPr>
              <a:t>[1] X. Wang, Y. Peng, L. Lu, Z. Lu, M. Bagheri, and R. M. Summers, "ChestX-ray8: Hospital-scale chest X-ray database and benchmarks on weakly-supervised classification and localization of common thorax diseases," </a:t>
            </a:r>
            <a:r>
              <a:rPr lang="en-US" sz="2200" i="1" dirty="0">
                <a:effectLst/>
                <a:ea typeface="Calibri" panose="020F0502020204030204" pitchFamily="34" charset="0"/>
              </a:rPr>
              <a:t>Proc. IEEE Conf. </a:t>
            </a:r>
            <a:r>
              <a:rPr lang="en-US" sz="2200" i="1" dirty="0" err="1">
                <a:effectLst/>
                <a:ea typeface="Calibri" panose="020F0502020204030204" pitchFamily="34" charset="0"/>
              </a:rPr>
              <a:t>Comput</a:t>
            </a:r>
            <a:r>
              <a:rPr lang="en-US" sz="2200" i="1" dirty="0">
                <a:effectLst/>
                <a:ea typeface="Calibri" panose="020F0502020204030204" pitchFamily="34" charset="0"/>
              </a:rPr>
              <a:t>. Vis. Pattern </a:t>
            </a:r>
            <a:r>
              <a:rPr lang="en-US" sz="2200" i="1" dirty="0" err="1">
                <a:effectLst/>
                <a:ea typeface="Calibri" panose="020F0502020204030204" pitchFamily="34" charset="0"/>
              </a:rPr>
              <a:t>Recognit</a:t>
            </a:r>
            <a:r>
              <a:rPr lang="en-US" sz="2200" i="1" dirty="0">
                <a:effectLst/>
                <a:ea typeface="Calibri" panose="020F0502020204030204" pitchFamily="34" charset="0"/>
              </a:rPr>
              <a:t>.</a:t>
            </a:r>
            <a:r>
              <a:rPr lang="en-US" sz="2200" dirty="0">
                <a:effectLst/>
                <a:ea typeface="Calibri" panose="020F0502020204030204" pitchFamily="34" charset="0"/>
              </a:rPr>
              <a:t>, 2017, pp. 3462–3471.</a:t>
            </a:r>
          </a:p>
          <a:p>
            <a:pPr marL="0" indent="0">
              <a:buNone/>
            </a:pPr>
            <a:r>
              <a:rPr lang="en-US" sz="2200" dirty="0">
                <a:effectLst/>
                <a:ea typeface="Calibri" panose="020F0502020204030204" pitchFamily="34" charset="0"/>
              </a:rPr>
              <a:t>[2]  P. </a:t>
            </a:r>
            <a:r>
              <a:rPr lang="en-US" sz="2200" dirty="0" err="1">
                <a:effectLst/>
                <a:ea typeface="Calibri" panose="020F0502020204030204" pitchFamily="34" charset="0"/>
              </a:rPr>
              <a:t>Rajpurkar</a:t>
            </a:r>
            <a:r>
              <a:rPr lang="en-US" sz="2200" dirty="0">
                <a:effectLst/>
                <a:ea typeface="Calibri" panose="020F0502020204030204" pitchFamily="34" charset="0"/>
              </a:rPr>
              <a:t>, J. Irvin, K. Zhu, et al., "</a:t>
            </a:r>
            <a:r>
              <a:rPr lang="en-US" sz="2200" dirty="0" err="1">
                <a:effectLst/>
                <a:ea typeface="Calibri" panose="020F0502020204030204" pitchFamily="34" charset="0"/>
              </a:rPr>
              <a:t>CheXNet</a:t>
            </a:r>
            <a:r>
              <a:rPr lang="en-US" sz="2200" dirty="0">
                <a:effectLst/>
                <a:ea typeface="Calibri" panose="020F0502020204030204" pitchFamily="34" charset="0"/>
              </a:rPr>
              <a:t>: Radiologist-level pneumonia detection on chest X-rays with deep learning," </a:t>
            </a:r>
            <a:r>
              <a:rPr lang="en-US" sz="2200" i="1" dirty="0" err="1">
                <a:effectLst/>
                <a:ea typeface="Calibri" panose="020F0502020204030204" pitchFamily="34" charset="0"/>
              </a:rPr>
              <a:t>arXiv</a:t>
            </a:r>
            <a:r>
              <a:rPr lang="en-US" sz="2200" i="1" dirty="0">
                <a:effectLst/>
                <a:ea typeface="Calibri" panose="020F0502020204030204" pitchFamily="34" charset="0"/>
              </a:rPr>
              <a:t> preprint arXiv:1711.05225</a:t>
            </a:r>
            <a:r>
              <a:rPr lang="en-US" sz="2200" dirty="0">
                <a:effectLst/>
                <a:ea typeface="Calibri" panose="020F0502020204030204" pitchFamily="34" charset="0"/>
              </a:rPr>
              <a:t>, 2017.</a:t>
            </a:r>
          </a:p>
          <a:p>
            <a:pPr marL="0" indent="0">
              <a:buNone/>
            </a:pPr>
            <a:r>
              <a:rPr lang="en-US" sz="2200" dirty="0">
                <a:effectLst/>
                <a:ea typeface="Calibri" panose="020F0502020204030204" pitchFamily="34" charset="0"/>
              </a:rPr>
              <a:t>[3] A. Esteva, B. </a:t>
            </a:r>
            <a:r>
              <a:rPr lang="en-US" sz="2200" dirty="0" err="1">
                <a:effectLst/>
                <a:ea typeface="Calibri" panose="020F0502020204030204" pitchFamily="34" charset="0"/>
              </a:rPr>
              <a:t>Kuprel</a:t>
            </a:r>
            <a:r>
              <a:rPr lang="en-US" sz="2200" dirty="0">
                <a:effectLst/>
                <a:ea typeface="Calibri" panose="020F0502020204030204" pitchFamily="34" charset="0"/>
              </a:rPr>
              <a:t>, R. A. Novoa, et al., "Dermatologist-level classification of skin cancer with deep neural networks," </a:t>
            </a:r>
            <a:r>
              <a:rPr lang="en-US" sz="2200" i="1" dirty="0">
                <a:effectLst/>
                <a:ea typeface="Calibri" panose="020F0502020204030204" pitchFamily="34" charset="0"/>
              </a:rPr>
              <a:t>Nature</a:t>
            </a:r>
            <a:r>
              <a:rPr lang="en-US" sz="2200" dirty="0">
                <a:effectLst/>
                <a:ea typeface="Calibri" panose="020F0502020204030204" pitchFamily="34" charset="0"/>
              </a:rPr>
              <a:t>, vol. 542, no. 7639, pp. 115–118, 2017.</a:t>
            </a:r>
          </a:p>
          <a:p>
            <a:pPr marL="0" indent="0">
              <a:buNone/>
            </a:pPr>
            <a:r>
              <a:rPr lang="en-US" sz="2200" dirty="0">
                <a:effectLst/>
                <a:ea typeface="Calibri" panose="020F0502020204030204" pitchFamily="34" charset="0"/>
              </a:rPr>
              <a:t>[4] D. S. </a:t>
            </a:r>
            <a:r>
              <a:rPr lang="en-US" sz="2200" dirty="0" err="1">
                <a:effectLst/>
                <a:ea typeface="Calibri" panose="020F0502020204030204" pitchFamily="34" charset="0"/>
              </a:rPr>
              <a:t>Kermany</a:t>
            </a:r>
            <a:r>
              <a:rPr lang="en-US" sz="2200" dirty="0">
                <a:effectLst/>
                <a:ea typeface="Calibri" panose="020F0502020204030204" pitchFamily="34" charset="0"/>
              </a:rPr>
              <a:t>, M. Goldbaum, W. Cai, et al., "Identifying medical diagnoses and treatable diseases by image-based deep learning," </a:t>
            </a:r>
            <a:r>
              <a:rPr lang="en-US" sz="2200" i="1" dirty="0">
                <a:effectLst/>
                <a:ea typeface="Calibri" panose="020F0502020204030204" pitchFamily="34" charset="0"/>
              </a:rPr>
              <a:t>Cell</a:t>
            </a:r>
            <a:r>
              <a:rPr lang="en-US" sz="2200" dirty="0">
                <a:effectLst/>
                <a:ea typeface="Calibri" panose="020F0502020204030204" pitchFamily="34" charset="0"/>
              </a:rPr>
              <a:t>, vol. 172, no. 5, pp. 1122–1131, 2018.</a:t>
            </a:r>
          </a:p>
          <a:p>
            <a:pPr marL="0" indent="0">
              <a:buNone/>
            </a:pPr>
            <a:r>
              <a:rPr lang="en-US" sz="2200" dirty="0">
                <a:effectLst/>
                <a:ea typeface="Calibri" panose="020F0502020204030204" pitchFamily="34" charset="0"/>
              </a:rPr>
              <a:t>[5] E. Topol, </a:t>
            </a:r>
            <a:r>
              <a:rPr lang="en-US" sz="2200" i="1" dirty="0">
                <a:effectLst/>
                <a:ea typeface="Calibri" panose="020F0502020204030204" pitchFamily="34" charset="0"/>
              </a:rPr>
              <a:t>Deep Medicine: How Artificial Intelligence Can Make Healthcare Human Again</a:t>
            </a:r>
            <a:r>
              <a:rPr lang="en-US" sz="2200" dirty="0">
                <a:effectLst/>
                <a:ea typeface="Calibri" panose="020F0502020204030204" pitchFamily="34" charset="0"/>
              </a:rPr>
              <a:t>, Basic Books, 2019.</a:t>
            </a:r>
          </a:p>
          <a:p>
            <a:pPr marL="0" indent="0">
              <a:buNone/>
            </a:pPr>
            <a:r>
              <a:rPr lang="en-US" sz="2200" dirty="0">
                <a:effectLst/>
                <a:ea typeface="Calibri" panose="020F0502020204030204" pitchFamily="34" charset="0"/>
              </a:rPr>
              <a:t>[6] J. Amann, A. </a:t>
            </a:r>
            <a:r>
              <a:rPr lang="en-US" sz="2200" dirty="0" err="1">
                <a:effectLst/>
                <a:ea typeface="Calibri" panose="020F0502020204030204" pitchFamily="34" charset="0"/>
              </a:rPr>
              <a:t>Blasimme</a:t>
            </a:r>
            <a:r>
              <a:rPr lang="en-US" sz="2200" dirty="0">
                <a:effectLst/>
                <a:ea typeface="Calibri" panose="020F0502020204030204" pitchFamily="34" charset="0"/>
              </a:rPr>
              <a:t>, E. </a:t>
            </a:r>
            <a:r>
              <a:rPr lang="en-US" sz="2200" dirty="0" err="1">
                <a:effectLst/>
                <a:ea typeface="Calibri" panose="020F0502020204030204" pitchFamily="34" charset="0"/>
              </a:rPr>
              <a:t>Vayena</a:t>
            </a:r>
            <a:r>
              <a:rPr lang="en-US" sz="2200" dirty="0">
                <a:effectLst/>
                <a:ea typeface="Calibri" panose="020F0502020204030204" pitchFamily="34" charset="0"/>
              </a:rPr>
              <a:t>, D. Frey, and V. I. Madai, "Explainability for artificial intelligence in healthcare: a multidisciplinary perspective," </a:t>
            </a:r>
            <a:r>
              <a:rPr lang="en-US" sz="2200" i="1" dirty="0">
                <a:effectLst/>
                <a:ea typeface="Calibri" panose="020F0502020204030204" pitchFamily="34" charset="0"/>
              </a:rPr>
              <a:t>BMC Med. Inform. </a:t>
            </a:r>
            <a:r>
              <a:rPr lang="en-US" sz="2200" i="1" dirty="0" err="1">
                <a:effectLst/>
                <a:ea typeface="Calibri" panose="020F0502020204030204" pitchFamily="34" charset="0"/>
              </a:rPr>
              <a:t>Decis</a:t>
            </a:r>
            <a:r>
              <a:rPr lang="en-US" sz="2200" i="1" dirty="0">
                <a:effectLst/>
                <a:ea typeface="Calibri" panose="020F0502020204030204" pitchFamily="34" charset="0"/>
              </a:rPr>
              <a:t>. Mak.</a:t>
            </a:r>
            <a:r>
              <a:rPr lang="en-US" sz="2200" dirty="0">
                <a:effectLst/>
                <a:ea typeface="Calibri" panose="020F0502020204030204" pitchFamily="34" charset="0"/>
              </a:rPr>
              <a:t>, vol. 20, 2020.</a:t>
            </a:r>
          </a:p>
          <a:p>
            <a:pPr marL="0" indent="0">
              <a:buNone/>
            </a:pPr>
            <a:endParaRPr lang="en-US" dirty="0"/>
          </a:p>
        </p:txBody>
      </p:sp>
      <p:sp>
        <p:nvSpPr>
          <p:cNvPr id="4" name="Slide Number Placeholder 3">
            <a:extLst>
              <a:ext uri="{FF2B5EF4-FFF2-40B4-BE49-F238E27FC236}">
                <a16:creationId xmlns:a16="http://schemas.microsoft.com/office/drawing/2014/main" id="{3AE0FE51-2E4F-7683-2B8F-9DEADCFFD2E3}"/>
              </a:ext>
            </a:extLst>
          </p:cNvPr>
          <p:cNvSpPr>
            <a:spLocks noGrp="1"/>
          </p:cNvSpPr>
          <p:nvPr>
            <p:ph type="sldNum" sz="quarter" idx="12"/>
          </p:nvPr>
        </p:nvSpPr>
        <p:spPr/>
        <p:txBody>
          <a:bodyPr/>
          <a:lstStyle/>
          <a:p>
            <a:fld id="{D62167D1-4718-47CE-9837-207ADCCC574B}" type="slidenum">
              <a:rPr lang="en-US" smtClean="0"/>
              <a:t>20</a:t>
            </a:fld>
            <a:endParaRPr lang="en-US"/>
          </a:p>
        </p:txBody>
      </p:sp>
    </p:spTree>
    <p:extLst>
      <p:ext uri="{BB962C8B-B14F-4D97-AF65-F5344CB8AC3E}">
        <p14:creationId xmlns:p14="http://schemas.microsoft.com/office/powerpoint/2010/main" val="4193507846"/>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white circle with black text&#10;&#10;AI-generated content may be incorrect.">
            <a:extLst>
              <a:ext uri="{FF2B5EF4-FFF2-40B4-BE49-F238E27FC236}">
                <a16:creationId xmlns:a16="http://schemas.microsoft.com/office/drawing/2014/main" id="{4DB60B9F-8773-14F7-E8AF-FED95B8321DB}"/>
              </a:ext>
            </a:extLst>
          </p:cNvPr>
          <p:cNvPicPr>
            <a:picLocks noGrp="1" noChangeAspect="1"/>
          </p:cNvPicPr>
          <p:nvPr>
            <p:ph idx="1"/>
          </p:nvPr>
        </p:nvPicPr>
        <p:blipFill>
          <a:blip r:embed="rId2"/>
          <a:srcRect t="12960" b="16769"/>
          <a:stretch>
            <a:fillRect/>
          </a:stretch>
        </p:blipFill>
        <p:spPr>
          <a:xfrm>
            <a:off x="457256" y="457200"/>
            <a:ext cx="11277487" cy="5943600"/>
          </a:xfrm>
          <a:prstGeom prst="rect">
            <a:avLst/>
          </a:prstGeom>
        </p:spPr>
      </p:pic>
      <p:sp>
        <p:nvSpPr>
          <p:cNvPr id="4" name="Slide Number Placeholder 3">
            <a:extLst>
              <a:ext uri="{FF2B5EF4-FFF2-40B4-BE49-F238E27FC236}">
                <a16:creationId xmlns:a16="http://schemas.microsoft.com/office/drawing/2014/main" id="{C9F07714-F87C-BA86-3EDB-94F5249BCAD9}"/>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D62167D1-4718-47CE-9837-207ADCCC574B}" type="slidenum">
              <a:rPr lang="en-US" sz="1100">
                <a:solidFill>
                  <a:srgbClr val="FFFFFF"/>
                </a:solidFill>
              </a:rPr>
              <a:pPr>
                <a:spcAft>
                  <a:spcPts val="600"/>
                </a:spcAft>
              </a:pPr>
              <a:t>21</a:t>
            </a:fld>
            <a:endParaRPr lang="en-US" sz="1100">
              <a:solidFill>
                <a:srgbClr val="FFFFFF"/>
              </a:solidFill>
            </a:endParaRPr>
          </a:p>
        </p:txBody>
      </p:sp>
    </p:spTree>
    <p:extLst>
      <p:ext uri="{BB962C8B-B14F-4D97-AF65-F5344CB8AC3E}">
        <p14:creationId xmlns:p14="http://schemas.microsoft.com/office/powerpoint/2010/main" val="1262669037"/>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78</TotalTime>
  <Words>1288</Words>
  <Application>Microsoft Office PowerPoint</Application>
  <PresentationFormat>Widescreen</PresentationFormat>
  <Paragraphs>116</Paragraphs>
  <Slides>21</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Meiryo</vt:lpstr>
      <vt:lpstr>__Inter_d65c78</vt:lpstr>
      <vt:lpstr>Aptos</vt:lpstr>
      <vt:lpstr>Aptos Display</vt:lpstr>
      <vt:lpstr>Arial</vt:lpstr>
      <vt:lpstr>Calibri</vt:lpstr>
      <vt:lpstr>Times New Roman</vt:lpstr>
      <vt:lpstr>Wingdings</vt:lpstr>
      <vt:lpstr>Office Theme</vt:lpstr>
      <vt:lpstr>PowerPoint Presentation</vt:lpstr>
      <vt:lpstr>AI FOR MEDICAL DIAGNOSIS(IMAGE CLASSIFICATION)</vt:lpstr>
      <vt:lpstr>OUTLINES</vt:lpstr>
      <vt:lpstr>ABSTRACT</vt:lpstr>
      <vt:lpstr>INTRODUCTION</vt:lpstr>
      <vt:lpstr>PROBLEM STATEMENT</vt:lpstr>
      <vt:lpstr>OBJECTIVES</vt:lpstr>
      <vt:lpstr>METHODOLOGY</vt:lpstr>
      <vt:lpstr>STEPS OF METHODLOGY</vt:lpstr>
      <vt:lpstr>HISTORY OF MEDICAL DIAGNOSIS</vt:lpstr>
      <vt:lpstr>DEEP LEARNING CONVOLUTION</vt:lpstr>
      <vt:lpstr>RECENT TRENDS AND FUTURE OUTLOOKS</vt:lpstr>
      <vt:lpstr>RESULTSOF TENSOR FLOW </vt:lpstr>
      <vt:lpstr>RESULTS</vt:lpstr>
      <vt:lpstr>RESULTS</vt:lpstr>
      <vt:lpstr>RESULTS</vt:lpstr>
      <vt:lpstr>RESULTS</vt:lpstr>
      <vt:lpstr>RESULTS </vt:lpstr>
      <vt:lpstr>CONCLUSION</vt:lpstr>
      <vt:lpstr>REFERNECES</vt:lpstr>
      <vt:lpstr>PowerPoint Presentation</vt:lpstr>
    </vt:vector>
  </TitlesOfParts>
  <Company>Windows User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huzaifa shahbaz</dc:creator>
  <cp:lastModifiedBy>huzaifa shahbaz</cp:lastModifiedBy>
  <cp:revision>1</cp:revision>
  <dcterms:created xsi:type="dcterms:W3CDTF">2025-05-26T04:12:58Z</dcterms:created>
  <dcterms:modified xsi:type="dcterms:W3CDTF">2025-05-26T05:31:00Z</dcterms:modified>
</cp:coreProperties>
</file>