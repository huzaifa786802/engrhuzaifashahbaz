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2FB6E-0F06-4053-B33E-23B4AED0D1F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D6843-47FD-40D1-8A27-423258FF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5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AE03-049B-04C4-F990-8A3D16A6C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4A84E-C36B-4A88-5D7B-161051E2D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9123-1B7F-3600-21E2-1F8DD4B5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173E-EFF5-4CD1-B4F2-37754EE05508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EA50-5998-05E6-37DF-6B5E3D8F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B6F5B-5F9B-8E23-3BB3-9F160598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0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0636-349F-0349-6FC4-8C961E88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D9F56-42D1-8DAD-BBCE-F9F07380A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EFA39-8B22-CAEC-6FE5-BE0BDBA5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0ACB-51E0-4B5F-9727-52B5A230975E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6DCF-3993-4D05-29D5-8E0F82F8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D20C-9820-FB91-D4EF-8EC86507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4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2598-E724-C5B7-8E8B-28701D32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72E99-960E-7E78-8816-6FCA79A0F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0156D-B7BC-3207-72F1-8F5E87AA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2544-FDEB-40EF-AC12-8F06C6CBD63E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7D60-A78A-58B0-8504-535D3C4A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CC44-E404-39BB-82E6-2323AC7B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F9EC-5837-6370-4E31-08CB58EF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674F-56D6-68A7-D500-814FC9F2D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DC295-4A78-B930-0CA1-6E793D02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B2424-1C1C-938C-7DAC-ABDFC6FC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CDB4-3CE2-47E1-88ED-9A71311501F1}" type="datetime1">
              <a:rPr lang="en-US" smtClean="0"/>
              <a:t>12-May-25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682A4-173F-F08C-D194-4C9E2789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E8C1F-71E1-011E-448B-A9D13AC2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CB46-604C-04E5-2FC9-0F02707A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C3248-ECD7-804B-9FFE-75640C549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20D6D-2296-03F7-4C03-76F6AD6D8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E7159-8523-436E-16E4-54FE1EE14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46461-A559-6235-5804-CEFD30505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0E252-A3CB-5BEC-FB88-03D6D4DF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F9B8-5369-406E-BA39-E36C6A276DDC}" type="datetime1">
              <a:rPr lang="en-US" smtClean="0"/>
              <a:t>12-May-25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F6045-34B2-6B28-5AED-969EC970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C7F24-1E2F-7E86-73FA-EFB9FDE9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78C00-C55E-E8E0-912C-1E3D1C5D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955E9-7DFD-41A6-CC61-AB858FD4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5DB0-CB52-4BA7-A56D-941D8CB0B4A5}" type="datetime1">
              <a:rPr lang="en-US" smtClean="0"/>
              <a:t>12-May-25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F3228-AC32-E5D1-1DD4-59E61ADA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DBD28-57E6-A3C7-426F-82FB50D1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7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E67F8-489E-B74D-65DB-94FD39C7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8EA7-08FB-4CD5-824B-08CE40ABB79F}" type="datetime1">
              <a:rPr lang="en-US" smtClean="0"/>
              <a:t>12-May-25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1F710-7B14-8C9B-CBE7-A4CEA202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1585-AF06-19F6-F353-BB3AB521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7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BA06-9BCB-F9F6-2F58-402C2BF9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3E77-4DEA-9F96-EDBA-30D77D1AA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D8EC-EA11-6CE2-D65A-AE2738576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5336-35E4-5DCD-D2AF-DCDDAB80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F494-4FA8-4B4F-AF20-A9B10F99C847}" type="datetime1">
              <a:rPr lang="en-US" smtClean="0"/>
              <a:t>12-May-25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81138-4BA4-8DFE-492E-96165EC3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F0DF5-6405-08CC-646B-A40AEFB7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1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7D5A-B800-DFAB-B972-04770572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BC843-4051-5271-2222-1BC753306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68EE-FEBC-FE5A-0422-3A3CC4CC1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0F665-DD70-B0E3-547C-44708862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4B96-303C-4BA9-9985-249BD2B838B3}" type="datetime1">
              <a:rPr lang="en-US" smtClean="0"/>
              <a:t>12-May-25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AD5AD-0C9D-696F-3ABB-F3644F1A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89C17-D3FE-248C-2DD4-E4D987FF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84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6B4A-7079-2F43-9AE7-97C69A8E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F34C0-BA13-B15C-0E91-F063688A9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AF416-A7BF-7FDE-BC2F-B2AB7A87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7BAE-C52E-4A60-BAD8-EEABF970656D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FB014-2A1C-0A45-ED07-184FE9D0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C1B74-E67C-8A72-1B18-D0BB03E8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CF197-0FE9-5200-F169-362195622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F9AC2-278F-F953-1D56-F3E4F65A2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9CD0-78C1-4DCE-2CCF-CB511438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D478-9423-48C8-AB8B-8CF930353452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0E1F-2071-A39B-00C5-3A874762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7101-9249-0F67-A774-C13490AC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9497C-55DA-63D8-065A-71CB57686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D2442-63C5-95CD-B84F-FCC5395E1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BD831-92FA-3D39-A3E5-3E7A8DDC7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B58AC-3A0C-4E2F-8F22-65C0904BE322}" type="datetime1">
              <a:rPr lang="en-US" smtClean="0"/>
              <a:t>12-May-25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0C6F0-0C10-C583-6D21-2A3C7264E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D72B-2B55-DBC0-4E0A-B42807879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5A0F3-635C-46C1-AFF8-249D67CD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2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p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96C8-0A97-8AC5-E147-0E83DD1AD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BCADC-E11D-479A-1BB4-6B7A8D5FD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4ED1F9A-6808-A727-1F71-D91672229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6E4C2-0D77-4597-6598-C8C172F6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D908-0817-B4B8-DF5E-0BAAA4B2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D3BE-1A8A-D493-1FFC-F251FDF15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7973"/>
            <a:ext cx="9402305" cy="32619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INDUSTRIAL GRADE OMR SCANNER FOR EFFICIENT WORKFORCE AND PROCESS MANAGMENT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86D35-88BE-F4AA-7FFC-01B5422A5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19793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PRESENTED</a:t>
            </a:r>
            <a:r>
              <a:rPr lang="en-US" sz="32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BY: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HUZAIFA SHAHBAZ[21-CE-009]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AQSA SHAH[21-CE-039]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PRESENTED TO: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SIR YASIR HAMID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0172-5C4B-5866-9974-F8EC31AC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1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80D6-F282-B138-DD9B-1F06D7DC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476"/>
            <a:ext cx="10515600" cy="712922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OUTLINES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31AEB-45B7-0EB1-6E81-177709D71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398"/>
            <a:ext cx="10515600" cy="5231565"/>
          </a:xfrm>
        </p:spPr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PURPOSE OF THE PRODUCT</a:t>
            </a:r>
          </a:p>
          <a:p>
            <a:r>
              <a:rPr lang="en-US" dirty="0"/>
              <a:t>MARKET NEED AND INDUSTRIAL APPLICATIONS</a:t>
            </a:r>
          </a:p>
          <a:p>
            <a:r>
              <a:rPr lang="en-US" dirty="0"/>
              <a:t>PRODUCT DESIGN HARDWARE FEATURES</a:t>
            </a:r>
          </a:p>
          <a:p>
            <a:r>
              <a:rPr lang="en-US" dirty="0"/>
              <a:t>SOFTWARE FEATURES</a:t>
            </a:r>
          </a:p>
          <a:p>
            <a:r>
              <a:rPr lang="en-US" dirty="0"/>
              <a:t>FORM DESIGN COMPATIBILITY</a:t>
            </a:r>
          </a:p>
          <a:p>
            <a:r>
              <a:rPr lang="en-US" dirty="0"/>
              <a:t>TARGET USER AND BUSINESS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00EF8-4FCD-9C0F-2E25-7B0828E3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9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3ADA-E728-2931-C3E9-23D7B86E9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0553-A598-7EE8-5773-2C1B18C3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476"/>
            <a:ext cx="10515600" cy="712922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OUTLINES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28BD-30E7-99D9-B29C-41D55431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398"/>
            <a:ext cx="10515600" cy="5231565"/>
          </a:xfrm>
        </p:spPr>
        <p:txBody>
          <a:bodyPr/>
          <a:lstStyle/>
          <a:p>
            <a:r>
              <a:rPr lang="en-US" dirty="0"/>
              <a:t>INDUSTRIES SERVED</a:t>
            </a:r>
          </a:p>
          <a:p>
            <a:r>
              <a:rPr lang="en-US" dirty="0"/>
              <a:t>BUSINESS BENFITS</a:t>
            </a:r>
          </a:p>
          <a:p>
            <a:r>
              <a:rPr lang="en-US" dirty="0"/>
              <a:t>PRODUCT DEVELOPMENT TIMELINE</a:t>
            </a:r>
          </a:p>
          <a:p>
            <a:r>
              <a:rPr lang="en-US" dirty="0"/>
              <a:t>COMPETITIVE ANALYSIS</a:t>
            </a:r>
          </a:p>
          <a:p>
            <a:r>
              <a:rPr lang="en-US" dirty="0"/>
              <a:t>PROJECT ESTIMATION</a:t>
            </a:r>
          </a:p>
          <a:p>
            <a:r>
              <a:rPr lang="en-US" dirty="0"/>
              <a:t>FINANCIAL PROJECTION</a:t>
            </a:r>
          </a:p>
          <a:p>
            <a:r>
              <a:rPr lang="en-US" dirty="0"/>
              <a:t>CHALLENGES AND RISK MITIGATION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REFERNCES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0E747-DBC9-0D25-F09E-B445E6F3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2C9D-E8EF-B510-4629-5358F834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482"/>
            <a:ext cx="10515600" cy="80591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3929-74E8-E8A3-1154-772947855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10515600" cy="5200569"/>
          </a:xfrm>
        </p:spPr>
        <p:txBody>
          <a:bodyPr/>
          <a:lstStyle/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Industry 4.0 demands digital transformation for productivity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Gap exists in automating administrative work in manufacturing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Our solution Industrial-Grade OMR Scanner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Custom-designed for multinational manufacturing companies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Built for harsh shop-floor conditions with ERP integration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Reduces human error, expedites assessment, enhances compliance</a:t>
            </a:r>
          </a:p>
          <a:p>
            <a:pPr marL="403225" indent="-403225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E11D8-401C-D422-037A-82ACDE2F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2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3A0B-C67B-593C-B324-B6BFBE7A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4666"/>
            <a:ext cx="4259154" cy="946710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4DD45-5A7A-CB1D-1D09-1297868FE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01857"/>
            <a:ext cx="3932237" cy="4819973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THE CHALLENGES</a:t>
            </a:r>
          </a:p>
          <a:p>
            <a:pPr marL="465138" indent="-465138">
              <a:buFont typeface="Wingdings" panose="05000000000000000000" pitchFamily="2" charset="2"/>
              <a:buChar char="ü"/>
            </a:pPr>
            <a:r>
              <a:rPr lang="en-US" sz="1800" dirty="0"/>
              <a:t>Manufacturing environments prioritize digitization and automation</a:t>
            </a:r>
          </a:p>
          <a:p>
            <a:pPr marL="465138" indent="-465138">
              <a:buFont typeface="Wingdings" panose="05000000000000000000" pitchFamily="2" charset="2"/>
              <a:buChar char="ü"/>
            </a:pPr>
            <a:r>
              <a:rPr lang="en-US" sz="1800" dirty="0"/>
              <a:t>Administrative tools often lag in innovation</a:t>
            </a:r>
          </a:p>
          <a:p>
            <a:pPr marL="465138" indent="-465138">
              <a:buFont typeface="Wingdings" panose="05000000000000000000" pitchFamily="2" charset="2"/>
              <a:buChar char="ü"/>
            </a:pPr>
            <a:r>
              <a:rPr lang="en-US" sz="1800" dirty="0"/>
              <a:t>Traditional OMR scanners are designed for academic, not industrial use</a:t>
            </a:r>
          </a:p>
          <a:p>
            <a:r>
              <a:rPr lang="en-US" sz="2000" b="1" dirty="0"/>
              <a:t>OUR APPROACH</a:t>
            </a:r>
          </a:p>
          <a:p>
            <a:pPr marL="511175" indent="-511175">
              <a:buFont typeface="Wingdings" panose="05000000000000000000" pitchFamily="2" charset="2"/>
              <a:buChar char="ü"/>
            </a:pPr>
            <a:r>
              <a:rPr lang="en-US" sz="1800" dirty="0"/>
              <a:t>Reimagining OMR technology for manufacturing applications</a:t>
            </a:r>
          </a:p>
          <a:p>
            <a:pPr marL="511175" indent="-511175">
              <a:buFont typeface="Wingdings" panose="05000000000000000000" pitchFamily="2" charset="2"/>
              <a:buChar char="ü"/>
            </a:pPr>
            <a:r>
              <a:rPr lang="en-US" sz="1800" dirty="0"/>
              <a:t>Creating industrial-specific solutions for administrative efficiency</a:t>
            </a:r>
          </a:p>
          <a:p>
            <a:pPr marL="511175" indent="-511175">
              <a:buFont typeface="Wingdings" panose="05000000000000000000" pitchFamily="2" charset="2"/>
              <a:buChar char="ü"/>
            </a:pPr>
            <a:r>
              <a:rPr lang="en-US" sz="1800" dirty="0"/>
              <a:t>Addressing unique requirements of multinational companies</a:t>
            </a:r>
            <a:endParaRPr lang="en-US" sz="1800" b="1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DDF19-30ED-DCC3-A08F-1E2824E0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EE465893-3E48-C2E4-B61E-16BB2911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20" b="10520"/>
          <a:stretch>
            <a:fillRect/>
          </a:stretch>
        </p:blipFill>
        <p:spPr>
          <a:xfrm>
            <a:off x="5183188" y="987425"/>
            <a:ext cx="6172200" cy="50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6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6DEA-F018-94BC-A2BA-FFB76A3C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863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1C4EF-B49A-42BD-BA6A-EF5C52CB3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889"/>
            <a:ext cx="10515600" cy="2712204"/>
          </a:xfrm>
        </p:spPr>
        <p:txBody>
          <a:bodyPr>
            <a:normAutofit lnSpcReduction="10000"/>
          </a:bodyPr>
          <a:lstStyle/>
          <a:p>
            <a:pPr marL="341313" indent="-341313"/>
            <a:r>
              <a:rPr lang="en-US" dirty="0"/>
              <a:t>Analyze OMR applications beyond academic settings</a:t>
            </a:r>
          </a:p>
          <a:p>
            <a:pPr marL="341313" indent="-341313"/>
            <a:r>
              <a:rPr lang="en-US" dirty="0"/>
              <a:t>Identify operational gaps in employee management processes</a:t>
            </a:r>
          </a:p>
          <a:p>
            <a:pPr marL="341313" indent="-341313"/>
            <a:r>
              <a:rPr lang="en-US" dirty="0"/>
              <a:t>Create rugged, industrial-grade prototype with enterprise features</a:t>
            </a:r>
          </a:p>
          <a:p>
            <a:pPr marL="341313" indent="-341313"/>
            <a:r>
              <a:rPr lang="en-US" dirty="0"/>
              <a:t>Demonstrate advantages over generic OMR products</a:t>
            </a:r>
          </a:p>
          <a:p>
            <a:pPr marL="341313" indent="-341313"/>
            <a:r>
              <a:rPr lang="en-US" dirty="0"/>
              <a:t>Evaluate economic and operational benefits for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B8081-D4AE-ED17-9EBD-17E7B4BD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1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7DEC4-E902-B14A-99D9-502F5B00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85240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EFA4-30A9-19E8-0CFD-DEA2495ED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861"/>
            <a:ext cx="10515600" cy="3115159"/>
          </a:xfrm>
        </p:spPr>
        <p:txBody>
          <a:bodyPr/>
          <a:lstStyle/>
          <a:p>
            <a:pPr marL="403225" indent="-403225">
              <a:buFont typeface="Wingdings" panose="05000000000000000000" pitchFamily="2" charset="2"/>
              <a:buChar char="Ø"/>
            </a:pPr>
            <a:r>
              <a:rPr lang="en-US" dirty="0"/>
              <a:t>Technology has revolutionized</a:t>
            </a:r>
          </a:p>
          <a:p>
            <a:pPr marL="465138" indent="-465138"/>
            <a:r>
              <a:rPr lang="en-US" dirty="0"/>
              <a:t>Communication methods</a:t>
            </a:r>
          </a:p>
          <a:p>
            <a:pPr marL="465138" indent="-465138"/>
            <a:r>
              <a:rPr lang="en-US" dirty="0"/>
              <a:t>Work environments (remote work, virtual collaboration)</a:t>
            </a:r>
          </a:p>
          <a:p>
            <a:pPr marL="465138" indent="-465138"/>
            <a:r>
              <a:rPr lang="en-US" dirty="0"/>
              <a:t>Data management and analysis</a:t>
            </a:r>
          </a:p>
          <a:p>
            <a:pPr marL="573088" indent="-511175">
              <a:buFont typeface="Wingdings" panose="05000000000000000000" pitchFamily="2" charset="2"/>
              <a:buChar char="Ø"/>
            </a:pPr>
            <a:r>
              <a:rPr lang="en-US" b="1" dirty="0"/>
              <a:t>The Gap </a:t>
            </a:r>
            <a:r>
              <a:rPr lang="en-US" dirty="0"/>
              <a:t> Administrative processes in manufacturing remain manual, error-prone, and inefficient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C2AEB-2AF2-BA15-1F3F-0B4B6CA7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0C31-C73C-EA1A-B3A9-3D6FA2BB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66642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PURPOSE OF THE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8339-26AB-1DF5-1F2A-03F08BD20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383"/>
            <a:ext cx="10515600" cy="3347634"/>
          </a:xfrm>
        </p:spPr>
        <p:txBody>
          <a:bodyPr>
            <a:normAutofit lnSpcReduction="10000"/>
          </a:bodyPr>
          <a:lstStyle/>
          <a:p>
            <a:pPr marL="403225" indent="-403225">
              <a:buFont typeface="Wingdings" panose="05000000000000000000" pitchFamily="2" charset="2"/>
              <a:buChar char="q"/>
            </a:pPr>
            <a:r>
              <a:rPr lang="en-US" dirty="0"/>
              <a:t> Our OMR Scanner aims to</a:t>
            </a:r>
          </a:p>
          <a:p>
            <a:pPr marL="465138" indent="-465138"/>
            <a:r>
              <a:rPr lang="en-US" dirty="0"/>
              <a:t>Enhance speed and precision of employee evaluations</a:t>
            </a:r>
          </a:p>
          <a:p>
            <a:pPr marL="465138" indent="-465138"/>
            <a:r>
              <a:rPr lang="en-US" dirty="0"/>
              <a:t>Streamline data collection for training and compliance</a:t>
            </a:r>
          </a:p>
          <a:p>
            <a:pPr marL="465138" indent="-465138"/>
            <a:r>
              <a:rPr lang="en-US" dirty="0"/>
              <a:t>Replace error-prone manual data entry systems</a:t>
            </a:r>
          </a:p>
          <a:p>
            <a:pPr marL="465138" indent="-465138"/>
            <a:r>
              <a:rPr lang="en-US" dirty="0"/>
              <a:t>Improve decision-making with fast analytics integration</a:t>
            </a:r>
          </a:p>
          <a:p>
            <a:pPr marL="465138" indent="-465138">
              <a:buFont typeface="Wingdings" panose="05000000000000000000" pitchFamily="2" charset="2"/>
              <a:buChar char="Ø"/>
              <a:tabLst>
                <a:tab pos="403225" algn="l"/>
              </a:tabLst>
            </a:pPr>
            <a:r>
              <a:rPr lang="en-US" dirty="0"/>
              <a:t>Addressing the growing demand for data-backed personnel management in industrial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88BDF-4D2C-E90D-FD1D-FA03F76E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1863-DA84-C17A-883C-D5388013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42" y="108488"/>
            <a:ext cx="4245083" cy="15188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MARKET NEED AND INDUSTRIAL APPLICATIONS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D906E73-A8A2-EECD-BC77-DB99EEE054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520" b="10520"/>
          <a:stretch>
            <a:fillRect/>
          </a:stretch>
        </p:blipFill>
        <p:spPr>
          <a:xfrm>
            <a:off x="5183188" y="987425"/>
            <a:ext cx="6172200" cy="501041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4600C-E917-94D1-60FB-56FCE4624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7322"/>
            <a:ext cx="3932237" cy="4873625"/>
          </a:xfrm>
        </p:spPr>
        <p:txBody>
          <a:bodyPr>
            <a:noAutofit/>
          </a:bodyPr>
          <a:lstStyle/>
          <a:p>
            <a:r>
              <a:rPr lang="en-US" sz="1800" b="1" dirty="0"/>
              <a:t>PRIMARY USE CASES</a:t>
            </a:r>
          </a:p>
          <a:p>
            <a:pPr marL="341313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Recruitment &amp; Skill Testing    </a:t>
            </a:r>
            <a:r>
              <a:rPr lang="en-US" sz="1800" dirty="0"/>
              <a:t>Fast, accurate evaluation of candidates</a:t>
            </a:r>
          </a:p>
          <a:p>
            <a:pPr marL="341313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Employee Training &amp; Certifications  </a:t>
            </a:r>
            <a:r>
              <a:rPr lang="en-US" sz="1800" dirty="0"/>
              <a:t>Automated processing of mandatory assessments</a:t>
            </a:r>
          </a:p>
          <a:p>
            <a:pPr marL="341313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Quality &amp; Compliance Audits  </a:t>
            </a:r>
            <a:r>
              <a:rPr lang="en-US" sz="1800" dirty="0"/>
              <a:t>Standardized inspection checklists</a:t>
            </a:r>
          </a:p>
          <a:p>
            <a:pPr marL="341313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Customer &amp; Vendor Feedback </a:t>
            </a:r>
            <a:r>
              <a:rPr lang="en-US" sz="1800" dirty="0"/>
              <a:t>Efficient data collection despite connectivity issues</a:t>
            </a:r>
          </a:p>
          <a:p>
            <a:pPr marL="341313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Surveys &amp; Internal Polling  </a:t>
            </a:r>
            <a:r>
              <a:rPr lang="en-US" sz="1800" dirty="0"/>
              <a:t>Swift data gathering without digital devices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814B-A7A5-51E7-280D-4DF9C52D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5F7F-F690-60DE-7250-C7125148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64BD-B4BE-29F7-6100-A026B096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42" y="108488"/>
            <a:ext cx="5160936" cy="1518834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PRODUCT DESIGN HARDWARE FEATURES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460EED-6697-08BA-66E6-274806705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7322"/>
            <a:ext cx="3932237" cy="4873625"/>
          </a:xfrm>
        </p:spPr>
        <p:txBody>
          <a:bodyPr>
            <a:noAutofit/>
          </a:bodyPr>
          <a:lstStyle/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High-speed scanning (up to 300 sheets/min)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Dual-side scanning with automatic page feed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Dustproof, factory-floor compliant casing (IP54 protection)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USB 3.0 and Ethernet connectivity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LED status indicators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Expandable paper tray (500 sheets)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6B195-ED45-57EC-0DBA-FE5964BF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9D2DA42-4003-DF07-6C31-2EE5B23ABA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656" b="2656"/>
          <a:stretch/>
        </p:blipFill>
        <p:spPr>
          <a:xfrm>
            <a:off x="5687878" y="599968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326259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DD1D-BDB0-2AA1-8184-FF1D75AF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34AF-EAB6-01BC-6FF0-F974DF36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53" y="108487"/>
            <a:ext cx="5548393" cy="1518835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PRODUCT DESIGN SOFTWARE FEATURES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8DAC64-2CCB-A08E-7159-33674C75F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7322"/>
            <a:ext cx="3932237" cy="4873625"/>
          </a:xfrm>
        </p:spPr>
        <p:txBody>
          <a:bodyPr>
            <a:noAutofit/>
          </a:bodyPr>
          <a:lstStyle/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Smart alignment detection &amp; auto-correction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OCR and barcode reader support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Batch processing mode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ERP integration APIs (SAP, Oracle)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Data export in PDF, XML formats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US" sz="2000" dirty="0"/>
              <a:t>Multilingual interface with analytics dashboard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26D20-2148-DA33-C8AA-4FEC8635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12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CE32DE-5E47-8F26-0522-C19D47ED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848" y="867904"/>
            <a:ext cx="5548393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17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28DB-BB1C-85C9-A765-57E0CEB8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7E0E-4074-8D7F-2E42-0F25462B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53" y="108487"/>
            <a:ext cx="5548393" cy="1518835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FORM DESIGN COMPATIBILITY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8C7979-674A-45F7-E46D-34AFA2E79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7322"/>
            <a:ext cx="3932237" cy="4873625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Our scanner works with customized forms including</a:t>
            </a: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 </a:t>
            </a:r>
            <a:r>
              <a:rPr lang="en-US" sz="2400" dirty="0"/>
              <a:t>Multiple choice tests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 </a:t>
            </a:r>
            <a:r>
              <a:rPr lang="en-US" sz="2400" dirty="0"/>
              <a:t>Feedback grids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Yes/No surveys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Scored audit checklists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 </a:t>
            </a:r>
            <a:r>
              <a:rPr lang="en-US" sz="2400" dirty="0"/>
              <a:t>All forms can be customized for specific industrial applications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CACA3-FB98-FF88-0827-11D2A150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FE6356-C1AF-2FF4-0AAD-E3E82361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892" y="1069383"/>
            <a:ext cx="5424405" cy="474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7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7332-1B7A-E41A-5BF6-4B27CD79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3138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TARGET USERS AND BUSINESS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7EF2-9818-3726-D256-6F0E74F37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383"/>
            <a:ext cx="10515600" cy="5107580"/>
          </a:xfrm>
        </p:spPr>
        <p:txBody>
          <a:bodyPr>
            <a:normAutofit fontScale="92500" lnSpcReduction="10000"/>
          </a:bodyPr>
          <a:lstStyle/>
          <a:p>
            <a:pPr marL="465138" indent="-465138"/>
            <a:r>
              <a:rPr lang="en-US" dirty="0"/>
              <a:t>END USERS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HR departments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Safety and compliance officers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Floor managers and line supervisors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Quality auditors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Vendor management teams</a:t>
            </a:r>
          </a:p>
          <a:p>
            <a:pPr marL="465138" indent="-465138">
              <a:buFont typeface="Wingdings" panose="05000000000000000000" pitchFamily="2" charset="2"/>
              <a:buChar char="§"/>
            </a:pPr>
            <a:r>
              <a:rPr lang="en-US" dirty="0"/>
              <a:t>Geographic Scope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SOUTH ASIA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SOUTHEAST ASIA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EUROPE 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r>
              <a:rPr lang="en-US" dirty="0"/>
              <a:t>NORTH AND SOUTH AMERICA</a:t>
            </a:r>
          </a:p>
          <a:p>
            <a:pPr marL="573088" indent="-573088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3FC61-3ABA-B6B3-170B-4C57A21B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F5A7F4-9F94-7D6C-4EBE-F744DA31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9966"/>
            <a:ext cx="3932237" cy="1332854"/>
          </a:xfrm>
        </p:spPr>
        <p:txBody>
          <a:bodyPr>
            <a:normAutofit/>
          </a:bodyPr>
          <a:lstStyle/>
          <a:p>
            <a:r>
              <a:rPr lang="en-US" sz="4000" b="1" dirty="0"/>
              <a:t>INDUSTRIES SERVED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8C7A66-E64D-9737-F798-9C41E5A0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51308"/>
            <a:ext cx="3932237" cy="41176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Automotive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Textiles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Electronics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Pharmaceutical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Consumer goods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FD804-84D2-8DD7-F99A-5FB0E212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671C16-7955-812D-2EF9-A0F1D8019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410" y="511204"/>
            <a:ext cx="5408909" cy="53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3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A5FF-74D7-16D1-E24D-5E4240B7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3471"/>
            <a:ext cx="4228158" cy="1239865"/>
          </a:xfrm>
        </p:spPr>
        <p:txBody>
          <a:bodyPr>
            <a:normAutofit/>
          </a:bodyPr>
          <a:lstStyle/>
          <a:p>
            <a:r>
              <a:rPr lang="en-US" sz="4000" b="1" dirty="0"/>
              <a:t>BUSINESS 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C7D02-CC68-6847-96BF-976ADEA6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424" y="1658319"/>
            <a:ext cx="3766089" cy="42106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Efficiency is</a:t>
            </a:r>
            <a:r>
              <a:rPr lang="en-US" sz="2400" dirty="0"/>
              <a:t> 80% reduction in assessment processing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Accuracy is</a:t>
            </a:r>
            <a:r>
              <a:rPr lang="en-US" sz="2400" dirty="0"/>
              <a:t> 95% improvement in data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ROI is </a:t>
            </a:r>
            <a:r>
              <a:rPr lang="en-US" sz="2400" dirty="0"/>
              <a:t> 12–18-month payback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Scalability  </a:t>
            </a:r>
            <a:r>
              <a:rPr lang="en-US" sz="2400" dirty="0"/>
              <a:t> Enterprise-wide deployment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FF006-3C68-8084-FBBC-C6BF564E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2D9E3C-93FD-0AB1-D46D-F6626833B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162371"/>
            <a:ext cx="7327996" cy="438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61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2923-021A-A84F-5D8C-5B60F03F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75941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PRODUCT DEVELOPMENT TIMELINE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88727D-9451-C17C-581B-772192143D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46592"/>
              </p:ext>
            </p:extLst>
          </p:nvPr>
        </p:nvGraphicFramePr>
        <p:xfrm>
          <a:off x="838200" y="1825625"/>
          <a:ext cx="10515600" cy="347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4485">
                  <a:extLst>
                    <a:ext uri="{9D8B030D-6E8A-4147-A177-3AD203B41FA5}">
                      <a16:colId xmlns:a16="http://schemas.microsoft.com/office/drawing/2014/main" val="3482651275"/>
                    </a:ext>
                  </a:extLst>
                </a:gridCol>
                <a:gridCol w="8471115">
                  <a:extLst>
                    <a:ext uri="{9D8B030D-6E8A-4147-A177-3AD203B41FA5}">
                      <a16:colId xmlns:a16="http://schemas.microsoft.com/office/drawing/2014/main" val="2791852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2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Market Analysis &amp; Requirement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54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Hardware Prototyping &amp; Software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90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Initial Testing &amp; Debugging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52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Beta Version Release &amp; User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66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Final Product Design &amp; Certifications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2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Marketing, Documentation &amp; Full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0226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0F1DF-1107-E014-BE93-9AA59A82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20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1F08-930F-FD3F-F18E-648207DD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72BA-35B2-7EBB-1925-08BBFA59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75941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COMPETITIVE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DD67F-21A7-277E-5AEE-3AFE347A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4199BE7-E954-BF17-2BA9-5DEF4E8C5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217059"/>
              </p:ext>
            </p:extLst>
          </p:nvPr>
        </p:nvGraphicFramePr>
        <p:xfrm>
          <a:off x="838200" y="1825625"/>
          <a:ext cx="1051559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557616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438257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63718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OUR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GENERIC OMR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9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Dustproof 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21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ERP/API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78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Dual-Side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SOMETIMES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Factory Floor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DESIGNED FOR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37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Multilingual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68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612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5CC6-6722-0769-11D6-8538504C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787A-48A8-27DB-62A5-AA7771AB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75941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PROJECT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91A5A-3941-00AE-D8B4-6C1474F0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F60E5A-7EE2-EC27-18C6-D9F3A5EDF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829749"/>
              </p:ext>
            </p:extLst>
          </p:nvPr>
        </p:nvGraphicFramePr>
        <p:xfrm>
          <a:off x="838200" y="1825625"/>
          <a:ext cx="10515600" cy="387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924356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222761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109750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2039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65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R&amp;D Prototyping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14,000,000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2,800,000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16,800,000 PKR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83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Manufacturing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28,000,000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5,600,000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33,600,000 PKR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17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Marketing &amp;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8,400,000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1,680,000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10,080,000 PKR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93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50,400,000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10,080,000 PKR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60,480,000 PKR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78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780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AC55-A5A6-2109-D7CD-184D9053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56" y="457200"/>
            <a:ext cx="4618495" cy="1216617"/>
          </a:xfrm>
        </p:spPr>
        <p:txBody>
          <a:bodyPr>
            <a:normAutofit/>
          </a:bodyPr>
          <a:lstStyle/>
          <a:p>
            <a:r>
              <a:rPr lang="en-US" sz="4000" b="1" dirty="0"/>
              <a:t>FINANCIAL PROJECTION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25656-1AB5-8D79-F4C1-CFB15381B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2957" y="1937288"/>
            <a:ext cx="3254644" cy="393169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Estimated ROI Timeline is</a:t>
            </a:r>
            <a:r>
              <a:rPr lang="en-US" sz="2800" dirty="0"/>
              <a:t> 12-18 months after full deployment.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CD2F0-DA80-0DD0-A6AC-21593A67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44E329-5D99-FB9D-7E45-4A838366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43" y="989012"/>
            <a:ext cx="7832344" cy="41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03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8FC4-C378-5B3F-3F90-2D774977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2"/>
            <a:ext cx="10515600" cy="69742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CHALLENGES AND RISK MITIGATION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35814B-7C80-B9AF-D999-09FB32988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003924"/>
              </p:ext>
            </p:extLst>
          </p:nvPr>
        </p:nvGraphicFramePr>
        <p:xfrm>
          <a:off x="838200" y="1825625"/>
          <a:ext cx="10515600" cy="3870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921590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0169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RISK 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57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Adoption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Pilot rollout with HR and Quality departments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97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Language/Localization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Multilingual templates and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00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Compatibility with Existing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Develop open API and modular SDK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17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Environmental 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IP-rated housing and industrial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1315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784F-C157-130E-BDE6-67D4D0B9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58C1-9567-68DF-9AF8-5A043E67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963"/>
            <a:ext cx="10515600" cy="7904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2CC3-BFEE-2A18-130E-420549C70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32"/>
            <a:ext cx="10515600" cy="4642631"/>
          </a:xfrm>
        </p:spPr>
        <p:txBody>
          <a:bodyPr/>
          <a:lstStyle/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Industrial-grade OMR scanner offers cost-effective solution for manufacturing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Addresses administrative and compliance functions efficiently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Integrates with existing digital systems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Strategically advantageous in hybrid industrial ecosystem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6-month development timeline to market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Significant ROI potential for manufacturing enterprises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060DC-FCED-47CB-2F86-8DEE37D6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72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D6E5-9F56-ADD0-1D70-E5DE3B78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9337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9976-AF1A-00E7-D9E8-FD8906FC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349"/>
            <a:ext cx="10515600" cy="4797614"/>
          </a:xfrm>
        </p:spPr>
        <p:txBody>
          <a:bodyPr>
            <a:normAutofit lnSpcReduction="10000"/>
          </a:bodyPr>
          <a:lstStyle/>
          <a:p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Ahuja, V., &amp; Thakur, N. (2020). </a:t>
            </a:r>
            <a:r>
              <a:rPr lang="en-US" i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OMR and its Application in Smart Industries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International Journal of Engineering Research &amp; Technology, 9(3), 12–18.</a:t>
            </a:r>
          </a:p>
          <a:p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Sharma, K. (2021). </a:t>
            </a:r>
            <a:r>
              <a:rPr lang="en-US" i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Digital Transformation in Manufacturing Industries: Role of Automation Tools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Manufacturing Today.</a:t>
            </a:r>
          </a:p>
          <a:p>
            <a:r>
              <a:rPr lang="en-US" dirty="0">
                <a:effectLst/>
                <a:ea typeface="Calibri" panose="020F0502020204030204" pitchFamily="34" charset="0"/>
              </a:rPr>
              <a:t>SAP SE. (2022). </a:t>
            </a:r>
            <a:r>
              <a:rPr lang="en-US" i="1" dirty="0">
                <a:effectLst/>
                <a:ea typeface="Calibri" panose="020F0502020204030204" pitchFamily="34" charset="0"/>
              </a:rPr>
              <a:t>ERP Integration for Industrial Devices</a:t>
            </a:r>
            <a:r>
              <a:rPr lang="en-US" dirty="0">
                <a:effectLst/>
                <a:ea typeface="Calibri" panose="020F0502020204030204" pitchFamily="34" charset="0"/>
              </a:rPr>
              <a:t>. Retrieved from </a:t>
            </a:r>
            <a:r>
              <a:rPr lang="en-US" u="sng" dirty="0">
                <a:solidFill>
                  <a:srgbClr val="0563C1"/>
                </a:solidFill>
                <a:effectLst/>
                <a:ea typeface="Calibri" panose="020F0502020204030204" pitchFamily="34" charset="0"/>
                <a:hlinkClick r:id="rId2"/>
              </a:rPr>
              <a:t>https://www.sap.com</a:t>
            </a:r>
            <a:endParaRPr lang="en-US" u="sng" dirty="0">
              <a:solidFill>
                <a:srgbClr val="0563C1"/>
              </a:solidFill>
              <a:effectLst/>
              <a:ea typeface="Calibri" panose="020F0502020204030204" pitchFamily="34" charset="0"/>
            </a:endParaRPr>
          </a:p>
          <a:p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IDC Manufacturing Insights. (2023). </a:t>
            </a:r>
            <a:r>
              <a:rPr lang="en-US" i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Automation Trends in Asia-Pacific Manufacturing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effectLst/>
                <a:ea typeface="Calibri" panose="020F0502020204030204" pitchFamily="34" charset="0"/>
              </a:rPr>
              <a:t>ISO 9001:2015. </a:t>
            </a:r>
            <a:r>
              <a:rPr lang="en-US" i="1" dirty="0">
                <a:effectLst/>
                <a:ea typeface="Calibri" panose="020F0502020204030204" pitchFamily="34" charset="0"/>
              </a:rPr>
              <a:t>Quality Management Systems – Requirements</a:t>
            </a:r>
            <a:r>
              <a:rPr lang="en-US" dirty="0">
                <a:effectLst/>
                <a:ea typeface="Calibri" panose="020F0502020204030204" pitchFamily="34" charset="0"/>
              </a:rPr>
              <a:t>. International Organization for Standardization.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6B7B6-901F-B794-E819-77FADEB0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A0F3-635C-46C1-AFF8-249D67CDD6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27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een triangle with white text&#10;&#10;AI-generated content may be incorrect.">
            <a:extLst>
              <a:ext uri="{FF2B5EF4-FFF2-40B4-BE49-F238E27FC236}">
                <a16:creationId xmlns:a16="http://schemas.microsoft.com/office/drawing/2014/main" id="{0429F87A-10A8-53F8-66BA-8E90537E2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9BF4-BF3C-61E0-669F-C31F3B18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C5A0F3-635C-46C1-AFF8-249D67CDD6D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674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794BF-2AAE-E842-9342-75E65E3D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question mark in a circle&#10;&#10;AI-generated content may be incorrect.">
            <a:extLst>
              <a:ext uri="{FF2B5EF4-FFF2-40B4-BE49-F238E27FC236}">
                <a16:creationId xmlns:a16="http://schemas.microsoft.com/office/drawing/2014/main" id="{50938070-5777-A63C-99D8-5B6D66D1D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07" b="22107"/>
          <a:stretch/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FFDF0-425C-C432-A702-E26ACEE2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C5A0F3-635C-46C1-AFF8-249D67CDD6D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2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Words>862</Words>
  <Application>Microsoft Office PowerPoint</Application>
  <PresentationFormat>Widescreen</PresentationFormat>
  <Paragraphs>219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INDUSTRIAL GRADE OMR SCANNER FOR EFFICIENT WORKFORCE AND PROCESS MANAGMENT</vt:lpstr>
      <vt:lpstr>OUTLINES</vt:lpstr>
      <vt:lpstr>OUTLINES</vt:lpstr>
      <vt:lpstr>ABSTRACT</vt:lpstr>
      <vt:lpstr>INTRODUCTION</vt:lpstr>
      <vt:lpstr>OBJECTIVES</vt:lpstr>
      <vt:lpstr>PROBLEM STATEMENT</vt:lpstr>
      <vt:lpstr>PURPOSE OF THE PRODUCT</vt:lpstr>
      <vt:lpstr>MARKET NEED AND INDUSTRIAL APPLICATIONS</vt:lpstr>
      <vt:lpstr>PRODUCT DESIGN HARDWARE FEATURES</vt:lpstr>
      <vt:lpstr>PRODUCT DESIGN SOFTWARE FEATURES</vt:lpstr>
      <vt:lpstr>FORM DESIGN COMPATIBILITY</vt:lpstr>
      <vt:lpstr>TARGET USERS AND BUSINESS SCOPE</vt:lpstr>
      <vt:lpstr>INDUSTRIES SERVED</vt:lpstr>
      <vt:lpstr>BUSINESS BENEFITS</vt:lpstr>
      <vt:lpstr>PRODUCT DEVELOPMENT TIMELINE</vt:lpstr>
      <vt:lpstr>COMPETITIVE ANALYSIS</vt:lpstr>
      <vt:lpstr>PROJECT ESTIMATION</vt:lpstr>
      <vt:lpstr>FINANCIAL PROJECTION</vt:lpstr>
      <vt:lpstr>CHALLENGES AND RISK MITIGATION</vt:lpstr>
      <vt:lpstr>CONCLUSION</vt:lpstr>
      <vt:lpstr>REFERENCES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2</cp:revision>
  <dcterms:created xsi:type="dcterms:W3CDTF">2025-05-11T13:49:10Z</dcterms:created>
  <dcterms:modified xsi:type="dcterms:W3CDTF">2025-05-12T06:35:08Z</dcterms:modified>
</cp:coreProperties>
</file>