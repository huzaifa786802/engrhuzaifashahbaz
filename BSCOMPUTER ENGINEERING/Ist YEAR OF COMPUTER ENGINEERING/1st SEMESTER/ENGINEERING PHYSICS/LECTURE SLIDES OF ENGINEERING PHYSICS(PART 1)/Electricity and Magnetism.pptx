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78" r:id="rId4"/>
    <p:sldId id="260" r:id="rId5"/>
    <p:sldId id="261" r:id="rId6"/>
    <p:sldId id="262" r:id="rId7"/>
    <p:sldId id="263" r:id="rId8"/>
    <p:sldId id="257" r:id="rId9"/>
    <p:sldId id="264" r:id="rId10"/>
    <p:sldId id="265" r:id="rId11"/>
    <p:sldId id="271" r:id="rId12"/>
    <p:sldId id="273" r:id="rId13"/>
    <p:sldId id="266" r:id="rId14"/>
    <p:sldId id="267" r:id="rId15"/>
    <p:sldId id="274" r:id="rId16"/>
    <p:sldId id="268" r:id="rId17"/>
    <p:sldId id="275" r:id="rId18"/>
    <p:sldId id="276" r:id="rId19"/>
    <p:sldId id="270" r:id="rId20"/>
    <p:sldId id="269" r:id="rId21"/>
    <p:sldId id="272" r:id="rId22"/>
    <p:sldId id="277"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9" d="100"/>
          <a:sy n="69" d="100"/>
        </p:scale>
        <p:origin x="69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A0331EFE-CECD-47E4-93DD-1FA42A14D2ED}" type="datetimeFigureOut">
              <a:rPr lang="en-US" smtClean="0"/>
              <a:t>1/7/2021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E8ED53-6F56-48E6-9430-DE0DF4970DDC}" type="slidenum">
              <a:rPr lang="en-US" smtClean="0"/>
              <a:t>‹#›</a:t>
            </a:fld>
            <a:endParaRPr lang="en-US"/>
          </a:p>
        </p:txBody>
      </p:sp>
    </p:spTree>
    <p:extLst>
      <p:ext uri="{BB962C8B-B14F-4D97-AF65-F5344CB8AC3E}">
        <p14:creationId xmlns:p14="http://schemas.microsoft.com/office/powerpoint/2010/main" val="21991232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0331EFE-CECD-47E4-93DD-1FA42A14D2ED}" type="datetimeFigureOut">
              <a:rPr lang="en-US" smtClean="0"/>
              <a:t>1/7/2021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E8ED53-6F56-48E6-9430-DE0DF4970DDC}" type="slidenum">
              <a:rPr lang="en-US" smtClean="0"/>
              <a:t>‹#›</a:t>
            </a:fld>
            <a:endParaRPr lang="en-US"/>
          </a:p>
        </p:txBody>
      </p:sp>
    </p:spTree>
    <p:extLst>
      <p:ext uri="{BB962C8B-B14F-4D97-AF65-F5344CB8AC3E}">
        <p14:creationId xmlns:p14="http://schemas.microsoft.com/office/powerpoint/2010/main" val="19316778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0331EFE-CECD-47E4-93DD-1FA42A14D2ED}" type="datetimeFigureOut">
              <a:rPr lang="en-US" smtClean="0"/>
              <a:t>1/7/2021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E8ED53-6F56-48E6-9430-DE0DF4970DDC}" type="slidenum">
              <a:rPr lang="en-US" smtClean="0"/>
              <a:t>‹#›</a:t>
            </a:fld>
            <a:endParaRPr lang="en-US"/>
          </a:p>
        </p:txBody>
      </p:sp>
    </p:spTree>
    <p:extLst>
      <p:ext uri="{BB962C8B-B14F-4D97-AF65-F5344CB8AC3E}">
        <p14:creationId xmlns:p14="http://schemas.microsoft.com/office/powerpoint/2010/main" val="29478326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0331EFE-CECD-47E4-93DD-1FA42A14D2ED}" type="datetimeFigureOut">
              <a:rPr lang="en-US" smtClean="0"/>
              <a:t>1/7/2021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E8ED53-6F56-48E6-9430-DE0DF4970DDC}" type="slidenum">
              <a:rPr lang="en-US" smtClean="0"/>
              <a:t>‹#›</a:t>
            </a:fld>
            <a:endParaRPr lang="en-US"/>
          </a:p>
        </p:txBody>
      </p:sp>
    </p:spTree>
    <p:extLst>
      <p:ext uri="{BB962C8B-B14F-4D97-AF65-F5344CB8AC3E}">
        <p14:creationId xmlns:p14="http://schemas.microsoft.com/office/powerpoint/2010/main" val="19143500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0331EFE-CECD-47E4-93DD-1FA42A14D2ED}" type="datetimeFigureOut">
              <a:rPr lang="en-US" smtClean="0"/>
              <a:t>1/7/2021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2E8ED53-6F56-48E6-9430-DE0DF4970DDC}" type="slidenum">
              <a:rPr lang="en-US" smtClean="0"/>
              <a:t>‹#›</a:t>
            </a:fld>
            <a:endParaRPr lang="en-US"/>
          </a:p>
        </p:txBody>
      </p:sp>
    </p:spTree>
    <p:extLst>
      <p:ext uri="{BB962C8B-B14F-4D97-AF65-F5344CB8AC3E}">
        <p14:creationId xmlns:p14="http://schemas.microsoft.com/office/powerpoint/2010/main" val="38444415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0331EFE-CECD-47E4-93DD-1FA42A14D2ED}" type="datetimeFigureOut">
              <a:rPr lang="en-US" smtClean="0"/>
              <a:t>1/7/2021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2E8ED53-6F56-48E6-9430-DE0DF4970DDC}" type="slidenum">
              <a:rPr lang="en-US" smtClean="0"/>
              <a:t>‹#›</a:t>
            </a:fld>
            <a:endParaRPr lang="en-US"/>
          </a:p>
        </p:txBody>
      </p:sp>
    </p:spTree>
    <p:extLst>
      <p:ext uri="{BB962C8B-B14F-4D97-AF65-F5344CB8AC3E}">
        <p14:creationId xmlns:p14="http://schemas.microsoft.com/office/powerpoint/2010/main" val="7033148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0331EFE-CECD-47E4-93DD-1FA42A14D2ED}" type="datetimeFigureOut">
              <a:rPr lang="en-US" smtClean="0"/>
              <a:t>1/7/2021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2E8ED53-6F56-48E6-9430-DE0DF4970DDC}" type="slidenum">
              <a:rPr lang="en-US" smtClean="0"/>
              <a:t>‹#›</a:t>
            </a:fld>
            <a:endParaRPr lang="en-US"/>
          </a:p>
        </p:txBody>
      </p:sp>
    </p:spTree>
    <p:extLst>
      <p:ext uri="{BB962C8B-B14F-4D97-AF65-F5344CB8AC3E}">
        <p14:creationId xmlns:p14="http://schemas.microsoft.com/office/powerpoint/2010/main" val="30008592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0331EFE-CECD-47E4-93DD-1FA42A14D2ED}" type="datetimeFigureOut">
              <a:rPr lang="en-US" smtClean="0"/>
              <a:t>1/7/2021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E8ED53-6F56-48E6-9430-DE0DF4970DDC}" type="slidenum">
              <a:rPr lang="en-US" smtClean="0"/>
              <a:t>‹#›</a:t>
            </a:fld>
            <a:endParaRPr lang="en-US"/>
          </a:p>
        </p:txBody>
      </p:sp>
    </p:spTree>
    <p:extLst>
      <p:ext uri="{BB962C8B-B14F-4D97-AF65-F5344CB8AC3E}">
        <p14:creationId xmlns:p14="http://schemas.microsoft.com/office/powerpoint/2010/main" val="26059684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0331EFE-CECD-47E4-93DD-1FA42A14D2ED}" type="datetimeFigureOut">
              <a:rPr lang="en-US" smtClean="0"/>
              <a:t>1/7/2021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E8ED53-6F56-48E6-9430-DE0DF4970DDC}" type="slidenum">
              <a:rPr lang="en-US" smtClean="0"/>
              <a:t>‹#›</a:t>
            </a:fld>
            <a:endParaRPr lang="en-US"/>
          </a:p>
        </p:txBody>
      </p:sp>
    </p:spTree>
    <p:extLst>
      <p:ext uri="{BB962C8B-B14F-4D97-AF65-F5344CB8AC3E}">
        <p14:creationId xmlns:p14="http://schemas.microsoft.com/office/powerpoint/2010/main" val="6286670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0331EFE-CECD-47E4-93DD-1FA42A14D2ED}" type="datetimeFigureOut">
              <a:rPr lang="en-US" smtClean="0"/>
              <a:t>1/7/2021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E8ED53-6F56-48E6-9430-DE0DF4970DDC}" type="slidenum">
              <a:rPr lang="en-US" smtClean="0"/>
              <a:t>‹#›</a:t>
            </a:fld>
            <a:endParaRPr lang="en-US"/>
          </a:p>
        </p:txBody>
      </p:sp>
    </p:spTree>
    <p:extLst>
      <p:ext uri="{BB962C8B-B14F-4D97-AF65-F5344CB8AC3E}">
        <p14:creationId xmlns:p14="http://schemas.microsoft.com/office/powerpoint/2010/main" val="4274199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0331EFE-CECD-47E4-93DD-1FA42A14D2ED}" type="datetimeFigureOut">
              <a:rPr lang="en-US" smtClean="0"/>
              <a:t>1/7/2021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E8ED53-6F56-48E6-9430-DE0DF4970DDC}" type="slidenum">
              <a:rPr lang="en-US" smtClean="0"/>
              <a:t>‹#›</a:t>
            </a:fld>
            <a:endParaRPr lang="en-US"/>
          </a:p>
        </p:txBody>
      </p:sp>
    </p:spTree>
    <p:extLst>
      <p:ext uri="{BB962C8B-B14F-4D97-AF65-F5344CB8AC3E}">
        <p14:creationId xmlns:p14="http://schemas.microsoft.com/office/powerpoint/2010/main" val="29629890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0331EFE-CECD-47E4-93DD-1FA42A14D2ED}" type="datetimeFigureOut">
              <a:rPr lang="en-US" smtClean="0"/>
              <a:t>1/7/2021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E8ED53-6F56-48E6-9430-DE0DF4970DDC}" type="slidenum">
              <a:rPr lang="en-US" smtClean="0"/>
              <a:t>‹#›</a:t>
            </a:fld>
            <a:endParaRPr lang="en-US"/>
          </a:p>
        </p:txBody>
      </p:sp>
    </p:spTree>
    <p:extLst>
      <p:ext uri="{BB962C8B-B14F-4D97-AF65-F5344CB8AC3E}">
        <p14:creationId xmlns:p14="http://schemas.microsoft.com/office/powerpoint/2010/main" val="22111261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0.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2.jp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5.gif"/><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 </a:t>
            </a:r>
            <a:r>
              <a:rPr lang="en-US" dirty="0">
                <a:latin typeface="Times New Roman" panose="02020603050405020304" pitchFamily="18" charset="0"/>
                <a:cs typeface="Times New Roman" panose="02020603050405020304" pitchFamily="18" charset="0"/>
              </a:rPr>
              <a:t>CH#25 = Electrostatics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Electric Charge and Coulomb’s Law</a:t>
            </a:r>
          </a:p>
        </p:txBody>
      </p:sp>
      <p:pic>
        <p:nvPicPr>
          <p:cNvPr id="6" name="Content Placeholder 5"/>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277265" y="1690688"/>
            <a:ext cx="4160597" cy="4909259"/>
          </a:xfrm>
        </p:spPr>
      </p:pic>
      <p:sp>
        <p:nvSpPr>
          <p:cNvPr id="9" name="Content Placeholder 8"/>
          <p:cNvSpPr>
            <a:spLocks noGrp="1"/>
          </p:cNvSpPr>
          <p:nvPr>
            <p:ph sz="half" idx="2"/>
          </p:nvPr>
        </p:nvSpPr>
        <p:spPr/>
        <p:txBody>
          <a:bodyPr/>
          <a:lstStyle/>
          <a:p>
            <a:endParaRPr lang="en-US"/>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72200" y="1767581"/>
            <a:ext cx="5449278" cy="4467426"/>
          </a:xfrm>
          <a:prstGeom prst="rect">
            <a:avLst/>
          </a:prstGeom>
        </p:spPr>
      </p:pic>
    </p:spTree>
    <p:extLst>
      <p:ext uri="{BB962C8B-B14F-4D97-AF65-F5344CB8AC3E}">
        <p14:creationId xmlns:p14="http://schemas.microsoft.com/office/powerpoint/2010/main" val="15319255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443038" y="365125"/>
            <a:ext cx="9910762" cy="1325563"/>
          </a:xfrm>
        </p:spPr>
        <p:txBody>
          <a:bodyPr/>
          <a:lstStyle/>
          <a:p>
            <a:r>
              <a:rPr lang="en-US" u="sng" dirty="0">
                <a:latin typeface="Times New Roman" panose="02020603050405020304" pitchFamily="18" charset="0"/>
                <a:cs typeface="Times New Roman" panose="02020603050405020304" pitchFamily="18" charset="0"/>
              </a:rPr>
              <a:t>Electromagnetism</a:t>
            </a:r>
          </a:p>
        </p:txBody>
      </p:sp>
      <p:sp>
        <p:nvSpPr>
          <p:cNvPr id="6" name="Content Placeholder 5"/>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Electricity and Magnetism ( Electromagnetism)</a:t>
            </a:r>
          </a:p>
          <a:p>
            <a:pPr algn="just"/>
            <a:r>
              <a:rPr lang="en-US" dirty="0">
                <a:latin typeface="Times New Roman" panose="02020603050405020304" pitchFamily="18" charset="0"/>
                <a:cs typeface="Times New Roman" panose="02020603050405020304" pitchFamily="18" charset="0"/>
              </a:rPr>
              <a:t>EM forces are responsible for the structure of atoms in molecules and solids.</a:t>
            </a:r>
          </a:p>
          <a:p>
            <a:pPr algn="just"/>
            <a:r>
              <a:rPr lang="en-US" dirty="0">
                <a:latin typeface="Times New Roman" panose="02020603050405020304" pitchFamily="18" charset="0"/>
                <a:cs typeface="Times New Roman" panose="02020603050405020304" pitchFamily="18" charset="0"/>
              </a:rPr>
              <a:t>Many properties of materials like elasticity of solids, and the surface tension of liquids, the spring force, friction, and normal force all originate with the electromagnetic force between them.</a:t>
            </a:r>
          </a:p>
          <a:p>
            <a:pPr algn="just"/>
            <a:r>
              <a:rPr lang="en-US" dirty="0">
                <a:latin typeface="Times New Roman" panose="02020603050405020304" pitchFamily="18" charset="0"/>
                <a:cs typeface="Times New Roman" panose="02020603050405020304" pitchFamily="18" charset="0"/>
              </a:rPr>
              <a:t>The bindings between electrons and nucleus in an atom </a:t>
            </a:r>
            <a:r>
              <a:rPr lang="en-US" dirty="0" err="1">
                <a:latin typeface="Times New Roman" panose="02020603050405020304" pitchFamily="18" charset="0"/>
                <a:cs typeface="Times New Roman" panose="02020603050405020304" pitchFamily="18" charset="0"/>
              </a:rPr>
              <a:t>etc</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The Maxwell's equations  are a set of four basic equations explain all basic electromagnetic effects.</a:t>
            </a:r>
          </a:p>
        </p:txBody>
      </p:sp>
    </p:spTree>
    <p:extLst>
      <p:ext uri="{BB962C8B-B14F-4D97-AF65-F5344CB8AC3E}">
        <p14:creationId xmlns:p14="http://schemas.microsoft.com/office/powerpoint/2010/main" val="3903615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E2EF2F-A5CD-414C-A273-9057BD718B5D}"/>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Four Maxwell’s Equations</a:t>
            </a:r>
            <a:endParaRPr lang="en-PK"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631A2EEA-811E-429F-9727-D9B96A4B9117}"/>
                  </a:ext>
                </a:extLst>
              </p:cNvPr>
              <p:cNvSpPr>
                <a:spLocks noGrp="1"/>
              </p:cNvSpPr>
              <p:nvPr>
                <p:ph idx="1"/>
              </p:nvPr>
            </p:nvSpPr>
            <p:spPr/>
            <p:txBody>
              <a:bodyPr/>
              <a:lstStyle/>
              <a:p>
                <a:r>
                  <a:rPr lang="en-US" sz="2800" b="1" i="0" dirty="0">
                    <a:solidFill>
                      <a:srgbClr val="000000"/>
                    </a:solidFill>
                    <a:effectLst/>
                    <a:latin typeface="Times New Roman" panose="02020603050405020304" pitchFamily="18" charset="0"/>
                    <a:cs typeface="Times New Roman" panose="02020603050405020304" pitchFamily="18" charset="0"/>
                  </a:rPr>
                  <a:t>(</a:t>
                </a:r>
                <a:r>
                  <a:rPr lang="en-US" sz="2800" b="1" i="0" dirty="0" err="1">
                    <a:solidFill>
                      <a:srgbClr val="000000"/>
                    </a:solidFill>
                    <a:effectLst/>
                    <a:latin typeface="Times New Roman" panose="02020603050405020304" pitchFamily="18" charset="0"/>
                    <a:cs typeface="Times New Roman" panose="02020603050405020304" pitchFamily="18" charset="0"/>
                  </a:rPr>
                  <a:t>i</a:t>
                </a:r>
                <a:r>
                  <a:rPr lang="en-US" sz="2800" b="1" i="0" dirty="0">
                    <a:solidFill>
                      <a:srgbClr val="000000"/>
                    </a:solidFill>
                    <a:effectLst/>
                    <a:latin typeface="Times New Roman" panose="02020603050405020304" pitchFamily="18" charset="0"/>
                    <a:cs typeface="Times New Roman" panose="02020603050405020304" pitchFamily="18" charset="0"/>
                  </a:rPr>
                  <a:t>) ∮E.ds= </a:t>
                </a:r>
                <a14:m>
                  <m:oMath xmlns:m="http://schemas.openxmlformats.org/officeDocument/2006/math">
                    <m:f>
                      <m:fPr>
                        <m:ctrlPr>
                          <a:rPr lang="en-US" sz="2800" b="1" i="1" smtClean="0">
                            <a:solidFill>
                              <a:srgbClr val="000000"/>
                            </a:solidFill>
                            <a:effectLst/>
                            <a:latin typeface="Cambria Math" panose="02040503050406030204" pitchFamily="18" charset="0"/>
                            <a:cs typeface="Times New Roman" panose="02020603050405020304" pitchFamily="18" charset="0"/>
                          </a:rPr>
                        </m:ctrlPr>
                      </m:fPr>
                      <m:num>
                        <m:r>
                          <a:rPr lang="en-US" sz="2800" b="1" i="1" smtClean="0">
                            <a:solidFill>
                              <a:srgbClr val="000000"/>
                            </a:solidFill>
                            <a:effectLst/>
                            <a:latin typeface="Cambria Math" panose="02040503050406030204" pitchFamily="18" charset="0"/>
                            <a:cs typeface="Times New Roman" panose="02020603050405020304" pitchFamily="18" charset="0"/>
                          </a:rPr>
                          <m:t>𝒒</m:t>
                        </m:r>
                      </m:num>
                      <m:den>
                        <m:sSub>
                          <m:sSubPr>
                            <m:ctrlPr>
                              <a:rPr lang="en-US" sz="2800" b="1" i="1" smtClean="0">
                                <a:solidFill>
                                  <a:srgbClr val="000000"/>
                                </a:solidFill>
                                <a:effectLst/>
                                <a:latin typeface="Cambria Math" panose="02040503050406030204" pitchFamily="18" charset="0"/>
                                <a:cs typeface="Times New Roman" panose="02020603050405020304" pitchFamily="18" charset="0"/>
                              </a:rPr>
                            </m:ctrlPr>
                          </m:sSubPr>
                          <m:e>
                            <m:r>
                              <m:rPr>
                                <m:nor/>
                              </m:rPr>
                              <a:rPr lang="el-GR" sz="2800" b="1" dirty="0">
                                <a:solidFill>
                                  <a:srgbClr val="000000"/>
                                </a:solidFill>
                                <a:latin typeface="Times New Roman" panose="02020603050405020304" pitchFamily="18" charset="0"/>
                                <a:cs typeface="Times New Roman" panose="02020603050405020304" pitchFamily="18" charset="0"/>
                              </a:rPr>
                              <m:t>ε</m:t>
                            </m:r>
                          </m:e>
                          <m:sub>
                            <m:r>
                              <a:rPr lang="en-US" sz="2800" b="1" i="1" smtClean="0">
                                <a:solidFill>
                                  <a:srgbClr val="000000"/>
                                </a:solidFill>
                                <a:effectLst/>
                                <a:latin typeface="Cambria Math" panose="02040503050406030204" pitchFamily="18" charset="0"/>
                                <a:cs typeface="Times New Roman" panose="02020603050405020304" pitchFamily="18" charset="0"/>
                              </a:rPr>
                              <m:t>𝟎</m:t>
                            </m:r>
                          </m:sub>
                        </m:sSub>
                      </m:den>
                    </m:f>
                  </m:oMath>
                </a14:m>
                <a:endParaRPr lang="en-US" dirty="0"/>
              </a:p>
              <a:p>
                <a:r>
                  <a:rPr lang="en-US" sz="2800" b="1" i="0" dirty="0">
                    <a:solidFill>
                      <a:srgbClr val="000000"/>
                    </a:solidFill>
                    <a:effectLst/>
                    <a:latin typeface="Times New Roman" panose="02020603050405020304" pitchFamily="18" charset="0"/>
                    <a:cs typeface="Times New Roman" panose="02020603050405020304" pitchFamily="18" charset="0"/>
                  </a:rPr>
                  <a:t>(ii) ∮B.ds=0</a:t>
                </a:r>
              </a:p>
              <a:p>
                <a:r>
                  <a:rPr lang="en-US" sz="2800" b="1" i="0" dirty="0">
                    <a:solidFill>
                      <a:srgbClr val="000000"/>
                    </a:solidFill>
                    <a:effectLst/>
                    <a:latin typeface="Times New Roman" panose="02020603050405020304" pitchFamily="18" charset="0"/>
                    <a:cs typeface="Times New Roman" panose="02020603050405020304" pitchFamily="18" charset="0"/>
                  </a:rPr>
                  <a:t>(iii) ∮</a:t>
                </a:r>
                <a:r>
                  <a:rPr lang="en-US" sz="2800" b="1" i="0" dirty="0" err="1">
                    <a:solidFill>
                      <a:srgbClr val="000000"/>
                    </a:solidFill>
                    <a:effectLst/>
                    <a:latin typeface="Times New Roman" panose="02020603050405020304" pitchFamily="18" charset="0"/>
                    <a:cs typeface="Times New Roman" panose="02020603050405020304" pitchFamily="18" charset="0"/>
                  </a:rPr>
                  <a:t>E.dl</a:t>
                </a:r>
                <a:r>
                  <a:rPr lang="en-US" sz="2800" b="1" i="0" dirty="0">
                    <a:solidFill>
                      <a:srgbClr val="000000"/>
                    </a:solidFill>
                    <a:effectLst/>
                    <a:latin typeface="Times New Roman" panose="02020603050405020304" pitchFamily="18" charset="0"/>
                    <a:cs typeface="Times New Roman" panose="02020603050405020304" pitchFamily="18" charset="0"/>
                  </a:rPr>
                  <a:t>=</a:t>
                </a:r>
                <a14:m>
                  <m:oMath xmlns:m="http://schemas.openxmlformats.org/officeDocument/2006/math">
                    <m:f>
                      <m:fPr>
                        <m:ctrlPr>
                          <a:rPr lang="en-US" sz="2800" b="1" i="1" smtClean="0">
                            <a:solidFill>
                              <a:srgbClr val="000000"/>
                            </a:solidFill>
                            <a:effectLst/>
                            <a:latin typeface="Cambria Math" panose="02040503050406030204" pitchFamily="18" charset="0"/>
                            <a:cs typeface="Times New Roman" panose="02020603050405020304" pitchFamily="18" charset="0"/>
                          </a:rPr>
                        </m:ctrlPr>
                      </m:fPr>
                      <m:num>
                        <m:r>
                          <a:rPr lang="en-US" sz="2800" b="1" i="1" smtClean="0">
                            <a:solidFill>
                              <a:srgbClr val="000000"/>
                            </a:solidFill>
                            <a:effectLst/>
                            <a:latin typeface="Cambria Math" panose="02040503050406030204" pitchFamily="18" charset="0"/>
                            <a:cs typeface="Times New Roman" panose="02020603050405020304" pitchFamily="18" charset="0"/>
                          </a:rPr>
                          <m:t>𝒅</m:t>
                        </m:r>
                      </m:num>
                      <m:den>
                        <m:r>
                          <a:rPr lang="en-US" sz="2800" b="1" i="1" smtClean="0">
                            <a:solidFill>
                              <a:srgbClr val="000000"/>
                            </a:solidFill>
                            <a:effectLst/>
                            <a:latin typeface="Cambria Math" panose="02040503050406030204" pitchFamily="18" charset="0"/>
                            <a:cs typeface="Times New Roman" panose="02020603050405020304" pitchFamily="18" charset="0"/>
                          </a:rPr>
                          <m:t>𝒅𝒕</m:t>
                        </m:r>
                      </m:den>
                    </m:f>
                  </m:oMath>
                </a14:m>
                <a:r>
                  <a:rPr lang="en-US" sz="2800" b="1" i="0" dirty="0">
                    <a:solidFill>
                      <a:srgbClr val="000000"/>
                    </a:solidFill>
                    <a:effectLst/>
                    <a:latin typeface="Times New Roman" panose="02020603050405020304" pitchFamily="18" charset="0"/>
                    <a:cs typeface="Times New Roman" panose="02020603050405020304" pitchFamily="18" charset="0"/>
                  </a:rPr>
                  <a:t>​ ∮B.ds</a:t>
                </a:r>
              </a:p>
              <a:p>
                <a:r>
                  <a:rPr lang="en-US" sz="2800" b="1" i="0" dirty="0">
                    <a:solidFill>
                      <a:srgbClr val="000000"/>
                    </a:solidFill>
                    <a:effectLst/>
                    <a:latin typeface="Times New Roman" panose="02020603050405020304" pitchFamily="18" charset="0"/>
                    <a:cs typeface="Times New Roman" panose="02020603050405020304" pitchFamily="18" charset="0"/>
                  </a:rPr>
                  <a:t>(iv) ∮B.ds= </a:t>
                </a:r>
                <a14:m>
                  <m:oMath xmlns:m="http://schemas.openxmlformats.org/officeDocument/2006/math">
                    <m:sSub>
                      <m:sSubPr>
                        <m:ctrlPr>
                          <a:rPr lang="en-US" sz="2800" b="1" i="1" smtClean="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2800" b="1"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𝝁</m:t>
                        </m:r>
                      </m:e>
                      <m:sub>
                        <m:r>
                          <a:rPr lang="en-US" sz="2800" b="1" i="1" smtClean="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t>𝟎</m:t>
                        </m:r>
                      </m:sub>
                    </m:sSub>
                    <m:sSub>
                      <m:sSubPr>
                        <m:ctrlPr>
                          <a:rPr lang="en-US" sz="2800" b="1" i="1">
                            <a:solidFill>
                              <a:srgbClr val="000000"/>
                            </a:solidFill>
                            <a:latin typeface="Cambria Math" panose="02040503050406030204" pitchFamily="18" charset="0"/>
                            <a:cs typeface="Times New Roman" panose="02020603050405020304" pitchFamily="18" charset="0"/>
                          </a:rPr>
                        </m:ctrlPr>
                      </m:sSubPr>
                      <m:e>
                        <m:r>
                          <m:rPr>
                            <m:nor/>
                          </m:rPr>
                          <a:rPr lang="el-GR" sz="2800" b="1" dirty="0">
                            <a:solidFill>
                              <a:srgbClr val="000000"/>
                            </a:solidFill>
                            <a:latin typeface="Times New Roman" panose="02020603050405020304" pitchFamily="18" charset="0"/>
                            <a:cs typeface="Times New Roman" panose="02020603050405020304" pitchFamily="18" charset="0"/>
                          </a:rPr>
                          <m:t>ε</m:t>
                        </m:r>
                      </m:e>
                      <m:sub>
                        <m:r>
                          <a:rPr lang="en-US" sz="2800" b="1" i="1">
                            <a:solidFill>
                              <a:srgbClr val="000000"/>
                            </a:solidFill>
                            <a:latin typeface="Cambria Math" panose="02040503050406030204" pitchFamily="18" charset="0"/>
                            <a:cs typeface="Times New Roman" panose="02020603050405020304" pitchFamily="18" charset="0"/>
                          </a:rPr>
                          <m:t>𝟎</m:t>
                        </m:r>
                      </m:sub>
                    </m:sSub>
                  </m:oMath>
                </a14:m>
                <a:r>
                  <a:rPr lang="en-US" sz="2800" b="1" dirty="0">
                    <a:solidFill>
                      <a:srgbClr val="000000"/>
                    </a:solidFill>
                    <a:cs typeface="Times New Roman" panose="02020603050405020304" pitchFamily="18" charset="0"/>
                  </a:rPr>
                  <a:t> </a:t>
                </a:r>
                <a14:m>
                  <m:oMath xmlns:m="http://schemas.openxmlformats.org/officeDocument/2006/math">
                    <m:f>
                      <m:fPr>
                        <m:ctrlPr>
                          <a:rPr lang="en-US" sz="2800" b="1" i="1">
                            <a:solidFill>
                              <a:srgbClr val="000000"/>
                            </a:solidFill>
                            <a:latin typeface="Cambria Math" panose="02040503050406030204" pitchFamily="18" charset="0"/>
                            <a:cs typeface="Times New Roman" panose="02020603050405020304" pitchFamily="18" charset="0"/>
                          </a:rPr>
                        </m:ctrlPr>
                      </m:fPr>
                      <m:num>
                        <m:r>
                          <a:rPr lang="en-US" sz="2800" b="1" i="1">
                            <a:solidFill>
                              <a:srgbClr val="000000"/>
                            </a:solidFill>
                            <a:latin typeface="Cambria Math" panose="02040503050406030204" pitchFamily="18" charset="0"/>
                            <a:cs typeface="Times New Roman" panose="02020603050405020304" pitchFamily="18" charset="0"/>
                          </a:rPr>
                          <m:t>𝒅</m:t>
                        </m:r>
                      </m:num>
                      <m:den>
                        <m:r>
                          <a:rPr lang="en-US" sz="2800" b="1" i="1">
                            <a:solidFill>
                              <a:srgbClr val="000000"/>
                            </a:solidFill>
                            <a:latin typeface="Cambria Math" panose="02040503050406030204" pitchFamily="18" charset="0"/>
                            <a:cs typeface="Times New Roman" panose="02020603050405020304" pitchFamily="18" charset="0"/>
                          </a:rPr>
                          <m:t>𝒅𝒕</m:t>
                        </m:r>
                      </m:den>
                    </m:f>
                  </m:oMath>
                </a14:m>
                <a:r>
                  <a:rPr lang="en-US" sz="2800" b="1" dirty="0">
                    <a:solidFill>
                      <a:srgbClr val="000000"/>
                    </a:solidFill>
                    <a:latin typeface="Times New Roman" panose="02020603050405020304" pitchFamily="18" charset="0"/>
                    <a:cs typeface="Times New Roman" panose="02020603050405020304" pitchFamily="18" charset="0"/>
                  </a:rPr>
                  <a:t>​</a:t>
                </a:r>
                <a:r>
                  <a:rPr lang="en-US" sz="2800" b="1" i="0" dirty="0">
                    <a:solidFill>
                      <a:srgbClr val="000000"/>
                    </a:solidFill>
                    <a:effectLst/>
                    <a:latin typeface="Times New Roman" panose="02020603050405020304" pitchFamily="18" charset="0"/>
                    <a:cs typeface="Times New Roman" panose="02020603050405020304" pitchFamily="18" charset="0"/>
                  </a:rPr>
                  <a:t> ​∮E.ds</a:t>
                </a:r>
              </a:p>
              <a:p>
                <a:endParaRPr lang="en-US" sz="2800" b="1" i="0" dirty="0">
                  <a:solidFill>
                    <a:srgbClr val="000000"/>
                  </a:solidFill>
                  <a:effectLst/>
                  <a:latin typeface="Times New Roman" panose="02020603050405020304" pitchFamily="18" charset="0"/>
                  <a:cs typeface="Times New Roman" panose="02020603050405020304" pitchFamily="18" charset="0"/>
                </a:endParaRPr>
              </a:p>
              <a:p>
                <a:endParaRPr lang="en-US" sz="2800" b="1" i="0" dirty="0">
                  <a:solidFill>
                    <a:srgbClr val="000000"/>
                  </a:solidFill>
                  <a:effectLst/>
                  <a:latin typeface="Times New Roman" panose="02020603050405020304" pitchFamily="18" charset="0"/>
                  <a:cs typeface="Times New Roman" panose="02020603050405020304" pitchFamily="18" charset="0"/>
                </a:endParaRPr>
              </a:p>
              <a:p>
                <a:endParaRPr lang="en-PK" dirty="0"/>
              </a:p>
            </p:txBody>
          </p:sp>
        </mc:Choice>
        <mc:Fallback>
          <p:sp>
            <p:nvSpPr>
              <p:cNvPr id="3" name="Content Placeholder 2">
                <a:extLst>
                  <a:ext uri="{FF2B5EF4-FFF2-40B4-BE49-F238E27FC236}">
                    <a16:creationId xmlns:a16="http://schemas.microsoft.com/office/drawing/2014/main" id="{631A2EEA-811E-429F-9727-D9B96A4B9117}"/>
                  </a:ext>
                </a:extLst>
              </p:cNvPr>
              <p:cNvSpPr>
                <a:spLocks noGrp="1" noRot="1" noChangeAspect="1" noMove="1" noResize="1" noEditPoints="1" noAdjustHandles="1" noChangeArrowheads="1" noChangeShapeType="1" noTextEdit="1"/>
              </p:cNvSpPr>
              <p:nvPr>
                <p:ph idx="1"/>
              </p:nvPr>
            </p:nvSpPr>
            <p:spPr>
              <a:blipFill>
                <a:blip r:embed="rId2"/>
                <a:stretch>
                  <a:fillRect l="-1043" t="-1541"/>
                </a:stretch>
              </a:blipFill>
            </p:spPr>
            <p:txBody>
              <a:bodyPr/>
              <a:lstStyle/>
              <a:p>
                <a:r>
                  <a:rPr lang="en-PK">
                    <a:noFill/>
                  </a:rPr>
                  <a:t> </a:t>
                </a:r>
              </a:p>
            </p:txBody>
          </p:sp>
        </mc:Fallback>
      </mc:AlternateContent>
    </p:spTree>
    <p:extLst>
      <p:ext uri="{BB962C8B-B14F-4D97-AF65-F5344CB8AC3E}">
        <p14:creationId xmlns:p14="http://schemas.microsoft.com/office/powerpoint/2010/main" val="9333617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365125"/>
            <a:ext cx="10515600" cy="1325563"/>
          </a:xfrm>
        </p:spPr>
        <p:txBody>
          <a:bodyPr>
            <a:normAutofit/>
          </a:bodyPr>
          <a:lstStyle/>
          <a:p>
            <a:r>
              <a:rPr lang="en-US" sz="2800" u="sng" dirty="0">
                <a:latin typeface="Times New Roman" panose="02020603050405020304" pitchFamily="18" charset="0"/>
                <a:cs typeface="Times New Roman" panose="02020603050405020304" pitchFamily="18" charset="0"/>
              </a:rPr>
              <a:t>Time Line of Major Development </a:t>
            </a:r>
            <a:br>
              <a:rPr lang="en-US" sz="2800" u="sng" dirty="0">
                <a:latin typeface="Times New Roman" panose="02020603050405020304" pitchFamily="18" charset="0"/>
                <a:cs typeface="Times New Roman" panose="02020603050405020304" pitchFamily="18" charset="0"/>
              </a:rPr>
            </a:br>
            <a:r>
              <a:rPr lang="en-US" sz="2800" u="sng" dirty="0">
                <a:latin typeface="Times New Roman" panose="02020603050405020304" pitchFamily="18" charset="0"/>
                <a:cs typeface="Times New Roman" panose="02020603050405020304" pitchFamily="18" charset="0"/>
              </a:rPr>
              <a:t>in Electromagnetism</a:t>
            </a:r>
          </a:p>
        </p:txBody>
      </p:sp>
      <p:pic>
        <p:nvPicPr>
          <p:cNvPr id="4" name="Content Placeholder 3"/>
          <p:cNvPicPr>
            <a:picLocks noGrp="1" noChangeAspect="1"/>
          </p:cNvPicPr>
          <p:nvPr>
            <p:ph idx="4294967295"/>
          </p:nvPr>
        </p:nvPicPr>
        <p:blipFill>
          <a:blip r:embed="rId2">
            <a:extLst>
              <a:ext uri="{28A0092B-C50C-407E-A947-70E740481C1C}">
                <a14:useLocalDpi xmlns:a14="http://schemas.microsoft.com/office/drawing/2010/main" val="0"/>
              </a:ext>
            </a:extLst>
          </a:blip>
          <a:stretch>
            <a:fillRect/>
          </a:stretch>
        </p:blipFill>
        <p:spPr>
          <a:xfrm>
            <a:off x="5689261" y="550863"/>
            <a:ext cx="5197738" cy="5791200"/>
          </a:xfrm>
        </p:spPr>
      </p:pic>
      <p:pic>
        <p:nvPicPr>
          <p:cNvPr id="5" name="Content Placeholder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826" y="2013595"/>
            <a:ext cx="5353610" cy="4076998"/>
          </a:xfrm>
          <a:prstGeom prst="rect">
            <a:avLst/>
          </a:prstGeom>
        </p:spPr>
      </p:pic>
    </p:spTree>
    <p:extLst>
      <p:ext uri="{BB962C8B-B14F-4D97-AF65-F5344CB8AC3E}">
        <p14:creationId xmlns:p14="http://schemas.microsoft.com/office/powerpoint/2010/main" val="37504507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42887"/>
            <a:ext cx="10515600" cy="1325563"/>
          </a:xfrm>
        </p:spPr>
        <p:txBody>
          <a:bodyPr>
            <a:noAutofit/>
          </a:bodyPr>
          <a:lstStyle/>
          <a:p>
            <a:pPr algn="just"/>
            <a:r>
              <a:rPr lang="en-US" sz="2400" b="1" i="1" u="sng" dirty="0">
                <a:latin typeface="Times New Roman" panose="02020603050405020304" pitchFamily="18" charset="0"/>
                <a:cs typeface="Times New Roman" panose="02020603050405020304" pitchFamily="18" charset="0"/>
              </a:rPr>
              <a:t>Electric Charge : </a:t>
            </a:r>
            <a:r>
              <a:rPr lang="en-US" sz="2400" b="1" u="sng" dirty="0"/>
              <a:t>It is a basic property of elementary particles of matter. A charge  particle can attract or repel other particles with a force F. There are two types of electric charge; positive and negative, an object with an absence of net charge is referred to as neutral particle</a:t>
            </a:r>
            <a:endParaRPr lang="en-US" sz="2400" b="1" i="1" u="sng"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7064" y="1587534"/>
            <a:ext cx="10732110" cy="5238000"/>
          </a:xfrm>
          <a:prstGeom prst="rect">
            <a:avLst/>
          </a:prstGeom>
        </p:spPr>
      </p:pic>
    </p:spTree>
    <p:extLst>
      <p:ext uri="{BB962C8B-B14F-4D97-AF65-F5344CB8AC3E}">
        <p14:creationId xmlns:p14="http://schemas.microsoft.com/office/powerpoint/2010/main" val="15706128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Important Properties of Charges</a:t>
            </a:r>
          </a:p>
        </p:txBody>
      </p:sp>
      <mc:AlternateContent xmlns:mc="http://schemas.openxmlformats.org/markup-compatibility/2006" xmlns:a14="http://schemas.microsoft.com/office/drawing/2010/main">
        <mc:Choice Requires="a14">
          <p:sp>
            <p:nvSpPr>
              <p:cNvPr id="6" name="Content Placeholder 5"/>
              <p:cNvSpPr>
                <a:spLocks noGrp="1"/>
              </p:cNvSpPr>
              <p:nvPr>
                <p:ph sz="half" idx="1"/>
              </p:nvPr>
            </p:nvSpPr>
            <p:spPr>
              <a:xfrm>
                <a:off x="838200" y="1511300"/>
                <a:ext cx="5181600" cy="4351338"/>
              </a:xfrm>
            </p:spPr>
            <p:txBody>
              <a:bodyPr>
                <a:normAutofit lnSpcReduction="10000"/>
              </a:bodyPr>
              <a:lstStyle/>
              <a:p>
                <a:pPr algn="just"/>
                <a:r>
                  <a:rPr lang="en-US" b="1" i="1" u="sng" dirty="0">
                    <a:latin typeface="Times New Roman" panose="02020603050405020304" pitchFamily="18" charset="0"/>
                    <a:cs typeface="Times New Roman" panose="02020603050405020304" pitchFamily="18" charset="0"/>
                  </a:rPr>
                  <a:t>Quantization of Charge</a:t>
                </a:r>
                <a:r>
                  <a:rPr lang="en-US" sz="2000" b="1" i="1" u="sng"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Electric charge of a body always exists only in quantities that are integer multiples of a certain elementary quantity of charge. That is  </a:t>
                </a:r>
                <a:r>
                  <a:rPr lang="en-US" sz="2400" i="1" dirty="0">
                    <a:latin typeface="Times New Roman" panose="02020603050405020304" pitchFamily="18" charset="0"/>
                    <a:cs typeface="Times New Roman" panose="02020603050405020304" pitchFamily="18" charset="0"/>
                  </a:rPr>
                  <a:t>q= ne </a:t>
                </a:r>
                <a:r>
                  <a:rPr lang="en-US" sz="2400" dirty="0">
                    <a:latin typeface="Times New Roman" panose="02020603050405020304" pitchFamily="18" charset="0"/>
                    <a:cs typeface="Times New Roman" panose="02020603050405020304" pitchFamily="18" charset="0"/>
                  </a:rPr>
                  <a:t>where </a:t>
                </a:r>
                <a:r>
                  <a:rPr lang="en-US" sz="2400" i="1" dirty="0">
                    <a:latin typeface="Times New Roman" panose="02020603050405020304" pitchFamily="18" charset="0"/>
                    <a:cs typeface="Times New Roman" panose="02020603050405020304" pitchFamily="18" charset="0"/>
                  </a:rPr>
                  <a:t>n= 0, ± 1, ±2, ± 3 ± 4, where e = 1.602 x </a:t>
                </a:r>
                <a14:m>
                  <m:oMath xmlns:m="http://schemas.openxmlformats.org/officeDocument/2006/math">
                    <m:sSup>
                      <m:sSupPr>
                        <m:ctrlPr>
                          <a:rPr lang="en-US" sz="2400" i="1" smtClean="0">
                            <a:latin typeface="Cambria Math" panose="02040503050406030204" pitchFamily="18" charset="0"/>
                          </a:rPr>
                        </m:ctrlPr>
                      </m:sSupPr>
                      <m:e>
                        <m:r>
                          <a:rPr lang="en-US" sz="2400" b="0" i="1" smtClean="0">
                            <a:latin typeface="Cambria Math" panose="02040503050406030204" pitchFamily="18" charset="0"/>
                          </a:rPr>
                          <m:t>10</m:t>
                        </m:r>
                      </m:e>
                      <m:sup>
                        <m:r>
                          <a:rPr lang="en-US" sz="2400" b="0" i="1" smtClean="0">
                            <a:latin typeface="Cambria Math" panose="02040503050406030204" pitchFamily="18" charset="0"/>
                          </a:rPr>
                          <m:t>−19</m:t>
                        </m:r>
                      </m:sup>
                    </m:sSup>
                  </m:oMath>
                </a14:m>
                <a:r>
                  <a:rPr lang="en-US" sz="2400" i="1" dirty="0">
                    <a:latin typeface="Times New Roman" panose="02020603050405020304" pitchFamily="18" charset="0"/>
                    <a:cs typeface="Times New Roman" panose="02020603050405020304" pitchFamily="18" charset="0"/>
                  </a:rPr>
                  <a:t> C</a:t>
                </a:r>
              </a:p>
              <a:p>
                <a:pPr algn="just"/>
                <a:r>
                  <a:rPr lang="en-US" b="1" i="1" u="sng" dirty="0">
                    <a:latin typeface="Times New Roman" panose="02020603050405020304" pitchFamily="18" charset="0"/>
                    <a:cs typeface="Times New Roman" panose="02020603050405020304" pitchFamily="18" charset="0"/>
                  </a:rPr>
                  <a:t>Conservation of Charge</a:t>
                </a:r>
                <a:r>
                  <a:rPr lang="en-US" sz="2000" b="1" i="1" u="sng"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The </a:t>
                </a:r>
                <a:r>
                  <a:rPr lang="en-US" sz="1800" b="1" dirty="0">
                    <a:latin typeface="Times New Roman" panose="02020603050405020304" pitchFamily="18" charset="0"/>
                    <a:cs typeface="Times New Roman" panose="02020603050405020304" pitchFamily="18" charset="0"/>
                  </a:rPr>
                  <a:t>law of </a:t>
                </a:r>
                <a:r>
                  <a:rPr lang="en-US" sz="2000" b="1" dirty="0">
                    <a:latin typeface="Times New Roman" panose="02020603050405020304" pitchFamily="18" charset="0"/>
                    <a:cs typeface="Times New Roman" panose="02020603050405020304" pitchFamily="18" charset="0"/>
                  </a:rPr>
                  <a:t>conservation of charge</a:t>
                </a:r>
                <a:r>
                  <a:rPr lang="en-US" sz="2000" dirty="0">
                    <a:latin typeface="Times New Roman" panose="02020603050405020304" pitchFamily="18" charset="0"/>
                    <a:cs typeface="Times New Roman" panose="02020603050405020304" pitchFamily="18" charset="0"/>
                  </a:rPr>
                  <a:t> states that electric </a:t>
                </a:r>
                <a:r>
                  <a:rPr lang="en-US" sz="2000" b="1" dirty="0">
                    <a:latin typeface="Times New Roman" panose="02020603050405020304" pitchFamily="18" charset="0"/>
                    <a:cs typeface="Times New Roman" panose="02020603050405020304" pitchFamily="18" charset="0"/>
                  </a:rPr>
                  <a:t>charge</a:t>
                </a:r>
                <a:r>
                  <a:rPr lang="en-US" sz="2000" dirty="0">
                    <a:latin typeface="Times New Roman" panose="02020603050405020304" pitchFamily="18" charset="0"/>
                    <a:cs typeface="Times New Roman" panose="02020603050405020304" pitchFamily="18" charset="0"/>
                  </a:rPr>
                  <a:t> can neither be created nor destroyed. In a closed system, the amount of </a:t>
                </a:r>
                <a:r>
                  <a:rPr lang="en-US" sz="2000" b="1" dirty="0">
                    <a:latin typeface="Times New Roman" panose="02020603050405020304" pitchFamily="18" charset="0"/>
                    <a:cs typeface="Times New Roman" panose="02020603050405020304" pitchFamily="18" charset="0"/>
                  </a:rPr>
                  <a:t>charge</a:t>
                </a:r>
                <a:r>
                  <a:rPr lang="en-US" sz="2000" dirty="0">
                    <a:latin typeface="Times New Roman" panose="02020603050405020304" pitchFamily="18" charset="0"/>
                    <a:cs typeface="Times New Roman" panose="02020603050405020304" pitchFamily="18" charset="0"/>
                  </a:rPr>
                  <a:t> remains the same. When something changes its </a:t>
                </a:r>
                <a:r>
                  <a:rPr lang="en-US" sz="2000" b="1" dirty="0">
                    <a:latin typeface="Times New Roman" panose="02020603050405020304" pitchFamily="18" charset="0"/>
                    <a:cs typeface="Times New Roman" panose="02020603050405020304" pitchFamily="18" charset="0"/>
                  </a:rPr>
                  <a:t>charge</a:t>
                </a:r>
                <a:r>
                  <a:rPr lang="en-US" sz="2000" dirty="0">
                    <a:latin typeface="Times New Roman" panose="02020603050405020304" pitchFamily="18" charset="0"/>
                    <a:cs typeface="Times New Roman" panose="02020603050405020304" pitchFamily="18" charset="0"/>
                  </a:rPr>
                  <a:t> it doesn't create </a:t>
                </a:r>
                <a:r>
                  <a:rPr lang="en-US" sz="2000" b="1" dirty="0">
                    <a:latin typeface="Times New Roman" panose="02020603050405020304" pitchFamily="18" charset="0"/>
                    <a:cs typeface="Times New Roman" panose="02020603050405020304" pitchFamily="18" charset="0"/>
                  </a:rPr>
                  <a:t>charge</a:t>
                </a:r>
                <a:r>
                  <a:rPr lang="en-US" sz="2000" dirty="0">
                    <a:latin typeface="Times New Roman" panose="02020603050405020304" pitchFamily="18" charset="0"/>
                    <a:cs typeface="Times New Roman" panose="02020603050405020304" pitchFamily="18" charset="0"/>
                  </a:rPr>
                  <a:t> but transfers it.</a:t>
                </a:r>
              </a:p>
            </p:txBody>
          </p:sp>
        </mc:Choice>
        <mc:Fallback xmlns="">
          <p:sp>
            <p:nvSpPr>
              <p:cNvPr id="6" name="Content Placeholder 5"/>
              <p:cNvSpPr>
                <a:spLocks noGrp="1" noRot="1" noChangeAspect="1" noMove="1" noResize="1" noEditPoints="1" noAdjustHandles="1" noChangeArrowheads="1" noChangeShapeType="1" noTextEdit="1"/>
              </p:cNvSpPr>
              <p:nvPr>
                <p:ph sz="half" idx="1"/>
              </p:nvPr>
            </p:nvSpPr>
            <p:spPr>
              <a:xfrm>
                <a:off x="838200" y="1511300"/>
                <a:ext cx="5181600" cy="4351338"/>
              </a:xfrm>
              <a:blipFill>
                <a:blip r:embed="rId2"/>
                <a:stretch>
                  <a:fillRect l="-2118" t="-3501" r="-1765"/>
                </a:stretch>
              </a:blipFill>
            </p:spPr>
            <p:txBody>
              <a:bodyPr/>
              <a:lstStyle/>
              <a:p>
                <a:r>
                  <a:rPr lang="en-US">
                    <a:noFill/>
                  </a:rPr>
                  <a:t> </a:t>
                </a:r>
              </a:p>
            </p:txBody>
          </p:sp>
        </mc:Fallback>
      </mc:AlternateContent>
      <p:pic>
        <p:nvPicPr>
          <p:cNvPr id="8" name="Content Placeholder 3"/>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861200" y="1393242"/>
            <a:ext cx="3651199" cy="4766843"/>
          </a:xfrm>
        </p:spPr>
      </p:pic>
    </p:spTree>
    <p:extLst>
      <p:ext uri="{BB962C8B-B14F-4D97-AF65-F5344CB8AC3E}">
        <p14:creationId xmlns:p14="http://schemas.microsoft.com/office/powerpoint/2010/main" val="26875211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u="sng" dirty="0">
                <a:latin typeface="Times New Roman" panose="02020603050405020304" pitchFamily="18" charset="0"/>
                <a:cs typeface="Times New Roman" panose="02020603050405020304" pitchFamily="18" charset="0"/>
              </a:rPr>
              <a:t>Conductors and Insulators</a:t>
            </a:r>
          </a:p>
        </p:txBody>
      </p:sp>
      <p:sp>
        <p:nvSpPr>
          <p:cNvPr id="6" name="Content Placeholder 5"/>
          <p:cNvSpPr>
            <a:spLocks noGrp="1"/>
          </p:cNvSpPr>
          <p:nvPr>
            <p:ph sz="half" idx="1"/>
          </p:nvPr>
        </p:nvSpPr>
        <p:spPr/>
        <p:txBody>
          <a:bodyPr/>
          <a:lstStyle/>
          <a:p>
            <a:pPr algn="just"/>
            <a:r>
              <a:rPr lang="en-US" dirty="0">
                <a:latin typeface="Times New Roman" panose="02020603050405020304" pitchFamily="18" charset="0"/>
                <a:cs typeface="Times New Roman" panose="02020603050405020304" pitchFamily="18" charset="0"/>
              </a:rPr>
              <a:t>In some martials like metals, electrons can move </a:t>
            </a:r>
            <a:r>
              <a:rPr lang="en-US" dirty="0">
                <a:solidFill>
                  <a:srgbClr val="C00000"/>
                </a:solidFill>
                <a:latin typeface="Times New Roman" panose="02020603050405020304" pitchFamily="18" charset="0"/>
                <a:cs typeface="Times New Roman" panose="02020603050405020304" pitchFamily="18" charset="0"/>
              </a:rPr>
              <a:t>relatively freely. </a:t>
            </a:r>
            <a:r>
              <a:rPr lang="en-US" dirty="0">
                <a:latin typeface="Times New Roman" panose="02020603050405020304" pitchFamily="18" charset="0"/>
                <a:cs typeface="Times New Roman" panose="02020603050405020304" pitchFamily="18" charset="0"/>
              </a:rPr>
              <a:t>We call these materials </a:t>
            </a:r>
            <a:r>
              <a:rPr lang="en-US" dirty="0">
                <a:solidFill>
                  <a:srgbClr val="FF0000"/>
                </a:solidFill>
                <a:latin typeface="Times New Roman" panose="02020603050405020304" pitchFamily="18" charset="0"/>
                <a:cs typeface="Times New Roman" panose="02020603050405020304" pitchFamily="18" charset="0"/>
              </a:rPr>
              <a:t>Conductors.</a:t>
            </a:r>
          </a:p>
          <a:p>
            <a:pPr algn="just"/>
            <a:r>
              <a:rPr lang="en-US" dirty="0">
                <a:latin typeface="Times New Roman" panose="02020603050405020304" pitchFamily="18" charset="0"/>
                <a:cs typeface="Times New Roman" panose="02020603050405020304" pitchFamily="18" charset="0"/>
              </a:rPr>
              <a:t> In other materials, electrons can hardly flow at all. Electrons deposited at one location will </a:t>
            </a:r>
            <a:r>
              <a:rPr lang="en-US" dirty="0">
                <a:solidFill>
                  <a:srgbClr val="C00000"/>
                </a:solidFill>
                <a:latin typeface="Times New Roman" panose="02020603050405020304" pitchFamily="18" charset="0"/>
                <a:cs typeface="Times New Roman" panose="02020603050405020304" pitchFamily="18" charset="0"/>
              </a:rPr>
              <a:t>remain at that location</a:t>
            </a:r>
            <a:r>
              <a:rPr lang="en-US" dirty="0">
                <a:latin typeface="Times New Roman" panose="02020603050405020304" pitchFamily="18" charset="0"/>
                <a:cs typeface="Times New Roman" panose="02020603050405020304" pitchFamily="18" charset="0"/>
              </a:rPr>
              <a:t>. We call these materials as </a:t>
            </a:r>
            <a:r>
              <a:rPr lang="en-US" dirty="0">
                <a:solidFill>
                  <a:srgbClr val="FF0000"/>
                </a:solidFill>
                <a:latin typeface="Times New Roman" panose="02020603050405020304" pitchFamily="18" charset="0"/>
                <a:cs typeface="Times New Roman" panose="02020603050405020304" pitchFamily="18" charset="0"/>
              </a:rPr>
              <a:t>insulators</a:t>
            </a:r>
          </a:p>
        </p:txBody>
      </p:sp>
      <p:pic>
        <p:nvPicPr>
          <p:cNvPr id="3" name="Content Placeholder 2"/>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7134805" y="1050079"/>
            <a:ext cx="4913838" cy="5326949"/>
          </a:xfrm>
        </p:spPr>
      </p:pic>
    </p:spTree>
    <p:extLst>
      <p:ext uri="{BB962C8B-B14F-4D97-AF65-F5344CB8AC3E}">
        <p14:creationId xmlns:p14="http://schemas.microsoft.com/office/powerpoint/2010/main" val="19617807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COLOMB’S LAW</a:t>
            </a:r>
          </a:p>
        </p:txBody>
      </p:sp>
      <p:sp>
        <p:nvSpPr>
          <p:cNvPr id="7" name="Content Placeholder 6"/>
          <p:cNvSpPr>
            <a:spLocks noGrp="1"/>
          </p:cNvSpPr>
          <p:nvPr>
            <p:ph idx="1"/>
          </p:nvPr>
        </p:nvSpPr>
        <p:spPr/>
        <p:txBody>
          <a:bodyPr/>
          <a:lstStyle/>
          <a:p>
            <a:pPr algn="just"/>
            <a:r>
              <a:rPr lang="en-US" b="1" dirty="0">
                <a:latin typeface="Times New Roman" panose="02020603050405020304" pitchFamily="18" charset="0"/>
                <a:cs typeface="Times New Roman" panose="02020603050405020304" pitchFamily="18" charset="0"/>
              </a:rPr>
              <a:t>Coulomb's law</a:t>
            </a:r>
            <a:r>
              <a:rPr lang="en-US" dirty="0">
                <a:latin typeface="Times New Roman" panose="02020603050405020304" pitchFamily="18" charset="0"/>
                <a:cs typeface="Times New Roman" panose="02020603050405020304" pitchFamily="18" charset="0"/>
              </a:rPr>
              <a:t> states that: </a:t>
            </a:r>
            <a:r>
              <a:rPr lang="en-US" i="1" dirty="0">
                <a:latin typeface="Times New Roman" panose="02020603050405020304" pitchFamily="18" charset="0"/>
                <a:cs typeface="Times New Roman" panose="02020603050405020304" pitchFamily="18" charset="0"/>
              </a:rPr>
              <a:t>The magnitude of the electrostatic force of attraction or repulsion between two point charges </a:t>
            </a:r>
            <a:r>
              <a:rPr lang="en-US" b="1" i="1" dirty="0">
                <a:latin typeface="Times New Roman" panose="02020603050405020304" pitchFamily="18" charset="0"/>
                <a:cs typeface="Times New Roman" panose="02020603050405020304" pitchFamily="18" charset="0"/>
              </a:rPr>
              <a:t>is</a:t>
            </a:r>
            <a:r>
              <a:rPr lang="en-US" i="1" dirty="0">
                <a:latin typeface="Times New Roman" panose="02020603050405020304" pitchFamily="18" charset="0"/>
                <a:cs typeface="Times New Roman" panose="02020603050405020304" pitchFamily="18" charset="0"/>
              </a:rPr>
              <a:t> directly proportional to the product of the magnitudes of charges and inversely proportional to the square of the distance between them. The force </a:t>
            </a:r>
            <a:r>
              <a:rPr lang="en-US" b="1" i="1" dirty="0">
                <a:latin typeface="Times New Roman" panose="02020603050405020304" pitchFamily="18" charset="0"/>
                <a:cs typeface="Times New Roman" panose="02020603050405020304" pitchFamily="18" charset="0"/>
              </a:rPr>
              <a:t>is</a:t>
            </a:r>
            <a:r>
              <a:rPr lang="en-US" i="1" dirty="0">
                <a:latin typeface="Times New Roman" panose="02020603050405020304" pitchFamily="18" charset="0"/>
                <a:cs typeface="Times New Roman" panose="02020603050405020304" pitchFamily="18" charset="0"/>
              </a:rPr>
              <a:t> along the straight line joining them.</a:t>
            </a:r>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74170" y="3903256"/>
            <a:ext cx="9243634" cy="2156847"/>
          </a:xfrm>
          <a:prstGeom prst="rect">
            <a:avLst/>
          </a:prstGeom>
        </p:spPr>
      </p:pic>
    </p:spTree>
    <p:extLst>
      <p:ext uri="{BB962C8B-B14F-4D97-AF65-F5344CB8AC3E}">
        <p14:creationId xmlns:p14="http://schemas.microsoft.com/office/powerpoint/2010/main" val="28246198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7518" y="755202"/>
            <a:ext cx="6583233" cy="4059686"/>
          </a:xfrm>
          <a:ln>
            <a:solidFill>
              <a:srgbClr val="C00000"/>
            </a:solidFill>
          </a:ln>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40751" y="755202"/>
            <a:ext cx="5451249" cy="5188398"/>
          </a:xfrm>
          <a:prstGeom prst="rect">
            <a:avLst/>
          </a:prstGeom>
        </p:spPr>
      </p:pic>
    </p:spTree>
    <p:extLst>
      <p:ext uri="{BB962C8B-B14F-4D97-AF65-F5344CB8AC3E}">
        <p14:creationId xmlns:p14="http://schemas.microsoft.com/office/powerpoint/2010/main" val="11518275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sng" dirty="0">
                <a:latin typeface="Times New Roman" panose="02020603050405020304" pitchFamily="18" charset="0"/>
                <a:cs typeface="Times New Roman" panose="02020603050405020304" pitchFamily="18" charset="0"/>
              </a:rPr>
              <a:t>Coulombs Torsion Balance</a:t>
            </a:r>
          </a:p>
        </p:txBody>
      </p:sp>
      <p:sp>
        <p:nvSpPr>
          <p:cNvPr id="3" name="Text Placeholder 2"/>
          <p:cNvSpPr>
            <a:spLocks noGrp="1"/>
          </p:cNvSpPr>
          <p:nvPr>
            <p:ph type="body" idx="1"/>
          </p:nvPr>
        </p:nvSpPr>
        <p:spPr/>
        <p:txBody>
          <a:bodyPr/>
          <a:lstStyle/>
          <a:p>
            <a:endParaRPr lang="en-US"/>
          </a:p>
        </p:txBody>
      </p:sp>
      <p:pic>
        <p:nvPicPr>
          <p:cNvPr id="4" name="Content Placeholder 3"/>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1272593" y="1520594"/>
            <a:ext cx="4167864" cy="4904187"/>
          </a:xfrm>
        </p:spPr>
      </p:pic>
      <p:sp>
        <p:nvSpPr>
          <p:cNvPr id="5" name="Text Placeholder 4"/>
          <p:cNvSpPr>
            <a:spLocks noGrp="1"/>
          </p:cNvSpPr>
          <p:nvPr>
            <p:ph type="body" sz="quarter" idx="3"/>
          </p:nvPr>
        </p:nvSpPr>
        <p:spPr/>
        <p:txBody>
          <a:bodyPr/>
          <a:lstStyle/>
          <a:p>
            <a:endParaRPr lang="en-US"/>
          </a:p>
        </p:txBody>
      </p:sp>
      <p:sp>
        <p:nvSpPr>
          <p:cNvPr id="6" name="Content Placeholder 5"/>
          <p:cNvSpPr>
            <a:spLocks noGrp="1"/>
          </p:cNvSpPr>
          <p:nvPr>
            <p:ph sz="quarter" idx="4"/>
          </p:nvPr>
        </p:nvSpPr>
        <p:spPr/>
        <p:txBody>
          <a:bodyPr/>
          <a:lstStyle/>
          <a:p>
            <a:endParaRPr lang="en-US"/>
          </a:p>
        </p:txBody>
      </p:sp>
      <p:pic>
        <p:nvPicPr>
          <p:cNvPr id="8" name="Picture 2" descr="Image result for coulomb's torsion balance"/>
          <p:cNvPicPr>
            <a:picLocks noChangeAspect="1" noChangeArrowheads="1"/>
          </p:cNvPicPr>
          <p:nvPr/>
        </p:nvPicPr>
        <p:blipFill>
          <a:blip r:embed="rId3"/>
          <a:srcRect/>
          <a:stretch>
            <a:fillRect/>
          </a:stretch>
        </p:blipFill>
        <p:spPr bwMode="auto">
          <a:xfrm>
            <a:off x="5285269" y="1462488"/>
            <a:ext cx="6359172" cy="5020399"/>
          </a:xfrm>
          <a:prstGeom prst="rect">
            <a:avLst/>
          </a:prstGeom>
          <a:noFill/>
        </p:spPr>
      </p:pic>
    </p:spTree>
    <p:extLst>
      <p:ext uri="{BB962C8B-B14F-4D97-AF65-F5344CB8AC3E}">
        <p14:creationId xmlns:p14="http://schemas.microsoft.com/office/powerpoint/2010/main" val="40863993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87206" y="1422400"/>
            <a:ext cx="6681246" cy="4835327"/>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07901" y="1027906"/>
            <a:ext cx="2463623" cy="4876622"/>
          </a:xfrm>
          <a:prstGeom prst="rect">
            <a:avLst/>
          </a:prstGeom>
        </p:spPr>
      </p:pic>
    </p:spTree>
    <p:extLst>
      <p:ext uri="{BB962C8B-B14F-4D97-AF65-F5344CB8AC3E}">
        <p14:creationId xmlns:p14="http://schemas.microsoft.com/office/powerpoint/2010/main" val="2589901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sng" dirty="0">
                <a:latin typeface="Times New Roman" panose="02020603050405020304" pitchFamily="18" charset="0"/>
                <a:cs typeface="Times New Roman" panose="02020603050405020304" pitchFamily="18" charset="0"/>
              </a:rPr>
              <a:t>Coulomb’s Law and the principle of superposition.</a:t>
            </a:r>
            <a:endParaRPr lang="en-US" dirty="0"/>
          </a:p>
        </p:txBody>
      </p:sp>
      <p:sp>
        <p:nvSpPr>
          <p:cNvPr id="3" name="Content Placeholder 2"/>
          <p:cNvSpPr>
            <a:spLocks noGrp="1"/>
          </p:cNvSpPr>
          <p:nvPr>
            <p:ph sz="half" idx="1"/>
          </p:nvPr>
        </p:nvSpPr>
        <p:spPr/>
        <p:txBody>
          <a:bodyPr>
            <a:normAutofit/>
          </a:bodyPr>
          <a:lstStyle/>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The principle of superposition states that if a </a:t>
            </a:r>
            <a:r>
              <a:rPr lang="en-US" sz="2000" dirty="0">
                <a:solidFill>
                  <a:srgbClr val="C00000"/>
                </a:solidFill>
                <a:latin typeface="Times New Roman" panose="02020603050405020304" pitchFamily="18" charset="0"/>
                <a:cs typeface="Times New Roman" panose="02020603050405020304" pitchFamily="18" charset="0"/>
              </a:rPr>
              <a:t>system contains a number of interacting charges, then the net force on any one charge due to the other charges is the vector sum of all the forces exerted on it by all the other charges. The individual forces are unaffected due to the presence of other charges.</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Explanation: The principle of superposition gives a method to find force on a charge, when a group of charges are interacting. </a:t>
            </a:r>
          </a:p>
        </p:txBody>
      </p:sp>
      <p:pic>
        <p:nvPicPr>
          <p:cNvPr id="5" name="Picture 2" descr="Principle of Superposition"/>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172200" y="2364000"/>
            <a:ext cx="5181600" cy="32745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82933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sng" dirty="0">
                <a:latin typeface="Times New Roman" panose="02020603050405020304" pitchFamily="18" charset="0"/>
                <a:cs typeface="Times New Roman" panose="02020603050405020304" pitchFamily="18" charset="0"/>
              </a:rPr>
              <a:t>Coulomb’s Law and the principle of superposition.</a:t>
            </a:r>
          </a:p>
        </p:txBody>
      </p:sp>
      <p:pic>
        <p:nvPicPr>
          <p:cNvPr id="2050" name="Picture 2" descr="Principle of Superposition"/>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311422" y="2144790"/>
            <a:ext cx="4880578" cy="3084354"/>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1690688"/>
            <a:ext cx="5878840" cy="4946080"/>
          </a:xfrm>
          <a:prstGeom prst="rect">
            <a:avLst/>
          </a:prstGeom>
        </p:spPr>
      </p:pic>
    </p:spTree>
    <p:extLst>
      <p:ext uri="{BB962C8B-B14F-4D97-AF65-F5344CB8AC3E}">
        <p14:creationId xmlns:p14="http://schemas.microsoft.com/office/powerpoint/2010/main" val="22511047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4" name="Content Placeholder 3"/>
          <p:cNvPicPr>
            <a:picLocks noGrp="1" noChangeAspect="1"/>
          </p:cNvPicPr>
          <p:nvPr>
            <p:ph idx="1"/>
          </p:nvPr>
        </p:nvPicPr>
        <p:blipFill>
          <a:blip r:embed="rId2"/>
          <a:stretch>
            <a:fillRect/>
          </a:stretch>
        </p:blipFill>
        <p:spPr>
          <a:xfrm rot="10800000">
            <a:off x="277410" y="277601"/>
            <a:ext cx="8301886" cy="2130266"/>
          </a:xfrm>
          <a:prstGeom prst="rect">
            <a:avLst/>
          </a:prstGeom>
        </p:spPr>
      </p:pic>
      <p:pic>
        <p:nvPicPr>
          <p:cNvPr id="5" name="Picture 2"/>
          <p:cNvPicPr>
            <a:picLocks noChangeAspect="1" noChangeArrowheads="1"/>
          </p:cNvPicPr>
          <p:nvPr/>
        </p:nvPicPr>
        <p:blipFill>
          <a:blip r:embed="rId3"/>
          <a:srcRect/>
          <a:stretch>
            <a:fillRect/>
          </a:stretch>
        </p:blipFill>
        <p:spPr bwMode="auto">
          <a:xfrm>
            <a:off x="3758096" y="2239813"/>
            <a:ext cx="6390308" cy="4194167"/>
          </a:xfrm>
          <a:prstGeom prst="rect">
            <a:avLst/>
          </a:prstGeom>
          <a:noFill/>
          <a:ln w="9525">
            <a:noFill/>
            <a:miter lim="800000"/>
            <a:headEnd/>
            <a:tailEnd/>
          </a:ln>
          <a:effectLst/>
        </p:spPr>
      </p:pic>
    </p:spTree>
    <p:extLst>
      <p:ext uri="{BB962C8B-B14F-4D97-AF65-F5344CB8AC3E}">
        <p14:creationId xmlns:p14="http://schemas.microsoft.com/office/powerpoint/2010/main" val="15523512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rot="10800000">
            <a:off x="2250704" y="248240"/>
            <a:ext cx="5261717" cy="6609760"/>
          </a:xfrm>
        </p:spPr>
      </p:pic>
    </p:spTree>
    <p:extLst>
      <p:ext uri="{BB962C8B-B14F-4D97-AF65-F5344CB8AC3E}">
        <p14:creationId xmlns:p14="http://schemas.microsoft.com/office/powerpoint/2010/main" val="15388443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365125"/>
            <a:ext cx="12011052" cy="5791631"/>
          </a:xfrm>
        </p:spPr>
      </p:pic>
    </p:spTree>
    <p:extLst>
      <p:ext uri="{BB962C8B-B14F-4D97-AF65-F5344CB8AC3E}">
        <p14:creationId xmlns:p14="http://schemas.microsoft.com/office/powerpoint/2010/main" val="837758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u="sng" dirty="0">
                <a:latin typeface="Times New Roman" panose="02020603050405020304" pitchFamily="18" charset="0"/>
                <a:cs typeface="Times New Roman" panose="02020603050405020304" pitchFamily="18" charset="0"/>
              </a:rPr>
              <a:t>Conservation of Charge: </a:t>
            </a:r>
            <a:r>
              <a:rPr lang="en-US" sz="3200" u="sng" dirty="0">
                <a:latin typeface="Times New Roman" panose="02020603050405020304" pitchFamily="18" charset="0"/>
                <a:cs typeface="Times New Roman" panose="02020603050405020304" pitchFamily="18" charset="0"/>
              </a:rPr>
              <a:t>In any Physical </a:t>
            </a:r>
            <a:r>
              <a:rPr lang="en-US" sz="3200" u="sng" dirty="0" err="1">
                <a:latin typeface="Times New Roman" panose="02020603050405020304" pitchFamily="18" charset="0"/>
                <a:cs typeface="Times New Roman" panose="02020603050405020304" pitchFamily="18" charset="0"/>
              </a:rPr>
              <a:t>proces</a:t>
            </a:r>
            <a:r>
              <a:rPr lang="en-US" sz="3200" u="sng" dirty="0">
                <a:latin typeface="Times New Roman" panose="02020603050405020304" pitchFamily="18" charset="0"/>
                <a:cs typeface="Times New Roman" panose="02020603050405020304" pitchFamily="18" charset="0"/>
              </a:rPr>
              <a:t> the total charge remains conserved. Charge transfers from one surface to another, but total charge remained constant.</a:t>
            </a:r>
          </a:p>
        </p:txBody>
      </p:sp>
      <p:pic>
        <p:nvPicPr>
          <p:cNvPr id="6" name="Content Placeholder 5"/>
          <p:cNvPicPr>
            <a:picLocks noGrp="1" noChangeAspect="1"/>
          </p:cNvPicPr>
          <p:nvPr>
            <p:ph sz="half" idx="4294967295"/>
          </p:nvPr>
        </p:nvPicPr>
        <p:blipFill>
          <a:blip r:embed="rId2">
            <a:extLst>
              <a:ext uri="{28A0092B-C50C-407E-A947-70E740481C1C}">
                <a14:useLocalDpi xmlns:a14="http://schemas.microsoft.com/office/drawing/2010/main" val="0"/>
              </a:ext>
            </a:extLst>
          </a:blip>
          <a:stretch>
            <a:fillRect/>
          </a:stretch>
        </p:blipFill>
        <p:spPr>
          <a:xfrm>
            <a:off x="183988" y="2062162"/>
            <a:ext cx="6026312" cy="1952625"/>
          </a:xfrm>
        </p:spPr>
      </p:pic>
      <p:pic>
        <p:nvPicPr>
          <p:cNvPr id="7" name="Content Placeholder 6"/>
          <p:cNvPicPr>
            <a:picLocks noGrp="1" noChangeAspect="1"/>
          </p:cNvPicPr>
          <p:nvPr>
            <p:ph sz="half" idx="4294967295"/>
          </p:nvPr>
        </p:nvPicPr>
        <p:blipFill>
          <a:blip r:embed="rId3">
            <a:extLst>
              <a:ext uri="{28A0092B-C50C-407E-A947-70E740481C1C}">
                <a14:useLocalDpi xmlns:a14="http://schemas.microsoft.com/office/drawing/2010/main" val="0"/>
              </a:ext>
            </a:extLst>
          </a:blip>
          <a:stretch>
            <a:fillRect/>
          </a:stretch>
        </p:blipFill>
        <p:spPr>
          <a:xfrm>
            <a:off x="6210300" y="1690688"/>
            <a:ext cx="5410967" cy="5318158"/>
          </a:xfrm>
        </p:spPr>
      </p:pic>
    </p:spTree>
    <p:extLst>
      <p:ext uri="{BB962C8B-B14F-4D97-AF65-F5344CB8AC3E}">
        <p14:creationId xmlns:p14="http://schemas.microsoft.com/office/powerpoint/2010/main" val="28464903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901" y="149766"/>
            <a:ext cx="6452551" cy="6468886"/>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11650" y="365125"/>
            <a:ext cx="5562191" cy="5633129"/>
          </a:xfrm>
          <a:prstGeom prst="rect">
            <a:avLst/>
          </a:prstGeom>
        </p:spPr>
      </p:pic>
    </p:spTree>
    <p:extLst>
      <p:ext uri="{BB962C8B-B14F-4D97-AF65-F5344CB8AC3E}">
        <p14:creationId xmlns:p14="http://schemas.microsoft.com/office/powerpoint/2010/main" val="37979947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15021" y="272963"/>
            <a:ext cx="6247034" cy="6517044"/>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08883" y="272963"/>
            <a:ext cx="3969539" cy="6754544"/>
          </a:xfrm>
          <a:prstGeom prst="rect">
            <a:avLst/>
          </a:prstGeom>
        </p:spPr>
      </p:pic>
    </p:spTree>
    <p:extLst>
      <p:ext uri="{BB962C8B-B14F-4D97-AF65-F5344CB8AC3E}">
        <p14:creationId xmlns:p14="http://schemas.microsoft.com/office/powerpoint/2010/main" val="38451045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4049" y="442914"/>
            <a:ext cx="6088710" cy="5233994"/>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77730" y="821306"/>
            <a:ext cx="4676070" cy="3293494"/>
          </a:xfrm>
          <a:prstGeom prst="rect">
            <a:avLst/>
          </a:prstGeom>
        </p:spPr>
      </p:pic>
    </p:spTree>
    <p:extLst>
      <p:ext uri="{BB962C8B-B14F-4D97-AF65-F5344CB8AC3E}">
        <p14:creationId xmlns:p14="http://schemas.microsoft.com/office/powerpoint/2010/main" val="31987681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71763" y="0"/>
            <a:ext cx="5614987" cy="6653030"/>
          </a:xfrm>
          <a:prstGeom prst="rect">
            <a:avLst/>
          </a:prstGeom>
        </p:spPr>
      </p:pic>
    </p:spTree>
    <p:extLst>
      <p:ext uri="{BB962C8B-B14F-4D97-AF65-F5344CB8AC3E}">
        <p14:creationId xmlns:p14="http://schemas.microsoft.com/office/powerpoint/2010/main" val="17300693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Home Task of the Week.</a:t>
            </a: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Section 25.4</a:t>
            </a:r>
          </a:p>
          <a:p>
            <a:pPr lvl="1"/>
            <a:r>
              <a:rPr lang="en-US" sz="2800" dirty="0">
                <a:latin typeface="Times New Roman" panose="02020603050405020304" pitchFamily="18" charset="0"/>
                <a:cs typeface="Times New Roman" panose="02020603050405020304" pitchFamily="18" charset="0"/>
              </a:rPr>
              <a:t>Q # 2,  3, 4, 5 ,7 , 8, 9 , 10, 11, 12, 13.</a:t>
            </a:r>
          </a:p>
          <a:p>
            <a:pPr lvl="1"/>
            <a:r>
              <a:rPr lang="en-US" sz="2800" dirty="0">
                <a:latin typeface="Times New Roman" panose="02020603050405020304" pitchFamily="18" charset="0"/>
                <a:cs typeface="Times New Roman" panose="02020603050405020304" pitchFamily="18" charset="0"/>
              </a:rPr>
              <a:t>Revision of all </a:t>
            </a:r>
            <a:r>
              <a:rPr lang="en-US" sz="2800">
                <a:latin typeface="Times New Roman" panose="02020603050405020304" pitchFamily="18" charset="0"/>
                <a:cs typeface="Times New Roman" panose="02020603050405020304" pitchFamily="18" charset="0"/>
              </a:rPr>
              <a:t>solved Problems </a:t>
            </a:r>
            <a:r>
              <a:rPr lang="en-US" sz="2800" dirty="0">
                <a:latin typeface="Times New Roman" panose="02020603050405020304" pitchFamily="18" charset="0"/>
                <a:cs typeface="Times New Roman" panose="02020603050405020304" pitchFamily="18" charset="0"/>
              </a:rPr>
              <a:t>of the relevant topics of the chapter</a:t>
            </a:r>
            <a:r>
              <a:rPr lang="en-US" dirty="0"/>
              <a:t>.</a:t>
            </a:r>
          </a:p>
        </p:txBody>
      </p:sp>
    </p:spTree>
    <p:extLst>
      <p:ext uri="{BB962C8B-B14F-4D97-AF65-F5344CB8AC3E}">
        <p14:creationId xmlns:p14="http://schemas.microsoft.com/office/powerpoint/2010/main" val="11894766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311</TotalTime>
  <Words>590</Words>
  <Application>Microsoft Office PowerPoint</Application>
  <PresentationFormat>Widescreen</PresentationFormat>
  <Paragraphs>35</Paragraphs>
  <Slides>22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Calibri</vt:lpstr>
      <vt:lpstr>Calibri Light</vt:lpstr>
      <vt:lpstr>Cambria Math</vt:lpstr>
      <vt:lpstr>Times New Roman</vt:lpstr>
      <vt:lpstr>Office Theme</vt:lpstr>
      <vt:lpstr> CH#25 = Electrostatics Electric Charge and Coulomb’s Law</vt:lpstr>
      <vt:lpstr>Electromagnetism</vt:lpstr>
      <vt:lpstr>Four Maxwell’s Equations</vt:lpstr>
      <vt:lpstr>Time Line of Major Development  in Electromagnetism</vt:lpstr>
      <vt:lpstr>Electric Charge : It is a basic property of elementary particles of matter. A charge  particle can attract or repel other particles with a force F. There are two types of electric charge; positive and negative, an object with an absence of net charge is referred to as neutral particle</vt:lpstr>
      <vt:lpstr>Important Properties of Charges</vt:lpstr>
      <vt:lpstr>Conductors and Insulators</vt:lpstr>
      <vt:lpstr>COLOMB’S LAW</vt:lpstr>
      <vt:lpstr>PowerPoint Presentation</vt:lpstr>
      <vt:lpstr>Coulombs Torsion Balance</vt:lpstr>
      <vt:lpstr>PowerPoint Presentation</vt:lpstr>
      <vt:lpstr>Coulomb’s Law and the principle of superposition.</vt:lpstr>
      <vt:lpstr>Coulomb’s Law and the principle of superposition.</vt:lpstr>
      <vt:lpstr>PowerPoint Presentation</vt:lpstr>
      <vt:lpstr>PowerPoint Presentation</vt:lpstr>
      <vt:lpstr>PowerPoint Presentation</vt:lpstr>
      <vt:lpstr>Conservation of Charge: In any Physical proces the total charge remains conserved. Charge transfers from one surface to another, but total charge remained constant.</vt:lpstr>
      <vt:lpstr>PowerPoint Presentation</vt:lpstr>
      <vt:lpstr>PowerPoint Presentation</vt:lpstr>
      <vt:lpstr>PowerPoint Presentation</vt:lpstr>
      <vt:lpstr>PowerPoint Presentation</vt:lpstr>
      <vt:lpstr>Home Task of the Week.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dc:creator>
  <cp:lastModifiedBy>syed hussain</cp:lastModifiedBy>
  <cp:revision>89</cp:revision>
  <dcterms:created xsi:type="dcterms:W3CDTF">2020-04-26T06:56:06Z</dcterms:created>
  <dcterms:modified xsi:type="dcterms:W3CDTF">2021-01-07T05:20:05Z</dcterms:modified>
</cp:coreProperties>
</file>