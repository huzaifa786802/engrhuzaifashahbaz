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6244BA47-B6AD-4F5F-8335-B8B82AD9B287}"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836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spTree>
    <p:extLst>
      <p:ext uri="{BB962C8B-B14F-4D97-AF65-F5344CB8AC3E}">
        <p14:creationId xmlns:p14="http://schemas.microsoft.com/office/powerpoint/2010/main" val="116226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9191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494C78-2AC2-47D0-88B4-156FAC6A2098}"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4BA47-B6AD-4F5F-8335-B8B82AD9B287}" type="slidenum">
              <a:rPr lang="en-US" smtClean="0"/>
              <a:t>‹#›</a:t>
            </a:fld>
            <a:endParaRPr lang="en-US"/>
          </a:p>
        </p:txBody>
      </p:sp>
    </p:spTree>
    <p:extLst>
      <p:ext uri="{BB962C8B-B14F-4D97-AF65-F5344CB8AC3E}">
        <p14:creationId xmlns:p14="http://schemas.microsoft.com/office/powerpoint/2010/main" val="15484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494C78-2AC2-47D0-88B4-156FAC6A2098}" type="datetimeFigureOut">
              <a:rPr lang="en-US" smtClean="0"/>
              <a:t>12/22/2020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44BA47-B6AD-4F5F-8335-B8B82AD9B287}"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1562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494C78-2AC2-47D0-88B4-156FAC6A2098}" type="datetimeFigureOut">
              <a:rPr lang="en-US" smtClean="0"/>
              <a:t>12/22/2020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44BA47-B6AD-4F5F-8335-B8B82AD9B287}"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634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494C78-2AC2-47D0-88B4-156FAC6A2098}" type="datetimeFigureOut">
              <a:rPr lang="en-US" smtClean="0"/>
              <a:t>12/22/2020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44BA47-B6AD-4F5F-8335-B8B82AD9B287}" type="slidenum">
              <a:rPr lang="en-US" smtClean="0"/>
              <a:t>‹#›</a:t>
            </a:fld>
            <a:endParaRPr lang="en-US"/>
          </a:p>
        </p:txBody>
      </p:sp>
    </p:spTree>
    <p:extLst>
      <p:ext uri="{BB962C8B-B14F-4D97-AF65-F5344CB8AC3E}">
        <p14:creationId xmlns:p14="http://schemas.microsoft.com/office/powerpoint/2010/main" val="251598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B494C78-2AC2-47D0-88B4-156FAC6A2098}"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4BA47-B6AD-4F5F-8335-B8B82AD9B287}"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078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B494C78-2AC2-47D0-88B4-156FAC6A2098}"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4BA47-B6AD-4F5F-8335-B8B82AD9B287}" type="slidenum">
              <a:rPr lang="en-US" smtClean="0"/>
              <a:t>‹#›</a:t>
            </a:fld>
            <a:endParaRPr lang="en-US"/>
          </a:p>
        </p:txBody>
      </p:sp>
    </p:spTree>
    <p:extLst>
      <p:ext uri="{BB962C8B-B14F-4D97-AF65-F5344CB8AC3E}">
        <p14:creationId xmlns:p14="http://schemas.microsoft.com/office/powerpoint/2010/main" val="394105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B494C78-2AC2-47D0-88B4-156FAC6A2098}"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4BA47-B6AD-4F5F-8335-B8B82AD9B287}" type="slidenum">
              <a:rPr lang="en-US" smtClean="0"/>
              <a:t>‹#›</a:t>
            </a:fld>
            <a:endParaRPr lang="en-US"/>
          </a:p>
        </p:txBody>
      </p:sp>
    </p:spTree>
    <p:extLst>
      <p:ext uri="{BB962C8B-B14F-4D97-AF65-F5344CB8AC3E}">
        <p14:creationId xmlns:p14="http://schemas.microsoft.com/office/powerpoint/2010/main" val="1237940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9814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spTree>
    <p:extLst>
      <p:ext uri="{BB962C8B-B14F-4D97-AF65-F5344CB8AC3E}">
        <p14:creationId xmlns:p14="http://schemas.microsoft.com/office/powerpoint/2010/main" val="4149550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17654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77158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565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94C78-2AC2-47D0-88B4-156FAC6A2098}"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4BA47-B6AD-4F5F-8335-B8B82AD9B287}"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6745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B494C78-2AC2-47D0-88B4-156FAC6A2098}" type="datetimeFigureOut">
              <a:rPr lang="en-US" smtClean="0"/>
              <a:t>12/22/2020</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4BA47-B6AD-4F5F-8335-B8B82AD9B287}" type="slidenum">
              <a:rPr lang="en-US" smtClean="0"/>
              <a:t>‹#›</a:t>
            </a:fld>
            <a:endParaRPr lang="en-US"/>
          </a:p>
        </p:txBody>
      </p:sp>
    </p:spTree>
    <p:extLst>
      <p:ext uri="{BB962C8B-B14F-4D97-AF65-F5344CB8AC3E}">
        <p14:creationId xmlns:p14="http://schemas.microsoft.com/office/powerpoint/2010/main" val="156857399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gif"/><Relationship Id="rId5" Type="http://schemas.openxmlformats.org/officeDocument/2006/relationships/image" Target="../media/image10.gif"/><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7"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5402" y="757238"/>
            <a:ext cx="9601196" cy="1528761"/>
          </a:xfrm>
        </p:spPr>
        <p:txBody>
          <a:bodyPr>
            <a:normAutofit fontScale="90000"/>
          </a:bodyPr>
          <a:lstStyle/>
          <a:p>
            <a:r>
              <a:rPr lang="en-US" sz="2700" b="1" u="sng" dirty="0">
                <a:latin typeface="Times New Roman" panose="02020603050405020304" pitchFamily="18" charset="0"/>
                <a:cs typeface="Times New Roman" panose="02020603050405020304" pitchFamily="18" charset="0"/>
              </a:rPr>
              <a:t>( A/Prof Syed Hussain Shah)</a:t>
            </a:r>
            <a:br>
              <a:rPr lang="en-US" sz="2700" b="1" u="sng" dirty="0">
                <a:latin typeface="Times New Roman" panose="02020603050405020304" pitchFamily="18" charset="0"/>
                <a:cs typeface="Times New Roman" panose="02020603050405020304" pitchFamily="18" charset="0"/>
              </a:rPr>
            </a:br>
            <a:br>
              <a:rPr lang="en-US" sz="2700" b="1" u="sng" dirty="0">
                <a:latin typeface="Times New Roman" panose="02020603050405020304" pitchFamily="18" charset="0"/>
                <a:cs typeface="Times New Roman" panose="02020603050405020304" pitchFamily="18" charset="0"/>
              </a:rPr>
            </a:br>
            <a:r>
              <a:rPr lang="en-US" sz="2400" b="1" u="sng" dirty="0">
                <a:latin typeface="Times New Roman" panose="02020603050405020304" pitchFamily="18" charset="0"/>
                <a:cs typeface="Times New Roman" panose="02020603050405020304" pitchFamily="18" charset="0"/>
              </a:rPr>
              <a:t>To Measure the Spring constant “k” by static and dynamic methods and to find the mass of the spring</a:t>
            </a:r>
            <a:r>
              <a:rPr lang="en-US" sz="2400" dirty="0">
                <a:latin typeface="Times New Roman" panose="02020603050405020304" pitchFamily="18" charset="0"/>
                <a:cs typeface="Times New Roman" panose="02020603050405020304" pitchFamily="18" charset="0"/>
              </a:rPr>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171" y="2927641"/>
            <a:ext cx="2392887" cy="236240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3364" y="3078132"/>
            <a:ext cx="1722269" cy="160795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1188" y="2668803"/>
            <a:ext cx="2781541" cy="3215919"/>
          </a:xfrm>
          <a:prstGeom prst="rect">
            <a:avLst/>
          </a:prstGeom>
        </p:spPr>
      </p:pic>
      <p:pic>
        <p:nvPicPr>
          <p:cNvPr id="8" name="Picture 2" descr="Image result for Mass spring system pictures"/>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514859" y="2668803"/>
            <a:ext cx="2057400" cy="30480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s://upload.wikimedia.org/wikipedia/commons/9/9d/Simple_harmonic_oscillator.gif"/>
          <p:cNvPicPr>
            <a:picLocks noChangeAspect="1" noChangeArrowheads="1" noCrop="1"/>
          </p:cNvPicPr>
          <p:nvPr/>
        </p:nvPicPr>
        <p:blipFill>
          <a:blip r:embed="rId6">
            <a:extLst>
              <a:ext uri="{28A0092B-C50C-407E-A947-70E740481C1C}">
                <a14:useLocalDpi xmlns:a14="http://schemas.microsoft.com/office/drawing/2010/main" val="0"/>
              </a:ext>
            </a:extLst>
          </a:blip>
          <a:stretch>
            <a:fillRect/>
          </a:stretch>
        </p:blipFill>
        <p:spPr bwMode="auto">
          <a:xfrm>
            <a:off x="3719040" y="2878107"/>
            <a:ext cx="1072071"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7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295402" y="771526"/>
            <a:ext cx="9601196" cy="1514474"/>
          </a:xfrm>
        </p:spPr>
        <p:txBody>
          <a:bodyPr>
            <a:normAutofit/>
          </a:bodyPr>
          <a:lstStyle/>
          <a:p>
            <a:r>
              <a:rPr lang="en-US" sz="2800" b="1" i="1" u="sng" dirty="0">
                <a:solidFill>
                  <a:srgbClr val="C00000"/>
                </a:solidFill>
                <a:latin typeface="Times New Roman" panose="02020603050405020304" pitchFamily="18" charset="0"/>
                <a:cs typeface="Times New Roman" panose="02020603050405020304" pitchFamily="18" charset="0"/>
              </a:rPr>
              <a:t>Mass Spring System</a:t>
            </a:r>
            <a:br>
              <a:rPr lang="en-US" sz="2800" b="1" i="1" u="sng" dirty="0">
                <a:solidFill>
                  <a:srgbClr val="C00000"/>
                </a:solidFill>
                <a:latin typeface="Times New Roman" panose="02020603050405020304" pitchFamily="18" charset="0"/>
                <a:cs typeface="Times New Roman" panose="02020603050405020304" pitchFamily="18" charset="0"/>
              </a:rPr>
            </a:br>
            <a:r>
              <a:rPr lang="en-US" sz="2000" b="1" i="1" u="sng" dirty="0">
                <a:solidFill>
                  <a:srgbClr val="C00000"/>
                </a:solidFill>
                <a:latin typeface="Times New Roman" panose="02020603050405020304" pitchFamily="18" charset="0"/>
                <a:cs typeface="Times New Roman" panose="02020603050405020304" pitchFamily="18" charset="0"/>
              </a:rPr>
              <a:t>Is Rubber more elastic than steel? The answer lies in the concept of elasticity.</a:t>
            </a:r>
            <a:endParaRPr lang="en-US" sz="2000" b="1" i="1" dirty="0">
              <a:solidFill>
                <a:srgbClr val="C00000"/>
              </a:solidFill>
              <a:latin typeface="Times New Roman" panose="02020603050405020304" pitchFamily="18" charset="0"/>
              <a:cs typeface="Times New Roman" panose="02020603050405020304" pitchFamily="18" charset="0"/>
            </a:endParaRPr>
          </a:p>
        </p:txBody>
      </p:sp>
      <p:sp>
        <p:nvSpPr>
          <p:cNvPr id="13" name="Content Placeholder 12"/>
          <p:cNvSpPr>
            <a:spLocks noGrp="1"/>
          </p:cNvSpPr>
          <p:nvPr>
            <p:ph idx="1"/>
          </p:nvPr>
        </p:nvSpPr>
        <p:spPr/>
        <p:txBody>
          <a:bodyPr>
            <a:normAutofit fontScale="92500"/>
          </a:bodyPr>
          <a:lstStyle/>
          <a:p>
            <a:pPr marL="0" indent="0" algn="just">
              <a:buNone/>
            </a:pPr>
            <a:r>
              <a:rPr lang="en-US" dirty="0"/>
              <a:t> </a:t>
            </a:r>
            <a:r>
              <a:rPr lang="en-US" sz="2800" b="1" u="sng" dirty="0">
                <a:latin typeface="Times New Roman" panose="02020603050405020304" pitchFamily="18" charset="0"/>
                <a:cs typeface="Times New Roman" panose="02020603050405020304" pitchFamily="18" charset="0"/>
              </a:rPr>
              <a:t>Apparatus</a:t>
            </a:r>
            <a:r>
              <a:rPr lang="en-US" sz="2800" u="sng"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Spiral spring, Pointer, Slotted Weights, Stop  Watch, Meter rod</a:t>
            </a:r>
          </a:p>
          <a:p>
            <a:pPr marL="0" indent="0" algn="just">
              <a:buNone/>
            </a:pPr>
            <a:r>
              <a:rPr lang="en-US" sz="2800" b="1" u="sng" dirty="0">
                <a:latin typeface="Times New Roman" panose="02020603050405020304" pitchFamily="18" charset="0"/>
                <a:cs typeface="Times New Roman" panose="02020603050405020304" pitchFamily="18" charset="0"/>
              </a:rPr>
              <a:t>Introduction:</a:t>
            </a:r>
            <a:r>
              <a:rPr lang="en-US" sz="2800" b="1"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A spring is an elastic material which stores mechanical energy. Springs are usually made of hardened steel. The spring constant k of an ideal spring is defined as the force per unit length of the spring and is different from one spring to another. Spring constant is represented in Newton/ Meter (N/M).</a:t>
            </a:r>
          </a:p>
        </p:txBody>
      </p:sp>
    </p:spTree>
    <p:extLst>
      <p:ext uri="{BB962C8B-B14F-4D97-AF65-F5344CB8AC3E}">
        <p14:creationId xmlns:p14="http://schemas.microsoft.com/office/powerpoint/2010/main" val="1815780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10145" y="754063"/>
            <a:ext cx="9601200" cy="1303337"/>
          </a:xfrm>
        </p:spPr>
        <p:txBody>
          <a:bodyPr>
            <a:normAutofit fontScale="90000"/>
          </a:bodyPr>
          <a:lstStyle/>
          <a:p>
            <a:pPr algn="l"/>
            <a:br>
              <a:rPr lang="en-US" sz="3100" b="1" u="sng" dirty="0">
                <a:latin typeface="Times New Roman" panose="02020603050405020304" pitchFamily="18" charset="0"/>
                <a:cs typeface="Times New Roman" panose="02020603050405020304" pitchFamily="18" charset="0"/>
              </a:rPr>
            </a:br>
            <a:r>
              <a:rPr lang="en-US" sz="3100" b="1" u="sng" dirty="0">
                <a:latin typeface="Times New Roman" panose="02020603050405020304" pitchFamily="18" charset="0"/>
                <a:cs typeface="Times New Roman" panose="02020603050405020304" pitchFamily="18" charset="0"/>
              </a:rPr>
              <a:t>Modes of Determination: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1) Static Mode: </a:t>
            </a:r>
            <a:r>
              <a:rPr lang="en-US" sz="2200" dirty="0">
                <a:latin typeface="Times New Roman" panose="02020603050405020304" pitchFamily="18" charset="0"/>
                <a:cs typeface="Times New Roman" panose="02020603050405020304" pitchFamily="18" charset="0"/>
              </a:rPr>
              <a:t>In this mode a weight is added to the spring and its extension is measured. The spring is fixed at one end and a weight is added in equal amounts one by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4294967295"/>
              </p:nvPr>
            </p:nvSpPr>
            <p:spPr>
              <a:xfrm>
                <a:off x="914400" y="2057400"/>
                <a:ext cx="9601200" cy="3589338"/>
              </a:xfrm>
            </p:spPr>
            <p:txBody>
              <a:bodyPr>
                <a:normAutofit fontScale="92500"/>
              </a:bodyPr>
              <a:lstStyle/>
              <a:p>
                <a:pPr marL="0" indent="0">
                  <a:buNone/>
                </a:pPr>
                <a:r>
                  <a:rPr lang="en-US" sz="2000" dirty="0">
                    <a:latin typeface="Times New Roman" panose="02020603050405020304" pitchFamily="18" charset="0"/>
                    <a:cs typeface="Times New Roman" panose="02020603050405020304" pitchFamily="18" charset="0"/>
                  </a:rPr>
                  <a:t>  one, the extension produced in the length of  the spring is noted from the meter scale fixed. </a:t>
                </a:r>
              </a:p>
              <a:p>
                <a:r>
                  <a:rPr lang="en-US" sz="2000" dirty="0">
                    <a:latin typeface="Times New Roman" panose="02020603050405020304" pitchFamily="18" charset="0"/>
                    <a:cs typeface="Times New Roman" panose="02020603050405020304" pitchFamily="18" charset="0"/>
                  </a:rPr>
                  <a:t>At the equilibrium , there are two equal and opposite forces , acting upward and downward. </a:t>
                </a:r>
              </a:p>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b="0" i="1" smtClean="0">
                            <a:latin typeface="Cambria Math" panose="02040503050406030204" pitchFamily="18" charset="0"/>
                          </a:rPr>
                          <m:t>𝑢𝑝</m:t>
                        </m:r>
                      </m:sub>
                    </m:sSub>
                  </m:oMath>
                </a14:m>
                <a:r>
                  <a:rPr 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b="0" i="1" smtClean="0">
                            <a:latin typeface="Cambria Math" panose="02040503050406030204" pitchFamily="18" charset="0"/>
                          </a:rPr>
                          <m:t>𝑑𝑜𝑤𝑛</m:t>
                        </m:r>
                      </m:sub>
                    </m:sSub>
                  </m:oMath>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k x = Mg  	or </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𝑘</m:t>
                    </m:r>
                    <m:r>
                      <a:rPr lang="en-US" sz="2000" i="1" smtClean="0">
                        <a:latin typeface="Cambria Math" panose="02040503050406030204" pitchFamily="18" charset="0"/>
                      </a:rPr>
                      <m:t>=</m:t>
                    </m:r>
                    <m:f>
                      <m:fPr>
                        <m:ctrlPr>
                          <a:rPr lang="en-US" sz="2000" i="1" smtClean="0">
                            <a:latin typeface="Cambria Math" panose="02040503050406030204" pitchFamily="18" charset="0"/>
                          </a:rPr>
                        </m:ctrlPr>
                      </m:fPr>
                      <m:num>
                        <m:r>
                          <m:rPr>
                            <m:nor/>
                          </m:rPr>
                          <a:rPr lang="en-US" sz="2000" dirty="0">
                            <a:latin typeface="Times New Roman" panose="02020603050405020304" pitchFamily="18" charset="0"/>
                            <a:cs typeface="Times New Roman" panose="02020603050405020304" pitchFamily="18" charset="0"/>
                          </a:rPr>
                          <m:t>Mg</m:t>
                        </m:r>
                      </m:num>
                      <m:den>
                        <m:r>
                          <a:rPr lang="en-US" sz="2000" b="0" i="1" smtClean="0">
                            <a:latin typeface="Cambria Math" panose="02040503050406030204" pitchFamily="18" charset="0"/>
                          </a:rPr>
                          <m:t>𝑥</m:t>
                        </m:r>
                      </m:den>
                    </m:f>
                  </m:oMath>
                </a14:m>
                <a:r>
                  <a:rPr lang="en-US" sz="2000" dirty="0">
                    <a:latin typeface="Times New Roman" panose="02020603050405020304" pitchFamily="18" charset="0"/>
                    <a:cs typeface="Times New Roman" panose="02020603050405020304" pitchFamily="18" charset="0"/>
                  </a:rPr>
                  <a:t>		(N/m)		(1)</a:t>
                </a:r>
              </a:p>
              <a:p>
                <a:r>
                  <a:rPr lang="en-US" sz="2000" dirty="0">
                    <a:latin typeface="Times New Roman" panose="02020603050405020304" pitchFamily="18" charset="0"/>
                    <a:cs typeface="Times New Roman" panose="02020603050405020304" pitchFamily="18" charset="0"/>
                  </a:rPr>
                  <a:t>Where M is the mass of the load applied; g is the </a:t>
                </a:r>
              </a:p>
              <a:p>
                <a:pPr marL="0" indent="0">
                  <a:buNone/>
                </a:pPr>
                <a:r>
                  <a:rPr lang="en-US" sz="2000" dirty="0">
                    <a:latin typeface="Times New Roman" panose="02020603050405020304" pitchFamily="18" charset="0"/>
                    <a:cs typeface="Times New Roman" panose="02020603050405020304" pitchFamily="18" charset="0"/>
                  </a:rPr>
                  <a:t>acceleration due to gravity; k is the spring constant; </a:t>
                </a:r>
              </a:p>
              <a:p>
                <a:pPr marL="0" indent="0">
                  <a:buNone/>
                </a:pPr>
                <a:r>
                  <a:rPr lang="en-US" sz="2000" dirty="0">
                    <a:latin typeface="Times New Roman" panose="02020603050405020304" pitchFamily="18" charset="0"/>
                    <a:cs typeface="Times New Roman" panose="02020603050405020304" pitchFamily="18" charset="0"/>
                  </a:rPr>
                  <a:t>and x is the extension of the spring.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4294967295"/>
              </p:nvPr>
            </p:nvSpPr>
            <p:spPr>
              <a:xfrm>
                <a:off x="914400" y="2057400"/>
                <a:ext cx="9601200" cy="3589338"/>
              </a:xfrm>
              <a:blipFill>
                <a:blip r:embed="rId2"/>
                <a:stretch>
                  <a:fillRect l="-698" t="-850"/>
                </a:stretch>
              </a:blipFill>
            </p:spPr>
            <p:txBody>
              <a:bodyPr/>
              <a:lstStyle/>
              <a:p>
                <a:r>
                  <a:rPr lang="en-PK">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1931" y="2772712"/>
            <a:ext cx="2781541" cy="3215919"/>
          </a:xfrm>
          <a:prstGeom prst="rect">
            <a:avLst/>
          </a:prstGeom>
        </p:spPr>
      </p:pic>
    </p:spTree>
    <p:extLst>
      <p:ext uri="{BB962C8B-B14F-4D97-AF65-F5344CB8AC3E}">
        <p14:creationId xmlns:p14="http://schemas.microsoft.com/office/powerpoint/2010/main" val="2664778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dirty="0">
                <a:latin typeface="Times New Roman" panose="02020603050405020304" pitchFamily="18" charset="0"/>
                <a:cs typeface="Times New Roman" panose="02020603050405020304" pitchFamily="18" charset="0"/>
              </a:rPr>
              <a:t>Plotting </a:t>
            </a:r>
            <a:r>
              <a:rPr lang="en-US" sz="2400" i="1" dirty="0">
                <a:latin typeface="Times New Roman" panose="02020603050405020304" pitchFamily="18" charset="0"/>
                <a:cs typeface="Times New Roman" panose="02020603050405020304" pitchFamily="18" charset="0"/>
              </a:rPr>
              <a:t>M</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vs</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a straight line is drawn. The value of k is measured from the inverse slope of the line.</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0248" y="2502653"/>
            <a:ext cx="6817176" cy="3570370"/>
          </a:xfrm>
        </p:spPr>
      </p:pic>
    </p:spTree>
    <p:extLst>
      <p:ext uri="{BB962C8B-B14F-4D97-AF65-F5344CB8AC3E}">
        <p14:creationId xmlns:p14="http://schemas.microsoft.com/office/powerpoint/2010/main" val="1670004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pPr algn="l"/>
            <a:r>
              <a:rPr lang="en-US" sz="2800" b="1" dirty="0"/>
              <a:t>2. </a:t>
            </a:r>
            <a:r>
              <a:rPr lang="en-US" sz="2800" b="1" dirty="0">
                <a:latin typeface="Times New Roman" panose="02020603050405020304" pitchFamily="18" charset="0"/>
                <a:cs typeface="Times New Roman" panose="02020603050405020304" pitchFamily="18" charset="0"/>
              </a:rPr>
              <a:t>Dynamic Mode</a:t>
            </a:r>
            <a:r>
              <a:rPr lang="en-US" sz="2800" dirty="0">
                <a:latin typeface="Times New Roman" panose="02020603050405020304" pitchFamily="18" charset="0"/>
                <a:cs typeface="Times New Roman" panose="02020603050405020304" pitchFamily="18" charset="0"/>
              </a:rPr>
              <a:t>: If the same spring is made to oscillate by pulling the weight applied to it downward, it executes a simple harmonic motion.</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p:txBody>
              <a:bodyPr>
                <a:normAutofit fontScale="85000" lnSpcReduction="20000"/>
              </a:bodyPr>
              <a:lstStyle/>
              <a:p>
                <a:r>
                  <a:rPr lang="en-US" b="1" i="1" dirty="0">
                    <a:latin typeface="Times New Roman" panose="02020603050405020304" pitchFamily="18" charset="0"/>
                    <a:cs typeface="Times New Roman" panose="02020603050405020304" pitchFamily="18" charset="0"/>
                  </a:rPr>
                  <a:t>F= Ma</a:t>
                </a:r>
              </a:p>
              <a:p>
                <a:r>
                  <a:rPr lang="en-US" b="1" i="1" dirty="0">
                    <a:latin typeface="Times New Roman" panose="02020603050405020304" pitchFamily="18" charset="0"/>
                    <a:cs typeface="Times New Roman" panose="02020603050405020304" pitchFamily="18" charset="0"/>
                  </a:rPr>
                  <a:t>F= -</a:t>
                </a:r>
                <a:r>
                  <a:rPr lang="en-US" b="1" i="1" dirty="0" err="1">
                    <a:latin typeface="Times New Roman" panose="02020603050405020304" pitchFamily="18" charset="0"/>
                    <a:cs typeface="Times New Roman" panose="02020603050405020304" pitchFamily="18" charset="0"/>
                  </a:rPr>
                  <a:t>kx</a:t>
                </a:r>
                <a:r>
                  <a:rPr lang="en-US" b="1" i="1" dirty="0">
                    <a:latin typeface="Times New Roman" panose="02020603050405020304" pitchFamily="18" charset="0"/>
                    <a:cs typeface="Times New Roman" panose="02020603050405020304" pitchFamily="18" charset="0"/>
                  </a:rPr>
                  <a:t>     or      </a:t>
                </a:r>
              </a:p>
              <a:p>
                <a:r>
                  <a:rPr lang="en-US" b="1" i="1" dirty="0">
                    <a:latin typeface="Times New Roman" panose="02020603050405020304" pitchFamily="18" charset="0"/>
                    <a:cs typeface="Times New Roman" panose="02020603050405020304" pitchFamily="18" charset="0"/>
                  </a:rPr>
                  <a:t>Ma + </a:t>
                </a:r>
                <a:r>
                  <a:rPr lang="en-US" b="1" i="1" dirty="0" err="1">
                    <a:latin typeface="Times New Roman" panose="02020603050405020304" pitchFamily="18" charset="0"/>
                    <a:cs typeface="Times New Roman" panose="02020603050405020304" pitchFamily="18" charset="0"/>
                  </a:rPr>
                  <a:t>kx</a:t>
                </a:r>
                <a:r>
                  <a:rPr lang="en-US" b="1" i="1" dirty="0">
                    <a:latin typeface="Times New Roman" panose="02020603050405020304" pitchFamily="18" charset="0"/>
                    <a:cs typeface="Times New Roman" panose="02020603050405020304" pitchFamily="18" charset="0"/>
                  </a:rPr>
                  <a:t> =0        as     </a:t>
                </a:r>
                <a14:m>
                  <m:oMath xmlns:m="http://schemas.openxmlformats.org/officeDocument/2006/math">
                    <m:r>
                      <a:rPr lang="en-US" b="1" i="1" smtClean="0">
                        <a:latin typeface="Cambria Math" panose="02040503050406030204" pitchFamily="18" charset="0"/>
                      </a:rPr>
                      <m:t>𝒂</m:t>
                    </m:r>
                    <m:r>
                      <a:rPr lang="en-US" b="1" i="1" smtClean="0">
                        <a:latin typeface="Cambria Math" panose="02040503050406030204" pitchFamily="18" charset="0"/>
                      </a:rPr>
                      <m:t>=</m:t>
                    </m:r>
                  </m:oMath>
                </a14:m>
                <a:r>
                  <a:rPr lang="en-US" b="1" i="1"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𝒅</m:t>
                        </m:r>
                      </m:e>
                      <m:sup>
                        <m:r>
                          <a:rPr lang="en-US" b="1" i="1" dirty="0" smtClean="0">
                            <a:latin typeface="Cambria Math" panose="02040503050406030204" pitchFamily="18" charset="0"/>
                          </a:rPr>
                          <m:t>𝟐</m:t>
                        </m:r>
                      </m:sup>
                    </m:sSup>
                  </m:oMath>
                </a14:m>
                <a:r>
                  <a:rPr lang="en-US" b="1" i="1" dirty="0">
                    <a:latin typeface="Times New Roman" panose="02020603050405020304" pitchFamily="18" charset="0"/>
                    <a:cs typeface="Times New Roman" panose="02020603050405020304" pitchFamily="18" charset="0"/>
                  </a:rPr>
                  <a:t>x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𝒅𝒕</m:t>
                        </m:r>
                      </m:e>
                      <m:sup>
                        <m:r>
                          <a:rPr lang="en-US" b="1" i="1" smtClean="0">
                            <a:latin typeface="Cambria Math" panose="02040503050406030204" pitchFamily="18" charset="0"/>
                          </a:rPr>
                          <m:t>𝟐</m:t>
                        </m:r>
                      </m:sup>
                    </m:sSup>
                  </m:oMath>
                </a14:m>
                <a:endParaRPr lang="en-US" b="1" i="1"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M </a:t>
                </a:r>
                <a14:m>
                  <m:oMath xmlns:m="http://schemas.openxmlformats.org/officeDocument/2006/math">
                    <m:f>
                      <m:fPr>
                        <m:ctrlPr>
                          <a:rPr lang="en-US" b="1" i="1">
                            <a:latin typeface="Cambria Math" panose="02040503050406030204" pitchFamily="18" charset="0"/>
                          </a:rPr>
                        </m:ctrlPr>
                      </m:fPr>
                      <m:num>
                        <m:sSup>
                          <m:sSupPr>
                            <m:ctrlPr>
                              <a:rPr lang="en-US" b="1" i="1" dirty="0">
                                <a:latin typeface="Cambria Math" panose="02040503050406030204" pitchFamily="18" charset="0"/>
                              </a:rPr>
                            </m:ctrlPr>
                          </m:sSupPr>
                          <m:e>
                            <m:r>
                              <a:rPr lang="en-US" b="1" i="1" dirty="0">
                                <a:latin typeface="Cambria Math" panose="02040503050406030204" pitchFamily="18" charset="0"/>
                              </a:rPr>
                              <m:t>𝒅</m:t>
                            </m:r>
                          </m:e>
                          <m:sup>
                            <m:r>
                              <a:rPr lang="en-US" b="1" i="1" dirty="0">
                                <a:latin typeface="Cambria Math" panose="02040503050406030204" pitchFamily="18" charset="0"/>
                              </a:rPr>
                              <m:t>𝟐</m:t>
                            </m:r>
                          </m:sup>
                        </m:sSup>
                        <m:r>
                          <m:rPr>
                            <m:nor/>
                          </m:rPr>
                          <a:rPr lang="en-US" b="1" i="1" dirty="0">
                            <a:latin typeface="Times New Roman" panose="02020603050405020304" pitchFamily="18" charset="0"/>
                            <a:cs typeface="Times New Roman" panose="02020603050405020304" pitchFamily="18" charset="0"/>
                          </a:rPr>
                          <m:t>x</m:t>
                        </m:r>
                      </m:num>
                      <m:den>
                        <m:sSup>
                          <m:sSupPr>
                            <m:ctrlPr>
                              <a:rPr lang="en-US" b="1" i="1">
                                <a:latin typeface="Cambria Math" panose="02040503050406030204" pitchFamily="18" charset="0"/>
                              </a:rPr>
                            </m:ctrlPr>
                          </m:sSupPr>
                          <m:e>
                            <m:r>
                              <a:rPr lang="en-US" b="1" i="1">
                                <a:latin typeface="Cambria Math" panose="02040503050406030204" pitchFamily="18" charset="0"/>
                              </a:rPr>
                              <m:t>𝒅𝒕</m:t>
                            </m:r>
                          </m:e>
                          <m:sup>
                            <m:r>
                              <a:rPr lang="en-US" b="1" i="1">
                                <a:latin typeface="Cambria Math" panose="02040503050406030204" pitchFamily="18" charset="0"/>
                              </a:rPr>
                              <m:t>𝟐</m:t>
                            </m:r>
                          </m:sup>
                        </m:sSup>
                      </m:den>
                    </m:f>
                  </m:oMath>
                </a14:m>
                <a:r>
                  <a:rPr lang="en-US" b="1" i="1" dirty="0">
                    <a:latin typeface="Times New Roman" panose="02020603050405020304" pitchFamily="18" charset="0"/>
                    <a:cs typeface="Times New Roman" panose="02020603050405020304" pitchFamily="18" charset="0"/>
                  </a:rPr>
                  <a:t> + k x =0   or      </a:t>
                </a:r>
                <a14:m>
                  <m:oMath xmlns:m="http://schemas.openxmlformats.org/officeDocument/2006/math">
                    <m:box>
                      <m:boxPr>
                        <m:ctrlPr>
                          <a:rPr lang="en-US" b="1" i="1" smtClean="0">
                            <a:latin typeface="Cambria Math" panose="02040503050406030204" pitchFamily="18" charset="0"/>
                          </a:rPr>
                        </m:ctrlPr>
                      </m:boxPr>
                      <m:e>
                        <m:argPr>
                          <m:argSz m:val="-1"/>
                        </m:argPr>
                        <m:f>
                          <m:fPr>
                            <m:ctrlPr>
                              <a:rPr lang="en-US" b="1" i="1" smtClean="0">
                                <a:latin typeface="Cambria Math" panose="02040503050406030204" pitchFamily="18" charset="0"/>
                              </a:rPr>
                            </m:ctrlPr>
                          </m:fPr>
                          <m:num>
                            <m:sSup>
                              <m:sSupPr>
                                <m:ctrlPr>
                                  <a:rPr lang="en-US" b="1" i="1" dirty="0">
                                    <a:latin typeface="Cambria Math" panose="02040503050406030204" pitchFamily="18" charset="0"/>
                                  </a:rPr>
                                </m:ctrlPr>
                              </m:sSupPr>
                              <m:e>
                                <m:r>
                                  <a:rPr lang="en-US" b="1" i="1" dirty="0">
                                    <a:latin typeface="Cambria Math" panose="02040503050406030204" pitchFamily="18" charset="0"/>
                                  </a:rPr>
                                  <m:t>𝒅</m:t>
                                </m:r>
                              </m:e>
                              <m:sup>
                                <m:r>
                                  <a:rPr lang="en-US" b="1" i="1" dirty="0">
                                    <a:latin typeface="Cambria Math" panose="02040503050406030204" pitchFamily="18" charset="0"/>
                                  </a:rPr>
                                  <m:t>𝟐</m:t>
                                </m:r>
                              </m:sup>
                            </m:sSup>
                            <m:r>
                              <m:rPr>
                                <m:nor/>
                              </m:rPr>
                              <a:rPr lang="en-US" b="1" i="1" dirty="0">
                                <a:latin typeface="Times New Roman" panose="02020603050405020304" pitchFamily="18" charset="0"/>
                                <a:cs typeface="Times New Roman" panose="02020603050405020304" pitchFamily="18" charset="0"/>
                              </a:rPr>
                              <m:t>x</m:t>
                            </m:r>
                          </m:num>
                          <m:den>
                            <m:sSup>
                              <m:sSupPr>
                                <m:ctrlPr>
                                  <a:rPr lang="en-US" b="1" i="1">
                                    <a:latin typeface="Cambria Math" panose="02040503050406030204" pitchFamily="18" charset="0"/>
                                  </a:rPr>
                                </m:ctrlPr>
                              </m:sSupPr>
                              <m:e>
                                <m:r>
                                  <a:rPr lang="en-US" b="1" i="1">
                                    <a:latin typeface="Cambria Math" panose="02040503050406030204" pitchFamily="18" charset="0"/>
                                  </a:rPr>
                                  <m:t>𝒅𝒕</m:t>
                                </m:r>
                              </m:e>
                              <m:sup>
                                <m:r>
                                  <a:rPr lang="en-US" b="1" i="1">
                                    <a:latin typeface="Cambria Math" panose="02040503050406030204" pitchFamily="18" charset="0"/>
                                  </a:rPr>
                                  <m:t>𝟐</m:t>
                                </m:r>
                              </m:sup>
                            </m:sSup>
                          </m:den>
                        </m:f>
                      </m:e>
                    </m:box>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𝒌</m:t>
                        </m:r>
                      </m:num>
                      <m:den>
                        <m:r>
                          <a:rPr lang="en-US" b="1" i="1" smtClean="0">
                            <a:latin typeface="Cambria Math" panose="02040503050406030204" pitchFamily="18" charset="0"/>
                          </a:rPr>
                          <m:t>𝑴</m:t>
                        </m:r>
                      </m:den>
                    </m:f>
                    <m:r>
                      <a:rPr lang="en-US" b="1" i="1" smtClean="0">
                        <a:latin typeface="Cambria Math" panose="02040503050406030204" pitchFamily="18" charset="0"/>
                      </a:rPr>
                      <m:t> </m:t>
                    </m:r>
                  </m:oMath>
                </a14:m>
                <a:r>
                  <a:rPr lang="en-US" b="1" i="1" dirty="0">
                    <a:latin typeface="Times New Roman" panose="02020603050405020304" pitchFamily="18" charset="0"/>
                    <a:cs typeface="Times New Roman" panose="02020603050405020304" pitchFamily="18" charset="0"/>
                  </a:rPr>
                  <a:t>x= 0        </a:t>
                </a:r>
                <a:r>
                  <a:rPr lang="en-US" dirty="0">
                    <a:latin typeface="Times New Roman" panose="02020603050405020304" pitchFamily="18" charset="0"/>
                    <a:cs typeface="Times New Roman" panose="02020603050405020304" pitchFamily="18" charset="0"/>
                  </a:rPr>
                  <a:t>(2) </a:t>
                </a:r>
              </a:p>
              <a:p>
                <a:r>
                  <a:rPr lang="en-US" dirty="0">
                    <a:latin typeface="Times New Roman" panose="02020603050405020304" pitchFamily="18" charset="0"/>
                    <a:cs typeface="Times New Roman" panose="02020603050405020304" pitchFamily="18" charset="0"/>
                  </a:rPr>
                  <a:t>Solving equation 2 for time period  of the </a:t>
                </a:r>
              </a:p>
              <a:p>
                <a:pPr marL="0" indent="0">
                  <a:buNone/>
                </a:pPr>
                <a:r>
                  <a:rPr lang="en-US" dirty="0">
                    <a:latin typeface="Times New Roman" panose="02020603050405020304" pitchFamily="18" charset="0"/>
                    <a:cs typeface="Times New Roman" panose="02020603050405020304" pitchFamily="18" charset="0"/>
                  </a:rPr>
                  <a:t> spring we get </a:t>
                </a:r>
              </a:p>
              <a:p>
                <a:r>
                  <a:rPr lang="en-US" b="1" i="1" dirty="0">
                    <a:latin typeface="Times New Roman" panose="02020603050405020304" pitchFamily="18" charset="0"/>
                    <a:cs typeface="Times New Roman" panose="02020603050405020304" pitchFamily="18" charset="0"/>
                  </a:rPr>
                  <a:t>T= 2</a:t>
                </a:r>
                <a:r>
                  <a:rPr lang="el-GR" b="1" i="1" dirty="0">
                    <a:latin typeface="Times New Roman" panose="02020603050405020304" pitchFamily="18" charset="0"/>
                    <a:cs typeface="Times New Roman" panose="02020603050405020304" pitchFamily="18" charset="0"/>
                  </a:rPr>
                  <a:t>π</a:t>
                </a:r>
                <a:r>
                  <a:rPr lang="en-US" b="1" i="1" dirty="0">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b="1" i="1" smtClean="0">
                            <a:latin typeface="Cambria Math" panose="02040503050406030204" pitchFamily="18" charset="0"/>
                          </a:rPr>
                        </m:ctrlPr>
                      </m:radPr>
                      <m:deg/>
                      <m:e>
                        <m:f>
                          <m:fPr>
                            <m:ctrlPr>
                              <a:rPr lang="en-US" b="1" i="1" smtClean="0">
                                <a:latin typeface="Cambria Math" panose="02040503050406030204" pitchFamily="18" charset="0"/>
                              </a:rPr>
                            </m:ctrlPr>
                          </m:fPr>
                          <m:num>
                            <m:r>
                              <a:rPr lang="en-US" b="1" i="1" smtClean="0">
                                <a:latin typeface="Cambria Math" panose="02040503050406030204" pitchFamily="18" charset="0"/>
                              </a:rPr>
                              <m:t>𝑴</m:t>
                            </m:r>
                          </m:num>
                          <m:den>
                            <m:r>
                              <a:rPr lang="en-US" b="1" i="1" smtClean="0">
                                <a:latin typeface="Cambria Math" panose="02040503050406030204" pitchFamily="18" charset="0"/>
                              </a:rPr>
                              <m:t>𝒌</m:t>
                            </m:r>
                          </m:den>
                        </m:f>
                      </m:e>
                    </m:rad>
                  </m:oMath>
                </a14:m>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(3)</a:t>
                </a: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blipFill>
                <a:blip r:embed="rId2"/>
                <a:stretch>
                  <a:fillRect l="-762" t="-3486"/>
                </a:stretch>
              </a:blipFill>
            </p:spPr>
            <p:txBody>
              <a:bodyPr/>
              <a:lstStyle/>
              <a:p>
                <a:r>
                  <a:rPr lang="en-US">
                    <a:noFill/>
                  </a:rPr>
                  <a:t> </a:t>
                </a:r>
              </a:p>
            </p:txBody>
          </p:sp>
        </mc:Fallback>
      </mc:AlternateContent>
      <p:pic>
        <p:nvPicPr>
          <p:cNvPr id="4" name="Picture 2" descr="Image result for Mass spring system picture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600839" y="2692399"/>
            <a:ext cx="2057400" cy="30480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8101" y="2524481"/>
            <a:ext cx="2781541" cy="3215919"/>
          </a:xfrm>
          <a:prstGeom prst="rect">
            <a:avLst/>
          </a:prstGeom>
        </p:spPr>
      </p:pic>
    </p:spTree>
    <p:extLst>
      <p:ext uri="{BB962C8B-B14F-4D97-AF65-F5344CB8AC3E}">
        <p14:creationId xmlns:p14="http://schemas.microsoft.com/office/powerpoint/2010/main" val="732091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4294967295"/>
              </p:nvPr>
            </p:nvSpPr>
            <p:spPr>
              <a:xfrm>
                <a:off x="969818" y="784081"/>
                <a:ext cx="9601200" cy="3457575"/>
              </a:xfrm>
            </p:spPr>
            <p:txBody>
              <a:bodyPr>
                <a:normAutofit/>
              </a:bodyPr>
              <a:lstStyle/>
              <a:p>
                <a:r>
                  <a:rPr lang="en-US" dirty="0">
                    <a:latin typeface="Times New Roman" panose="02020603050405020304" pitchFamily="18" charset="0"/>
                    <a:cs typeface="Times New Roman" panose="02020603050405020304" pitchFamily="18" charset="0"/>
                  </a:rPr>
                  <a:t>Let m represents the effective mass ( 1/3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of the total  mass of the spring);</a:t>
                </a:r>
              </a:p>
              <a:p>
                <a:r>
                  <a:rPr lang="en-US" dirty="0">
                    <a:latin typeface="Times New Roman" panose="02020603050405020304" pitchFamily="18" charset="0"/>
                    <a:cs typeface="Times New Roman" panose="02020603050405020304" pitchFamily="18" charset="0"/>
                  </a:rPr>
                  <a:t>Putting m in  equation (3), the time period of the system is;</a:t>
                </a:r>
              </a:p>
              <a:p>
                <a:r>
                  <a:rPr lang="en-US" dirty="0">
                    <a:latin typeface="Times New Roman" panose="02020603050405020304" pitchFamily="18" charset="0"/>
                    <a:cs typeface="Times New Roman" panose="02020603050405020304" pitchFamily="18" charset="0"/>
                  </a:rPr>
                  <a:t>T= 2</a:t>
                </a:r>
                <a:r>
                  <a:rPr lang="el-GR" dirty="0">
                    <a:latin typeface="Times New Roman" panose="02020603050405020304" pitchFamily="18" charset="0"/>
                    <a:cs typeface="Times New Roman" panose="02020603050405020304" pitchFamily="18" charset="0"/>
                  </a:rPr>
                  <a:t>π</a:t>
                </a:r>
                <a:r>
                  <a:rPr lang="en-US" dirty="0">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𝑚</m:t>
                            </m:r>
                          </m:num>
                          <m:den>
                            <m:r>
                              <a:rPr lang="en-US" i="1">
                                <a:latin typeface="Cambria Math" panose="02040503050406030204" pitchFamily="18" charset="0"/>
                              </a:rPr>
                              <m:t>𝑘</m:t>
                            </m:r>
                          </m:den>
                        </m:f>
                      </m:e>
                    </m:rad>
                  </m:oMath>
                </a14:m>
                <a:r>
                  <a:rPr lang="en-US" dirty="0">
                    <a:latin typeface="Times New Roman" panose="02020603050405020304" pitchFamily="18" charset="0"/>
                    <a:cs typeface="Times New Roman" panose="02020603050405020304" pitchFamily="18" charset="0"/>
                  </a:rPr>
                  <a:t>						(4)</a:t>
                </a:r>
              </a:p>
              <a:p>
                <a:r>
                  <a:rPr lang="en-US"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1,    </m:t>
                        </m:r>
                      </m:sub>
                    </m:sSub>
                  </m:oMath>
                </a14:m>
                <a:r>
                  <a:rPr lang="en-US"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2, </m:t>
                        </m:r>
                        <m:r>
                          <a:rPr lang="en-US" i="1">
                            <a:latin typeface="Cambria Math" panose="02040503050406030204" pitchFamily="18" charset="0"/>
                          </a:rPr>
                          <m:t>    </m:t>
                        </m:r>
                      </m:sub>
                    </m:sSub>
                  </m:oMath>
                </a14:m>
                <a:r>
                  <a:rPr lang="en-US" dirty="0">
                    <a:latin typeface="Times New Roman" panose="02020603050405020304" pitchFamily="18" charset="0"/>
                    <a:cs typeface="Times New Roman" panose="02020603050405020304" pitchFamily="18" charset="0"/>
                  </a:rPr>
                  <a:t>represent masses attached to the lower end of the spring successively, we find the time periods in both the cases;</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2    </m:t>
                        </m:r>
                      </m:sub>
                    </m:sSub>
                  </m:oMath>
                </a14:m>
                <a:r>
                  <a:rPr lang="en-US" dirty="0">
                    <a:latin typeface="Times New Roman" panose="02020603050405020304" pitchFamily="18" charset="0"/>
                    <a:cs typeface="Times New Roman" panose="02020603050405020304" pitchFamily="18" charset="0"/>
                  </a:rPr>
                  <a:t>are time periods, then</a:t>
                </a:r>
              </a:p>
            </p:txBody>
          </p:sp>
        </mc:Choice>
        <mc:Fallback>
          <p:sp>
            <p:nvSpPr>
              <p:cNvPr id="3" name="Content Placeholder 2"/>
              <p:cNvSpPr>
                <a:spLocks noGrp="1" noRot="1" noChangeAspect="1" noMove="1" noResize="1" noEditPoints="1" noAdjustHandles="1" noChangeArrowheads="1" noChangeShapeType="1" noTextEdit="1"/>
              </p:cNvSpPr>
              <p:nvPr>
                <p:ph idx="4294967295"/>
              </p:nvPr>
            </p:nvSpPr>
            <p:spPr>
              <a:xfrm>
                <a:off x="969818" y="784081"/>
                <a:ext cx="9601200" cy="3457575"/>
              </a:xfrm>
              <a:blipFill>
                <a:blip r:embed="rId2"/>
                <a:stretch>
                  <a:fillRect l="-1143" t="-2646" r="-127" b="-1587"/>
                </a:stretch>
              </a:blipFill>
            </p:spPr>
            <p:txBody>
              <a:bodyPr/>
              <a:lstStyle/>
              <a:p>
                <a:r>
                  <a:rPr lang="en-PK">
                    <a:noFill/>
                  </a:rPr>
                  <a:t> </a:t>
                </a:r>
              </a:p>
            </p:txBody>
          </p:sp>
        </mc:Fallback>
      </mc:AlternateContent>
    </p:spTree>
    <p:extLst>
      <p:ext uri="{BB962C8B-B14F-4D97-AF65-F5344CB8AC3E}">
        <p14:creationId xmlns:p14="http://schemas.microsoft.com/office/powerpoint/2010/main" val="1051806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p:cNvSpPr>
                <a:spLocks noGrp="1"/>
              </p:cNvSpPr>
              <p:nvPr>
                <p:ph type="title"/>
              </p:nvPr>
            </p:nvSpPr>
            <p:spPr/>
            <p:txBody>
              <a:bodyPr>
                <a:normAutofit/>
              </a:bodyPr>
              <a:lstStyle/>
              <a:p>
                <a:pPr algn="l"/>
                <a14:m>
                  <m:oMath xmlns:m="http://schemas.openxmlformats.org/officeDocument/2006/math">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𝐓</m:t>
                        </m:r>
                      </m:e>
                      <m:sub>
                        <m:r>
                          <a:rPr lang="en-US" sz="2400" b="1" i="0" smtClean="0">
                            <a:latin typeface="Cambria Math" panose="02040503050406030204" pitchFamily="18" charset="0"/>
                          </a:rPr>
                          <m:t>𝟏</m:t>
                        </m:r>
                      </m:sub>
                    </m:sSub>
                  </m:oMath>
                </a14:m>
                <a:r>
                  <a:rPr lang="en-US" sz="2400" b="1" dirty="0">
                    <a:latin typeface="Times New Roman" panose="02020603050405020304" pitchFamily="18" charset="0"/>
                    <a:cs typeface="Times New Roman" panose="02020603050405020304" pitchFamily="18" charset="0"/>
                  </a:rPr>
                  <a:t>= 2</a:t>
                </a:r>
                <a:r>
                  <a:rPr lang="el-GR" sz="2400" b="1" dirty="0">
                    <a:latin typeface="Times New Roman" panose="02020603050405020304" pitchFamily="18" charset="0"/>
                    <a:cs typeface="Times New Roman" panose="02020603050405020304" pitchFamily="18" charset="0"/>
                  </a:rPr>
                  <a:t>π</a:t>
                </a:r>
                <a:r>
                  <a:rPr lang="en-US" sz="2400" b="1" dirty="0">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sz="2400" b="1" i="1">
                            <a:latin typeface="Cambria Math" panose="02040503050406030204" pitchFamily="18" charset="0"/>
                          </a:rPr>
                        </m:ctrlPr>
                      </m:radPr>
                      <m:deg/>
                      <m:e>
                        <m:f>
                          <m:fPr>
                            <m:ctrlPr>
                              <a:rPr lang="en-US" sz="2400" b="1" i="1">
                                <a:latin typeface="Cambria Math" panose="02040503050406030204" pitchFamily="18" charset="0"/>
                              </a:rPr>
                            </m:ctrlPr>
                          </m:fPr>
                          <m:num>
                            <m:r>
                              <a:rPr lang="en-US" sz="2400" b="1" i="0">
                                <a:latin typeface="Cambria Math" panose="02040503050406030204" pitchFamily="18" charset="0"/>
                              </a:rPr>
                              <m:t>𝐌</m:t>
                            </m:r>
                            <m:r>
                              <a:rPr lang="en-US" sz="2400" b="1" i="0" smtClean="0">
                                <a:latin typeface="Cambria Math" panose="02040503050406030204" pitchFamily="18" charset="0"/>
                              </a:rPr>
                              <m:t>𝟏</m:t>
                            </m:r>
                            <m:r>
                              <a:rPr lang="en-US" sz="2400" b="1" i="0">
                                <a:latin typeface="Cambria Math" panose="02040503050406030204" pitchFamily="18" charset="0"/>
                              </a:rPr>
                              <m:t>+</m:t>
                            </m:r>
                            <m:r>
                              <a:rPr lang="en-US" sz="2400" b="1" i="0">
                                <a:latin typeface="Cambria Math" panose="02040503050406030204" pitchFamily="18" charset="0"/>
                              </a:rPr>
                              <m:t>𝐦</m:t>
                            </m:r>
                          </m:num>
                          <m:den>
                            <m:r>
                              <a:rPr lang="en-US" sz="2400" b="1" i="0">
                                <a:latin typeface="Cambria Math" panose="02040503050406030204" pitchFamily="18" charset="0"/>
                              </a:rPr>
                              <m:t>𝐤</m:t>
                            </m:r>
                          </m:den>
                        </m:f>
                      </m:e>
                    </m:rad>
                  </m:oMath>
                </a14:m>
                <a:r>
                  <a:rPr lang="en-US" sz="2400" b="1" dirty="0">
                    <a:latin typeface="Times New Roman" panose="02020603050405020304" pitchFamily="18" charset="0"/>
                    <a:cs typeface="Times New Roman" panose="02020603050405020304" pitchFamily="18" charset="0"/>
                  </a:rPr>
                  <a:t>  and        </a:t>
                </a:r>
                <a:r>
                  <a:rPr lang="en-US" sz="2400" dirty="0">
                    <a:latin typeface="Times New Roman" panose="02020603050405020304" pitchFamily="18" charset="0"/>
                    <a:cs typeface="Times New Roman" panose="02020603050405020304" pitchFamily="18" charset="0"/>
                  </a:rPr>
                  <a:t>(5)           </a:t>
                </a:r>
                <a14:m>
                  <m:oMath xmlns:m="http://schemas.openxmlformats.org/officeDocument/2006/math">
                    <m:sSub>
                      <m:sSubPr>
                        <m:ctrlPr>
                          <a:rPr lang="en-US" sz="2400" b="1" i="1">
                            <a:latin typeface="Cambria Math" panose="02040503050406030204" pitchFamily="18" charset="0"/>
                          </a:rPr>
                        </m:ctrlPr>
                      </m:sSubPr>
                      <m:e>
                        <m:r>
                          <a:rPr lang="en-US" sz="2400" b="1" i="0">
                            <a:latin typeface="Cambria Math" panose="02040503050406030204" pitchFamily="18" charset="0"/>
                          </a:rPr>
                          <m:t>𝐓</m:t>
                        </m:r>
                      </m:e>
                      <m:sub>
                        <m:r>
                          <a:rPr lang="en-US" sz="2400" b="1" i="0" smtClean="0">
                            <a:latin typeface="Cambria Math" panose="02040503050406030204" pitchFamily="18" charset="0"/>
                          </a:rPr>
                          <m:t>𝟐</m:t>
                        </m:r>
                      </m:sub>
                    </m:sSub>
                  </m:oMath>
                </a14:m>
                <a:r>
                  <a:rPr lang="en-US" sz="2400" b="1" dirty="0">
                    <a:latin typeface="Times New Roman" panose="02020603050405020304" pitchFamily="18" charset="0"/>
                    <a:cs typeface="Times New Roman" panose="02020603050405020304" pitchFamily="18" charset="0"/>
                  </a:rPr>
                  <a:t>= 2</a:t>
                </a:r>
                <a:r>
                  <a:rPr lang="el-GR" sz="2400" b="1" dirty="0">
                    <a:latin typeface="Times New Roman" panose="02020603050405020304" pitchFamily="18" charset="0"/>
                    <a:cs typeface="Times New Roman" panose="02020603050405020304" pitchFamily="18" charset="0"/>
                  </a:rPr>
                  <a:t>π</a:t>
                </a:r>
                <a:r>
                  <a:rPr lang="en-US" sz="2400" b="1" dirty="0">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sz="2400" b="1" i="1">
                            <a:latin typeface="Cambria Math" panose="02040503050406030204" pitchFamily="18" charset="0"/>
                          </a:rPr>
                        </m:ctrlPr>
                      </m:radPr>
                      <m:deg/>
                      <m:e>
                        <m:f>
                          <m:fPr>
                            <m:ctrlPr>
                              <a:rPr lang="en-US" sz="2400" b="1" i="1">
                                <a:latin typeface="Cambria Math" panose="02040503050406030204" pitchFamily="18" charset="0"/>
                              </a:rPr>
                            </m:ctrlPr>
                          </m:fPr>
                          <m:num>
                            <m:r>
                              <a:rPr lang="en-US" sz="2400" b="1" i="0">
                                <a:latin typeface="Cambria Math" panose="02040503050406030204" pitchFamily="18" charset="0"/>
                              </a:rPr>
                              <m:t>𝐌</m:t>
                            </m:r>
                            <m:r>
                              <a:rPr lang="en-US" sz="2400" b="1" i="0" smtClean="0">
                                <a:latin typeface="Cambria Math" panose="02040503050406030204" pitchFamily="18" charset="0"/>
                              </a:rPr>
                              <m:t>𝟐</m:t>
                            </m:r>
                            <m:r>
                              <a:rPr lang="en-US" sz="2400" b="1" i="0">
                                <a:latin typeface="Cambria Math" panose="02040503050406030204" pitchFamily="18" charset="0"/>
                              </a:rPr>
                              <m:t>+</m:t>
                            </m:r>
                            <m:r>
                              <a:rPr lang="en-US" sz="2400" b="1" i="0">
                                <a:latin typeface="Cambria Math" panose="02040503050406030204" pitchFamily="18" charset="0"/>
                              </a:rPr>
                              <m:t>𝐦</m:t>
                            </m:r>
                          </m:num>
                          <m:den>
                            <m:r>
                              <a:rPr lang="en-US" sz="2400" b="1" i="0">
                                <a:latin typeface="Cambria Math" panose="02040503050406030204" pitchFamily="18" charset="0"/>
                              </a:rPr>
                              <m:t>𝐤</m:t>
                            </m:r>
                          </m:den>
                        </m:f>
                      </m:e>
                    </m:rad>
                  </m:oMath>
                </a14:m>
                <a:r>
                  <a:rPr lang="en-US" sz="2400" dirty="0">
                    <a:latin typeface="Times New Roman" panose="02020603050405020304" pitchFamily="18" charset="0"/>
                    <a:cs typeface="Times New Roman" panose="02020603050405020304" pitchFamily="18" charset="0"/>
                  </a:rPr>
                  <a:t>       (6)</a:t>
                </a:r>
              </a:p>
            </p:txBody>
          </p:sp>
        </mc:Choice>
        <mc:Fallback xmlns="">
          <p:sp>
            <p:nvSpPr>
              <p:cNvPr id="4" name="Title 3"/>
              <p:cNvSpPr>
                <a:spLocks noGrp="1" noRot="1" noChangeAspect="1" noMove="1" noResize="1" noEditPoints="1" noAdjustHandles="1" noChangeArrowheads="1" noChangeShapeType="1" noTextEdit="1"/>
              </p:cNvSpPr>
              <p:nvPr>
                <p:ph type="title"/>
              </p:nvPr>
            </p:nvSpPr>
            <p:spPr>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p:cNvSpPr>
                <a:spLocks noGrp="1"/>
              </p:cNvSpPr>
              <p:nvPr>
                <p:ph sz="half" idx="1"/>
              </p:nvPr>
            </p:nvSpPr>
            <p:spPr/>
            <p:txBody>
              <a:bodyPr>
                <a:normAutofit/>
              </a:bodyPr>
              <a:lstStyle/>
              <a:p>
                <a:r>
                  <a:rPr lang="en-US" dirty="0">
                    <a:latin typeface="Times New Roman" panose="02020603050405020304" pitchFamily="18" charset="0"/>
                    <a:cs typeface="Times New Roman" panose="02020603050405020304" pitchFamily="18" charset="0"/>
                  </a:rPr>
                  <a:t>Squaring equation (5) and (6)  and subtracting (6) from (5) we get</a:t>
                </a:r>
              </a:p>
              <a:p>
                <a14:m>
                  <m:oMath xmlns:m="http://schemas.openxmlformats.org/officeDocument/2006/math">
                    <m:sSub>
                      <m:sSubPr>
                        <m:ctrlPr>
                          <a:rPr lang="en-US" b="1" i="1">
                            <a:latin typeface="Cambria Math" panose="02040503050406030204" pitchFamily="18" charset="0"/>
                          </a:rPr>
                        </m:ctrlPr>
                      </m:sSubPr>
                      <m:e>
                        <m:sSubSup>
                          <m:sSubSupPr>
                            <m:ctrlPr>
                              <a:rPr lang="en-US" b="1" i="1" smtClean="0">
                                <a:latin typeface="Cambria Math" panose="02040503050406030204" pitchFamily="18" charset="0"/>
                              </a:rPr>
                            </m:ctrlPr>
                          </m:sSubSupPr>
                          <m:e>
                            <m:r>
                              <a:rPr lang="en-US" b="1" i="0" smtClean="0">
                                <a:latin typeface="Cambria Math" panose="02040503050406030204" pitchFamily="18" charset="0"/>
                              </a:rPr>
                              <m:t>𝐓</m:t>
                            </m:r>
                          </m:e>
                          <m:sub>
                            <m:r>
                              <a:rPr lang="en-US" b="1" i="0" smtClean="0">
                                <a:latin typeface="Cambria Math" panose="02040503050406030204" pitchFamily="18" charset="0"/>
                              </a:rPr>
                              <m:t>𝟏</m:t>
                            </m:r>
                          </m:sub>
                          <m:sup>
                            <m:r>
                              <a:rPr lang="en-US" b="1" i="0" smtClean="0">
                                <a:latin typeface="Cambria Math" panose="02040503050406030204" pitchFamily="18" charset="0"/>
                              </a:rPr>
                              <m:t>𝟐</m:t>
                            </m:r>
                          </m:sup>
                        </m:sSubSup>
                        <m:r>
                          <a:rPr lang="en-US" b="1" i="0" smtClean="0">
                            <a:latin typeface="Cambria Math" panose="02040503050406030204" pitchFamily="18" charset="0"/>
                          </a:rPr>
                          <m:t> </m:t>
                        </m:r>
                      </m:e>
                      <m:sub>
                        <m:r>
                          <a:rPr lang="en-US" b="1" i="0" smtClean="0">
                            <a:latin typeface="Cambria Math" panose="02040503050406030204" pitchFamily="18" charset="0"/>
                          </a:rPr>
                          <m:t> </m:t>
                        </m:r>
                      </m:sub>
                    </m:sSub>
                  </m:oMath>
                </a14:m>
                <a:r>
                  <a:rPr lang="en-US"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smtClean="0">
                                <a:latin typeface="Cambria Math" panose="02040503050406030204" pitchFamily="18" charset="0"/>
                              </a:rPr>
                              <m:t>𝟐</m:t>
                            </m:r>
                            <m:r>
                              <a:rPr lang="en-US" b="1" i="0" smtClean="0">
                                <a:latin typeface="Cambria Math" panose="02040503050406030204" pitchFamily="18" charset="0"/>
                              </a:rPr>
                              <m:t> </m:t>
                            </m:r>
                          </m:sub>
                          <m:sup>
                            <m:r>
                              <a:rPr lang="en-US" b="1" i="0">
                                <a:latin typeface="Cambria Math" panose="02040503050406030204" pitchFamily="18" charset="0"/>
                              </a:rPr>
                              <m:t>𝟐</m:t>
                            </m:r>
                          </m:sup>
                        </m:sSubSup>
                        <m:r>
                          <a:rPr lang="en-US" b="1" i="0">
                            <a:latin typeface="Cambria Math" panose="02040503050406030204" pitchFamily="18" charset="0"/>
                          </a:rPr>
                          <m:t> </m:t>
                        </m:r>
                      </m:e>
                      <m:sub>
                        <m:r>
                          <a:rPr lang="en-US" b="1" i="0">
                            <a:latin typeface="Cambria Math" panose="02040503050406030204" pitchFamily="18" charset="0"/>
                          </a:rPr>
                          <m:t> </m:t>
                        </m:r>
                      </m:sub>
                    </m:sSub>
                  </m:oMath>
                </a14:m>
                <a:r>
                  <a:rPr lang="en-US" b="1"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r>
                              <a:rPr lang="en-US" b="1" i="0" smtClean="0">
                                <a:latin typeface="Cambria Math" panose="02040503050406030204" pitchFamily="18" charset="0"/>
                              </a:rPr>
                              <m:t>𝟒</m:t>
                            </m:r>
                            <m:r>
                              <a:rPr lang="el-GR" b="1" i="0" smtClean="0">
                                <a:latin typeface="Cambria Math" panose="02040503050406030204" pitchFamily="18" charset="0"/>
                              </a:rPr>
                              <m:t>𝛑</m:t>
                            </m:r>
                          </m:e>
                          <m:sup>
                            <m:r>
                              <a:rPr lang="en-US" b="1" i="0" smtClean="0">
                                <a:latin typeface="Cambria Math" panose="02040503050406030204" pitchFamily="18" charset="0"/>
                              </a:rPr>
                              <m:t>𝟐</m:t>
                            </m:r>
                          </m:sup>
                        </m:sSup>
                      </m:num>
                      <m:den/>
                    </m:f>
                    <m:f>
                      <m:fPr>
                        <m:ctrlPr>
                          <a:rPr lang="en-US" b="1" i="1" dirty="0" smtClean="0">
                            <a:latin typeface="Cambria Math" panose="02040503050406030204" pitchFamily="18" charset="0"/>
                          </a:rPr>
                        </m:ctrlPr>
                      </m:fPr>
                      <m:num>
                        <m:r>
                          <a:rPr lang="en-US" b="1" i="0" dirty="0" smtClean="0">
                            <a:latin typeface="Cambria Math" panose="02040503050406030204" pitchFamily="18" charset="0"/>
                          </a:rPr>
                          <m:t>(</m:t>
                        </m:r>
                        <m:r>
                          <a:rPr lang="en-US" b="1" i="0" dirty="0" smtClean="0">
                            <a:latin typeface="Cambria Math" panose="02040503050406030204" pitchFamily="18" charset="0"/>
                          </a:rPr>
                          <m:t>𝐌𝟏</m:t>
                        </m:r>
                        <m:r>
                          <a:rPr lang="en-US" b="1" i="0" dirty="0" smtClean="0">
                            <a:latin typeface="Cambria Math" panose="02040503050406030204" pitchFamily="18" charset="0"/>
                          </a:rPr>
                          <m:t> −</m:t>
                        </m:r>
                        <m:r>
                          <a:rPr lang="en-US" b="1" i="0" dirty="0" smtClean="0">
                            <a:latin typeface="Cambria Math" panose="02040503050406030204" pitchFamily="18" charset="0"/>
                          </a:rPr>
                          <m:t>𝐌𝟐</m:t>
                        </m:r>
                        <m:r>
                          <a:rPr lang="en-US" b="1" i="0" dirty="0" smtClean="0">
                            <a:latin typeface="Cambria Math" panose="02040503050406030204" pitchFamily="18" charset="0"/>
                          </a:rPr>
                          <m:t>)</m:t>
                        </m:r>
                      </m:num>
                      <m:den>
                        <m:r>
                          <a:rPr lang="en-US" b="1" i="0" dirty="0" smtClean="0">
                            <a:latin typeface="Cambria Math" panose="02040503050406030204" pitchFamily="18" charset="0"/>
                          </a:rPr>
                          <m:t>𝐤</m:t>
                        </m:r>
                      </m:den>
                    </m:f>
                  </m:oMath>
                </a14:m>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Or   k= </a:t>
                </a:r>
                <a14:m>
                  <m:oMath xmlns:m="http://schemas.openxmlformats.org/officeDocument/2006/math">
                    <m:sSup>
                      <m:sSupPr>
                        <m:ctrlPr>
                          <a:rPr lang="en-US" b="1" i="1" smtClean="0">
                            <a:latin typeface="Cambria Math" panose="02040503050406030204" pitchFamily="18" charset="0"/>
                          </a:rPr>
                        </m:ctrlPr>
                      </m:sSupPr>
                      <m:e>
                        <m:r>
                          <a:rPr lang="en-US" b="1" i="0">
                            <a:latin typeface="Cambria Math" panose="02040503050406030204" pitchFamily="18" charset="0"/>
                          </a:rPr>
                          <m:t>𝟒</m:t>
                        </m:r>
                        <m:r>
                          <a:rPr lang="el-GR" b="1" i="0">
                            <a:latin typeface="Cambria Math" panose="02040503050406030204" pitchFamily="18" charset="0"/>
                          </a:rPr>
                          <m:t>𝛑</m:t>
                        </m:r>
                      </m:e>
                      <m:sup>
                        <m:r>
                          <a:rPr lang="en-US" b="1" i="0">
                            <a:latin typeface="Cambria Math" panose="02040503050406030204" pitchFamily="18" charset="0"/>
                          </a:rPr>
                          <m:t>𝟐</m:t>
                        </m:r>
                      </m:sup>
                    </m:sSup>
                    <m:f>
                      <m:fPr>
                        <m:ctrlPr>
                          <a:rPr lang="en-US" b="1" i="1" dirty="0">
                            <a:latin typeface="Cambria Math" panose="02040503050406030204" pitchFamily="18" charset="0"/>
                          </a:rPr>
                        </m:ctrlPr>
                      </m:fPr>
                      <m:num>
                        <m:r>
                          <a:rPr lang="en-US" b="1" i="0" dirty="0">
                            <a:latin typeface="Cambria Math" panose="02040503050406030204" pitchFamily="18" charset="0"/>
                          </a:rPr>
                          <m:t>(</m:t>
                        </m:r>
                        <m:r>
                          <a:rPr lang="en-US" b="1" i="0" dirty="0">
                            <a:latin typeface="Cambria Math" panose="02040503050406030204" pitchFamily="18" charset="0"/>
                          </a:rPr>
                          <m:t>𝐌𝟏</m:t>
                        </m:r>
                        <m:r>
                          <a:rPr lang="en-US" b="1" i="0" dirty="0">
                            <a:latin typeface="Cambria Math" panose="02040503050406030204" pitchFamily="18" charset="0"/>
                          </a:rPr>
                          <m:t> −</m:t>
                        </m:r>
                        <m:r>
                          <a:rPr lang="en-US" b="1" i="0" dirty="0">
                            <a:latin typeface="Cambria Math" panose="02040503050406030204" pitchFamily="18" charset="0"/>
                          </a:rPr>
                          <m:t>𝐌𝟐</m:t>
                        </m:r>
                        <m:r>
                          <a:rPr lang="en-US" b="1" i="0" dirty="0">
                            <a:latin typeface="Cambria Math" panose="02040503050406030204" pitchFamily="18" charset="0"/>
                          </a:rPr>
                          <m:t>)</m:t>
                        </m:r>
                      </m:num>
                      <m:den>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a:latin typeface="Cambria Math" panose="02040503050406030204" pitchFamily="18" charset="0"/>
                                  </a:rPr>
                                  <m:t>𝟏</m:t>
                                </m:r>
                              </m:sub>
                              <m:sup>
                                <m:r>
                                  <a:rPr lang="en-US" b="1" i="0">
                                    <a:latin typeface="Cambria Math" panose="02040503050406030204" pitchFamily="18" charset="0"/>
                                  </a:rPr>
                                  <m:t>𝟐</m:t>
                                </m:r>
                              </m:sup>
                            </m:sSubSup>
                            <m:r>
                              <a:rPr lang="en-US" b="1" i="0">
                                <a:latin typeface="Cambria Math" panose="02040503050406030204" pitchFamily="18" charset="0"/>
                              </a:rPr>
                              <m:t> </m:t>
                            </m:r>
                          </m:e>
                          <m:sub>
                            <m:r>
                              <a:rPr lang="en-US" b="1" i="0">
                                <a:latin typeface="Cambria Math" panose="02040503050406030204" pitchFamily="18" charset="0"/>
                              </a:rPr>
                              <m:t> </m:t>
                            </m:r>
                          </m:sub>
                        </m:sSub>
                        <m:r>
                          <m:rPr>
                            <m:nor/>
                          </m:rPr>
                          <a:rPr lang="en-US" b="1" dirty="0">
                            <a:latin typeface="Times New Roman" panose="02020603050405020304" pitchFamily="18" charset="0"/>
                            <a:cs typeface="Times New Roman" panose="02020603050405020304" pitchFamily="18" charset="0"/>
                          </a:rPr>
                          <m:t>−  </m:t>
                        </m:r>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a:latin typeface="Cambria Math" panose="02040503050406030204" pitchFamily="18" charset="0"/>
                                  </a:rPr>
                                  <m:t>𝟐</m:t>
                                </m:r>
                                <m:r>
                                  <a:rPr lang="en-US" b="1" i="0">
                                    <a:latin typeface="Cambria Math" panose="02040503050406030204" pitchFamily="18" charset="0"/>
                                  </a:rPr>
                                  <m:t> </m:t>
                                </m:r>
                              </m:sub>
                              <m:sup>
                                <m:r>
                                  <a:rPr lang="en-US" b="1" i="0">
                                    <a:latin typeface="Cambria Math" panose="02040503050406030204" pitchFamily="18" charset="0"/>
                                  </a:rPr>
                                  <m:t>𝟐</m:t>
                                </m:r>
                              </m:sup>
                            </m:sSubSup>
                            <m:r>
                              <a:rPr lang="en-US" b="1" i="0">
                                <a:latin typeface="Cambria Math" panose="02040503050406030204" pitchFamily="18" charset="0"/>
                              </a:rPr>
                              <m:t> </m:t>
                            </m:r>
                          </m:e>
                          <m:sub>
                            <m:r>
                              <a:rPr lang="en-US" b="1" i="0">
                                <a:latin typeface="Cambria Math" panose="02040503050406030204" pitchFamily="18" charset="0"/>
                              </a:rPr>
                              <m:t> </m:t>
                            </m:r>
                          </m:sub>
                        </m:sSub>
                      </m:den>
                    </m:f>
                  </m:oMath>
                </a14:m>
                <a:r>
                  <a:rPr lang="en-US" dirty="0">
                    <a:latin typeface="Times New Roman" panose="02020603050405020304" pitchFamily="18" charset="0"/>
                    <a:cs typeface="Times New Roman" panose="02020603050405020304" pitchFamily="18" charset="0"/>
                  </a:rPr>
                  <a:t>                (7)</a:t>
                </a:r>
              </a:p>
              <a:p>
                <a:r>
                  <a:rPr lang="en-US" dirty="0">
                    <a:latin typeface="Times New Roman" panose="02020603050405020304" pitchFamily="18" charset="0"/>
                    <a:cs typeface="Times New Roman" panose="02020603050405020304" pitchFamily="18" charset="0"/>
                  </a:rPr>
                  <a:t>equation  (7) is the spring constant in dynamic mode.</a:t>
                </a:r>
              </a:p>
            </p:txBody>
          </p:sp>
        </mc:Choice>
        <mc:Fallback xmlns="">
          <p:sp>
            <p:nvSpPr>
              <p:cNvPr id="5" name="Content Placeholder 4"/>
              <p:cNvSpPr>
                <a:spLocks noGrp="1" noRot="1" noChangeAspect="1" noMove="1" noResize="1" noEditPoints="1" noAdjustHandles="1" noChangeArrowheads="1" noChangeShapeType="1" noTextEdit="1"/>
              </p:cNvSpPr>
              <p:nvPr>
                <p:ph sz="half" idx="1"/>
              </p:nvPr>
            </p:nvSpPr>
            <p:spPr>
              <a:blipFill>
                <a:blip r:embed="rId6"/>
                <a:stretch>
                  <a:fillRect l="-2326" t="-2578" r="-2713" b="-33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ontent Placeholder 5"/>
              <p:cNvSpPr>
                <a:spLocks noGrp="1"/>
              </p:cNvSpPr>
              <p:nvPr>
                <p:ph sz="half" idx="2"/>
              </p:nvPr>
            </p:nvSpPr>
            <p:spPr>
              <a:xfrm>
                <a:off x="6181344" y="2560320"/>
                <a:ext cx="4718304" cy="3511868"/>
              </a:xfrm>
            </p:spPr>
            <p:txBody>
              <a:bodyPr>
                <a:normAutofit/>
              </a:bodyPr>
              <a:lstStyle/>
              <a:p>
                <a:r>
                  <a:rPr lang="en-US" dirty="0">
                    <a:latin typeface="Times New Roman" panose="02020603050405020304" pitchFamily="18" charset="0"/>
                    <a:cs typeface="Times New Roman" panose="02020603050405020304" pitchFamily="18" charset="0"/>
                  </a:rPr>
                  <a:t>Similarly squaring and dividing (5) by equation (6) </a:t>
                </a:r>
              </a:p>
              <a:p>
                <a14:m>
                  <m:oMath xmlns:m="http://schemas.openxmlformats.org/officeDocument/2006/math">
                    <m:f>
                      <m:fPr>
                        <m:ctrlPr>
                          <a:rPr lang="en-US" b="1" i="1" smtClean="0">
                            <a:latin typeface="Cambria Math" panose="02040503050406030204" pitchFamily="18" charset="0"/>
                          </a:rPr>
                        </m:ctrlPr>
                      </m:fPr>
                      <m:num>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1">
                                    <a:latin typeface="Cambria Math" panose="02040503050406030204" pitchFamily="18" charset="0"/>
                                  </a:rPr>
                                  <m:t>𝑻</m:t>
                                </m:r>
                              </m:e>
                              <m:sub>
                                <m:r>
                                  <a:rPr lang="en-US" b="1" i="1">
                                    <a:latin typeface="Cambria Math" panose="02040503050406030204" pitchFamily="18" charset="0"/>
                                  </a:rPr>
                                  <m:t>𝟏</m:t>
                                </m:r>
                              </m:sub>
                              <m:sup>
                                <m:r>
                                  <a:rPr lang="en-US" b="1" i="1">
                                    <a:latin typeface="Cambria Math" panose="02040503050406030204" pitchFamily="18" charset="0"/>
                                  </a:rPr>
                                  <m:t>𝟐</m:t>
                                </m:r>
                              </m:sup>
                            </m:sSubSup>
                            <m:r>
                              <a:rPr lang="en-US" b="1" i="1">
                                <a:latin typeface="Cambria Math" panose="02040503050406030204" pitchFamily="18" charset="0"/>
                              </a:rPr>
                              <m:t> </m:t>
                            </m:r>
                          </m:e>
                          <m:sub>
                            <m:r>
                              <a:rPr lang="en-US" b="1" i="1">
                                <a:latin typeface="Cambria Math" panose="02040503050406030204" pitchFamily="18" charset="0"/>
                              </a:rPr>
                              <m:t> </m:t>
                            </m:r>
                          </m:sub>
                        </m:sSub>
                      </m:num>
                      <m:den>
                        <m:sSubSup>
                          <m:sSubSupPr>
                            <m:ctrlPr>
                              <a:rPr lang="en-US" b="1" i="1">
                                <a:latin typeface="Cambria Math" panose="02040503050406030204" pitchFamily="18" charset="0"/>
                              </a:rPr>
                            </m:ctrlPr>
                          </m:sSubSupPr>
                          <m:e>
                            <m:r>
                              <a:rPr lang="en-US" b="1" i="1">
                                <a:latin typeface="Cambria Math" panose="02040503050406030204" pitchFamily="18" charset="0"/>
                              </a:rPr>
                              <m:t>𝑻</m:t>
                            </m:r>
                          </m:e>
                          <m:sub>
                            <m:r>
                              <a:rPr lang="en-US" b="1" i="1">
                                <a:latin typeface="Cambria Math" panose="02040503050406030204" pitchFamily="18" charset="0"/>
                              </a:rPr>
                              <m:t>𝟐</m:t>
                            </m:r>
                            <m:r>
                              <a:rPr lang="en-US" b="1" i="1">
                                <a:latin typeface="Cambria Math" panose="02040503050406030204" pitchFamily="18" charset="0"/>
                              </a:rPr>
                              <m:t> </m:t>
                            </m:r>
                          </m:sub>
                          <m:sup>
                            <m:r>
                              <a:rPr lang="en-US" b="1" i="1">
                                <a:latin typeface="Cambria Math" panose="02040503050406030204" pitchFamily="18" charset="0"/>
                              </a:rPr>
                              <m:t>𝟐</m:t>
                            </m:r>
                          </m:sup>
                        </m:sSubSup>
                      </m:den>
                    </m:f>
                    <m:r>
                      <a:rPr lang="en-US" b="1" i="1" smtClean="0">
                        <a:latin typeface="Cambria Math" panose="02040503050406030204" pitchFamily="18" charset="0"/>
                      </a:rPr>
                      <m:t>= </m:t>
                    </m:r>
                    <m:f>
                      <m:fPr>
                        <m:ctrlPr>
                          <a:rPr lang="en-US" b="1" i="1" dirty="0" smtClean="0">
                            <a:latin typeface="Cambria Math" panose="02040503050406030204" pitchFamily="18" charset="0"/>
                          </a:rPr>
                        </m:ctrlPr>
                      </m:fPr>
                      <m:num>
                        <m:r>
                          <a:rPr lang="en-US" b="1" i="1" dirty="0">
                            <a:latin typeface="Cambria Math" panose="02040503050406030204" pitchFamily="18" charset="0"/>
                          </a:rPr>
                          <m:t>𝑴</m:t>
                        </m:r>
                        <m:r>
                          <a:rPr lang="en-US" b="1" i="1" dirty="0">
                            <a:latin typeface="Cambria Math" panose="02040503050406030204" pitchFamily="18" charset="0"/>
                          </a:rPr>
                          <m:t>𝟏</m:t>
                        </m:r>
                      </m:num>
                      <m:den>
                        <m:r>
                          <a:rPr lang="en-US" b="1" i="1" dirty="0">
                            <a:latin typeface="Cambria Math" panose="02040503050406030204" pitchFamily="18" charset="0"/>
                          </a:rPr>
                          <m:t>𝑴</m:t>
                        </m:r>
                        <m:r>
                          <a:rPr lang="en-US" b="1" i="1" dirty="0">
                            <a:latin typeface="Cambria Math" panose="02040503050406030204" pitchFamily="18" charset="0"/>
                          </a:rPr>
                          <m:t>𝟐</m:t>
                        </m:r>
                      </m:den>
                    </m:f>
                    <m:f>
                      <m:fPr>
                        <m:ctrlPr>
                          <a:rPr lang="en-US" b="1" i="1" dirty="0" smtClean="0">
                            <a:latin typeface="Cambria Math" panose="02040503050406030204" pitchFamily="18" charset="0"/>
                          </a:rPr>
                        </m:ctrlPr>
                      </m:fPr>
                      <m:num>
                        <m:r>
                          <a:rPr lang="en-US" b="1" i="1" dirty="0" smtClean="0">
                            <a:latin typeface="Cambria Math" panose="02040503050406030204" pitchFamily="18" charset="0"/>
                          </a:rPr>
                          <m:t>+</m:t>
                        </m:r>
                        <m:r>
                          <a:rPr lang="en-US" b="1" i="1" dirty="0" smtClean="0">
                            <a:latin typeface="Cambria Math" panose="02040503050406030204" pitchFamily="18" charset="0"/>
                          </a:rPr>
                          <m:t>𝒎</m:t>
                        </m:r>
                      </m:num>
                      <m:den>
                        <m:r>
                          <a:rPr lang="en-US" b="1" i="1" dirty="0" smtClean="0">
                            <a:latin typeface="Cambria Math" panose="02040503050406030204" pitchFamily="18" charset="0"/>
                          </a:rPr>
                          <m:t>+</m:t>
                        </m:r>
                        <m:r>
                          <a:rPr lang="en-US" b="1" i="1" dirty="0" smtClean="0">
                            <a:latin typeface="Cambria Math" panose="02040503050406030204" pitchFamily="18" charset="0"/>
                          </a:rPr>
                          <m:t>𝒎</m:t>
                        </m:r>
                      </m:den>
                    </m:f>
                  </m:oMath>
                </a14:m>
                <a:endParaRPr lang="en-US" b="1"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 on simplification</a:t>
                </a:r>
              </a:p>
              <a:p>
                <a:r>
                  <a:rPr lang="en-US" b="1" i="1" dirty="0">
                    <a:latin typeface="Times New Roman" panose="02020603050405020304" pitchFamily="18" charset="0"/>
                    <a:cs typeface="Times New Roman" panose="02020603050405020304" pitchFamily="18" charset="0"/>
                  </a:rPr>
                  <a:t>m =  </a:t>
                </a:r>
                <a14:m>
                  <m:oMath xmlns:m="http://schemas.openxmlformats.org/officeDocument/2006/math">
                    <m:f>
                      <m:fPr>
                        <m:ctrlPr>
                          <a:rPr lang="en-US" b="1" i="1" smtClean="0">
                            <a:latin typeface="Cambria Math" panose="02040503050406030204" pitchFamily="18" charset="0"/>
                            <a:cs typeface="Times New Roman" panose="02020603050405020304" pitchFamily="18" charset="0"/>
                          </a:rPr>
                        </m:ctrlPr>
                      </m:fPr>
                      <m:num>
                        <m:r>
                          <a:rPr lang="en-US" b="1" i="1" dirty="0">
                            <a:latin typeface="Cambria Math" panose="02040503050406030204" pitchFamily="18" charset="0"/>
                          </a:rPr>
                          <m:t>𝑴</m:t>
                        </m:r>
                        <m:r>
                          <a:rPr lang="en-US" b="1" i="1" dirty="0">
                            <a:latin typeface="Cambria Math" panose="02040503050406030204" pitchFamily="18" charset="0"/>
                          </a:rPr>
                          <m:t>𝟏</m:t>
                        </m:r>
                        <m:sSubSup>
                          <m:sSubSupPr>
                            <m:ctrlPr>
                              <a:rPr lang="en-US" b="1" i="1">
                                <a:latin typeface="Cambria Math" panose="02040503050406030204" pitchFamily="18" charset="0"/>
                              </a:rPr>
                            </m:ctrlPr>
                          </m:sSubSupPr>
                          <m:e>
                            <m:r>
                              <a:rPr lang="en-US" b="1" i="1">
                                <a:latin typeface="Cambria Math" panose="02040503050406030204" pitchFamily="18" charset="0"/>
                              </a:rPr>
                              <m:t>𝑻</m:t>
                            </m:r>
                          </m:e>
                          <m:sub>
                            <m:r>
                              <a:rPr lang="en-US" b="1" i="1" smtClean="0">
                                <a:latin typeface="Cambria Math" panose="02040503050406030204" pitchFamily="18" charset="0"/>
                              </a:rPr>
                              <m:t>𝟐</m:t>
                            </m:r>
                          </m:sub>
                          <m:sup>
                            <m:r>
                              <a:rPr lang="en-US" b="1" i="1">
                                <a:latin typeface="Cambria Math" panose="02040503050406030204" pitchFamily="18" charset="0"/>
                              </a:rPr>
                              <m:t>𝟐</m:t>
                            </m:r>
                          </m:sup>
                        </m:sSubSup>
                      </m:num>
                      <m:den>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1">
                                    <a:latin typeface="Cambria Math" panose="02040503050406030204" pitchFamily="18" charset="0"/>
                                  </a:rPr>
                                  <m:t>𝑻</m:t>
                                </m:r>
                              </m:e>
                              <m:sub>
                                <m:r>
                                  <a:rPr lang="en-US" b="1" i="1">
                                    <a:latin typeface="Cambria Math" panose="02040503050406030204" pitchFamily="18" charset="0"/>
                                  </a:rPr>
                                  <m:t>𝟏</m:t>
                                </m:r>
                              </m:sub>
                              <m:sup>
                                <m:r>
                                  <a:rPr lang="en-US" b="1" i="1">
                                    <a:latin typeface="Cambria Math" panose="02040503050406030204" pitchFamily="18" charset="0"/>
                                  </a:rPr>
                                  <m:t>𝟐</m:t>
                                </m:r>
                              </m:sup>
                            </m:sSubSup>
                            <m:r>
                              <a:rPr lang="en-US" b="1" i="1">
                                <a:latin typeface="Cambria Math" panose="02040503050406030204" pitchFamily="18" charset="0"/>
                              </a:rPr>
                              <m:t> </m:t>
                            </m:r>
                          </m:e>
                          <m:sub>
                            <m:r>
                              <a:rPr lang="en-US" b="1" i="1">
                                <a:latin typeface="Cambria Math" panose="02040503050406030204" pitchFamily="18" charset="0"/>
                              </a:rPr>
                              <m:t> </m:t>
                            </m:r>
                          </m:sub>
                        </m:sSub>
                        <m:r>
                          <m:rPr>
                            <m:nor/>
                          </m:rPr>
                          <a:rPr lang="en-US" b="1" i="1" dirty="0">
                            <a:latin typeface="Times New Roman" panose="02020603050405020304" pitchFamily="18" charset="0"/>
                            <a:cs typeface="Times New Roman" panose="02020603050405020304" pitchFamily="18" charset="0"/>
                          </a:rPr>
                          <m:t>−  </m:t>
                        </m:r>
                      </m:den>
                    </m:f>
                    <m:f>
                      <m:fPr>
                        <m:ctrlPr>
                          <a:rPr lang="en-US" b="1" i="1" dirty="0" smtClean="0">
                            <a:latin typeface="Cambria Math" panose="02040503050406030204" pitchFamily="18" charset="0"/>
                            <a:cs typeface="Times New Roman" panose="02020603050405020304" pitchFamily="18" charset="0"/>
                          </a:rPr>
                        </m:ctrlPr>
                      </m:fPr>
                      <m:num>
                        <m:r>
                          <a:rPr lang="en-US" b="1" i="1" dirty="0" smtClean="0">
                            <a:latin typeface="Cambria Math" panose="02040503050406030204" pitchFamily="18" charset="0"/>
                            <a:cs typeface="Times New Roman" panose="02020603050405020304" pitchFamily="18" charset="0"/>
                          </a:rPr>
                          <m:t>−</m:t>
                        </m:r>
                        <m:r>
                          <a:rPr lang="en-US" b="1" i="1" dirty="0">
                            <a:latin typeface="Cambria Math" panose="02040503050406030204" pitchFamily="18" charset="0"/>
                          </a:rPr>
                          <m:t>𝑴</m:t>
                        </m:r>
                        <m:r>
                          <a:rPr lang="en-US" b="1" i="1" dirty="0">
                            <a:latin typeface="Cambria Math" panose="02040503050406030204" pitchFamily="18" charset="0"/>
                          </a:rPr>
                          <m:t>𝟐</m:t>
                        </m:r>
                        <m:sSubSup>
                          <m:sSubSupPr>
                            <m:ctrlPr>
                              <a:rPr lang="en-US" b="1" i="1">
                                <a:latin typeface="Cambria Math" panose="02040503050406030204" pitchFamily="18" charset="0"/>
                              </a:rPr>
                            </m:ctrlPr>
                          </m:sSubSupPr>
                          <m:e>
                            <m:r>
                              <a:rPr lang="en-US" b="1" i="1">
                                <a:latin typeface="Cambria Math" panose="02040503050406030204" pitchFamily="18" charset="0"/>
                              </a:rPr>
                              <m:t>𝑻</m:t>
                            </m:r>
                          </m:e>
                          <m:sub>
                            <m:r>
                              <a:rPr lang="en-US" b="1" i="1" smtClean="0">
                                <a:latin typeface="Cambria Math" panose="02040503050406030204" pitchFamily="18" charset="0"/>
                              </a:rPr>
                              <m:t>𝟏</m:t>
                            </m:r>
                            <m:r>
                              <a:rPr lang="en-US" b="1" i="1">
                                <a:latin typeface="Cambria Math" panose="02040503050406030204" pitchFamily="18" charset="0"/>
                              </a:rPr>
                              <m:t> </m:t>
                            </m:r>
                          </m:sub>
                          <m:sup>
                            <m:r>
                              <a:rPr lang="en-US" b="1" i="1">
                                <a:latin typeface="Cambria Math" panose="02040503050406030204" pitchFamily="18" charset="0"/>
                              </a:rPr>
                              <m:t>𝟐</m:t>
                            </m:r>
                          </m:sup>
                        </m:sSubSup>
                      </m:num>
                      <m:den>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1">
                                    <a:latin typeface="Cambria Math" panose="02040503050406030204" pitchFamily="18" charset="0"/>
                                  </a:rPr>
                                  <m:t>𝑻</m:t>
                                </m:r>
                              </m:e>
                              <m:sub>
                                <m:r>
                                  <a:rPr lang="en-US" b="1" i="1">
                                    <a:latin typeface="Cambria Math" panose="02040503050406030204" pitchFamily="18" charset="0"/>
                                  </a:rPr>
                                  <m:t>𝟐</m:t>
                                </m:r>
                                <m:r>
                                  <a:rPr lang="en-US" b="1" i="1">
                                    <a:latin typeface="Cambria Math" panose="02040503050406030204" pitchFamily="18" charset="0"/>
                                  </a:rPr>
                                  <m:t> </m:t>
                                </m:r>
                              </m:sub>
                              <m:sup>
                                <m:r>
                                  <a:rPr lang="en-US" b="1" i="1">
                                    <a:latin typeface="Cambria Math" panose="02040503050406030204" pitchFamily="18" charset="0"/>
                                  </a:rPr>
                                  <m:t>𝟐</m:t>
                                </m:r>
                              </m:sup>
                            </m:sSubSup>
                            <m:r>
                              <a:rPr lang="en-US" b="1" i="1">
                                <a:latin typeface="Cambria Math" panose="02040503050406030204" pitchFamily="18" charset="0"/>
                              </a:rPr>
                              <m:t> </m:t>
                            </m:r>
                          </m:e>
                          <m:sub>
                            <m:r>
                              <a:rPr lang="en-US" b="1" i="1">
                                <a:latin typeface="Cambria Math" panose="02040503050406030204" pitchFamily="18" charset="0"/>
                              </a:rPr>
                              <m:t> </m:t>
                            </m:r>
                          </m:sub>
                        </m:sSub>
                      </m:den>
                    </m:f>
                  </m:oMath>
                </a14:m>
                <a:r>
                  <a:rPr lang="en-US" dirty="0">
                    <a:latin typeface="Times New Roman" panose="02020603050405020304" pitchFamily="18" charset="0"/>
                    <a:cs typeface="Times New Roman" panose="02020603050405020304" pitchFamily="18" charset="0"/>
                  </a:rPr>
                  <a:t>                    (8)</a:t>
                </a:r>
              </a:p>
            </p:txBody>
          </p:sp>
        </mc:Choice>
        <mc:Fallback>
          <p:sp>
            <p:nvSpPr>
              <p:cNvPr id="6" name="Content Placeholder 5"/>
              <p:cNvSpPr>
                <a:spLocks noGrp="1" noRot="1" noChangeAspect="1" noMove="1" noResize="1" noEditPoints="1" noAdjustHandles="1" noChangeArrowheads="1" noChangeShapeType="1" noTextEdit="1"/>
              </p:cNvSpPr>
              <p:nvPr>
                <p:ph sz="half" idx="2"/>
              </p:nvPr>
            </p:nvSpPr>
            <p:spPr>
              <a:xfrm>
                <a:off x="6181344" y="2560320"/>
                <a:ext cx="4718304" cy="3511868"/>
              </a:xfrm>
              <a:blipFill>
                <a:blip r:embed="rId7"/>
                <a:stretch>
                  <a:fillRect l="-2326" t="-2431"/>
                </a:stretch>
              </a:blipFill>
            </p:spPr>
            <p:txBody>
              <a:bodyPr/>
              <a:lstStyle/>
              <a:p>
                <a:r>
                  <a:rPr lang="en-PK">
                    <a:noFill/>
                  </a:rPr>
                  <a:t> </a:t>
                </a:r>
              </a:p>
            </p:txBody>
          </p:sp>
        </mc:Fallback>
      </mc:AlternateContent>
    </p:spTree>
    <p:extLst>
      <p:ext uri="{BB962C8B-B14F-4D97-AF65-F5344CB8AC3E}">
        <p14:creationId xmlns:p14="http://schemas.microsoft.com/office/powerpoint/2010/main" val="203779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sz="half" idx="4294967295"/>
              </p:nvPr>
            </p:nvSpPr>
            <p:spPr>
              <a:xfrm>
                <a:off x="585788" y="1685925"/>
                <a:ext cx="9658350" cy="4189413"/>
              </a:xfrm>
            </p:spPr>
            <p:txBody>
              <a:bodyPr/>
              <a:lstStyle/>
              <a:p>
                <a:r>
                  <a:rPr lang="en-US" dirty="0">
                    <a:latin typeface="Times New Roman" panose="02020603050405020304" pitchFamily="18" charset="0"/>
                    <a:cs typeface="Times New Roman" panose="02020603050405020304" pitchFamily="18" charset="0"/>
                  </a:rPr>
                  <a:t>Equation (8) is the effective mass of the spring. </a:t>
                </a:r>
              </a:p>
              <a:p>
                <a:r>
                  <a:rPr lang="en-US" dirty="0">
                    <a:latin typeface="Times New Roman" panose="02020603050405020304" pitchFamily="18" charset="0"/>
                    <a:cs typeface="Times New Roman" panose="02020603050405020304" pitchFamily="18" charset="0"/>
                  </a:rPr>
                  <a:t>As total mass of the spring is thrice the effective mass, hence</a:t>
                </a:r>
              </a:p>
              <a:p>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𝐌</m:t>
                        </m:r>
                      </m:e>
                      <m:sub>
                        <m:r>
                          <a:rPr lang="en-US" b="1" i="0" smtClean="0">
                            <a:latin typeface="Cambria Math" panose="02040503050406030204" pitchFamily="18" charset="0"/>
                          </a:rPr>
                          <m:t>𝐬𝐩𝐫𝐢𝐧𝐠</m:t>
                        </m:r>
                      </m:sub>
                    </m:sSub>
                    <m:r>
                      <a:rPr lang="en-US" b="1" i="0" smtClean="0">
                        <a:latin typeface="Cambria Math" panose="02040503050406030204" pitchFamily="18" charset="0"/>
                      </a:rPr>
                      <m:t>=</m:t>
                    </m:r>
                  </m:oMath>
                </a14:m>
                <a:r>
                  <a:rPr lang="en-US" b="1" dirty="0">
                    <a:latin typeface="Times New Roman" panose="02020603050405020304" pitchFamily="18" charset="0"/>
                    <a:cs typeface="Times New Roman" panose="02020603050405020304" pitchFamily="18" charset="0"/>
                  </a:rPr>
                  <a:t>  3m = 3[</a:t>
                </a:r>
                <a14:m>
                  <m:oMath xmlns:m="http://schemas.openxmlformats.org/officeDocument/2006/math">
                    <m:f>
                      <m:fPr>
                        <m:ctrlPr>
                          <a:rPr lang="en-US" b="1" i="1">
                            <a:latin typeface="Cambria Math" panose="02040503050406030204" pitchFamily="18" charset="0"/>
                          </a:rPr>
                        </m:ctrlPr>
                      </m:fPr>
                      <m:num>
                        <m:r>
                          <a:rPr lang="en-US" b="1" i="0" dirty="0">
                            <a:latin typeface="Cambria Math" panose="02040503050406030204" pitchFamily="18" charset="0"/>
                          </a:rPr>
                          <m:t>𝐌𝟏</m:t>
                        </m:r>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a:latin typeface="Cambria Math" panose="02040503050406030204" pitchFamily="18" charset="0"/>
                              </a:rPr>
                              <m:t>𝟏</m:t>
                            </m:r>
                          </m:sub>
                          <m:sup>
                            <m:r>
                              <a:rPr lang="en-US" b="1" i="0">
                                <a:latin typeface="Cambria Math" panose="02040503050406030204" pitchFamily="18" charset="0"/>
                              </a:rPr>
                              <m:t>𝟐</m:t>
                            </m:r>
                          </m:sup>
                        </m:sSubSup>
                      </m:num>
                      <m:den>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a:latin typeface="Cambria Math" panose="02040503050406030204" pitchFamily="18" charset="0"/>
                                  </a:rPr>
                                  <m:t>𝟏</m:t>
                                </m:r>
                              </m:sub>
                              <m:sup>
                                <m:r>
                                  <a:rPr lang="en-US" b="1" i="0">
                                    <a:latin typeface="Cambria Math" panose="02040503050406030204" pitchFamily="18" charset="0"/>
                                  </a:rPr>
                                  <m:t>𝟐</m:t>
                                </m:r>
                              </m:sup>
                            </m:sSubSup>
                            <m:r>
                              <a:rPr lang="en-US" b="1" i="0">
                                <a:latin typeface="Cambria Math" panose="02040503050406030204" pitchFamily="18" charset="0"/>
                              </a:rPr>
                              <m:t> </m:t>
                            </m:r>
                          </m:e>
                          <m:sub>
                            <m:r>
                              <a:rPr lang="en-US" b="1" i="0">
                                <a:latin typeface="Cambria Math" panose="02040503050406030204" pitchFamily="18" charset="0"/>
                              </a:rPr>
                              <m:t> </m:t>
                            </m:r>
                          </m:sub>
                        </m:sSub>
                        <m:r>
                          <m:rPr>
                            <m:nor/>
                          </m:rPr>
                          <a:rPr lang="en-US" b="1" dirty="0">
                            <a:latin typeface="Times New Roman" panose="02020603050405020304" pitchFamily="18" charset="0"/>
                            <a:cs typeface="Times New Roman" panose="02020603050405020304" pitchFamily="18" charset="0"/>
                          </a:rPr>
                          <m:t>−  </m:t>
                        </m:r>
                      </m:den>
                    </m:f>
                    <m:f>
                      <m:fPr>
                        <m:ctrlPr>
                          <a:rPr lang="en-US" b="1" i="1" dirty="0">
                            <a:latin typeface="Cambria Math" panose="02040503050406030204" pitchFamily="18" charset="0"/>
                          </a:rPr>
                        </m:ctrlPr>
                      </m:fPr>
                      <m:num>
                        <m:r>
                          <a:rPr lang="en-US" b="1" i="0" dirty="0">
                            <a:latin typeface="Cambria Math" panose="02040503050406030204" pitchFamily="18" charset="0"/>
                          </a:rPr>
                          <m:t>−</m:t>
                        </m:r>
                        <m:r>
                          <a:rPr lang="en-US" b="1" i="0" dirty="0">
                            <a:latin typeface="Cambria Math" panose="02040503050406030204" pitchFamily="18" charset="0"/>
                          </a:rPr>
                          <m:t>𝐌𝟐</m:t>
                        </m:r>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a:latin typeface="Cambria Math" panose="02040503050406030204" pitchFamily="18" charset="0"/>
                              </a:rPr>
                              <m:t>𝟐</m:t>
                            </m:r>
                            <m:r>
                              <a:rPr lang="en-US" b="1" i="0">
                                <a:latin typeface="Cambria Math" panose="02040503050406030204" pitchFamily="18" charset="0"/>
                              </a:rPr>
                              <m:t> </m:t>
                            </m:r>
                          </m:sub>
                          <m:sup>
                            <m:r>
                              <a:rPr lang="en-US" b="1" i="0">
                                <a:latin typeface="Cambria Math" panose="02040503050406030204" pitchFamily="18" charset="0"/>
                              </a:rPr>
                              <m:t>𝟐</m:t>
                            </m:r>
                          </m:sup>
                        </m:sSubSup>
                      </m:num>
                      <m:den>
                        <m:sSub>
                          <m:sSubPr>
                            <m:ctrlPr>
                              <a:rPr lang="en-US" b="1" i="1">
                                <a:latin typeface="Cambria Math" panose="02040503050406030204" pitchFamily="18" charset="0"/>
                              </a:rPr>
                            </m:ctrlPr>
                          </m:sSubPr>
                          <m:e>
                            <m:sSubSup>
                              <m:sSubSupPr>
                                <m:ctrlPr>
                                  <a:rPr lang="en-US" b="1" i="1">
                                    <a:latin typeface="Cambria Math" panose="02040503050406030204" pitchFamily="18" charset="0"/>
                                  </a:rPr>
                                </m:ctrlPr>
                              </m:sSubSupPr>
                              <m:e>
                                <m:r>
                                  <a:rPr lang="en-US" b="1" i="0">
                                    <a:latin typeface="Cambria Math" panose="02040503050406030204" pitchFamily="18" charset="0"/>
                                  </a:rPr>
                                  <m:t>𝐓</m:t>
                                </m:r>
                              </m:e>
                              <m:sub>
                                <m:r>
                                  <a:rPr lang="en-US" b="1" i="0">
                                    <a:latin typeface="Cambria Math" panose="02040503050406030204" pitchFamily="18" charset="0"/>
                                  </a:rPr>
                                  <m:t>𝟐</m:t>
                                </m:r>
                                <m:r>
                                  <a:rPr lang="en-US" b="1" i="0">
                                    <a:latin typeface="Cambria Math" panose="02040503050406030204" pitchFamily="18" charset="0"/>
                                  </a:rPr>
                                  <m:t> </m:t>
                                </m:r>
                              </m:sub>
                              <m:sup>
                                <m:r>
                                  <a:rPr lang="en-US" b="1" i="0">
                                    <a:latin typeface="Cambria Math" panose="02040503050406030204" pitchFamily="18" charset="0"/>
                                  </a:rPr>
                                  <m:t>𝟐</m:t>
                                </m:r>
                              </m:sup>
                            </m:sSubSup>
                            <m:r>
                              <a:rPr lang="en-US" b="1" i="0">
                                <a:latin typeface="Cambria Math" panose="02040503050406030204" pitchFamily="18" charset="0"/>
                              </a:rPr>
                              <m:t> </m:t>
                            </m:r>
                          </m:e>
                          <m:sub>
                            <m:r>
                              <a:rPr lang="en-US" b="1" i="0">
                                <a:latin typeface="Cambria Math" panose="02040503050406030204" pitchFamily="18" charset="0"/>
                              </a:rPr>
                              <m:t> </m:t>
                            </m:r>
                          </m:sub>
                        </m:sSub>
                      </m:den>
                    </m:f>
                  </m:oMath>
                </a14:m>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( 9)                                  </a:t>
                </a:r>
              </a:p>
              <a:p>
                <a:r>
                  <a:rPr lang="en-US" dirty="0">
                    <a:latin typeface="Times New Roman" panose="02020603050405020304" pitchFamily="18" charset="0"/>
                    <a:cs typeface="Times New Roman" panose="02020603050405020304" pitchFamily="18" charset="0"/>
                  </a:rPr>
                  <a:t>  From equation (4)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(10) </a:t>
                </a:r>
              </a:p>
            </p:txBody>
          </p:sp>
        </mc:Choice>
        <mc:Fallback>
          <p:sp>
            <p:nvSpPr>
              <p:cNvPr id="3" name="Content Placeholder 2"/>
              <p:cNvSpPr>
                <a:spLocks noGrp="1" noRot="1" noChangeAspect="1" noMove="1" noResize="1" noEditPoints="1" noAdjustHandles="1" noChangeArrowheads="1" noChangeShapeType="1" noTextEdit="1"/>
              </p:cNvSpPr>
              <p:nvPr>
                <p:ph sz="half" idx="4294967295"/>
              </p:nvPr>
            </p:nvSpPr>
            <p:spPr>
              <a:xfrm>
                <a:off x="585788" y="1685925"/>
                <a:ext cx="9658350" cy="4189413"/>
              </a:xfrm>
              <a:blipFill>
                <a:blip r:embed="rId2"/>
                <a:stretch>
                  <a:fillRect l="-1136" t="-2183"/>
                </a:stretch>
              </a:blipFill>
            </p:spPr>
            <p:txBody>
              <a:bodyPr/>
              <a:lstStyle/>
              <a:p>
                <a:r>
                  <a:rPr lang="en-PK">
                    <a:noFill/>
                  </a:rPr>
                  <a:t> </a:t>
                </a:r>
              </a:p>
            </p:txBody>
          </p:sp>
        </mc:Fallback>
      </mc:AlternateContent>
      <p:pic>
        <p:nvPicPr>
          <p:cNvPr id="5" name="Content Placeholder 4"/>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1665109" y="3952081"/>
            <a:ext cx="3086100" cy="847725"/>
          </a:xfr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6936" y="2588657"/>
            <a:ext cx="4379717" cy="3086657"/>
          </a:xfrm>
          <a:prstGeom prst="rect">
            <a:avLst/>
          </a:prstGeom>
        </p:spPr>
      </p:pic>
    </p:spTree>
    <p:extLst>
      <p:ext uri="{BB962C8B-B14F-4D97-AF65-F5344CB8AC3E}">
        <p14:creationId xmlns:p14="http://schemas.microsoft.com/office/powerpoint/2010/main" val="3891091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Procedure for Dynamic Method</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noAutofit/>
              </a:bodyPr>
              <a:lstStyle/>
              <a:p>
                <a:pPr algn="just"/>
                <a:r>
                  <a:rPr lang="en-US" i="1" dirty="0">
                    <a:latin typeface="Times New Roman" panose="02020603050405020304" pitchFamily="18" charset="0"/>
                    <a:cs typeface="Times New Roman" panose="02020603050405020304" pitchFamily="18" charset="0"/>
                  </a:rPr>
                  <a:t>Place a suitable load on the hanger and start the oscillations of the system. Make sure that the oscillations are along the length of the spring and the amplitude is small. Find the time for 20 oscillations 3 times.</a:t>
                </a:r>
              </a:p>
              <a:p>
                <a:pPr algn="just"/>
                <a:r>
                  <a:rPr lang="en-US" i="1" dirty="0">
                    <a:latin typeface="Times New Roman" panose="02020603050405020304" pitchFamily="18" charset="0"/>
                    <a:cs typeface="Times New Roman" panose="02020603050405020304" pitchFamily="18" charset="0"/>
                  </a:rPr>
                  <a:t>Repeat the procedure by changing the load on the spring in equal steps</a:t>
                </a:r>
              </a:p>
              <a:p>
                <a:pPr algn="just"/>
                <a:r>
                  <a:rPr lang="en-US" i="1" dirty="0">
                    <a:latin typeface="Times New Roman" panose="02020603050405020304" pitchFamily="18" charset="0"/>
                    <a:cs typeface="Times New Roman" panose="02020603050405020304" pitchFamily="18" charset="0"/>
                  </a:rPr>
                  <a:t>Plot a graph between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2  </m:t>
                        </m:r>
                      </m:sup>
                    </m:sSup>
                  </m:oMath>
                </a14:m>
                <a:r>
                  <a:rPr lang="en-US" i="1" dirty="0">
                    <a:latin typeface="Times New Roman" panose="02020603050405020304" pitchFamily="18" charset="0"/>
                    <a:cs typeface="Times New Roman" panose="02020603050405020304" pitchFamily="18" charset="0"/>
                  </a:rPr>
                  <a:t>and M. The slope  is </a:t>
                </a:r>
                <a14:m>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sSup>
                              <m:sSupPr>
                                <m:ctrlPr>
                                  <a:rPr lang="en-US" i="1">
                                    <a:latin typeface="Cambria Math" panose="02040503050406030204" pitchFamily="18" charset="0"/>
                                  </a:rPr>
                                </m:ctrlPr>
                              </m:sSupPr>
                              <m:e>
                                <m:r>
                                  <a:rPr lang="en-US" b="0" i="1">
                                    <a:latin typeface="Cambria Math" panose="02040503050406030204" pitchFamily="18" charset="0"/>
                                  </a:rPr>
                                  <m:t>4</m:t>
                                </m:r>
                                <m:r>
                                  <a:rPr lang="el-GR" b="0" i="1">
                                    <a:latin typeface="Cambria Math" panose="02040503050406030204" pitchFamily="18" charset="0"/>
                                  </a:rPr>
                                  <m:t>𝜋</m:t>
                                </m:r>
                              </m:e>
                              <m:sup>
                                <m:r>
                                  <a:rPr lang="en-US" b="0" i="1">
                                    <a:latin typeface="Cambria Math" panose="02040503050406030204" pitchFamily="18" charset="0"/>
                                  </a:rPr>
                                  <m:t>2</m:t>
                                </m:r>
                              </m:sup>
                            </m:sSup>
                          </m:num>
                          <m:den>
                            <m:r>
                              <a:rPr lang="en-US" b="0" i="1" smtClean="0">
                                <a:latin typeface="Cambria Math" panose="02040503050406030204" pitchFamily="18" charset="0"/>
                              </a:rPr>
                              <m:t>𝑘</m:t>
                            </m:r>
                          </m:den>
                        </m:f>
                      </m:e>
                    </m:box>
                  </m:oMath>
                </a14:m>
                <a:r>
                  <a:rPr lang="en-US" i="1" dirty="0">
                    <a:latin typeface="Times New Roman" panose="02020603050405020304" pitchFamily="18" charset="0"/>
                    <a:cs typeface="Times New Roman" panose="02020603050405020304" pitchFamily="18" charset="0"/>
                  </a:rPr>
                  <a:t>   and the intercept on the negative side of the x axis is m.</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1144" t="-2569" r="-1017"/>
                </a:stretch>
              </a:blipFill>
            </p:spPr>
            <p:txBody>
              <a:bodyPr/>
              <a:lstStyle/>
              <a:p>
                <a:r>
                  <a:rPr lang="en-US">
                    <a:noFill/>
                  </a:rPr>
                  <a:t> </a:t>
                </a:r>
              </a:p>
            </p:txBody>
          </p:sp>
        </mc:Fallback>
      </mc:AlternateContent>
    </p:spTree>
    <p:extLst>
      <p:ext uri="{BB962C8B-B14F-4D97-AF65-F5344CB8AC3E}">
        <p14:creationId xmlns:p14="http://schemas.microsoft.com/office/powerpoint/2010/main" val="180234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2557" y="1278411"/>
            <a:ext cx="5022551" cy="3539704"/>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42" y="1280302"/>
            <a:ext cx="5376615" cy="3537813"/>
          </a:xfrm>
          <a:prstGeom prst="rect">
            <a:avLst/>
          </a:prstGeom>
        </p:spPr>
      </p:pic>
    </p:spTree>
    <p:extLst>
      <p:ext uri="{BB962C8B-B14F-4D97-AF65-F5344CB8AC3E}">
        <p14:creationId xmlns:p14="http://schemas.microsoft.com/office/powerpoint/2010/main" val="304970209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487</TotalTime>
  <Words>693</Words>
  <Application>Microsoft Office PowerPoint</Application>
  <PresentationFormat>Widescreen</PresentationFormat>
  <Paragraphs>46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 Math</vt:lpstr>
      <vt:lpstr>Garamond</vt:lpstr>
      <vt:lpstr>Times New Roman</vt:lpstr>
      <vt:lpstr>Organic</vt:lpstr>
      <vt:lpstr>( A/Prof Syed Hussain Shah)  To Measure the Spring constant “k” by static and dynamic methods and to find the mass of the spring.</vt:lpstr>
      <vt:lpstr>Mass Spring System Is Rubber more elastic than steel? The answer lies in the concept of elasticity.</vt:lpstr>
      <vt:lpstr> Modes of Determination:  1) Static Mode: In this mode a weight is added to the spring and its extension is measured. The spring is fixed at one end and a weight is added in equal amounts one by   </vt:lpstr>
      <vt:lpstr>Plotting M vs x, a straight line is drawn. The value of k is measured from the inverse slope of the line. </vt:lpstr>
      <vt:lpstr>2. Dynamic Mode: If the same spring is made to oscillate by pulling the weight applied to it downward, it executes a simple harmonic motion.</vt:lpstr>
      <vt:lpstr>PowerPoint Presentation</vt:lpstr>
      <vt:lpstr>T_1= 2π √((M1+m)/k)  and        (5)           T_2= 2π √((M2+m)/k)       (6)</vt:lpstr>
      <vt:lpstr>PowerPoint Presentation</vt:lpstr>
      <vt:lpstr>Procedure for Dynamic Method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Measurement of the Spring constant “k” by static and dynamic methods and to find the mass of the spring.</dc:title>
  <dc:creator>Windows User</dc:creator>
  <cp:lastModifiedBy>syed hussain</cp:lastModifiedBy>
  <cp:revision>91</cp:revision>
  <cp:lastPrinted>2020-04-11T07:03:44Z</cp:lastPrinted>
  <dcterms:created xsi:type="dcterms:W3CDTF">2020-04-10T08:02:45Z</dcterms:created>
  <dcterms:modified xsi:type="dcterms:W3CDTF">2020-12-22T05:52:33Z</dcterms:modified>
</cp:coreProperties>
</file>