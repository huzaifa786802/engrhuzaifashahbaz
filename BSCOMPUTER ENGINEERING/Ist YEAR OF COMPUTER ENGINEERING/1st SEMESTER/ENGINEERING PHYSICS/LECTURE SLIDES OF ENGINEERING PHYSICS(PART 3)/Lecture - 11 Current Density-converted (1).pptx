
<file path=[Content_Types].xml><?xml version="1.0" encoding="utf-8"?>
<Types xmlns="http://schemas.openxmlformats.org/package/2006/content-types">
  <Default Extension="jpg" ContentType="image/jp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6858000" type="screen4x3"/>
  <p:notesSz cx="9144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8" d="100"/>
          <a:sy n="68" d="100"/>
        </p:scale>
        <p:origin x="1446" y="7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7711173-8687-450C-9BB5-116A362E1B5F}" type="datetimeFigureOut">
              <a:rPr lang="en-US" smtClean="0"/>
              <a:t>11/17/2021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857250"/>
            <a:ext cx="30861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26D8777-2C0E-45F6-BCED-7EAF9D1602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91123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jpg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25980"/>
            <a:ext cx="77724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rlito"/>
                <a:cs typeface="Carlito"/>
              </a:defRPr>
            </a:lvl1pPr>
          </a:lstStyle>
          <a:p>
            <a:pPr algn="ctr">
              <a:lnSpc>
                <a:spcPts val="1240"/>
              </a:lnSpc>
            </a:pPr>
            <a:r>
              <a:rPr lang="en-US" spc="-5"/>
              <a:t>Engr. Safee Ullah, Department of Electrical Engineering, HITEC University</a:t>
            </a:r>
            <a:endParaRPr spc="-5"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D1A7D8-49A0-4B35-88A3-784AED38DF1C}" type="datetime1">
              <a:rPr lang="en-US" smtClean="0"/>
              <a:t>11/17/2021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rlito"/>
                <a:cs typeface="Carlito"/>
              </a:defRPr>
            </a:lvl1pPr>
          </a:lstStyle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0" i="0">
                <a:solidFill>
                  <a:schemeClr val="tx1"/>
                </a:solidFill>
                <a:latin typeface="Carlito"/>
                <a:cs typeface="Carlito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rlito"/>
                <a:cs typeface="Carlito"/>
              </a:defRPr>
            </a:lvl1pPr>
          </a:lstStyle>
          <a:p>
            <a:pPr algn="ctr">
              <a:lnSpc>
                <a:spcPts val="1240"/>
              </a:lnSpc>
            </a:pPr>
            <a:r>
              <a:rPr lang="en-US" spc="-5"/>
              <a:t>Engr. Safee Ullah, Department of Electrical Engineering, HITEC University</a:t>
            </a:r>
            <a:endParaRPr spc="-5"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3F47460-55B7-49DC-ACB8-74A5661FC5C7}" type="datetime1">
              <a:rPr lang="en-US" smtClean="0"/>
              <a:t>11/17/2021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rlito"/>
                <a:cs typeface="Carlito"/>
              </a:defRPr>
            </a:lvl1pPr>
          </a:lstStyle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0" i="0">
                <a:solidFill>
                  <a:schemeClr val="tx1"/>
                </a:solidFill>
                <a:latin typeface="Carlito"/>
                <a:cs typeface="Carlito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rlito"/>
                <a:cs typeface="Carlito"/>
              </a:defRPr>
            </a:lvl1pPr>
          </a:lstStyle>
          <a:p>
            <a:pPr algn="ctr">
              <a:lnSpc>
                <a:spcPts val="1240"/>
              </a:lnSpc>
            </a:pPr>
            <a:r>
              <a:rPr lang="en-US" spc="-5"/>
              <a:t>Engr. Safee Ullah, Department of Electrical Engineering, HITEC University</a:t>
            </a:r>
            <a:endParaRPr spc="-5" dirty="0"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71203D-21F1-468B-944C-7F300CE424C3}" type="datetime1">
              <a:rPr lang="en-US" smtClean="0"/>
              <a:t>11/17/2021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rlito"/>
                <a:cs typeface="Carlito"/>
              </a:defRPr>
            </a:lvl1pPr>
          </a:lstStyle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9144000" cy="685799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571500" y="1905000"/>
            <a:ext cx="8001000" cy="21336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847343" y="4038600"/>
            <a:ext cx="7449311" cy="152400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0" i="0">
                <a:solidFill>
                  <a:schemeClr val="tx1"/>
                </a:solidFill>
                <a:latin typeface="Carlito"/>
                <a:cs typeface="Carlito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rlito"/>
                <a:cs typeface="Carlito"/>
              </a:defRPr>
            </a:lvl1pPr>
          </a:lstStyle>
          <a:p>
            <a:pPr algn="ctr">
              <a:lnSpc>
                <a:spcPts val="1240"/>
              </a:lnSpc>
            </a:pPr>
            <a:r>
              <a:rPr lang="en-US" spc="-5"/>
              <a:t>Engr. Safee Ullah, Department of Electrical Engineering, HITEC University</a:t>
            </a:r>
            <a:endParaRPr spc="-5" dirty="0"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A4B9D0E-0E33-49E8-9E35-3018ACE93E96}" type="datetime1">
              <a:rPr lang="en-US" smtClean="0"/>
              <a:t>11/17/2021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rlito"/>
                <a:cs typeface="Carlito"/>
              </a:defRPr>
            </a:lvl1pPr>
          </a:lstStyle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rlito"/>
                <a:cs typeface="Carlito"/>
              </a:defRPr>
            </a:lvl1pPr>
          </a:lstStyle>
          <a:p>
            <a:pPr algn="ctr">
              <a:lnSpc>
                <a:spcPts val="1240"/>
              </a:lnSpc>
            </a:pPr>
            <a:r>
              <a:rPr lang="en-US" spc="-5"/>
              <a:t>Engr. Safee Ullah, Department of Electrical Engineering, HITEC University</a:t>
            </a:r>
            <a:endParaRPr spc="-5" dirty="0"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6C5B90A-B0C5-48AD-8123-9D3BD7D22C31}" type="datetime1">
              <a:rPr lang="en-US" smtClean="0"/>
              <a:t>11/17/2021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rlito"/>
                <a:cs typeface="Carlito"/>
              </a:defRPr>
            </a:lvl1pPr>
          </a:lstStyle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9144000" cy="6857997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026058" y="192150"/>
            <a:ext cx="7091883" cy="12446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0" i="0">
                <a:solidFill>
                  <a:schemeClr val="tx1"/>
                </a:solidFill>
                <a:latin typeface="Carlito"/>
                <a:cs typeface="Carlito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21969" y="1607261"/>
            <a:ext cx="8100060" cy="295338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341370" y="6373774"/>
            <a:ext cx="2459354" cy="36067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888888"/>
                </a:solidFill>
                <a:latin typeface="Carlito"/>
                <a:cs typeface="Carlito"/>
              </a:defRPr>
            </a:lvl1pPr>
          </a:lstStyle>
          <a:p>
            <a:pPr algn="ctr">
              <a:lnSpc>
                <a:spcPts val="1240"/>
              </a:lnSpc>
            </a:pPr>
            <a:r>
              <a:rPr lang="en-US" spc="-5"/>
              <a:t>Engr. Safee Ullah, Department of Electrical Engineering, HITEC University</a:t>
            </a:r>
            <a:endParaRPr spc="-5"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AD65B3-3D83-4A58-9179-89BB12D0D921}" type="datetime1">
              <a:rPr lang="en-US" smtClean="0"/>
              <a:t>11/17/2021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479535" y="6465214"/>
            <a:ext cx="153670" cy="1778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888888"/>
                </a:solidFill>
                <a:latin typeface="Carlito"/>
                <a:cs typeface="Carlito"/>
              </a:defRPr>
            </a:lvl1pPr>
          </a:lstStyle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hf hdr="0" dt="0"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685799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304925" y="502742"/>
            <a:ext cx="652970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dirty="0"/>
              <a:t>BS – 101 </a:t>
            </a:r>
            <a:r>
              <a:rPr sz="4400" spc="-5" dirty="0"/>
              <a:t>Engineering</a:t>
            </a:r>
            <a:r>
              <a:rPr sz="4400" spc="-75" dirty="0"/>
              <a:t> </a:t>
            </a:r>
            <a:r>
              <a:rPr sz="4400" spc="-20" dirty="0"/>
              <a:t>Physics</a:t>
            </a:r>
            <a:endParaRPr sz="4400"/>
          </a:p>
        </p:txBody>
      </p:sp>
      <p:sp>
        <p:nvSpPr>
          <p:cNvPr id="4" name="object 4"/>
          <p:cNvSpPr txBox="1"/>
          <p:nvPr/>
        </p:nvSpPr>
        <p:spPr>
          <a:xfrm>
            <a:off x="3423664" y="2827147"/>
            <a:ext cx="3129535" cy="16846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32715">
              <a:lnSpc>
                <a:spcPct val="100000"/>
              </a:lnSpc>
              <a:spcBef>
                <a:spcPts val="105"/>
              </a:spcBef>
            </a:pPr>
            <a:r>
              <a:rPr sz="3200" spc="-10" dirty="0">
                <a:latin typeface="Carlito"/>
                <a:cs typeface="Carlito"/>
              </a:rPr>
              <a:t>Lecture </a:t>
            </a:r>
            <a:r>
              <a:rPr sz="3200" dirty="0">
                <a:latin typeface="Carlito"/>
                <a:cs typeface="Carlito"/>
              </a:rPr>
              <a:t>–</a:t>
            </a:r>
            <a:r>
              <a:rPr sz="3200" spc="-40" dirty="0">
                <a:latin typeface="Carlito"/>
                <a:cs typeface="Carlito"/>
              </a:rPr>
              <a:t> </a:t>
            </a:r>
            <a:r>
              <a:rPr sz="3200" spc="-5" dirty="0">
                <a:latin typeface="Carlito"/>
                <a:cs typeface="Carlito"/>
              </a:rPr>
              <a:t>1</a:t>
            </a:r>
            <a:r>
              <a:rPr lang="en-US" sz="3200" spc="-5" dirty="0">
                <a:latin typeface="Carlito"/>
                <a:cs typeface="Carlito"/>
              </a:rPr>
              <a:t>1</a:t>
            </a:r>
            <a:endParaRPr sz="3200" dirty="0">
              <a:latin typeface="Carlito"/>
              <a:cs typeface="Carlito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4400" dirty="0">
              <a:latin typeface="Carlito"/>
              <a:cs typeface="Carlito"/>
            </a:endParaRPr>
          </a:p>
          <a:p>
            <a:pPr marL="12700">
              <a:lnSpc>
                <a:spcPct val="100000"/>
              </a:lnSpc>
            </a:pPr>
            <a:r>
              <a:rPr lang="en-US" sz="3200" dirty="0">
                <a:latin typeface="Carlito"/>
                <a:cs typeface="Carlito"/>
              </a:rPr>
              <a:t>Engr. Safee Ullah</a:t>
            </a:r>
            <a:endParaRPr sz="3200" dirty="0">
              <a:latin typeface="Carlito"/>
              <a:cs typeface="Carlito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EFF88F-8EB6-4DB9-A184-C0373E26430F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algn="ctr">
              <a:lnSpc>
                <a:spcPts val="1240"/>
              </a:lnSpc>
            </a:pPr>
            <a:r>
              <a:rPr lang="en-US" spc="-5"/>
              <a:t>Engr. Safee Ullah, Department of Electrical Engineering, HITEC University</a:t>
            </a:r>
            <a:endParaRPr lang="en-US" spc="-5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CEB59D-7146-42CD-8AD7-2E03ECFC4336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lang="en-US" smtClean="0"/>
              <a:t>1</a:t>
            </a:fld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5940" y="1607261"/>
            <a:ext cx="8071484" cy="100266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5080" indent="-343535">
              <a:lnSpc>
                <a:spcPct val="100000"/>
              </a:lnSpc>
              <a:spcBef>
                <a:spcPts val="105"/>
              </a:spcBef>
              <a:buFont typeface="Arial"/>
              <a:buChar char="•"/>
              <a:tabLst>
                <a:tab pos="355600" algn="l"/>
                <a:tab pos="356235" algn="l"/>
                <a:tab pos="1274445" algn="l"/>
                <a:tab pos="3181350" algn="l"/>
                <a:tab pos="3896360" algn="l"/>
                <a:tab pos="5513705" algn="l"/>
                <a:tab pos="6013450" algn="l"/>
                <a:tab pos="6373495" algn="l"/>
              </a:tabLst>
            </a:pPr>
            <a:r>
              <a:rPr sz="3200" spc="-5" dirty="0">
                <a:latin typeface="Carlito"/>
                <a:cs typeface="Carlito"/>
              </a:rPr>
              <a:t>L</a:t>
            </a:r>
            <a:r>
              <a:rPr sz="3200" spc="-20" dirty="0">
                <a:latin typeface="Carlito"/>
                <a:cs typeface="Carlito"/>
              </a:rPr>
              <a:t>e</a:t>
            </a:r>
            <a:r>
              <a:rPr sz="3200" spc="95" dirty="0">
                <a:latin typeface="Carlito"/>
                <a:cs typeface="Carlito"/>
              </a:rPr>
              <a:t>t</a:t>
            </a:r>
            <a:r>
              <a:rPr sz="3200" spc="-190" dirty="0">
                <a:latin typeface="Carlito"/>
                <a:cs typeface="Carlito"/>
              </a:rPr>
              <a:t>’</a:t>
            </a:r>
            <a:r>
              <a:rPr sz="3200" dirty="0">
                <a:latin typeface="Carlito"/>
                <a:cs typeface="Carlito"/>
              </a:rPr>
              <a:t>s	</a:t>
            </a:r>
            <a:r>
              <a:rPr sz="3200" spc="-40" dirty="0">
                <a:latin typeface="Carlito"/>
                <a:cs typeface="Carlito"/>
              </a:rPr>
              <a:t>r</a:t>
            </a:r>
            <a:r>
              <a:rPr sz="3200" spc="-15" dirty="0">
                <a:latin typeface="Carlito"/>
                <a:cs typeface="Carlito"/>
              </a:rPr>
              <a:t>e</a:t>
            </a:r>
            <a:r>
              <a:rPr sz="3200" spc="-35" dirty="0">
                <a:latin typeface="Carlito"/>
                <a:cs typeface="Carlito"/>
              </a:rPr>
              <a:t>c</a:t>
            </a:r>
            <a:r>
              <a:rPr sz="3200" spc="-5" dirty="0">
                <a:latin typeface="Carlito"/>
                <a:cs typeface="Carlito"/>
              </a:rPr>
              <a:t>ons</a:t>
            </a:r>
            <a:r>
              <a:rPr sz="3200" spc="-15" dirty="0">
                <a:latin typeface="Carlito"/>
                <a:cs typeface="Carlito"/>
              </a:rPr>
              <a:t>i</a:t>
            </a:r>
            <a:r>
              <a:rPr sz="3200" spc="-5" dirty="0">
                <a:latin typeface="Carlito"/>
                <a:cs typeface="Carlito"/>
              </a:rPr>
              <a:t>de</a:t>
            </a:r>
            <a:r>
              <a:rPr sz="3200" dirty="0">
                <a:latin typeface="Carlito"/>
                <a:cs typeface="Carlito"/>
              </a:rPr>
              <a:t>r	the	</a:t>
            </a:r>
            <a:r>
              <a:rPr sz="3200" spc="-5" dirty="0">
                <a:latin typeface="Carlito"/>
                <a:cs typeface="Carlito"/>
              </a:rPr>
              <a:t>situ</a:t>
            </a:r>
            <a:r>
              <a:rPr sz="3200" spc="-20" dirty="0">
                <a:latin typeface="Carlito"/>
                <a:cs typeface="Carlito"/>
              </a:rPr>
              <a:t>a</a:t>
            </a:r>
            <a:r>
              <a:rPr sz="3200" dirty="0">
                <a:latin typeface="Carlito"/>
                <a:cs typeface="Carlito"/>
              </a:rPr>
              <a:t>tion	of	a	</a:t>
            </a:r>
            <a:r>
              <a:rPr sz="3200" spc="-30" dirty="0">
                <a:latin typeface="Carlito"/>
                <a:cs typeface="Carlito"/>
              </a:rPr>
              <a:t>c</a:t>
            </a:r>
            <a:r>
              <a:rPr sz="3200" spc="-5" dirty="0">
                <a:latin typeface="Carlito"/>
                <a:cs typeface="Carlito"/>
              </a:rPr>
              <a:t>onduc</a:t>
            </a:r>
            <a:r>
              <a:rPr sz="3200" spc="-55" dirty="0">
                <a:latin typeface="Carlito"/>
                <a:cs typeface="Carlito"/>
              </a:rPr>
              <a:t>t</a:t>
            </a:r>
            <a:r>
              <a:rPr sz="3200" spc="5" dirty="0">
                <a:latin typeface="Carlito"/>
                <a:cs typeface="Carlito"/>
              </a:rPr>
              <a:t>o</a:t>
            </a:r>
            <a:r>
              <a:rPr sz="3200" dirty="0">
                <a:latin typeface="Carlito"/>
                <a:cs typeface="Carlito"/>
              </a:rPr>
              <a:t>r  as </a:t>
            </a:r>
            <a:r>
              <a:rPr sz="3200" spc="-5" dirty="0">
                <a:latin typeface="Carlito"/>
                <a:cs typeface="Carlito"/>
              </a:rPr>
              <a:t>shown in</a:t>
            </a:r>
            <a:r>
              <a:rPr sz="3200" spc="10" dirty="0">
                <a:latin typeface="Carlito"/>
                <a:cs typeface="Carlito"/>
              </a:rPr>
              <a:t> </a:t>
            </a:r>
            <a:r>
              <a:rPr sz="3200" spc="-10" dirty="0">
                <a:latin typeface="Carlito"/>
                <a:cs typeface="Carlito"/>
              </a:rPr>
              <a:t>figure.</a:t>
            </a:r>
            <a:endParaRPr sz="3200">
              <a:latin typeface="Carlito"/>
              <a:cs typeface="Carlito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773045" marR="5080" indent="-2760980">
              <a:lnSpc>
                <a:spcPct val="100000"/>
              </a:lnSpc>
              <a:spcBef>
                <a:spcPts val="95"/>
              </a:spcBef>
            </a:pPr>
            <a:r>
              <a:rPr spc="-15" dirty="0"/>
              <a:t>Current, </a:t>
            </a:r>
            <a:r>
              <a:rPr spc="-10" dirty="0"/>
              <a:t>Drift </a:t>
            </a:r>
            <a:r>
              <a:rPr spc="-30" dirty="0"/>
              <a:t>Velocity </a:t>
            </a:r>
            <a:r>
              <a:rPr spc="-5" dirty="0"/>
              <a:t>and </a:t>
            </a:r>
            <a:r>
              <a:rPr spc="-20" dirty="0"/>
              <a:t>Current  </a:t>
            </a:r>
            <a:r>
              <a:rPr spc="-10" dirty="0"/>
              <a:t>Density</a:t>
            </a:r>
          </a:p>
        </p:txBody>
      </p:sp>
      <p:sp>
        <p:nvSpPr>
          <p:cNvPr id="4" name="object 4"/>
          <p:cNvSpPr/>
          <p:nvPr/>
        </p:nvSpPr>
        <p:spPr>
          <a:xfrm>
            <a:off x="4038600" y="2129027"/>
            <a:ext cx="3124200" cy="419862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1240"/>
              </a:lnSpc>
            </a:pPr>
            <a:r>
              <a:rPr lang="en-US" spc="-5"/>
              <a:t>Engr. Safee Ullah, Department of Electrical Engineering, HITEC University</a:t>
            </a:r>
            <a:endParaRPr spc="-5" dirty="0"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2</a:t>
            </a:fld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5940" y="1607261"/>
            <a:ext cx="8077834" cy="246570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5080" indent="-343535" algn="just">
              <a:lnSpc>
                <a:spcPct val="100000"/>
              </a:lnSpc>
              <a:spcBef>
                <a:spcPts val="105"/>
              </a:spcBef>
              <a:buFont typeface="Arial"/>
              <a:buChar char="•"/>
              <a:tabLst>
                <a:tab pos="356235" algn="l"/>
              </a:tabLst>
            </a:pPr>
            <a:r>
              <a:rPr sz="3200" dirty="0">
                <a:latin typeface="Carlito"/>
                <a:cs typeface="Carlito"/>
              </a:rPr>
              <a:t>A </a:t>
            </a:r>
            <a:r>
              <a:rPr sz="3200" spc="-10" dirty="0">
                <a:latin typeface="Carlito"/>
                <a:cs typeface="Carlito"/>
              </a:rPr>
              <a:t>conductor </a:t>
            </a:r>
            <a:r>
              <a:rPr sz="3200" dirty="0">
                <a:latin typeface="Carlito"/>
                <a:cs typeface="Carlito"/>
              </a:rPr>
              <a:t>with </a:t>
            </a:r>
            <a:r>
              <a:rPr sz="3200" spc="-10" dirty="0">
                <a:latin typeface="Carlito"/>
                <a:cs typeface="Carlito"/>
              </a:rPr>
              <a:t>cross-sectional area </a:t>
            </a:r>
            <a:r>
              <a:rPr sz="3200" i="1" dirty="0">
                <a:latin typeface="Carlito"/>
                <a:cs typeface="Carlito"/>
              </a:rPr>
              <a:t>A </a:t>
            </a:r>
            <a:r>
              <a:rPr sz="3200" dirty="0">
                <a:latin typeface="Carlito"/>
                <a:cs typeface="Carlito"/>
              </a:rPr>
              <a:t>and  an electric </a:t>
            </a:r>
            <a:r>
              <a:rPr sz="3200" spc="-5" dirty="0">
                <a:latin typeface="Carlito"/>
                <a:cs typeface="Carlito"/>
              </a:rPr>
              <a:t>field </a:t>
            </a:r>
            <a:r>
              <a:rPr sz="3200" b="1" i="1" dirty="0">
                <a:latin typeface="Carlito"/>
                <a:cs typeface="Carlito"/>
              </a:rPr>
              <a:t>E </a:t>
            </a:r>
            <a:r>
              <a:rPr sz="3200" spc="-15" dirty="0">
                <a:latin typeface="Carlito"/>
                <a:cs typeface="Carlito"/>
              </a:rPr>
              <a:t>directed from </a:t>
            </a:r>
            <a:r>
              <a:rPr sz="3200" spc="-10" dirty="0">
                <a:latin typeface="Carlito"/>
                <a:cs typeface="Carlito"/>
              </a:rPr>
              <a:t>left </a:t>
            </a:r>
            <a:r>
              <a:rPr sz="3200" spc="-25" dirty="0">
                <a:latin typeface="Carlito"/>
                <a:cs typeface="Carlito"/>
              </a:rPr>
              <a:t>to </a:t>
            </a:r>
            <a:r>
              <a:rPr sz="3200" spc="-5" dirty="0">
                <a:latin typeface="Carlito"/>
                <a:cs typeface="Carlito"/>
              </a:rPr>
              <a:t>right. </a:t>
            </a:r>
            <a:r>
              <a:rPr sz="3200" spc="-290" dirty="0">
                <a:latin typeface="Carlito"/>
                <a:cs typeface="Carlito"/>
              </a:rPr>
              <a:t>To  </a:t>
            </a:r>
            <a:r>
              <a:rPr sz="3200" spc="-5" dirty="0">
                <a:latin typeface="Carlito"/>
                <a:cs typeface="Carlito"/>
              </a:rPr>
              <a:t>begin </a:t>
            </a:r>
            <a:r>
              <a:rPr sz="3200" dirty="0">
                <a:latin typeface="Carlito"/>
                <a:cs typeface="Carlito"/>
              </a:rPr>
              <a:t>with, </a:t>
            </a:r>
            <a:r>
              <a:rPr sz="3200" spc="-5" dirty="0">
                <a:latin typeface="Carlito"/>
                <a:cs typeface="Carlito"/>
              </a:rPr>
              <a:t>we’ll </a:t>
            </a:r>
            <a:r>
              <a:rPr sz="3200" dirty="0">
                <a:latin typeface="Carlito"/>
                <a:cs typeface="Carlito"/>
              </a:rPr>
              <a:t>assume </a:t>
            </a:r>
            <a:r>
              <a:rPr sz="3200" spc="-5" dirty="0">
                <a:latin typeface="Carlito"/>
                <a:cs typeface="Carlito"/>
              </a:rPr>
              <a:t>that </a:t>
            </a:r>
            <a:r>
              <a:rPr sz="3200" dirty="0">
                <a:latin typeface="Carlito"/>
                <a:cs typeface="Carlito"/>
              </a:rPr>
              <a:t>the </a:t>
            </a:r>
            <a:r>
              <a:rPr sz="3200" spc="-20" dirty="0">
                <a:latin typeface="Carlito"/>
                <a:cs typeface="Carlito"/>
              </a:rPr>
              <a:t>free </a:t>
            </a:r>
            <a:r>
              <a:rPr sz="3200" spc="-10" dirty="0">
                <a:latin typeface="Carlito"/>
                <a:cs typeface="Carlito"/>
              </a:rPr>
              <a:t>charges  </a:t>
            </a:r>
            <a:r>
              <a:rPr sz="3200" spc="-5" dirty="0">
                <a:latin typeface="Carlito"/>
                <a:cs typeface="Carlito"/>
              </a:rPr>
              <a:t>in </a:t>
            </a:r>
            <a:r>
              <a:rPr sz="3200" dirty="0">
                <a:latin typeface="Carlito"/>
                <a:cs typeface="Carlito"/>
              </a:rPr>
              <a:t>the </a:t>
            </a:r>
            <a:r>
              <a:rPr sz="3200" spc="-10" dirty="0">
                <a:latin typeface="Carlito"/>
                <a:cs typeface="Carlito"/>
              </a:rPr>
              <a:t>conductor </a:t>
            </a:r>
            <a:r>
              <a:rPr sz="3200" spc="-15" dirty="0">
                <a:latin typeface="Carlito"/>
                <a:cs typeface="Carlito"/>
              </a:rPr>
              <a:t>are </a:t>
            </a:r>
            <a:r>
              <a:rPr sz="3200" spc="-5" dirty="0">
                <a:latin typeface="Carlito"/>
                <a:cs typeface="Carlito"/>
              </a:rPr>
              <a:t>positive; </a:t>
            </a:r>
            <a:r>
              <a:rPr sz="3200" dirty="0">
                <a:latin typeface="Carlito"/>
                <a:cs typeface="Carlito"/>
              </a:rPr>
              <a:t>then the </a:t>
            </a:r>
            <a:r>
              <a:rPr sz="3200" spc="-5" dirty="0">
                <a:latin typeface="Carlito"/>
                <a:cs typeface="Carlito"/>
              </a:rPr>
              <a:t>drift  velocity is in </a:t>
            </a:r>
            <a:r>
              <a:rPr sz="3200" dirty="0">
                <a:latin typeface="Carlito"/>
                <a:cs typeface="Carlito"/>
              </a:rPr>
              <a:t>the </a:t>
            </a:r>
            <a:r>
              <a:rPr sz="3200" spc="-5" dirty="0">
                <a:latin typeface="Carlito"/>
                <a:cs typeface="Carlito"/>
              </a:rPr>
              <a:t>same direction </a:t>
            </a:r>
            <a:r>
              <a:rPr sz="3200" dirty="0">
                <a:latin typeface="Carlito"/>
                <a:cs typeface="Carlito"/>
              </a:rPr>
              <a:t>as the </a:t>
            </a:r>
            <a:r>
              <a:rPr sz="3200" spc="-5" dirty="0">
                <a:latin typeface="Carlito"/>
                <a:cs typeface="Carlito"/>
              </a:rPr>
              <a:t>field.</a:t>
            </a:r>
            <a:endParaRPr sz="3200">
              <a:latin typeface="Carlito"/>
              <a:cs typeface="Carlito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880870" marR="5080" indent="-1868805">
              <a:lnSpc>
                <a:spcPct val="100000"/>
              </a:lnSpc>
              <a:spcBef>
                <a:spcPts val="95"/>
              </a:spcBef>
            </a:pPr>
            <a:r>
              <a:rPr spc="-15" dirty="0"/>
              <a:t>Current, </a:t>
            </a:r>
            <a:r>
              <a:rPr spc="-10" dirty="0"/>
              <a:t>Drift </a:t>
            </a:r>
            <a:r>
              <a:rPr spc="-30" dirty="0"/>
              <a:t>Velocity </a:t>
            </a:r>
            <a:r>
              <a:rPr spc="-5" dirty="0"/>
              <a:t>and </a:t>
            </a:r>
            <a:r>
              <a:rPr spc="-20" dirty="0"/>
              <a:t>Current  </a:t>
            </a:r>
            <a:r>
              <a:rPr spc="-10" dirty="0"/>
              <a:t>Density </a:t>
            </a:r>
            <a:r>
              <a:rPr spc="-15" dirty="0"/>
              <a:t>(Contd.)</a:t>
            </a:r>
          </a:p>
        </p:txBody>
      </p:sp>
      <p:sp>
        <p:nvSpPr>
          <p:cNvPr id="4" name="object 4"/>
          <p:cNvSpPr/>
          <p:nvPr/>
        </p:nvSpPr>
        <p:spPr>
          <a:xfrm>
            <a:off x="2971800" y="4111752"/>
            <a:ext cx="3124200" cy="221284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1240"/>
              </a:lnSpc>
            </a:pPr>
            <a:r>
              <a:rPr lang="en-US" spc="-5"/>
              <a:t>Engr. Safee Ullah, Department of Electrical Engineering, HITEC University</a:t>
            </a:r>
            <a:endParaRPr spc="-5" dirty="0"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3</a:t>
            </a:fld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23240" y="1607261"/>
            <a:ext cx="8125459" cy="246570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68300" marR="43180" indent="-343535" algn="just">
              <a:lnSpc>
                <a:spcPct val="100000"/>
              </a:lnSpc>
              <a:spcBef>
                <a:spcPts val="105"/>
              </a:spcBef>
              <a:buFont typeface="Arial"/>
              <a:buChar char="•"/>
              <a:tabLst>
                <a:tab pos="368935" algn="l"/>
              </a:tabLst>
            </a:pPr>
            <a:r>
              <a:rPr sz="3200" spc="-5" dirty="0">
                <a:latin typeface="Carlito"/>
                <a:cs typeface="Carlito"/>
              </a:rPr>
              <a:t>Suppose </a:t>
            </a:r>
            <a:r>
              <a:rPr sz="3200" spc="-10" dirty="0">
                <a:latin typeface="Carlito"/>
                <a:cs typeface="Carlito"/>
              </a:rPr>
              <a:t>there </a:t>
            </a:r>
            <a:r>
              <a:rPr sz="3200" spc="-20" dirty="0">
                <a:latin typeface="Carlito"/>
                <a:cs typeface="Carlito"/>
              </a:rPr>
              <a:t>are </a:t>
            </a:r>
            <a:r>
              <a:rPr sz="3200" i="1" dirty="0">
                <a:latin typeface="Carlito"/>
                <a:cs typeface="Carlito"/>
              </a:rPr>
              <a:t>n </a:t>
            </a:r>
            <a:r>
              <a:rPr sz="3200" dirty="0">
                <a:latin typeface="Carlito"/>
                <a:cs typeface="Carlito"/>
              </a:rPr>
              <a:t>moving </a:t>
            </a:r>
            <a:r>
              <a:rPr sz="3200" spc="-10" dirty="0">
                <a:latin typeface="Carlito"/>
                <a:cs typeface="Carlito"/>
              </a:rPr>
              <a:t>charged </a:t>
            </a:r>
            <a:r>
              <a:rPr sz="3200" dirty="0">
                <a:latin typeface="Carlito"/>
                <a:cs typeface="Carlito"/>
              </a:rPr>
              <a:t>particles  </a:t>
            </a:r>
            <a:r>
              <a:rPr sz="3200" spc="-5" dirty="0">
                <a:latin typeface="Carlito"/>
                <a:cs typeface="Carlito"/>
              </a:rPr>
              <a:t>per </a:t>
            </a:r>
            <a:r>
              <a:rPr sz="3200" dirty="0">
                <a:latin typeface="Carlito"/>
                <a:cs typeface="Carlito"/>
              </a:rPr>
              <a:t>unit </a:t>
            </a:r>
            <a:r>
              <a:rPr sz="3200" spc="-5" dirty="0">
                <a:latin typeface="Carlito"/>
                <a:cs typeface="Carlito"/>
              </a:rPr>
              <a:t>volume. Assume that </a:t>
            </a:r>
            <a:r>
              <a:rPr sz="3200" dirty="0">
                <a:latin typeface="Carlito"/>
                <a:cs typeface="Carlito"/>
              </a:rPr>
              <a:t>all the </a:t>
            </a:r>
            <a:r>
              <a:rPr sz="3200" spc="-5" dirty="0">
                <a:latin typeface="Carlito"/>
                <a:cs typeface="Carlito"/>
              </a:rPr>
              <a:t>particles  </a:t>
            </a:r>
            <a:r>
              <a:rPr sz="3200" spc="-15" dirty="0">
                <a:latin typeface="Carlito"/>
                <a:cs typeface="Carlito"/>
              </a:rPr>
              <a:t>move </a:t>
            </a:r>
            <a:r>
              <a:rPr sz="3200" spc="-5" dirty="0">
                <a:latin typeface="Carlito"/>
                <a:cs typeface="Carlito"/>
              </a:rPr>
              <a:t>with </a:t>
            </a:r>
            <a:r>
              <a:rPr sz="3200" dirty="0">
                <a:latin typeface="Carlito"/>
                <a:cs typeface="Carlito"/>
              </a:rPr>
              <a:t>the </a:t>
            </a:r>
            <a:r>
              <a:rPr sz="3200" spc="-5" dirty="0">
                <a:latin typeface="Carlito"/>
                <a:cs typeface="Carlito"/>
              </a:rPr>
              <a:t>same drift velocity </a:t>
            </a:r>
            <a:r>
              <a:rPr sz="3200" dirty="0">
                <a:latin typeface="Carlito"/>
                <a:cs typeface="Carlito"/>
              </a:rPr>
              <a:t>with  magnitude </a:t>
            </a:r>
            <a:r>
              <a:rPr sz="3200" spc="-484" dirty="0">
                <a:latin typeface="Arial"/>
                <a:cs typeface="Arial"/>
              </a:rPr>
              <a:t>𝑣</a:t>
            </a:r>
            <a:r>
              <a:rPr sz="3525" spc="-727" baseline="-15366" dirty="0">
                <a:latin typeface="Arial"/>
                <a:cs typeface="Arial"/>
              </a:rPr>
              <a:t>𝑑 </a:t>
            </a:r>
            <a:r>
              <a:rPr sz="3200" dirty="0">
                <a:latin typeface="Carlito"/>
                <a:cs typeface="Carlito"/>
              </a:rPr>
              <a:t>. In a time </a:t>
            </a:r>
            <a:r>
              <a:rPr sz="3200" spc="-10" dirty="0">
                <a:latin typeface="Carlito"/>
                <a:cs typeface="Carlito"/>
              </a:rPr>
              <a:t>interval </a:t>
            </a:r>
            <a:r>
              <a:rPr sz="3200" spc="-495" dirty="0">
                <a:latin typeface="Arial"/>
                <a:cs typeface="Arial"/>
              </a:rPr>
              <a:t>𝑑𝑡</a:t>
            </a:r>
            <a:r>
              <a:rPr sz="3200" spc="-495" dirty="0">
                <a:latin typeface="Carlito"/>
                <a:cs typeface="Carlito"/>
              </a:rPr>
              <a:t>, </a:t>
            </a:r>
            <a:r>
              <a:rPr sz="3200" dirty="0">
                <a:latin typeface="Carlito"/>
                <a:cs typeface="Carlito"/>
              </a:rPr>
              <a:t>each  </a:t>
            </a:r>
            <a:r>
              <a:rPr sz="3200" spc="-5" dirty="0">
                <a:latin typeface="Carlito"/>
                <a:cs typeface="Carlito"/>
              </a:rPr>
              <a:t>particle </a:t>
            </a:r>
            <a:r>
              <a:rPr sz="3200" spc="-10" dirty="0">
                <a:latin typeface="Carlito"/>
                <a:cs typeface="Carlito"/>
              </a:rPr>
              <a:t>moves </a:t>
            </a:r>
            <a:r>
              <a:rPr sz="3200" dirty="0">
                <a:latin typeface="Carlito"/>
                <a:cs typeface="Carlito"/>
              </a:rPr>
              <a:t>a </a:t>
            </a:r>
            <a:r>
              <a:rPr sz="3200" spc="-15" dirty="0">
                <a:latin typeface="Carlito"/>
                <a:cs typeface="Carlito"/>
              </a:rPr>
              <a:t>distance</a:t>
            </a:r>
            <a:r>
              <a:rPr sz="3200" spc="25" dirty="0">
                <a:latin typeface="Carlito"/>
                <a:cs typeface="Carlito"/>
              </a:rPr>
              <a:t> </a:t>
            </a:r>
            <a:r>
              <a:rPr sz="3200" spc="-480" dirty="0">
                <a:latin typeface="Arial"/>
                <a:cs typeface="Arial"/>
              </a:rPr>
              <a:t>𝑣</a:t>
            </a:r>
            <a:r>
              <a:rPr sz="3525" spc="-719" baseline="-15366" dirty="0">
                <a:latin typeface="Arial"/>
                <a:cs typeface="Arial"/>
              </a:rPr>
              <a:t>𝑑</a:t>
            </a:r>
            <a:r>
              <a:rPr sz="3200" spc="-480" dirty="0">
                <a:latin typeface="Arial"/>
                <a:cs typeface="Arial"/>
              </a:rPr>
              <a:t>𝑑𝑡</a:t>
            </a:r>
            <a:r>
              <a:rPr sz="3200" spc="-480" dirty="0">
                <a:latin typeface="Carlito"/>
                <a:cs typeface="Carlito"/>
              </a:rPr>
              <a:t>.</a:t>
            </a:r>
            <a:endParaRPr sz="3200">
              <a:latin typeface="Carlito"/>
              <a:cs typeface="Carlito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880870" marR="5080" indent="-1868805">
              <a:lnSpc>
                <a:spcPct val="100000"/>
              </a:lnSpc>
              <a:spcBef>
                <a:spcPts val="95"/>
              </a:spcBef>
            </a:pPr>
            <a:r>
              <a:rPr spc="-15" dirty="0"/>
              <a:t>Current, </a:t>
            </a:r>
            <a:r>
              <a:rPr spc="-10" dirty="0"/>
              <a:t>Drift </a:t>
            </a:r>
            <a:r>
              <a:rPr spc="-30" dirty="0"/>
              <a:t>Velocity </a:t>
            </a:r>
            <a:r>
              <a:rPr spc="-5" dirty="0"/>
              <a:t>and </a:t>
            </a:r>
            <a:r>
              <a:rPr spc="-20" dirty="0"/>
              <a:t>Current  </a:t>
            </a:r>
            <a:r>
              <a:rPr spc="-10" dirty="0"/>
              <a:t>Density </a:t>
            </a:r>
            <a:r>
              <a:rPr spc="-15" dirty="0"/>
              <a:t>(Contd.)</a:t>
            </a:r>
          </a:p>
        </p:txBody>
      </p:sp>
      <p:sp>
        <p:nvSpPr>
          <p:cNvPr id="4" name="object 4"/>
          <p:cNvSpPr/>
          <p:nvPr/>
        </p:nvSpPr>
        <p:spPr>
          <a:xfrm>
            <a:off x="2971800" y="4114800"/>
            <a:ext cx="3124200" cy="221284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1240"/>
              </a:lnSpc>
            </a:pPr>
            <a:r>
              <a:rPr lang="en-US" spc="-5"/>
              <a:t>Engr. Safee Ullah, Department of Electrical Engineering, HITEC University</a:t>
            </a:r>
            <a:endParaRPr spc="-5" dirty="0"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4</a:t>
            </a:fld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23240" y="1607261"/>
            <a:ext cx="8098790" cy="295338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68300" marR="17780" indent="-343535" algn="just">
              <a:lnSpc>
                <a:spcPct val="100000"/>
              </a:lnSpc>
              <a:spcBef>
                <a:spcPts val="105"/>
              </a:spcBef>
              <a:buFont typeface="Arial"/>
              <a:buChar char="•"/>
              <a:tabLst>
                <a:tab pos="368935" algn="l"/>
              </a:tabLst>
            </a:pPr>
            <a:r>
              <a:rPr sz="3200" spc="-5" dirty="0">
                <a:latin typeface="Carlito"/>
                <a:cs typeface="Carlito"/>
              </a:rPr>
              <a:t>The volume </a:t>
            </a:r>
            <a:r>
              <a:rPr sz="3200" dirty="0">
                <a:latin typeface="Carlito"/>
                <a:cs typeface="Carlito"/>
              </a:rPr>
              <a:t>of the </a:t>
            </a:r>
            <a:r>
              <a:rPr sz="3200" spc="-5" dirty="0">
                <a:latin typeface="Carlito"/>
                <a:cs typeface="Carlito"/>
              </a:rPr>
              <a:t>cylinder is </a:t>
            </a:r>
            <a:r>
              <a:rPr sz="3200" spc="-420" dirty="0">
                <a:latin typeface="Arial"/>
                <a:cs typeface="Arial"/>
              </a:rPr>
              <a:t>A𝑣</a:t>
            </a:r>
            <a:r>
              <a:rPr sz="3525" spc="-630" baseline="-15366" dirty="0">
                <a:latin typeface="Arial"/>
                <a:cs typeface="Arial"/>
              </a:rPr>
              <a:t>𝑑</a:t>
            </a:r>
            <a:r>
              <a:rPr sz="3200" spc="-420" dirty="0">
                <a:latin typeface="Arial"/>
                <a:cs typeface="Arial"/>
              </a:rPr>
              <a:t>𝑑𝑡</a:t>
            </a:r>
            <a:r>
              <a:rPr sz="3200" spc="-420" dirty="0">
                <a:latin typeface="Carlito"/>
                <a:cs typeface="Carlito"/>
              </a:rPr>
              <a:t>,</a:t>
            </a:r>
            <a:r>
              <a:rPr sz="3200" spc="-120" dirty="0">
                <a:latin typeface="Carlito"/>
                <a:cs typeface="Carlito"/>
              </a:rPr>
              <a:t> </a:t>
            </a:r>
            <a:r>
              <a:rPr sz="3200" dirty="0">
                <a:latin typeface="Carlito"/>
                <a:cs typeface="Carlito"/>
              </a:rPr>
              <a:t>and the  </a:t>
            </a:r>
            <a:r>
              <a:rPr sz="3200" spc="-5" dirty="0">
                <a:latin typeface="Carlito"/>
                <a:cs typeface="Carlito"/>
              </a:rPr>
              <a:t>number </a:t>
            </a:r>
            <a:r>
              <a:rPr sz="3200" dirty="0">
                <a:latin typeface="Carlito"/>
                <a:cs typeface="Carlito"/>
              </a:rPr>
              <a:t>of </a:t>
            </a:r>
            <a:r>
              <a:rPr sz="3200" spc="-5" dirty="0">
                <a:latin typeface="Carlito"/>
                <a:cs typeface="Carlito"/>
              </a:rPr>
              <a:t>particles </a:t>
            </a:r>
            <a:r>
              <a:rPr sz="3200" dirty="0">
                <a:latin typeface="Carlito"/>
                <a:cs typeface="Carlito"/>
              </a:rPr>
              <a:t>within </a:t>
            </a:r>
            <a:r>
              <a:rPr sz="3200" spc="-5" dirty="0">
                <a:latin typeface="Carlito"/>
                <a:cs typeface="Carlito"/>
              </a:rPr>
              <a:t>it is </a:t>
            </a:r>
            <a:r>
              <a:rPr sz="3200" spc="-355" dirty="0">
                <a:latin typeface="Arial"/>
                <a:cs typeface="Arial"/>
              </a:rPr>
              <a:t>nA𝑣</a:t>
            </a:r>
            <a:r>
              <a:rPr sz="3525" spc="-532" baseline="-15366" dirty="0">
                <a:latin typeface="Arial"/>
                <a:cs typeface="Arial"/>
              </a:rPr>
              <a:t>𝑑</a:t>
            </a:r>
            <a:r>
              <a:rPr sz="3200" spc="-355" dirty="0">
                <a:latin typeface="Arial"/>
                <a:cs typeface="Arial"/>
              </a:rPr>
              <a:t>𝑑𝑡</a:t>
            </a:r>
            <a:r>
              <a:rPr sz="3200" spc="-355" dirty="0">
                <a:latin typeface="Carlito"/>
                <a:cs typeface="Carlito"/>
              </a:rPr>
              <a:t>. </a:t>
            </a:r>
            <a:r>
              <a:rPr sz="3200" spc="-5" dirty="0">
                <a:latin typeface="Carlito"/>
                <a:cs typeface="Carlito"/>
              </a:rPr>
              <a:t>If  </a:t>
            </a:r>
            <a:r>
              <a:rPr sz="3200" dirty="0">
                <a:latin typeface="Carlito"/>
                <a:cs typeface="Carlito"/>
              </a:rPr>
              <a:t>each </a:t>
            </a:r>
            <a:r>
              <a:rPr sz="3200" spc="-5" dirty="0">
                <a:latin typeface="Carlito"/>
                <a:cs typeface="Carlito"/>
              </a:rPr>
              <a:t>particle </a:t>
            </a:r>
            <a:r>
              <a:rPr sz="3200" dirty="0">
                <a:latin typeface="Carlito"/>
                <a:cs typeface="Carlito"/>
              </a:rPr>
              <a:t>has a </a:t>
            </a:r>
            <a:r>
              <a:rPr sz="3200" spc="-10" dirty="0">
                <a:latin typeface="Carlito"/>
                <a:cs typeface="Carlito"/>
              </a:rPr>
              <a:t>charge </a:t>
            </a:r>
            <a:r>
              <a:rPr sz="3200" i="1" spc="-5" dirty="0">
                <a:latin typeface="Carlito"/>
                <a:cs typeface="Carlito"/>
              </a:rPr>
              <a:t>q</a:t>
            </a:r>
            <a:r>
              <a:rPr sz="3200" spc="-5" dirty="0">
                <a:latin typeface="Carlito"/>
                <a:cs typeface="Carlito"/>
              </a:rPr>
              <a:t>, </a:t>
            </a:r>
            <a:r>
              <a:rPr sz="3200" dirty="0">
                <a:latin typeface="Carlito"/>
                <a:cs typeface="Carlito"/>
              </a:rPr>
              <a:t>the </a:t>
            </a:r>
            <a:r>
              <a:rPr sz="3200" spc="-15" dirty="0">
                <a:latin typeface="Carlito"/>
                <a:cs typeface="Carlito"/>
              </a:rPr>
              <a:t>charge </a:t>
            </a:r>
            <a:r>
              <a:rPr sz="3200" spc="-390" dirty="0">
                <a:latin typeface="Arial"/>
                <a:cs typeface="Arial"/>
              </a:rPr>
              <a:t>𝑑𝑄  </a:t>
            </a:r>
            <a:r>
              <a:rPr sz="3200" spc="-10" dirty="0">
                <a:latin typeface="Carlito"/>
                <a:cs typeface="Carlito"/>
              </a:rPr>
              <a:t>that flows </a:t>
            </a:r>
            <a:r>
              <a:rPr sz="3200" spc="-5" dirty="0">
                <a:latin typeface="Carlito"/>
                <a:cs typeface="Carlito"/>
              </a:rPr>
              <a:t>out </a:t>
            </a:r>
            <a:r>
              <a:rPr sz="3200" dirty="0">
                <a:latin typeface="Carlito"/>
                <a:cs typeface="Carlito"/>
              </a:rPr>
              <a:t>of the end of the cylinder  </a:t>
            </a:r>
            <a:r>
              <a:rPr sz="3200" spc="-5" dirty="0">
                <a:latin typeface="Carlito"/>
                <a:cs typeface="Carlito"/>
              </a:rPr>
              <a:t>during time </a:t>
            </a:r>
            <a:r>
              <a:rPr sz="3200" spc="-840" dirty="0">
                <a:latin typeface="Arial"/>
                <a:cs typeface="Arial"/>
              </a:rPr>
              <a:t>𝑑𝑡 </a:t>
            </a:r>
            <a:r>
              <a:rPr sz="3200" spc="-5" dirty="0">
                <a:latin typeface="Carlito"/>
                <a:cs typeface="Carlito"/>
              </a:rPr>
              <a:t>is</a:t>
            </a:r>
            <a:endParaRPr sz="3200">
              <a:latin typeface="Carlito"/>
              <a:cs typeface="Carlito"/>
            </a:endParaRPr>
          </a:p>
          <a:p>
            <a:pPr algn="ctr">
              <a:lnSpc>
                <a:spcPct val="100000"/>
              </a:lnSpc>
              <a:spcBef>
                <a:spcPts val="5"/>
              </a:spcBef>
              <a:tabLst>
                <a:tab pos="723900" algn="l"/>
                <a:tab pos="1229995" algn="l"/>
                <a:tab pos="3316604" algn="l"/>
                <a:tab pos="3822700" algn="l"/>
              </a:tabLst>
            </a:pPr>
            <a:r>
              <a:rPr sz="3200" spc="-390" dirty="0">
                <a:latin typeface="Arial"/>
                <a:cs typeface="Arial"/>
              </a:rPr>
              <a:t>𝑑𝑄	</a:t>
            </a:r>
            <a:r>
              <a:rPr sz="3200" spc="520" dirty="0">
                <a:latin typeface="Arial"/>
                <a:cs typeface="Arial"/>
              </a:rPr>
              <a:t>=	</a:t>
            </a:r>
            <a:r>
              <a:rPr sz="3200" spc="-290" dirty="0">
                <a:latin typeface="Arial"/>
                <a:cs typeface="Arial"/>
              </a:rPr>
              <a:t>𝑞(nA𝑣</a:t>
            </a:r>
            <a:r>
              <a:rPr sz="3525" spc="-434" baseline="-15366" dirty="0">
                <a:latin typeface="Arial"/>
                <a:cs typeface="Arial"/>
              </a:rPr>
              <a:t>𝑑</a:t>
            </a:r>
            <a:r>
              <a:rPr sz="3200" spc="-290" dirty="0">
                <a:latin typeface="Arial"/>
                <a:cs typeface="Arial"/>
              </a:rPr>
              <a:t>𝑑𝑡)	</a:t>
            </a:r>
            <a:r>
              <a:rPr sz="3200" spc="520" dirty="0">
                <a:latin typeface="Arial"/>
                <a:cs typeface="Arial"/>
              </a:rPr>
              <a:t>=	</a:t>
            </a:r>
            <a:r>
              <a:rPr sz="3200" spc="-459" dirty="0">
                <a:latin typeface="Arial"/>
                <a:cs typeface="Arial"/>
              </a:rPr>
              <a:t>𝑛𝑞𝑣</a:t>
            </a:r>
            <a:r>
              <a:rPr sz="3525" spc="-690" baseline="-15366" dirty="0">
                <a:latin typeface="Arial"/>
                <a:cs typeface="Arial"/>
              </a:rPr>
              <a:t>𝑑</a:t>
            </a:r>
            <a:r>
              <a:rPr sz="3200" spc="-459" dirty="0">
                <a:latin typeface="Arial"/>
                <a:cs typeface="Arial"/>
              </a:rPr>
              <a:t>𝐴</a:t>
            </a:r>
            <a:r>
              <a:rPr sz="3200" spc="-170" dirty="0">
                <a:latin typeface="Arial"/>
                <a:cs typeface="Arial"/>
              </a:rPr>
              <a:t> </a:t>
            </a:r>
            <a:r>
              <a:rPr sz="3200" spc="-840" dirty="0">
                <a:latin typeface="Arial"/>
                <a:cs typeface="Arial"/>
              </a:rPr>
              <a:t>𝑑𝑡</a:t>
            </a:r>
            <a:endParaRPr sz="32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880870" marR="5080" indent="-1868805">
              <a:lnSpc>
                <a:spcPct val="100000"/>
              </a:lnSpc>
              <a:spcBef>
                <a:spcPts val="95"/>
              </a:spcBef>
            </a:pPr>
            <a:r>
              <a:rPr spc="-15" dirty="0"/>
              <a:t>Current, </a:t>
            </a:r>
            <a:r>
              <a:rPr spc="-10" dirty="0"/>
              <a:t>Drift </a:t>
            </a:r>
            <a:r>
              <a:rPr spc="-30" dirty="0"/>
              <a:t>Velocity </a:t>
            </a:r>
            <a:r>
              <a:rPr spc="-5" dirty="0"/>
              <a:t>and </a:t>
            </a:r>
            <a:r>
              <a:rPr spc="-20" dirty="0"/>
              <a:t>Current  </a:t>
            </a:r>
            <a:r>
              <a:rPr spc="-10" dirty="0"/>
              <a:t>Density </a:t>
            </a:r>
            <a:r>
              <a:rPr spc="-15" dirty="0"/>
              <a:t>(Contd.)</a:t>
            </a:r>
          </a:p>
        </p:txBody>
      </p:sp>
      <p:sp>
        <p:nvSpPr>
          <p:cNvPr id="4" name="object 4"/>
          <p:cNvSpPr/>
          <p:nvPr/>
        </p:nvSpPr>
        <p:spPr>
          <a:xfrm>
            <a:off x="6019800" y="5333998"/>
            <a:ext cx="2048255" cy="145084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1240"/>
              </a:lnSpc>
            </a:pPr>
            <a:r>
              <a:rPr lang="en-US" spc="-5"/>
              <a:t>Engr. Safee Ullah, Department of Electrical Engineering, HITEC University</a:t>
            </a:r>
            <a:endParaRPr spc="-5" dirty="0"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5</a:t>
            </a:fld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5940" y="1558493"/>
            <a:ext cx="3324860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105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3200" spc="-5" dirty="0">
                <a:latin typeface="Carlito"/>
                <a:cs typeface="Carlito"/>
              </a:rPr>
              <a:t>And </a:t>
            </a:r>
            <a:r>
              <a:rPr sz="3200" dirty="0">
                <a:latin typeface="Carlito"/>
                <a:cs typeface="Carlito"/>
              </a:rPr>
              <a:t>the </a:t>
            </a:r>
            <a:r>
              <a:rPr sz="3200" spc="-10" dirty="0">
                <a:latin typeface="Carlito"/>
                <a:cs typeface="Carlito"/>
              </a:rPr>
              <a:t>current</a:t>
            </a:r>
            <a:r>
              <a:rPr sz="3200" spc="-70" dirty="0">
                <a:latin typeface="Carlito"/>
                <a:cs typeface="Carlito"/>
              </a:rPr>
              <a:t> </a:t>
            </a:r>
            <a:r>
              <a:rPr sz="3200" spc="-5" dirty="0">
                <a:latin typeface="Carlito"/>
                <a:cs typeface="Carlito"/>
              </a:rPr>
              <a:t>is</a:t>
            </a:r>
            <a:endParaRPr sz="3200">
              <a:latin typeface="Carlito"/>
              <a:cs typeface="Carlito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676400" y="2592323"/>
            <a:ext cx="403860" cy="26034"/>
          </a:xfrm>
          <a:custGeom>
            <a:avLst/>
            <a:gdLst/>
            <a:ahLst/>
            <a:cxnLst/>
            <a:rect l="l" t="t" r="r" b="b"/>
            <a:pathLst>
              <a:path w="403860" h="26035">
                <a:moveTo>
                  <a:pt x="403860" y="0"/>
                </a:moveTo>
                <a:lnTo>
                  <a:pt x="0" y="0"/>
                </a:lnTo>
                <a:lnTo>
                  <a:pt x="0" y="25908"/>
                </a:lnTo>
                <a:lnTo>
                  <a:pt x="403860" y="25908"/>
                </a:lnTo>
                <a:lnTo>
                  <a:pt x="40386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702054" y="2615310"/>
            <a:ext cx="347345" cy="3822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350" spc="-360" dirty="0">
                <a:latin typeface="Arial"/>
                <a:cs typeface="Arial"/>
              </a:rPr>
              <a:t>𝑑</a:t>
            </a:r>
            <a:r>
              <a:rPr sz="2350" spc="-980" dirty="0">
                <a:latin typeface="Arial"/>
                <a:cs typeface="Arial"/>
              </a:rPr>
              <a:t>𝑡</a:t>
            </a:r>
            <a:endParaRPr sz="235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278251" y="2493391"/>
            <a:ext cx="215900" cy="3822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350" spc="-360" dirty="0">
                <a:latin typeface="Arial"/>
                <a:cs typeface="Arial"/>
              </a:rPr>
              <a:t>𝑑</a:t>
            </a:r>
            <a:endParaRPr sz="235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10540" y="2301367"/>
            <a:ext cx="3293110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0" indent="-343535">
              <a:lnSpc>
                <a:spcPct val="100000"/>
              </a:lnSpc>
              <a:spcBef>
                <a:spcPts val="105"/>
              </a:spcBef>
              <a:buChar char="•"/>
              <a:tabLst>
                <a:tab pos="381000" algn="l"/>
                <a:tab pos="381635" algn="l"/>
                <a:tab pos="1165860" algn="l"/>
                <a:tab pos="2996565" algn="l"/>
              </a:tabLst>
            </a:pPr>
            <a:r>
              <a:rPr sz="3200" spc="-1190" dirty="0">
                <a:latin typeface="Arial"/>
                <a:cs typeface="Arial"/>
              </a:rPr>
              <a:t>𝐼</a:t>
            </a:r>
            <a:r>
              <a:rPr sz="3200" spc="105" dirty="0">
                <a:latin typeface="Arial"/>
                <a:cs typeface="Arial"/>
              </a:rPr>
              <a:t> </a:t>
            </a:r>
            <a:r>
              <a:rPr sz="3200" spc="520" dirty="0">
                <a:latin typeface="Arial"/>
                <a:cs typeface="Arial"/>
              </a:rPr>
              <a:t>=	</a:t>
            </a:r>
            <a:r>
              <a:rPr sz="3525" spc="-300" baseline="43735" dirty="0">
                <a:latin typeface="Arial"/>
                <a:cs typeface="Arial"/>
              </a:rPr>
              <a:t>𝑑𝑄 </a:t>
            </a:r>
            <a:r>
              <a:rPr sz="3525" spc="-247" baseline="43735" dirty="0">
                <a:latin typeface="Arial"/>
                <a:cs typeface="Arial"/>
              </a:rPr>
              <a:t> </a:t>
            </a:r>
            <a:r>
              <a:rPr sz="3200" spc="520" dirty="0">
                <a:latin typeface="Arial"/>
                <a:cs typeface="Arial"/>
              </a:rPr>
              <a:t>=</a:t>
            </a:r>
            <a:r>
              <a:rPr sz="3200" dirty="0">
                <a:latin typeface="Arial"/>
                <a:cs typeface="Arial"/>
              </a:rPr>
              <a:t> </a:t>
            </a:r>
            <a:r>
              <a:rPr sz="3200" spc="-605" dirty="0">
                <a:latin typeface="Arial"/>
                <a:cs typeface="Arial"/>
              </a:rPr>
              <a:t>𝑛𝑞𝑣	</a:t>
            </a:r>
            <a:r>
              <a:rPr sz="3200" spc="-375" dirty="0">
                <a:latin typeface="Arial"/>
                <a:cs typeface="Arial"/>
              </a:rPr>
              <a:t>𝐴</a:t>
            </a:r>
            <a:endParaRPr sz="32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35940" y="2938094"/>
            <a:ext cx="7378065" cy="953769"/>
          </a:xfrm>
          <a:prstGeom prst="rect">
            <a:avLst/>
          </a:prstGeom>
        </p:spPr>
        <p:txBody>
          <a:bodyPr vert="horz" wrap="square" lIns="0" tIns="67945" rIns="0" bIns="0" rtlCol="0">
            <a:spAutoFit/>
          </a:bodyPr>
          <a:lstStyle/>
          <a:p>
            <a:pPr marL="355600" marR="5080" indent="-343535">
              <a:lnSpc>
                <a:spcPts val="3460"/>
              </a:lnSpc>
              <a:spcBef>
                <a:spcPts val="535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3200" spc="-5" dirty="0">
                <a:latin typeface="Carlito"/>
                <a:cs typeface="Carlito"/>
              </a:rPr>
              <a:t>The </a:t>
            </a:r>
            <a:r>
              <a:rPr sz="3200" spc="-10" dirty="0">
                <a:latin typeface="Carlito"/>
                <a:cs typeface="Carlito"/>
              </a:rPr>
              <a:t>current </a:t>
            </a:r>
            <a:r>
              <a:rPr sz="3200" i="1" spc="-5" dirty="0">
                <a:latin typeface="Carlito"/>
                <a:cs typeface="Carlito"/>
              </a:rPr>
              <a:t>per unit cross-sectional </a:t>
            </a:r>
            <a:r>
              <a:rPr sz="3200" i="1" dirty="0">
                <a:latin typeface="Carlito"/>
                <a:cs typeface="Carlito"/>
              </a:rPr>
              <a:t>area </a:t>
            </a:r>
            <a:r>
              <a:rPr sz="3200" spc="-5" dirty="0">
                <a:latin typeface="Carlito"/>
                <a:cs typeface="Carlito"/>
              </a:rPr>
              <a:t>is  called </a:t>
            </a:r>
            <a:r>
              <a:rPr sz="3200" dirty="0">
                <a:latin typeface="Carlito"/>
                <a:cs typeface="Carlito"/>
              </a:rPr>
              <a:t>the </a:t>
            </a:r>
            <a:r>
              <a:rPr sz="3200" b="1" spc="-15" dirty="0">
                <a:latin typeface="Carlito"/>
                <a:cs typeface="Carlito"/>
              </a:rPr>
              <a:t>current </a:t>
            </a:r>
            <a:r>
              <a:rPr sz="3200" b="1" dirty="0">
                <a:latin typeface="Carlito"/>
                <a:cs typeface="Carlito"/>
              </a:rPr>
              <a:t>density</a:t>
            </a:r>
            <a:r>
              <a:rPr sz="3200" b="1" spc="-25" dirty="0">
                <a:latin typeface="Carlito"/>
                <a:cs typeface="Carlito"/>
              </a:rPr>
              <a:t> </a:t>
            </a:r>
            <a:r>
              <a:rPr sz="3200" i="1" spc="-5" dirty="0">
                <a:latin typeface="Carlito"/>
                <a:cs typeface="Carlito"/>
              </a:rPr>
              <a:t>J</a:t>
            </a:r>
            <a:r>
              <a:rPr sz="3200" spc="-5" dirty="0">
                <a:latin typeface="Carlito"/>
                <a:cs typeface="Carlito"/>
              </a:rPr>
              <a:t>:</a:t>
            </a:r>
            <a:endParaRPr sz="3200">
              <a:latin typeface="Carlito"/>
              <a:cs typeface="Carlito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1673351" y="4398264"/>
            <a:ext cx="200025" cy="26034"/>
          </a:xfrm>
          <a:custGeom>
            <a:avLst/>
            <a:gdLst/>
            <a:ahLst/>
            <a:cxnLst/>
            <a:rect l="l" t="t" r="r" b="b"/>
            <a:pathLst>
              <a:path w="200025" h="26035">
                <a:moveTo>
                  <a:pt x="199644" y="0"/>
                </a:moveTo>
                <a:lnTo>
                  <a:pt x="0" y="0"/>
                </a:lnTo>
                <a:lnTo>
                  <a:pt x="0" y="25907"/>
                </a:lnTo>
                <a:lnTo>
                  <a:pt x="199644" y="25907"/>
                </a:lnTo>
                <a:lnTo>
                  <a:pt x="19964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1660905" y="4421504"/>
            <a:ext cx="222250" cy="3822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350" spc="-285" dirty="0">
                <a:latin typeface="Arial"/>
                <a:cs typeface="Arial"/>
              </a:rPr>
              <a:t>𝐴</a:t>
            </a:r>
            <a:endParaRPr sz="235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10540" y="4107560"/>
            <a:ext cx="2616200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0" indent="-343535">
              <a:lnSpc>
                <a:spcPct val="100000"/>
              </a:lnSpc>
              <a:spcBef>
                <a:spcPts val="100"/>
              </a:spcBef>
              <a:buChar char="•"/>
              <a:tabLst>
                <a:tab pos="381000" algn="l"/>
                <a:tab pos="381635" algn="l"/>
                <a:tab pos="746760" algn="l"/>
                <a:tab pos="1475105" algn="l"/>
              </a:tabLst>
            </a:pPr>
            <a:r>
              <a:rPr sz="3200" spc="-1180" dirty="0">
                <a:latin typeface="Arial"/>
                <a:cs typeface="Arial"/>
              </a:rPr>
              <a:t>𝐽	</a:t>
            </a:r>
            <a:r>
              <a:rPr sz="3200" spc="520" dirty="0">
                <a:latin typeface="Arial"/>
                <a:cs typeface="Arial"/>
              </a:rPr>
              <a:t>=</a:t>
            </a:r>
            <a:r>
              <a:rPr sz="3200" spc="280" dirty="0">
                <a:latin typeface="Arial"/>
                <a:cs typeface="Arial"/>
              </a:rPr>
              <a:t> </a:t>
            </a:r>
            <a:r>
              <a:rPr sz="3525" spc="-1275" baseline="43735" dirty="0">
                <a:latin typeface="Arial"/>
                <a:cs typeface="Arial"/>
              </a:rPr>
              <a:t>𝐼	</a:t>
            </a:r>
            <a:r>
              <a:rPr sz="3200" spc="520" dirty="0">
                <a:latin typeface="Arial"/>
                <a:cs typeface="Arial"/>
              </a:rPr>
              <a:t>=</a:t>
            </a:r>
            <a:r>
              <a:rPr sz="3200" spc="-80" dirty="0">
                <a:latin typeface="Arial"/>
                <a:cs typeface="Arial"/>
              </a:rPr>
              <a:t> </a:t>
            </a:r>
            <a:r>
              <a:rPr sz="3200" spc="-600" dirty="0">
                <a:latin typeface="Arial"/>
                <a:cs typeface="Arial"/>
              </a:rPr>
              <a:t>𝑛𝑞𝑣</a:t>
            </a:r>
            <a:endParaRPr sz="32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070986" y="4299584"/>
            <a:ext cx="215900" cy="3822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350" spc="-360" dirty="0">
                <a:latin typeface="Arial"/>
                <a:cs typeface="Arial"/>
              </a:rPr>
              <a:t>𝑑</a:t>
            </a:r>
            <a:endParaRPr sz="2350">
              <a:latin typeface="Arial"/>
              <a:cs typeface="Arial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3364991" y="5574791"/>
            <a:ext cx="440690" cy="26034"/>
          </a:xfrm>
          <a:custGeom>
            <a:avLst/>
            <a:gdLst/>
            <a:ahLst/>
            <a:cxnLst/>
            <a:rect l="l" t="t" r="r" b="b"/>
            <a:pathLst>
              <a:path w="440689" h="26035">
                <a:moveTo>
                  <a:pt x="440436" y="0"/>
                </a:moveTo>
                <a:lnTo>
                  <a:pt x="0" y="0"/>
                </a:lnTo>
                <a:lnTo>
                  <a:pt x="0" y="25908"/>
                </a:lnTo>
                <a:lnTo>
                  <a:pt x="440436" y="25908"/>
                </a:lnTo>
                <a:lnTo>
                  <a:pt x="44043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3473322" y="5156453"/>
            <a:ext cx="222250" cy="3822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350" spc="-285" dirty="0">
                <a:latin typeface="Arial"/>
                <a:cs typeface="Arial"/>
              </a:rPr>
              <a:t>𝐴</a:t>
            </a:r>
            <a:endParaRPr sz="235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10540" y="4687722"/>
            <a:ext cx="7771130" cy="1203325"/>
          </a:xfrm>
          <a:prstGeom prst="rect">
            <a:avLst/>
          </a:prstGeom>
        </p:spPr>
        <p:txBody>
          <a:bodyPr vert="horz" wrap="square" lIns="0" tIns="40005" rIns="0" bIns="0" rtlCol="0">
            <a:spAutoFit/>
          </a:bodyPr>
          <a:lstStyle/>
          <a:p>
            <a:pPr marL="381000" marR="30480" indent="-343535">
              <a:lnSpc>
                <a:spcPts val="4270"/>
              </a:lnSpc>
              <a:spcBef>
                <a:spcPts val="315"/>
              </a:spcBef>
              <a:buFont typeface="Arial"/>
              <a:buChar char="•"/>
              <a:tabLst>
                <a:tab pos="381000" algn="l"/>
                <a:tab pos="381635" algn="l"/>
                <a:tab pos="3295015" algn="l"/>
              </a:tabLst>
            </a:pPr>
            <a:r>
              <a:rPr sz="3200" spc="-5" dirty="0">
                <a:latin typeface="Carlito"/>
                <a:cs typeface="Carlito"/>
              </a:rPr>
              <a:t>The units of </a:t>
            </a:r>
            <a:r>
              <a:rPr sz="3200" spc="-10" dirty="0">
                <a:latin typeface="Carlito"/>
                <a:cs typeface="Carlito"/>
              </a:rPr>
              <a:t>current </a:t>
            </a:r>
            <a:r>
              <a:rPr sz="3200" spc="-5" dirty="0">
                <a:latin typeface="Carlito"/>
                <a:cs typeface="Carlito"/>
              </a:rPr>
              <a:t>density </a:t>
            </a:r>
            <a:r>
              <a:rPr sz="3200" spc="-15" dirty="0">
                <a:latin typeface="Carlito"/>
                <a:cs typeface="Carlito"/>
              </a:rPr>
              <a:t>are </a:t>
            </a:r>
            <a:r>
              <a:rPr sz="3200" spc="-5" dirty="0">
                <a:latin typeface="Carlito"/>
                <a:cs typeface="Carlito"/>
              </a:rPr>
              <a:t>amperes per  </a:t>
            </a:r>
            <a:r>
              <a:rPr sz="3200" spc="-10" dirty="0">
                <a:latin typeface="Carlito"/>
                <a:cs typeface="Carlito"/>
              </a:rPr>
              <a:t>square</a:t>
            </a:r>
            <a:r>
              <a:rPr sz="3200" spc="5" dirty="0">
                <a:latin typeface="Carlito"/>
                <a:cs typeface="Carlito"/>
              </a:rPr>
              <a:t> </a:t>
            </a:r>
            <a:r>
              <a:rPr sz="3200" spc="-15" dirty="0">
                <a:latin typeface="Carlito"/>
                <a:cs typeface="Carlito"/>
              </a:rPr>
              <a:t>meter</a:t>
            </a:r>
            <a:r>
              <a:rPr sz="3200" dirty="0">
                <a:latin typeface="Carlito"/>
                <a:cs typeface="Carlito"/>
              </a:rPr>
              <a:t> </a:t>
            </a:r>
            <a:r>
              <a:rPr sz="3200" spc="260" dirty="0">
                <a:latin typeface="Arial"/>
                <a:cs typeface="Arial"/>
              </a:rPr>
              <a:t>(	</a:t>
            </a:r>
            <a:r>
              <a:rPr sz="3200" spc="10" dirty="0">
                <a:latin typeface="Arial"/>
                <a:cs typeface="Arial"/>
              </a:rPr>
              <a:t>).</a:t>
            </a:r>
            <a:endParaRPr sz="3200">
              <a:latin typeface="Arial"/>
              <a:cs typeface="Arial"/>
            </a:endParaRPr>
          </a:p>
          <a:p>
            <a:pPr marR="1625600" algn="ctr">
              <a:lnSpc>
                <a:spcPts val="520"/>
              </a:lnSpc>
            </a:pPr>
            <a:r>
              <a:rPr sz="3525" spc="405" baseline="-16548" dirty="0">
                <a:latin typeface="Arial"/>
                <a:cs typeface="Arial"/>
              </a:rPr>
              <a:t>𝑚</a:t>
            </a:r>
            <a:r>
              <a:rPr sz="1900" spc="270" dirty="0">
                <a:latin typeface="Arial"/>
                <a:cs typeface="Arial"/>
              </a:rPr>
              <a:t>2</a:t>
            </a:r>
            <a:endParaRPr sz="1900">
              <a:latin typeface="Arial"/>
              <a:cs typeface="Arial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880870" marR="5080" indent="-1868805">
              <a:lnSpc>
                <a:spcPct val="100000"/>
              </a:lnSpc>
              <a:spcBef>
                <a:spcPts val="95"/>
              </a:spcBef>
            </a:pPr>
            <a:r>
              <a:rPr spc="-15" dirty="0"/>
              <a:t>Current, </a:t>
            </a:r>
            <a:r>
              <a:rPr spc="-10" dirty="0"/>
              <a:t>Drift </a:t>
            </a:r>
            <a:r>
              <a:rPr spc="-30" dirty="0"/>
              <a:t>Velocity </a:t>
            </a:r>
            <a:r>
              <a:rPr spc="-5" dirty="0"/>
              <a:t>and </a:t>
            </a:r>
            <a:r>
              <a:rPr spc="-20" dirty="0"/>
              <a:t>Current  </a:t>
            </a:r>
            <a:r>
              <a:rPr spc="-10" dirty="0"/>
              <a:t>Density </a:t>
            </a:r>
            <a:r>
              <a:rPr spc="-15" dirty="0"/>
              <a:t>(Contd.)</a:t>
            </a:r>
          </a:p>
        </p:txBody>
      </p:sp>
      <p:sp>
        <p:nvSpPr>
          <p:cNvPr id="16" name="object 16"/>
          <p:cNvSpPr/>
          <p:nvPr/>
        </p:nvSpPr>
        <p:spPr>
          <a:xfrm>
            <a:off x="6019800" y="5333998"/>
            <a:ext cx="2048255" cy="145084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1240"/>
              </a:lnSpc>
            </a:pPr>
            <a:r>
              <a:rPr lang="en-US" spc="-5"/>
              <a:t>Engr. Safee Ullah, Department of Electrical Engineering, HITEC University</a:t>
            </a:r>
            <a:endParaRPr spc="-5" dirty="0"/>
          </a:p>
        </p:txBody>
      </p:sp>
      <p:sp>
        <p:nvSpPr>
          <p:cNvPr id="18" name="object 1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6</a:t>
            </a:fld>
            <a:endParaRPr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880870" marR="5080" indent="-1868805">
              <a:lnSpc>
                <a:spcPct val="100000"/>
              </a:lnSpc>
              <a:spcBef>
                <a:spcPts val="95"/>
              </a:spcBef>
            </a:pPr>
            <a:r>
              <a:rPr spc="-15" dirty="0"/>
              <a:t>Current, </a:t>
            </a:r>
            <a:r>
              <a:rPr spc="-10" dirty="0"/>
              <a:t>Drift </a:t>
            </a:r>
            <a:r>
              <a:rPr spc="-30" dirty="0"/>
              <a:t>Velocity </a:t>
            </a:r>
            <a:r>
              <a:rPr spc="-5" dirty="0"/>
              <a:t>and </a:t>
            </a:r>
            <a:r>
              <a:rPr spc="-20" dirty="0"/>
              <a:t>Current  </a:t>
            </a:r>
            <a:r>
              <a:rPr spc="-10" dirty="0"/>
              <a:t>Density </a:t>
            </a:r>
            <a:r>
              <a:rPr spc="-15" dirty="0"/>
              <a:t>(Contd.)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1240"/>
              </a:lnSpc>
            </a:pPr>
            <a:r>
              <a:rPr lang="en-US" spc="-5"/>
              <a:t>Engr. Safee Ullah, Department of Electrical Engineering, HITEC University</a:t>
            </a:r>
            <a:endParaRPr spc="-5" dirty="0"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7</a:t>
            </a:fld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Words>374</Words>
  <Application>Microsoft Office PowerPoint</Application>
  <PresentationFormat>On-screen Show (4:3)</PresentationFormat>
  <Paragraphs>40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Carlito</vt:lpstr>
      <vt:lpstr>Office Theme</vt:lpstr>
      <vt:lpstr>BS – 101 Engineering Physics</vt:lpstr>
      <vt:lpstr>Current, Drift Velocity and Current  Density</vt:lpstr>
      <vt:lpstr>Current, Drift Velocity and Current  Density (Contd.)</vt:lpstr>
      <vt:lpstr>Current, Drift Velocity and Current  Density (Contd.)</vt:lpstr>
      <vt:lpstr>Current, Drift Velocity and Current  Density (Contd.)</vt:lpstr>
      <vt:lpstr>Current, Drift Velocity and Current  Density (Contd.)</vt:lpstr>
      <vt:lpstr>Current, Drift Velocity and Current  Density (Contd.)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Fundamentals of Electrical Engineering</dc:title>
  <dc:creator>Mamoon Riaz</dc:creator>
  <cp:lastModifiedBy>Safee</cp:lastModifiedBy>
  <cp:revision>1</cp:revision>
  <dcterms:created xsi:type="dcterms:W3CDTF">2021-11-17T14:22:03Z</dcterms:created>
  <dcterms:modified xsi:type="dcterms:W3CDTF">2021-11-17T14:24:37Z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2018-11-27T00:00:00Z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2021-11-17T00:00:00Z</vt:filetime>
  </property>
</Properties>
</file>