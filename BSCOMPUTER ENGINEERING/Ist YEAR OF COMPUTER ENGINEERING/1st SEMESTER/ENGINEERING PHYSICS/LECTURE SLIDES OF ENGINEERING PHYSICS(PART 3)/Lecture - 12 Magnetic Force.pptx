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0BD2AD-481D-46E6-8620-268E24AB491D}" type="datetimeFigureOut">
              <a:rPr lang="en-US" smtClean="0"/>
              <a:t>11/17/2021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4A5EB5-E007-4EE3-B706-5DF669C073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3435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algn="ctr">
              <a:lnSpc>
                <a:spcPts val="1240"/>
              </a:lnSpc>
            </a:pPr>
            <a:r>
              <a:rPr lang="en-US" spc="-5"/>
              <a:t>Engr. Safee Ullah, Department of Electrical Engineering, HITEC University</a:t>
            </a: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E61DA8-8AD5-44C9-8BDD-0ECC88A4211E}" type="datetime1">
              <a:rPr lang="en-US" smtClean="0"/>
              <a:t>11/17/2021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algn="ctr">
              <a:lnSpc>
                <a:spcPts val="1240"/>
              </a:lnSpc>
            </a:pPr>
            <a:r>
              <a:rPr lang="en-US" spc="-5"/>
              <a:t>Engr. Safee Ullah, Department of Electrical Engineering, HITEC University</a:t>
            </a: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BECC86-7805-4C92-81A7-3B4F36AE6429}" type="datetime1">
              <a:rPr lang="en-US" smtClean="0"/>
              <a:t>11/17/2021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algn="ctr">
              <a:lnSpc>
                <a:spcPts val="1240"/>
              </a:lnSpc>
            </a:pPr>
            <a:r>
              <a:rPr lang="en-US" spc="-5"/>
              <a:t>Engr. Safee Ullah, Department of Electrical Engineering, HITEC University</a:t>
            </a:r>
            <a:endParaRPr spc="-5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021FDA-4136-4932-B579-1F1AA1627209}" type="datetime1">
              <a:rPr lang="en-US" smtClean="0"/>
              <a:t>11/17/2021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685799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790955" y="1600200"/>
            <a:ext cx="7562088" cy="1447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algn="ctr">
              <a:lnSpc>
                <a:spcPts val="1240"/>
              </a:lnSpc>
            </a:pPr>
            <a:r>
              <a:rPr lang="en-US" spc="-5"/>
              <a:t>Engr. Safee Ullah, Department of Electrical Engineering, HITEC University</a:t>
            </a:r>
            <a:endParaRPr spc="-5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3AC6CC-C927-426C-A44F-382A558FDDCA}" type="datetime1">
              <a:rPr lang="en-US" smtClean="0"/>
              <a:t>11/17/2021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algn="ctr">
              <a:lnSpc>
                <a:spcPts val="1240"/>
              </a:lnSpc>
            </a:pPr>
            <a:r>
              <a:rPr lang="en-US" spc="-5"/>
              <a:t>Engr. Safee Ullah, Department of Electrical Engineering, HITEC University</a:t>
            </a:r>
            <a:endParaRPr spc="-5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30910B-4AAD-467A-BF86-15007B134BF8}" type="datetime1">
              <a:rPr lang="en-US" smtClean="0"/>
              <a:t>11/17/2021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685799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04494" y="192150"/>
            <a:ext cx="7735011" cy="124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939" y="1555749"/>
            <a:ext cx="8072120" cy="25069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341370" y="6373774"/>
            <a:ext cx="2459354" cy="3606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algn="ctr">
              <a:lnSpc>
                <a:spcPts val="1240"/>
              </a:lnSpc>
            </a:pPr>
            <a:r>
              <a:rPr lang="en-US" spc="-5"/>
              <a:t>Engr. Safee Ullah, Department of Electrical Engineering, HITEC University</a:t>
            </a: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030F84-DACE-4E22-A32A-9E3F6E39A78C}" type="datetime1">
              <a:rPr lang="en-US" smtClean="0"/>
              <a:t>11/17/2021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401811" y="6465214"/>
            <a:ext cx="231775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799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04925" y="502742"/>
            <a:ext cx="652970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BS </a:t>
            </a:r>
            <a:r>
              <a:rPr sz="4400" spc="-254" dirty="0">
                <a:latin typeface="Arial"/>
                <a:cs typeface="Arial"/>
              </a:rPr>
              <a:t>– </a:t>
            </a:r>
            <a:r>
              <a:rPr sz="4400" dirty="0"/>
              <a:t>101 </a:t>
            </a:r>
            <a:r>
              <a:rPr sz="4400" spc="-5" dirty="0"/>
              <a:t>Engineering</a:t>
            </a:r>
            <a:r>
              <a:rPr sz="4400" spc="-50" dirty="0"/>
              <a:t> </a:t>
            </a:r>
            <a:r>
              <a:rPr sz="4400" spc="-20" dirty="0"/>
              <a:t>Physics</a:t>
            </a:r>
            <a:endParaRPr sz="4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23664" y="2827147"/>
            <a:ext cx="3129535" cy="16846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2715">
              <a:lnSpc>
                <a:spcPct val="100000"/>
              </a:lnSpc>
              <a:spcBef>
                <a:spcPts val="105"/>
              </a:spcBef>
            </a:pPr>
            <a:r>
              <a:rPr sz="3200" spc="-10" dirty="0">
                <a:latin typeface="Carlito"/>
                <a:cs typeface="Carlito"/>
              </a:rPr>
              <a:t>Lecture </a:t>
            </a:r>
            <a:r>
              <a:rPr sz="3200" spc="-185" dirty="0">
                <a:latin typeface="Arial"/>
                <a:cs typeface="Arial"/>
              </a:rPr>
              <a:t>–</a:t>
            </a:r>
            <a:r>
              <a:rPr sz="3200" spc="-210" dirty="0">
                <a:latin typeface="Arial"/>
                <a:cs typeface="Arial"/>
              </a:rPr>
              <a:t> </a:t>
            </a:r>
            <a:r>
              <a:rPr sz="3200" spc="-5" dirty="0">
                <a:latin typeface="Carlito"/>
                <a:cs typeface="Carlito"/>
              </a:rPr>
              <a:t>1</a:t>
            </a:r>
            <a:r>
              <a:rPr lang="en-US" sz="3200" spc="-5" dirty="0">
                <a:latin typeface="Carlito"/>
                <a:cs typeface="Carlito"/>
              </a:rPr>
              <a:t>2</a:t>
            </a:r>
            <a:endParaRPr sz="3200" dirty="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4400" dirty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lang="en-US" sz="3200" dirty="0">
                <a:latin typeface="Carlito"/>
                <a:cs typeface="Carlito"/>
              </a:rPr>
              <a:t>Engr. Safee Ullah</a:t>
            </a:r>
            <a:endParaRPr sz="3200" dirty="0">
              <a:latin typeface="Carlito"/>
              <a:cs typeface="Carlito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E887C0-3779-40A0-8427-6C1B0D3E1AA3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algn="ctr">
              <a:lnSpc>
                <a:spcPts val="1240"/>
              </a:lnSpc>
            </a:pPr>
            <a:r>
              <a:rPr lang="en-US" spc="-5"/>
              <a:t>Engr. Safee Ullah, Department of Electrical Engineering, HITEC University</a:t>
            </a:r>
            <a:endParaRPr lang="en-US" spc="-5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5C79E2-EE24-47DC-8891-111C5EBE1FC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t>1</a:t>
            </a:fld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509941"/>
            <a:ext cx="8073390" cy="4221480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355600" indent="-343535" algn="just">
              <a:lnSpc>
                <a:spcPct val="100000"/>
              </a:lnSpc>
              <a:spcBef>
                <a:spcPts val="869"/>
              </a:spcBef>
              <a:buFont typeface="Arial"/>
              <a:buChar char="•"/>
              <a:tabLst>
                <a:tab pos="356235" algn="l"/>
              </a:tabLst>
            </a:pPr>
            <a:r>
              <a:rPr sz="3200" spc="-5" dirty="0">
                <a:latin typeface="Carlito"/>
                <a:cs typeface="Carlito"/>
              </a:rPr>
              <a:t>What </a:t>
            </a:r>
            <a:r>
              <a:rPr sz="3200" spc="-25" dirty="0">
                <a:latin typeface="Carlito"/>
                <a:cs typeface="Carlito"/>
              </a:rPr>
              <a:t>makes </a:t>
            </a:r>
            <a:r>
              <a:rPr sz="3200" dirty="0">
                <a:latin typeface="Carlito"/>
                <a:cs typeface="Carlito"/>
              </a:rPr>
              <a:t>an electric </a:t>
            </a:r>
            <a:r>
              <a:rPr sz="3200" spc="-10" dirty="0">
                <a:latin typeface="Carlito"/>
                <a:cs typeface="Carlito"/>
              </a:rPr>
              <a:t>motor</a:t>
            </a:r>
            <a:r>
              <a:rPr sz="3200" dirty="0">
                <a:latin typeface="Carlito"/>
                <a:cs typeface="Carlito"/>
              </a:rPr>
              <a:t> </a:t>
            </a:r>
            <a:r>
              <a:rPr sz="3200" spc="-10" dirty="0">
                <a:latin typeface="Carlito"/>
                <a:cs typeface="Carlito"/>
              </a:rPr>
              <a:t>work?</a:t>
            </a:r>
            <a:endParaRPr sz="3200">
              <a:latin typeface="Carlito"/>
              <a:cs typeface="Carlito"/>
            </a:endParaRPr>
          </a:p>
          <a:p>
            <a:pPr marL="355600" marR="5080" indent="-343535" algn="just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6235" algn="l"/>
              </a:tabLst>
            </a:pPr>
            <a:r>
              <a:rPr sz="3200" dirty="0">
                <a:latin typeface="Carlito"/>
                <a:cs typeface="Carlito"/>
              </a:rPr>
              <a:t>Within the </a:t>
            </a:r>
            <a:r>
              <a:rPr sz="3200" spc="-5" dirty="0">
                <a:latin typeface="Carlito"/>
                <a:cs typeface="Carlito"/>
              </a:rPr>
              <a:t>motor </a:t>
            </a:r>
            <a:r>
              <a:rPr sz="3200" spc="-15" dirty="0">
                <a:latin typeface="Carlito"/>
                <a:cs typeface="Carlito"/>
              </a:rPr>
              <a:t>are conductors </a:t>
            </a:r>
            <a:r>
              <a:rPr sz="3200" spc="-5" dirty="0">
                <a:latin typeface="Carlito"/>
                <a:cs typeface="Carlito"/>
              </a:rPr>
              <a:t>that carry  </a:t>
            </a:r>
            <a:r>
              <a:rPr sz="3200" spc="-10" dirty="0">
                <a:latin typeface="Carlito"/>
                <a:cs typeface="Carlito"/>
              </a:rPr>
              <a:t>currents (that </a:t>
            </a:r>
            <a:r>
              <a:rPr sz="3200" dirty="0">
                <a:latin typeface="Carlito"/>
                <a:cs typeface="Carlito"/>
              </a:rPr>
              <a:t>is, whose </a:t>
            </a:r>
            <a:r>
              <a:rPr sz="3200" spc="-10" dirty="0">
                <a:latin typeface="Carlito"/>
                <a:cs typeface="Carlito"/>
              </a:rPr>
              <a:t>charges </a:t>
            </a:r>
            <a:r>
              <a:rPr sz="3200" spc="-15" dirty="0">
                <a:latin typeface="Carlito"/>
                <a:cs typeface="Carlito"/>
              </a:rPr>
              <a:t>are  </a:t>
            </a:r>
            <a:r>
              <a:rPr sz="3200" spc="5" dirty="0">
                <a:latin typeface="Carlito"/>
                <a:cs typeface="Carlito"/>
              </a:rPr>
              <a:t>in  </a:t>
            </a:r>
            <a:r>
              <a:rPr sz="3200" dirty="0">
                <a:latin typeface="Carlito"/>
                <a:cs typeface="Carlito"/>
              </a:rPr>
              <a:t>motion), as </a:t>
            </a:r>
            <a:r>
              <a:rPr sz="3200" spc="-5" dirty="0">
                <a:latin typeface="Carlito"/>
                <a:cs typeface="Carlito"/>
              </a:rPr>
              <a:t>well </a:t>
            </a:r>
            <a:r>
              <a:rPr sz="3200" dirty="0">
                <a:latin typeface="Carlito"/>
                <a:cs typeface="Carlito"/>
              </a:rPr>
              <a:t>as magnets </a:t>
            </a:r>
            <a:r>
              <a:rPr sz="3200" spc="-5" dirty="0">
                <a:latin typeface="Carlito"/>
                <a:cs typeface="Carlito"/>
              </a:rPr>
              <a:t>that </a:t>
            </a:r>
            <a:r>
              <a:rPr sz="3200" spc="-30" dirty="0">
                <a:latin typeface="Carlito"/>
                <a:cs typeface="Carlito"/>
              </a:rPr>
              <a:t>exert </a:t>
            </a:r>
            <a:r>
              <a:rPr sz="3200" spc="-20" dirty="0">
                <a:latin typeface="Carlito"/>
                <a:cs typeface="Carlito"/>
              </a:rPr>
              <a:t>forces  </a:t>
            </a:r>
            <a:r>
              <a:rPr sz="3200" dirty="0">
                <a:latin typeface="Carlito"/>
                <a:cs typeface="Carlito"/>
              </a:rPr>
              <a:t>on the </a:t>
            </a:r>
            <a:r>
              <a:rPr sz="3200" spc="-5" dirty="0">
                <a:latin typeface="Carlito"/>
                <a:cs typeface="Carlito"/>
              </a:rPr>
              <a:t>moving</a:t>
            </a:r>
            <a:r>
              <a:rPr sz="3200" dirty="0">
                <a:latin typeface="Carlito"/>
                <a:cs typeface="Carlito"/>
              </a:rPr>
              <a:t> </a:t>
            </a:r>
            <a:r>
              <a:rPr sz="3200" spc="-10" dirty="0">
                <a:latin typeface="Carlito"/>
                <a:cs typeface="Carlito"/>
              </a:rPr>
              <a:t>charges.</a:t>
            </a:r>
            <a:endParaRPr sz="3200">
              <a:latin typeface="Carlito"/>
              <a:cs typeface="Carlito"/>
            </a:endParaRPr>
          </a:p>
          <a:p>
            <a:pPr marL="355600" marR="5080" indent="-343535" algn="just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6235" algn="l"/>
              </a:tabLst>
            </a:pPr>
            <a:r>
              <a:rPr sz="3200" spc="-5" dirty="0">
                <a:latin typeface="Carlito"/>
                <a:cs typeface="Carlito"/>
              </a:rPr>
              <a:t>Hence </a:t>
            </a:r>
            <a:r>
              <a:rPr sz="3200" spc="-15" dirty="0">
                <a:latin typeface="Carlito"/>
                <a:cs typeface="Carlito"/>
              </a:rPr>
              <a:t>there </a:t>
            </a:r>
            <a:r>
              <a:rPr sz="3200" spc="-5" dirty="0">
                <a:latin typeface="Carlito"/>
                <a:cs typeface="Carlito"/>
              </a:rPr>
              <a:t>is </a:t>
            </a:r>
            <a:r>
              <a:rPr sz="3200" dirty="0">
                <a:latin typeface="Carlito"/>
                <a:cs typeface="Carlito"/>
              </a:rPr>
              <a:t>a magnetic </a:t>
            </a:r>
            <a:r>
              <a:rPr sz="3200" spc="-30" dirty="0">
                <a:latin typeface="Carlito"/>
                <a:cs typeface="Carlito"/>
              </a:rPr>
              <a:t>force </a:t>
            </a:r>
            <a:r>
              <a:rPr sz="3200" dirty="0">
                <a:latin typeface="Carlito"/>
                <a:cs typeface="Carlito"/>
              </a:rPr>
              <a:t>on each  </a:t>
            </a:r>
            <a:r>
              <a:rPr sz="3200" spc="-10" dirty="0">
                <a:latin typeface="Carlito"/>
                <a:cs typeface="Carlito"/>
              </a:rPr>
              <a:t>current-carrying </a:t>
            </a:r>
            <a:r>
              <a:rPr sz="3200" spc="-40" dirty="0">
                <a:latin typeface="Carlito"/>
                <a:cs typeface="Carlito"/>
              </a:rPr>
              <a:t>conductor, </a:t>
            </a:r>
            <a:r>
              <a:rPr sz="3200" dirty="0">
                <a:latin typeface="Carlito"/>
                <a:cs typeface="Carlito"/>
              </a:rPr>
              <a:t>and these </a:t>
            </a:r>
            <a:r>
              <a:rPr sz="3200" spc="-25" dirty="0">
                <a:latin typeface="Carlito"/>
                <a:cs typeface="Carlito"/>
              </a:rPr>
              <a:t>forces  </a:t>
            </a:r>
            <a:r>
              <a:rPr sz="3200" spc="-30" dirty="0">
                <a:latin typeface="Carlito"/>
                <a:cs typeface="Carlito"/>
              </a:rPr>
              <a:t>make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10" dirty="0">
                <a:latin typeface="Carlito"/>
                <a:cs typeface="Carlito"/>
              </a:rPr>
              <a:t>motor</a:t>
            </a:r>
            <a:r>
              <a:rPr sz="3200" spc="25" dirty="0">
                <a:latin typeface="Carlito"/>
                <a:cs typeface="Carlito"/>
              </a:rPr>
              <a:t> </a:t>
            </a:r>
            <a:r>
              <a:rPr sz="3200" spc="-5" dirty="0">
                <a:latin typeface="Carlito"/>
                <a:cs typeface="Carlito"/>
              </a:rPr>
              <a:t>turn.</a:t>
            </a:r>
            <a:endParaRPr sz="3200">
              <a:latin typeface="Carlito"/>
              <a:cs typeface="Carlito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lang="en-US" spc="-5"/>
              <a:t>Engr. Safee Ullah, Department of Electrical Engineering, HITEC University</a:t>
            </a:r>
            <a:endParaRPr spc="-5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2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785110" marR="5080" indent="-2773045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Magnetic </a:t>
            </a:r>
            <a:r>
              <a:rPr spc="-30" dirty="0"/>
              <a:t>Force </a:t>
            </a:r>
            <a:r>
              <a:rPr spc="-5" dirty="0"/>
              <a:t>on a </a:t>
            </a:r>
            <a:r>
              <a:rPr spc="-20" dirty="0"/>
              <a:t>Current </a:t>
            </a:r>
            <a:r>
              <a:rPr dirty="0"/>
              <a:t>Carrying  </a:t>
            </a:r>
            <a:r>
              <a:rPr spc="-10" dirty="0"/>
              <a:t>Conductor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103876" y="1600200"/>
            <a:ext cx="3811524" cy="45262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35940" y="1563065"/>
            <a:ext cx="4492625" cy="895350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355600" marR="5080" indent="-343535">
              <a:lnSpc>
                <a:spcPts val="3240"/>
              </a:lnSpc>
              <a:spcBef>
                <a:spcPts val="509"/>
              </a:spcBef>
              <a:buFont typeface="Arial"/>
              <a:buChar char="•"/>
              <a:tabLst>
                <a:tab pos="355600" algn="l"/>
                <a:tab pos="356235" algn="l"/>
                <a:tab pos="1275715" algn="l"/>
                <a:tab pos="1978660" algn="l"/>
              </a:tabLst>
            </a:pPr>
            <a:r>
              <a:rPr sz="3000" spc="-60" dirty="0">
                <a:latin typeface="Carlito"/>
                <a:cs typeface="Carlito"/>
              </a:rPr>
              <a:t>We </a:t>
            </a:r>
            <a:r>
              <a:rPr sz="3000" spc="-10" dirty="0">
                <a:latin typeface="Carlito"/>
                <a:cs typeface="Carlito"/>
              </a:rPr>
              <a:t>can </a:t>
            </a:r>
            <a:r>
              <a:rPr sz="3000" spc="-15" dirty="0">
                <a:latin typeface="Carlito"/>
                <a:cs typeface="Carlito"/>
              </a:rPr>
              <a:t>compute </a:t>
            </a:r>
            <a:r>
              <a:rPr sz="3000" spc="-5" dirty="0">
                <a:latin typeface="Carlito"/>
                <a:cs typeface="Carlito"/>
              </a:rPr>
              <a:t>the </a:t>
            </a:r>
            <a:r>
              <a:rPr sz="3000" spc="-30" dirty="0">
                <a:latin typeface="Carlito"/>
                <a:cs typeface="Carlito"/>
              </a:rPr>
              <a:t>force  </a:t>
            </a:r>
            <a:r>
              <a:rPr sz="3000" dirty="0">
                <a:latin typeface="Carlito"/>
                <a:cs typeface="Carlito"/>
              </a:rPr>
              <a:t>on	a	cur</a:t>
            </a:r>
            <a:r>
              <a:rPr sz="3000" spc="-45" dirty="0">
                <a:latin typeface="Carlito"/>
                <a:cs typeface="Carlito"/>
              </a:rPr>
              <a:t>r</a:t>
            </a:r>
            <a:r>
              <a:rPr sz="3000" dirty="0">
                <a:latin typeface="Carlito"/>
                <a:cs typeface="Carlito"/>
              </a:rPr>
              <a:t>e</a:t>
            </a:r>
            <a:r>
              <a:rPr sz="3000" spc="-35" dirty="0">
                <a:latin typeface="Carlito"/>
                <a:cs typeface="Carlito"/>
              </a:rPr>
              <a:t>n</a:t>
            </a:r>
            <a:r>
              <a:rPr sz="3000" spc="-15" dirty="0">
                <a:latin typeface="Carlito"/>
                <a:cs typeface="Carlito"/>
              </a:rPr>
              <a:t>t</a:t>
            </a:r>
            <a:r>
              <a:rPr sz="3000" spc="-10" dirty="0">
                <a:latin typeface="Carlito"/>
                <a:cs typeface="Carlito"/>
              </a:rPr>
              <a:t>-</a:t>
            </a:r>
            <a:r>
              <a:rPr sz="3000" spc="-25" dirty="0">
                <a:latin typeface="Carlito"/>
                <a:cs typeface="Carlito"/>
              </a:rPr>
              <a:t>c</a:t>
            </a:r>
            <a:r>
              <a:rPr sz="3000" dirty="0">
                <a:latin typeface="Carlito"/>
                <a:cs typeface="Carlito"/>
              </a:rPr>
              <a:t>arry</a:t>
            </a:r>
            <a:r>
              <a:rPr sz="3000" spc="5" dirty="0">
                <a:latin typeface="Carlito"/>
                <a:cs typeface="Carlito"/>
              </a:rPr>
              <a:t>i</a:t>
            </a:r>
            <a:r>
              <a:rPr sz="3000" spc="-5" dirty="0">
                <a:latin typeface="Carlito"/>
                <a:cs typeface="Carlito"/>
              </a:rPr>
              <a:t>ng</a:t>
            </a:r>
            <a:endParaRPr sz="3000">
              <a:latin typeface="Carlito"/>
              <a:cs typeface="Carli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9144" y="2851530"/>
            <a:ext cx="326326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81685" algn="l"/>
                <a:tab pos="2463165" algn="l"/>
              </a:tabLst>
            </a:pPr>
            <a:r>
              <a:rPr sz="3000" dirty="0">
                <a:latin typeface="Carlito"/>
                <a:cs typeface="Carlito"/>
              </a:rPr>
              <a:t>the	magn</a:t>
            </a:r>
            <a:r>
              <a:rPr sz="3000" spc="-25" dirty="0">
                <a:latin typeface="Carlito"/>
                <a:cs typeface="Carlito"/>
              </a:rPr>
              <a:t>e</a:t>
            </a:r>
            <a:r>
              <a:rPr sz="3000" dirty="0">
                <a:latin typeface="Carlito"/>
                <a:cs typeface="Carlito"/>
              </a:rPr>
              <a:t>tic	</a:t>
            </a:r>
            <a:r>
              <a:rPr sz="3000" spc="-65" dirty="0">
                <a:latin typeface="Carlito"/>
                <a:cs typeface="Carlito"/>
              </a:rPr>
              <a:t>f</a:t>
            </a:r>
            <a:r>
              <a:rPr sz="3000" spc="-5" dirty="0">
                <a:latin typeface="Carlito"/>
                <a:cs typeface="Carlito"/>
              </a:rPr>
              <a:t>o</a:t>
            </a:r>
            <a:r>
              <a:rPr sz="3000" spc="-50" dirty="0">
                <a:latin typeface="Carlito"/>
                <a:cs typeface="Carlito"/>
              </a:rPr>
              <a:t>r</a:t>
            </a:r>
            <a:r>
              <a:rPr sz="3000" dirty="0">
                <a:latin typeface="Carlito"/>
                <a:cs typeface="Carlito"/>
              </a:rPr>
              <a:t>ce</a:t>
            </a:r>
            <a:endParaRPr sz="3000">
              <a:latin typeface="Carlito"/>
              <a:cs typeface="Carlito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381500" y="2871597"/>
            <a:ext cx="242315" cy="9143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79144" y="2386710"/>
            <a:ext cx="4148454" cy="9474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31670" algn="l"/>
                <a:tab pos="3449320" algn="l"/>
              </a:tabLst>
            </a:pPr>
            <a:r>
              <a:rPr sz="3000" spc="-25" dirty="0">
                <a:latin typeface="Carlito"/>
                <a:cs typeface="Carlito"/>
              </a:rPr>
              <a:t>c</a:t>
            </a:r>
            <a:r>
              <a:rPr sz="3000" spc="-5" dirty="0">
                <a:latin typeface="Carlito"/>
                <a:cs typeface="Carlito"/>
              </a:rPr>
              <a:t>ondu</a:t>
            </a:r>
            <a:r>
              <a:rPr sz="3000" spc="-20" dirty="0">
                <a:latin typeface="Carlito"/>
                <a:cs typeface="Carlito"/>
              </a:rPr>
              <a:t>c</a:t>
            </a:r>
            <a:r>
              <a:rPr sz="3000" spc="-25" dirty="0">
                <a:latin typeface="Carlito"/>
                <a:cs typeface="Carlito"/>
              </a:rPr>
              <a:t>t</a:t>
            </a:r>
            <a:r>
              <a:rPr sz="3000" spc="-5" dirty="0">
                <a:latin typeface="Carlito"/>
                <a:cs typeface="Carlito"/>
              </a:rPr>
              <a:t>o</a:t>
            </a:r>
            <a:r>
              <a:rPr sz="3000" dirty="0">
                <a:latin typeface="Carlito"/>
                <a:cs typeface="Carlito"/>
              </a:rPr>
              <a:t>r	</a:t>
            </a:r>
            <a:r>
              <a:rPr sz="3000" spc="-35" dirty="0">
                <a:latin typeface="Carlito"/>
                <a:cs typeface="Carlito"/>
              </a:rPr>
              <a:t>st</a:t>
            </a:r>
            <a:r>
              <a:rPr sz="3000" dirty="0">
                <a:latin typeface="Carlito"/>
                <a:cs typeface="Carlito"/>
              </a:rPr>
              <a:t>a</a:t>
            </a:r>
            <a:r>
              <a:rPr sz="3000" spc="-15" dirty="0">
                <a:latin typeface="Carlito"/>
                <a:cs typeface="Carlito"/>
              </a:rPr>
              <a:t>r</a:t>
            </a:r>
            <a:r>
              <a:rPr sz="3000" dirty="0">
                <a:latin typeface="Carlito"/>
                <a:cs typeface="Carlito"/>
              </a:rPr>
              <a:t>ting	w</a:t>
            </a:r>
            <a:r>
              <a:rPr sz="3000" spc="-15" dirty="0">
                <a:latin typeface="Carlito"/>
                <a:cs typeface="Carlito"/>
              </a:rPr>
              <a:t>i</a:t>
            </a:r>
            <a:r>
              <a:rPr sz="3000" dirty="0">
                <a:latin typeface="Carlito"/>
                <a:cs typeface="Carlito"/>
              </a:rPr>
              <a:t>th</a:t>
            </a:r>
            <a:endParaRPr sz="3000">
              <a:latin typeface="Carlito"/>
              <a:cs typeface="Carlito"/>
            </a:endParaRPr>
          </a:p>
          <a:p>
            <a:pPr marR="6985" algn="r">
              <a:lnSpc>
                <a:spcPct val="100000"/>
              </a:lnSpc>
              <a:spcBef>
                <a:spcPts val="60"/>
              </a:spcBef>
            </a:pPr>
            <a:r>
              <a:rPr sz="3000" spc="-335" dirty="0">
                <a:latin typeface="Arial Black"/>
                <a:cs typeface="Arial Black"/>
              </a:rPr>
              <a:t>𝑭</a:t>
            </a:r>
            <a:r>
              <a:rPr sz="3000" spc="-285" dirty="0">
                <a:latin typeface="Arial Black"/>
                <a:cs typeface="Arial Black"/>
              </a:rPr>
              <a:t> </a:t>
            </a:r>
            <a:r>
              <a:rPr sz="3000" spc="260" dirty="0">
                <a:latin typeface="Arial Black"/>
                <a:cs typeface="Arial Black"/>
              </a:rPr>
              <a:t>=</a:t>
            </a:r>
            <a:endParaRPr sz="3000">
              <a:latin typeface="Arial Black"/>
              <a:cs typeface="Arial Black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141437" y="3342513"/>
            <a:ext cx="1221740" cy="494665"/>
            <a:chOff x="1141437" y="3342513"/>
            <a:chExt cx="1221740" cy="494665"/>
          </a:xfrm>
        </p:grpSpPr>
        <p:sp>
          <p:nvSpPr>
            <p:cNvPr id="8" name="object 8"/>
            <p:cNvSpPr/>
            <p:nvPr/>
          </p:nvSpPr>
          <p:spPr>
            <a:xfrm>
              <a:off x="1141437" y="3376549"/>
              <a:ext cx="1221740" cy="460375"/>
            </a:xfrm>
            <a:custGeom>
              <a:avLst/>
              <a:gdLst/>
              <a:ahLst/>
              <a:cxnLst/>
              <a:rect l="l" t="t" r="r" b="b"/>
              <a:pathLst>
                <a:path w="1221739" h="460375">
                  <a:moveTo>
                    <a:pt x="1100366" y="0"/>
                  </a:moveTo>
                  <a:lnTo>
                    <a:pt x="1095667" y="15239"/>
                  </a:lnTo>
                  <a:lnTo>
                    <a:pt x="1116842" y="26217"/>
                  </a:lnTo>
                  <a:lnTo>
                    <a:pt x="1135243" y="42195"/>
                  </a:lnTo>
                  <a:lnTo>
                    <a:pt x="1163866" y="89153"/>
                  </a:lnTo>
                  <a:lnTo>
                    <a:pt x="1181233" y="152907"/>
                  </a:lnTo>
                  <a:lnTo>
                    <a:pt x="1186980" y="230377"/>
                  </a:lnTo>
                  <a:lnTo>
                    <a:pt x="1185547" y="270690"/>
                  </a:lnTo>
                  <a:lnTo>
                    <a:pt x="1174014" y="341123"/>
                  </a:lnTo>
                  <a:lnTo>
                    <a:pt x="1150906" y="397127"/>
                  </a:lnTo>
                  <a:lnTo>
                    <a:pt x="1116842" y="434032"/>
                  </a:lnTo>
                  <a:lnTo>
                    <a:pt x="1095667" y="445007"/>
                  </a:lnTo>
                  <a:lnTo>
                    <a:pt x="1100366" y="460248"/>
                  </a:lnTo>
                  <a:lnTo>
                    <a:pt x="1151737" y="432847"/>
                  </a:lnTo>
                  <a:lnTo>
                    <a:pt x="1189774" y="381253"/>
                  </a:lnTo>
                  <a:lnTo>
                    <a:pt x="1213380" y="311546"/>
                  </a:lnTo>
                  <a:lnTo>
                    <a:pt x="1219295" y="272293"/>
                  </a:lnTo>
                  <a:lnTo>
                    <a:pt x="1221270" y="230124"/>
                  </a:lnTo>
                  <a:lnTo>
                    <a:pt x="1219295" y="187973"/>
                  </a:lnTo>
                  <a:lnTo>
                    <a:pt x="1213380" y="148764"/>
                  </a:lnTo>
                  <a:lnTo>
                    <a:pt x="1189774" y="79121"/>
                  </a:lnTo>
                  <a:lnTo>
                    <a:pt x="1151737" y="27416"/>
                  </a:lnTo>
                  <a:lnTo>
                    <a:pt x="1127730" y="10666"/>
                  </a:lnTo>
                  <a:lnTo>
                    <a:pt x="1100366" y="0"/>
                  </a:lnTo>
                  <a:close/>
                </a:path>
                <a:path w="1221739" h="460375">
                  <a:moveTo>
                    <a:pt x="120916" y="0"/>
                  </a:moveTo>
                  <a:lnTo>
                    <a:pt x="69526" y="27416"/>
                  </a:lnTo>
                  <a:lnTo>
                    <a:pt x="31432" y="79121"/>
                  </a:lnTo>
                  <a:lnTo>
                    <a:pt x="7858" y="148764"/>
                  </a:lnTo>
                  <a:lnTo>
                    <a:pt x="1964" y="187973"/>
                  </a:lnTo>
                  <a:lnTo>
                    <a:pt x="0" y="230124"/>
                  </a:lnTo>
                  <a:lnTo>
                    <a:pt x="1964" y="272293"/>
                  </a:lnTo>
                  <a:lnTo>
                    <a:pt x="7858" y="311546"/>
                  </a:lnTo>
                  <a:lnTo>
                    <a:pt x="31432" y="381253"/>
                  </a:lnTo>
                  <a:lnTo>
                    <a:pt x="69526" y="432847"/>
                  </a:lnTo>
                  <a:lnTo>
                    <a:pt x="120916" y="460248"/>
                  </a:lnTo>
                  <a:lnTo>
                    <a:pt x="125564" y="445007"/>
                  </a:lnTo>
                  <a:lnTo>
                    <a:pt x="104423" y="434032"/>
                  </a:lnTo>
                  <a:lnTo>
                    <a:pt x="86015" y="418068"/>
                  </a:lnTo>
                  <a:lnTo>
                    <a:pt x="57391" y="371220"/>
                  </a:lnTo>
                  <a:lnTo>
                    <a:pt x="40017" y="307609"/>
                  </a:lnTo>
                  <a:lnTo>
                    <a:pt x="34226" y="230377"/>
                  </a:lnTo>
                  <a:lnTo>
                    <a:pt x="35674" y="189916"/>
                  </a:lnTo>
                  <a:lnTo>
                    <a:pt x="47256" y="119328"/>
                  </a:lnTo>
                  <a:lnTo>
                    <a:pt x="70338" y="63174"/>
                  </a:lnTo>
                  <a:lnTo>
                    <a:pt x="104423" y="26217"/>
                  </a:lnTo>
                  <a:lnTo>
                    <a:pt x="125564" y="15239"/>
                  </a:lnTo>
                  <a:lnTo>
                    <a:pt x="12091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278635" y="3409569"/>
              <a:ext cx="228600" cy="9143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947672" y="3342513"/>
              <a:ext cx="276225" cy="91440"/>
            </a:xfrm>
            <a:custGeom>
              <a:avLst/>
              <a:gdLst/>
              <a:ahLst/>
              <a:cxnLst/>
              <a:rect l="l" t="t" r="r" b="b"/>
              <a:pathLst>
                <a:path w="276225" h="91439">
                  <a:moveTo>
                    <a:pt x="229234" y="0"/>
                  </a:moveTo>
                  <a:lnTo>
                    <a:pt x="219328" y="11175"/>
                  </a:lnTo>
                  <a:lnTo>
                    <a:pt x="249173" y="36957"/>
                  </a:lnTo>
                  <a:lnTo>
                    <a:pt x="0" y="36957"/>
                  </a:lnTo>
                  <a:lnTo>
                    <a:pt x="0" y="54483"/>
                  </a:lnTo>
                  <a:lnTo>
                    <a:pt x="249173" y="54483"/>
                  </a:lnTo>
                  <a:lnTo>
                    <a:pt x="219328" y="80263"/>
                  </a:lnTo>
                  <a:lnTo>
                    <a:pt x="229234" y="91439"/>
                  </a:lnTo>
                  <a:lnTo>
                    <a:pt x="275844" y="51181"/>
                  </a:lnTo>
                  <a:lnTo>
                    <a:pt x="275844" y="40386"/>
                  </a:lnTo>
                  <a:lnTo>
                    <a:pt x="22923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35940" y="3322701"/>
            <a:ext cx="4492625" cy="265176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355600" marR="5715" algn="just">
              <a:lnSpc>
                <a:spcPts val="3400"/>
              </a:lnSpc>
              <a:spcBef>
                <a:spcPts val="380"/>
              </a:spcBef>
            </a:pPr>
            <a:r>
              <a:rPr sz="3000" spc="-635" dirty="0">
                <a:latin typeface="Arial Black"/>
                <a:cs typeface="Arial Black"/>
              </a:rPr>
              <a:t>𝑞 </a:t>
            </a:r>
            <a:r>
              <a:rPr sz="3000" spc="-450" dirty="0">
                <a:latin typeface="Arial Black"/>
                <a:cs typeface="Arial Black"/>
              </a:rPr>
              <a:t>𝒗 </a:t>
            </a:r>
            <a:r>
              <a:rPr sz="3000" spc="160" dirty="0">
                <a:latin typeface="Arial Black"/>
                <a:cs typeface="Arial Black"/>
              </a:rPr>
              <a:t>× </a:t>
            </a:r>
            <a:r>
              <a:rPr sz="3000" spc="-85" dirty="0">
                <a:latin typeface="Arial Black"/>
                <a:cs typeface="Arial Black"/>
              </a:rPr>
              <a:t>𝑩 </a:t>
            </a:r>
            <a:r>
              <a:rPr sz="3000" dirty="0">
                <a:latin typeface="Carlito"/>
                <a:cs typeface="Carlito"/>
              </a:rPr>
              <a:t>on a </a:t>
            </a:r>
            <a:r>
              <a:rPr sz="3000" spc="-5" dirty="0">
                <a:latin typeface="Carlito"/>
                <a:cs typeface="Carlito"/>
              </a:rPr>
              <a:t>single  moving</a:t>
            </a:r>
            <a:r>
              <a:rPr sz="3000" spc="-15" dirty="0">
                <a:latin typeface="Carlito"/>
                <a:cs typeface="Carlito"/>
              </a:rPr>
              <a:t> </a:t>
            </a:r>
            <a:r>
              <a:rPr sz="3000" spc="-10" dirty="0">
                <a:latin typeface="Carlito"/>
                <a:cs typeface="Carlito"/>
              </a:rPr>
              <a:t>charge.</a:t>
            </a:r>
            <a:endParaRPr sz="3000">
              <a:latin typeface="Carlito"/>
              <a:cs typeface="Carlito"/>
            </a:endParaRPr>
          </a:p>
          <a:p>
            <a:pPr marL="355600" marR="5080" indent="-343535" algn="just">
              <a:lnSpc>
                <a:spcPct val="90000"/>
              </a:lnSpc>
              <a:spcBef>
                <a:spcPts val="635"/>
              </a:spcBef>
              <a:buFont typeface="Arial"/>
              <a:buChar char="•"/>
              <a:tabLst>
                <a:tab pos="356235" algn="l"/>
              </a:tabLst>
            </a:pPr>
            <a:r>
              <a:rPr sz="3000" b="1" spc="-10" dirty="0">
                <a:latin typeface="Carlito"/>
                <a:cs typeface="Carlito"/>
              </a:rPr>
              <a:t>Figure </a:t>
            </a:r>
            <a:r>
              <a:rPr sz="3000" spc="-15" dirty="0">
                <a:latin typeface="Carlito"/>
                <a:cs typeface="Carlito"/>
              </a:rPr>
              <a:t>shows  </a:t>
            </a:r>
            <a:r>
              <a:rPr sz="3000" dirty="0">
                <a:latin typeface="Carlito"/>
                <a:cs typeface="Carlito"/>
              </a:rPr>
              <a:t>a </a:t>
            </a:r>
            <a:r>
              <a:rPr sz="3000" spc="-20" dirty="0">
                <a:latin typeface="Carlito"/>
                <a:cs typeface="Carlito"/>
              </a:rPr>
              <a:t>straight  </a:t>
            </a:r>
            <a:r>
              <a:rPr sz="3000" spc="-10" dirty="0">
                <a:latin typeface="Carlito"/>
                <a:cs typeface="Carlito"/>
              </a:rPr>
              <a:t>segment </a:t>
            </a:r>
            <a:r>
              <a:rPr sz="3000" dirty="0">
                <a:latin typeface="Carlito"/>
                <a:cs typeface="Carlito"/>
              </a:rPr>
              <a:t>of a </a:t>
            </a:r>
            <a:r>
              <a:rPr sz="3000" spc="-5" dirty="0">
                <a:latin typeface="Carlito"/>
                <a:cs typeface="Carlito"/>
              </a:rPr>
              <a:t>conducting  </a:t>
            </a:r>
            <a:r>
              <a:rPr sz="3000" spc="-10" dirty="0">
                <a:latin typeface="Carlito"/>
                <a:cs typeface="Carlito"/>
              </a:rPr>
              <a:t>wire, </a:t>
            </a:r>
            <a:r>
              <a:rPr sz="3000" dirty="0">
                <a:latin typeface="Carlito"/>
                <a:cs typeface="Carlito"/>
              </a:rPr>
              <a:t>with </a:t>
            </a:r>
            <a:r>
              <a:rPr sz="3000" spc="-15" dirty="0">
                <a:latin typeface="Carlito"/>
                <a:cs typeface="Carlito"/>
              </a:rPr>
              <a:t>length</a:t>
            </a:r>
            <a:r>
              <a:rPr sz="3000" spc="645" dirty="0">
                <a:latin typeface="Carlito"/>
                <a:cs typeface="Carlito"/>
              </a:rPr>
              <a:t> </a:t>
            </a:r>
            <a:r>
              <a:rPr sz="3000" i="1" dirty="0">
                <a:latin typeface="Carlito"/>
                <a:cs typeface="Carlito"/>
              </a:rPr>
              <a:t>l </a:t>
            </a:r>
            <a:r>
              <a:rPr sz="3000" dirty="0">
                <a:latin typeface="Carlito"/>
                <a:cs typeface="Carlito"/>
              </a:rPr>
              <a:t>and  </a:t>
            </a:r>
            <a:r>
              <a:rPr sz="3000" spc="-10" dirty="0">
                <a:latin typeface="Carlito"/>
                <a:cs typeface="Carlito"/>
              </a:rPr>
              <a:t>cross-sectional area</a:t>
            </a:r>
            <a:r>
              <a:rPr sz="3000" spc="-40" dirty="0">
                <a:latin typeface="Carlito"/>
                <a:cs typeface="Carlito"/>
              </a:rPr>
              <a:t> </a:t>
            </a:r>
            <a:r>
              <a:rPr sz="3000" i="1" dirty="0">
                <a:latin typeface="Carlito"/>
                <a:cs typeface="Carlito"/>
              </a:rPr>
              <a:t>A</a:t>
            </a:r>
            <a:r>
              <a:rPr sz="3000" dirty="0">
                <a:latin typeface="Carlito"/>
                <a:cs typeface="Carlito"/>
              </a:rPr>
              <a:t>;</a:t>
            </a:r>
            <a:endParaRPr sz="3000">
              <a:latin typeface="Carlito"/>
              <a:cs typeface="Carlito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lang="en-US" spc="-5"/>
              <a:t>Engr. Safee Ullah, Department of Electrical Engineering, HITEC University</a:t>
            </a:r>
            <a:endParaRPr spc="-5" dirty="0"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3</a:t>
            </a:fld>
            <a:endParaRPr dirty="0"/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93570" marR="5080" indent="-1881505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Magnetic </a:t>
            </a:r>
            <a:r>
              <a:rPr spc="-30" dirty="0"/>
              <a:t>Force </a:t>
            </a:r>
            <a:r>
              <a:rPr spc="-5" dirty="0"/>
              <a:t>on a </a:t>
            </a:r>
            <a:r>
              <a:rPr spc="-20" dirty="0"/>
              <a:t>Current </a:t>
            </a:r>
            <a:r>
              <a:rPr dirty="0"/>
              <a:t>Carrying  </a:t>
            </a:r>
            <a:r>
              <a:rPr spc="-10" dirty="0"/>
              <a:t>Conductor </a:t>
            </a:r>
            <a:r>
              <a:rPr spc="-15" dirty="0"/>
              <a:t>(Contd.)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103876" y="1600200"/>
            <a:ext cx="3811524" cy="45262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35940" y="1563065"/>
            <a:ext cx="4493260" cy="4370070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355600" marR="6985" indent="-343535" algn="just">
              <a:lnSpc>
                <a:spcPts val="3240"/>
              </a:lnSpc>
              <a:spcBef>
                <a:spcPts val="509"/>
              </a:spcBef>
              <a:buFont typeface="Arial"/>
              <a:buChar char="•"/>
              <a:tabLst>
                <a:tab pos="356235" algn="l"/>
              </a:tabLst>
            </a:pPr>
            <a:r>
              <a:rPr sz="3000" spc="-5" dirty="0">
                <a:latin typeface="Carlito"/>
                <a:cs typeface="Carlito"/>
              </a:rPr>
              <a:t>The </a:t>
            </a:r>
            <a:r>
              <a:rPr sz="3000" spc="-15" dirty="0">
                <a:latin typeface="Carlito"/>
                <a:cs typeface="Carlito"/>
              </a:rPr>
              <a:t>current</a:t>
            </a:r>
            <a:r>
              <a:rPr sz="3000" spc="645" dirty="0">
                <a:latin typeface="Carlito"/>
                <a:cs typeface="Carlito"/>
              </a:rPr>
              <a:t> </a:t>
            </a:r>
            <a:r>
              <a:rPr sz="3000" spc="-5" dirty="0">
                <a:latin typeface="Carlito"/>
                <a:cs typeface="Carlito"/>
              </a:rPr>
              <a:t>is </a:t>
            </a:r>
            <a:r>
              <a:rPr sz="3000" spc="-20" dirty="0">
                <a:latin typeface="Carlito"/>
                <a:cs typeface="Carlito"/>
              </a:rPr>
              <a:t>from  </a:t>
            </a:r>
            <a:r>
              <a:rPr sz="3000" spc="-15" dirty="0">
                <a:latin typeface="Carlito"/>
                <a:cs typeface="Carlito"/>
              </a:rPr>
              <a:t>bottom to</a:t>
            </a:r>
            <a:r>
              <a:rPr sz="3000" spc="-10" dirty="0">
                <a:latin typeface="Carlito"/>
                <a:cs typeface="Carlito"/>
              </a:rPr>
              <a:t> top.</a:t>
            </a:r>
            <a:endParaRPr sz="3000">
              <a:latin typeface="Carlito"/>
              <a:cs typeface="Carlito"/>
            </a:endParaRPr>
          </a:p>
          <a:p>
            <a:pPr marL="355600" marR="6985" indent="-343535" algn="just">
              <a:lnSpc>
                <a:spcPct val="90000"/>
              </a:lnSpc>
              <a:spcBef>
                <a:spcPts val="675"/>
              </a:spcBef>
              <a:buFont typeface="Arial"/>
              <a:buChar char="•"/>
              <a:tabLst>
                <a:tab pos="356235" algn="l"/>
              </a:tabLst>
            </a:pPr>
            <a:r>
              <a:rPr sz="3000" spc="-5" dirty="0">
                <a:latin typeface="Carlito"/>
                <a:cs typeface="Carlito"/>
              </a:rPr>
              <a:t>The </a:t>
            </a:r>
            <a:r>
              <a:rPr sz="3000" spc="-15" dirty="0">
                <a:latin typeface="Carlito"/>
                <a:cs typeface="Carlito"/>
              </a:rPr>
              <a:t>wire </a:t>
            </a:r>
            <a:r>
              <a:rPr sz="3000" spc="-5" dirty="0">
                <a:latin typeface="Carlito"/>
                <a:cs typeface="Carlito"/>
              </a:rPr>
              <a:t>is in </a:t>
            </a:r>
            <a:r>
              <a:rPr sz="3000" dirty="0">
                <a:latin typeface="Carlito"/>
                <a:cs typeface="Carlito"/>
              </a:rPr>
              <a:t>a </a:t>
            </a:r>
            <a:r>
              <a:rPr sz="3000" spc="-15" dirty="0">
                <a:latin typeface="Carlito"/>
                <a:cs typeface="Carlito"/>
              </a:rPr>
              <a:t>uniform  </a:t>
            </a:r>
            <a:r>
              <a:rPr sz="3000" spc="-5" dirty="0">
                <a:latin typeface="Carlito"/>
                <a:cs typeface="Carlito"/>
              </a:rPr>
              <a:t>magnetic </a:t>
            </a:r>
            <a:r>
              <a:rPr sz="3000" spc="-10" dirty="0">
                <a:latin typeface="Carlito"/>
                <a:cs typeface="Carlito"/>
              </a:rPr>
              <a:t>field </a:t>
            </a:r>
            <a:r>
              <a:rPr sz="3000" b="1" i="1" spc="-5" dirty="0">
                <a:latin typeface="Carlito"/>
                <a:cs typeface="Carlito"/>
              </a:rPr>
              <a:t>B</a:t>
            </a:r>
            <a:r>
              <a:rPr sz="3000" spc="-5" dirty="0">
                <a:latin typeface="Carlito"/>
                <a:cs typeface="Carlito"/>
              </a:rPr>
              <a:t>,  </a:t>
            </a:r>
            <a:r>
              <a:rPr sz="3000" spc="-10" dirty="0">
                <a:latin typeface="Carlito"/>
                <a:cs typeface="Carlito"/>
              </a:rPr>
              <a:t>perpendicular </a:t>
            </a:r>
            <a:r>
              <a:rPr sz="3000" spc="-15" dirty="0">
                <a:latin typeface="Carlito"/>
                <a:cs typeface="Carlito"/>
              </a:rPr>
              <a:t>to </a:t>
            </a:r>
            <a:r>
              <a:rPr sz="3000" spc="-5" dirty="0">
                <a:latin typeface="Carlito"/>
                <a:cs typeface="Carlito"/>
              </a:rPr>
              <a:t>the plane  </a:t>
            </a:r>
            <a:r>
              <a:rPr sz="3000" dirty="0">
                <a:latin typeface="Carlito"/>
                <a:cs typeface="Carlito"/>
              </a:rPr>
              <a:t>of the </a:t>
            </a:r>
            <a:r>
              <a:rPr sz="3000" spc="-15" dirty="0">
                <a:latin typeface="Carlito"/>
                <a:cs typeface="Carlito"/>
              </a:rPr>
              <a:t>diagram</a:t>
            </a:r>
            <a:r>
              <a:rPr sz="3000" spc="645" dirty="0">
                <a:latin typeface="Carlito"/>
                <a:cs typeface="Carlito"/>
              </a:rPr>
              <a:t> </a:t>
            </a:r>
            <a:r>
              <a:rPr sz="3000" dirty="0">
                <a:latin typeface="Carlito"/>
                <a:cs typeface="Carlito"/>
              </a:rPr>
              <a:t>and  </a:t>
            </a:r>
            <a:r>
              <a:rPr sz="3000" spc="-15" dirty="0">
                <a:latin typeface="Carlito"/>
                <a:cs typeface="Carlito"/>
              </a:rPr>
              <a:t>directed </a:t>
            </a:r>
            <a:r>
              <a:rPr sz="3000" i="1" spc="-15" dirty="0">
                <a:latin typeface="Carlito"/>
                <a:cs typeface="Carlito"/>
              </a:rPr>
              <a:t>into </a:t>
            </a:r>
            <a:r>
              <a:rPr sz="3000" dirty="0">
                <a:latin typeface="Carlito"/>
                <a:cs typeface="Carlito"/>
              </a:rPr>
              <a:t>the</a:t>
            </a:r>
            <a:r>
              <a:rPr sz="3000" spc="-65" dirty="0">
                <a:latin typeface="Carlito"/>
                <a:cs typeface="Carlito"/>
              </a:rPr>
              <a:t> </a:t>
            </a:r>
            <a:r>
              <a:rPr sz="3000" spc="-5" dirty="0">
                <a:latin typeface="Carlito"/>
                <a:cs typeface="Carlito"/>
              </a:rPr>
              <a:t>plane.</a:t>
            </a:r>
            <a:endParaRPr sz="3000">
              <a:latin typeface="Carlito"/>
              <a:cs typeface="Carlito"/>
            </a:endParaRPr>
          </a:p>
          <a:p>
            <a:pPr marL="355600" marR="5080" indent="-343535" algn="just">
              <a:lnSpc>
                <a:spcPct val="90000"/>
              </a:lnSpc>
              <a:spcBef>
                <a:spcPts val="720"/>
              </a:spcBef>
              <a:buChar char="•"/>
              <a:tabLst>
                <a:tab pos="356235" algn="l"/>
              </a:tabLst>
            </a:pPr>
            <a:r>
              <a:rPr sz="3000" spc="-155" dirty="0">
                <a:latin typeface="Arial"/>
                <a:cs typeface="Arial"/>
              </a:rPr>
              <a:t>Let’s </a:t>
            </a:r>
            <a:r>
              <a:rPr sz="3000" spc="-5" dirty="0">
                <a:latin typeface="Carlito"/>
                <a:cs typeface="Carlito"/>
              </a:rPr>
              <a:t>assume </a:t>
            </a:r>
            <a:r>
              <a:rPr sz="3000" spc="-20" dirty="0">
                <a:latin typeface="Carlito"/>
                <a:cs typeface="Carlito"/>
              </a:rPr>
              <a:t>first </a:t>
            </a:r>
            <a:r>
              <a:rPr sz="3000" spc="-15" dirty="0">
                <a:latin typeface="Carlito"/>
                <a:cs typeface="Carlito"/>
              </a:rPr>
              <a:t>that </a:t>
            </a:r>
            <a:r>
              <a:rPr sz="3000" dirty="0">
                <a:latin typeface="Carlito"/>
                <a:cs typeface="Carlito"/>
              </a:rPr>
              <a:t>the  </a:t>
            </a:r>
            <a:r>
              <a:rPr sz="3000" spc="-5" dirty="0">
                <a:latin typeface="Carlito"/>
                <a:cs typeface="Carlito"/>
              </a:rPr>
              <a:t>moving </a:t>
            </a:r>
            <a:r>
              <a:rPr sz="3000" spc="-15" dirty="0">
                <a:latin typeface="Carlito"/>
                <a:cs typeface="Carlito"/>
              </a:rPr>
              <a:t>charges are  </a:t>
            </a:r>
            <a:r>
              <a:rPr sz="3000" spc="-10" dirty="0">
                <a:latin typeface="Carlito"/>
                <a:cs typeface="Carlito"/>
              </a:rPr>
              <a:t>positive.</a:t>
            </a:r>
            <a:endParaRPr sz="3000">
              <a:latin typeface="Carlito"/>
              <a:cs typeface="Carlito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lang="en-US" spc="-5"/>
              <a:t>Engr. Safee Ullah, Department of Electrical Engineering, HITEC University</a:t>
            </a:r>
            <a:endParaRPr spc="-5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4</a:t>
            </a:fld>
            <a:endParaRPr dirty="0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93570" marR="5080" indent="-1881505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Magnetic </a:t>
            </a:r>
            <a:r>
              <a:rPr spc="-30" dirty="0"/>
              <a:t>Force </a:t>
            </a:r>
            <a:r>
              <a:rPr spc="-5" dirty="0"/>
              <a:t>on a </a:t>
            </a:r>
            <a:r>
              <a:rPr spc="-20" dirty="0"/>
              <a:t>Current </a:t>
            </a:r>
            <a:r>
              <a:rPr dirty="0"/>
              <a:t>Carrying  </a:t>
            </a:r>
            <a:r>
              <a:rPr spc="-10" dirty="0"/>
              <a:t>Conductor </a:t>
            </a:r>
            <a:r>
              <a:rPr spc="-15" dirty="0"/>
              <a:t>(Contd.)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103876" y="1600200"/>
            <a:ext cx="3811524" cy="45262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375916" y="3156585"/>
            <a:ext cx="242315" cy="9143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361944" y="3156584"/>
            <a:ext cx="1416685" cy="494665"/>
          </a:xfrm>
          <a:custGeom>
            <a:avLst/>
            <a:gdLst/>
            <a:ahLst/>
            <a:cxnLst/>
            <a:rect l="l" t="t" r="r" b="b"/>
            <a:pathLst>
              <a:path w="1416685" h="494664">
                <a:moveTo>
                  <a:pt x="125476" y="49276"/>
                </a:moveTo>
                <a:lnTo>
                  <a:pt x="120904" y="34036"/>
                </a:lnTo>
                <a:lnTo>
                  <a:pt x="93510" y="44704"/>
                </a:lnTo>
                <a:lnTo>
                  <a:pt x="69469" y="61455"/>
                </a:lnTo>
                <a:lnTo>
                  <a:pt x="31369" y="113157"/>
                </a:lnTo>
                <a:lnTo>
                  <a:pt x="7823" y="182803"/>
                </a:lnTo>
                <a:lnTo>
                  <a:pt x="1943" y="222021"/>
                </a:lnTo>
                <a:lnTo>
                  <a:pt x="0" y="264160"/>
                </a:lnTo>
                <a:lnTo>
                  <a:pt x="1943" y="306336"/>
                </a:lnTo>
                <a:lnTo>
                  <a:pt x="7823" y="345592"/>
                </a:lnTo>
                <a:lnTo>
                  <a:pt x="31369" y="415290"/>
                </a:lnTo>
                <a:lnTo>
                  <a:pt x="69469" y="466890"/>
                </a:lnTo>
                <a:lnTo>
                  <a:pt x="120904" y="494284"/>
                </a:lnTo>
                <a:lnTo>
                  <a:pt x="125476" y="479044"/>
                </a:lnTo>
                <a:lnTo>
                  <a:pt x="104355" y="468071"/>
                </a:lnTo>
                <a:lnTo>
                  <a:pt x="85953" y="452107"/>
                </a:lnTo>
                <a:lnTo>
                  <a:pt x="57404" y="405257"/>
                </a:lnTo>
                <a:lnTo>
                  <a:pt x="39966" y="341655"/>
                </a:lnTo>
                <a:lnTo>
                  <a:pt x="34163" y="264414"/>
                </a:lnTo>
                <a:lnTo>
                  <a:pt x="35610" y="223964"/>
                </a:lnTo>
                <a:lnTo>
                  <a:pt x="47231" y="153365"/>
                </a:lnTo>
                <a:lnTo>
                  <a:pt x="70307" y="97218"/>
                </a:lnTo>
                <a:lnTo>
                  <a:pt x="104355" y="60261"/>
                </a:lnTo>
                <a:lnTo>
                  <a:pt x="125476" y="49276"/>
                </a:lnTo>
                <a:close/>
              </a:path>
              <a:path w="1416685" h="494664">
                <a:moveTo>
                  <a:pt x="562356" y="107442"/>
                </a:moveTo>
                <a:lnTo>
                  <a:pt x="515747" y="67056"/>
                </a:lnTo>
                <a:lnTo>
                  <a:pt x="505841" y="78232"/>
                </a:lnTo>
                <a:lnTo>
                  <a:pt x="535686" y="104013"/>
                </a:lnTo>
                <a:lnTo>
                  <a:pt x="138684" y="104013"/>
                </a:lnTo>
                <a:lnTo>
                  <a:pt x="138684" y="121539"/>
                </a:lnTo>
                <a:lnTo>
                  <a:pt x="535686" y="121539"/>
                </a:lnTo>
                <a:lnTo>
                  <a:pt x="505841" y="147320"/>
                </a:lnTo>
                <a:lnTo>
                  <a:pt x="515747" y="158496"/>
                </a:lnTo>
                <a:lnTo>
                  <a:pt x="562356" y="118237"/>
                </a:lnTo>
                <a:lnTo>
                  <a:pt x="562356" y="107442"/>
                </a:lnTo>
                <a:close/>
              </a:path>
              <a:path w="1416685" h="494664">
                <a:moveTo>
                  <a:pt x="1278636" y="40386"/>
                </a:moveTo>
                <a:lnTo>
                  <a:pt x="1232027" y="0"/>
                </a:lnTo>
                <a:lnTo>
                  <a:pt x="1222121" y="11176"/>
                </a:lnTo>
                <a:lnTo>
                  <a:pt x="1251966" y="36957"/>
                </a:lnTo>
                <a:lnTo>
                  <a:pt x="1002792" y="36957"/>
                </a:lnTo>
                <a:lnTo>
                  <a:pt x="1002792" y="54483"/>
                </a:lnTo>
                <a:lnTo>
                  <a:pt x="1251966" y="54483"/>
                </a:lnTo>
                <a:lnTo>
                  <a:pt x="1222121" y="80264"/>
                </a:lnTo>
                <a:lnTo>
                  <a:pt x="1232027" y="91440"/>
                </a:lnTo>
                <a:lnTo>
                  <a:pt x="1278636" y="51181"/>
                </a:lnTo>
                <a:lnTo>
                  <a:pt x="1278636" y="40386"/>
                </a:lnTo>
                <a:close/>
              </a:path>
              <a:path w="1416685" h="494664">
                <a:moveTo>
                  <a:pt x="1416304" y="264160"/>
                </a:moveTo>
                <a:lnTo>
                  <a:pt x="1414322" y="222021"/>
                </a:lnTo>
                <a:lnTo>
                  <a:pt x="1408404" y="182803"/>
                </a:lnTo>
                <a:lnTo>
                  <a:pt x="1384808" y="113157"/>
                </a:lnTo>
                <a:lnTo>
                  <a:pt x="1346771" y="61455"/>
                </a:lnTo>
                <a:lnTo>
                  <a:pt x="1295400" y="34036"/>
                </a:lnTo>
                <a:lnTo>
                  <a:pt x="1290701" y="49276"/>
                </a:lnTo>
                <a:lnTo>
                  <a:pt x="1311871" y="60261"/>
                </a:lnTo>
                <a:lnTo>
                  <a:pt x="1330274" y="76238"/>
                </a:lnTo>
                <a:lnTo>
                  <a:pt x="1358900" y="123190"/>
                </a:lnTo>
                <a:lnTo>
                  <a:pt x="1376260" y="186944"/>
                </a:lnTo>
                <a:lnTo>
                  <a:pt x="1382014" y="264414"/>
                </a:lnTo>
                <a:lnTo>
                  <a:pt x="1380578" y="304736"/>
                </a:lnTo>
                <a:lnTo>
                  <a:pt x="1369047" y="375170"/>
                </a:lnTo>
                <a:lnTo>
                  <a:pt x="1345933" y="431165"/>
                </a:lnTo>
                <a:lnTo>
                  <a:pt x="1311871" y="468071"/>
                </a:lnTo>
                <a:lnTo>
                  <a:pt x="1290701" y="479044"/>
                </a:lnTo>
                <a:lnTo>
                  <a:pt x="1295400" y="494284"/>
                </a:lnTo>
                <a:lnTo>
                  <a:pt x="1346771" y="466890"/>
                </a:lnTo>
                <a:lnTo>
                  <a:pt x="1384808" y="415290"/>
                </a:lnTo>
                <a:lnTo>
                  <a:pt x="1408404" y="345592"/>
                </a:lnTo>
                <a:lnTo>
                  <a:pt x="1414322" y="306336"/>
                </a:lnTo>
                <a:lnTo>
                  <a:pt x="1416304" y="2641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21640" y="1526489"/>
            <a:ext cx="4730750" cy="4398010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469900" marR="132080" indent="-343535" algn="just">
              <a:lnSpc>
                <a:spcPct val="80000"/>
              </a:lnSpc>
              <a:spcBef>
                <a:spcPts val="819"/>
              </a:spcBef>
              <a:buFont typeface="Arial"/>
              <a:buChar char="•"/>
              <a:tabLst>
                <a:tab pos="470534" algn="l"/>
              </a:tabLst>
            </a:pPr>
            <a:r>
              <a:rPr sz="3000" spc="-5" dirty="0">
                <a:latin typeface="Carlito"/>
                <a:cs typeface="Carlito"/>
              </a:rPr>
              <a:t>The </a:t>
            </a:r>
            <a:r>
              <a:rPr sz="3000" spc="-10" dirty="0">
                <a:latin typeface="Carlito"/>
                <a:cs typeface="Carlito"/>
              </a:rPr>
              <a:t>drift velocity </a:t>
            </a:r>
            <a:r>
              <a:rPr sz="3000" spc="-450" dirty="0">
                <a:latin typeface="Arial Black"/>
                <a:cs typeface="Arial Black"/>
              </a:rPr>
              <a:t>𝑣</a:t>
            </a:r>
            <a:r>
              <a:rPr sz="3300" spc="-675" baseline="-15151" dirty="0">
                <a:latin typeface="Arial Black"/>
                <a:cs typeface="Arial Black"/>
              </a:rPr>
              <a:t>𝑑 </a:t>
            </a:r>
            <a:r>
              <a:rPr sz="3000" spc="-5" dirty="0">
                <a:latin typeface="Carlito"/>
                <a:cs typeface="Carlito"/>
              </a:rPr>
              <a:t>is  </a:t>
            </a:r>
            <a:r>
              <a:rPr sz="3000" spc="-15" dirty="0">
                <a:latin typeface="Carlito"/>
                <a:cs typeface="Carlito"/>
              </a:rPr>
              <a:t>upward, </a:t>
            </a:r>
            <a:r>
              <a:rPr sz="3000" spc="-5" dirty="0">
                <a:latin typeface="Carlito"/>
                <a:cs typeface="Carlito"/>
              </a:rPr>
              <a:t>perpendicular </a:t>
            </a:r>
            <a:r>
              <a:rPr sz="3000" spc="-25" dirty="0">
                <a:latin typeface="Carlito"/>
                <a:cs typeface="Carlito"/>
              </a:rPr>
              <a:t>to  </a:t>
            </a:r>
            <a:r>
              <a:rPr sz="3000" b="1" i="1" spc="-5" dirty="0">
                <a:latin typeface="Carlito"/>
                <a:cs typeface="Carlito"/>
              </a:rPr>
              <a:t>B</a:t>
            </a:r>
            <a:r>
              <a:rPr sz="3000" spc="-5" dirty="0">
                <a:latin typeface="Carlito"/>
                <a:cs typeface="Carlito"/>
              </a:rPr>
              <a:t>.</a:t>
            </a:r>
            <a:endParaRPr sz="3000">
              <a:latin typeface="Carlito"/>
              <a:cs typeface="Carlito"/>
            </a:endParaRPr>
          </a:p>
          <a:p>
            <a:pPr marL="469900" marR="128905" indent="-343535" algn="just">
              <a:lnSpc>
                <a:spcPct val="85400"/>
              </a:lnSpc>
              <a:spcBef>
                <a:spcPts val="525"/>
              </a:spcBef>
              <a:buFont typeface="Arial"/>
              <a:buChar char="•"/>
              <a:tabLst>
                <a:tab pos="470534" algn="l"/>
              </a:tabLst>
            </a:pPr>
            <a:r>
              <a:rPr sz="3000" spc="-5" dirty="0">
                <a:latin typeface="Carlito"/>
                <a:cs typeface="Carlito"/>
              </a:rPr>
              <a:t>The </a:t>
            </a:r>
            <a:r>
              <a:rPr sz="3000" spc="-30" dirty="0">
                <a:latin typeface="Carlito"/>
                <a:cs typeface="Carlito"/>
              </a:rPr>
              <a:t>average </a:t>
            </a:r>
            <a:r>
              <a:rPr sz="3000" spc="-25" dirty="0">
                <a:latin typeface="Carlito"/>
                <a:cs typeface="Carlito"/>
              </a:rPr>
              <a:t>force </a:t>
            </a:r>
            <a:r>
              <a:rPr sz="3000" dirty="0">
                <a:latin typeface="Carlito"/>
                <a:cs typeface="Carlito"/>
              </a:rPr>
              <a:t>on </a:t>
            </a:r>
            <a:r>
              <a:rPr sz="3000" spc="-5" dirty="0">
                <a:latin typeface="Carlito"/>
                <a:cs typeface="Carlito"/>
              </a:rPr>
              <a:t>each  </a:t>
            </a:r>
            <a:r>
              <a:rPr sz="3000" spc="-10" dirty="0">
                <a:latin typeface="Carlito"/>
                <a:cs typeface="Carlito"/>
              </a:rPr>
              <a:t>charge </a:t>
            </a:r>
            <a:r>
              <a:rPr sz="3000" spc="-5" dirty="0">
                <a:latin typeface="Carlito"/>
                <a:cs typeface="Carlito"/>
              </a:rPr>
              <a:t>is </a:t>
            </a:r>
            <a:r>
              <a:rPr sz="3000" spc="-335" dirty="0">
                <a:latin typeface="Arial Black"/>
                <a:cs typeface="Arial Black"/>
              </a:rPr>
              <a:t>𝑭 </a:t>
            </a:r>
            <a:r>
              <a:rPr sz="3000" spc="260" dirty="0">
                <a:latin typeface="Arial Black"/>
                <a:cs typeface="Arial Black"/>
              </a:rPr>
              <a:t>= </a:t>
            </a:r>
            <a:r>
              <a:rPr sz="3000" spc="-635" dirty="0">
                <a:latin typeface="Arial Black"/>
                <a:cs typeface="Arial Black"/>
              </a:rPr>
              <a:t>𝑞 </a:t>
            </a:r>
            <a:r>
              <a:rPr sz="3000" spc="-345" dirty="0">
                <a:latin typeface="Arial Black"/>
                <a:cs typeface="Arial Black"/>
              </a:rPr>
              <a:t>𝒗</a:t>
            </a:r>
            <a:r>
              <a:rPr sz="3300" spc="-517" baseline="-15151" dirty="0">
                <a:latin typeface="Arial Black"/>
                <a:cs typeface="Arial Black"/>
              </a:rPr>
              <a:t>𝒅 </a:t>
            </a:r>
            <a:r>
              <a:rPr sz="3000" spc="160" dirty="0">
                <a:latin typeface="Arial Black"/>
                <a:cs typeface="Arial Black"/>
              </a:rPr>
              <a:t>× </a:t>
            </a:r>
            <a:r>
              <a:rPr sz="3000" spc="-80" dirty="0">
                <a:latin typeface="Arial Black"/>
                <a:cs typeface="Arial Black"/>
              </a:rPr>
              <a:t>𝑩 </a:t>
            </a:r>
            <a:r>
              <a:rPr sz="3000" dirty="0">
                <a:latin typeface="Carlito"/>
                <a:cs typeface="Carlito"/>
              </a:rPr>
              <a:t>,  </a:t>
            </a:r>
            <a:r>
              <a:rPr sz="3000" spc="-15" dirty="0">
                <a:latin typeface="Carlito"/>
                <a:cs typeface="Carlito"/>
              </a:rPr>
              <a:t>directed</a:t>
            </a:r>
            <a:r>
              <a:rPr sz="3000" spc="645" dirty="0">
                <a:latin typeface="Carlito"/>
                <a:cs typeface="Carlito"/>
              </a:rPr>
              <a:t> </a:t>
            </a:r>
            <a:r>
              <a:rPr sz="3000" spc="-15" dirty="0">
                <a:latin typeface="Carlito"/>
                <a:cs typeface="Carlito"/>
              </a:rPr>
              <a:t>to 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10" dirty="0">
                <a:latin typeface="Carlito"/>
                <a:cs typeface="Carlito"/>
              </a:rPr>
              <a:t>left </a:t>
            </a:r>
            <a:r>
              <a:rPr sz="3000" dirty="0">
                <a:latin typeface="Carlito"/>
                <a:cs typeface="Carlito"/>
              </a:rPr>
              <a:t>as  </a:t>
            </a:r>
            <a:r>
              <a:rPr sz="3000" spc="-5" dirty="0">
                <a:latin typeface="Carlito"/>
                <a:cs typeface="Carlito"/>
              </a:rPr>
              <a:t>shown in </a:t>
            </a:r>
            <a:r>
              <a:rPr sz="3000" dirty="0">
                <a:latin typeface="Carlito"/>
                <a:cs typeface="Carlito"/>
              </a:rPr>
              <a:t>the</a:t>
            </a:r>
            <a:r>
              <a:rPr sz="3000" spc="-20" dirty="0">
                <a:latin typeface="Carlito"/>
                <a:cs typeface="Carlito"/>
              </a:rPr>
              <a:t> </a:t>
            </a:r>
            <a:r>
              <a:rPr sz="3000" spc="-10" dirty="0">
                <a:latin typeface="Carlito"/>
                <a:cs typeface="Carlito"/>
              </a:rPr>
              <a:t>figure.</a:t>
            </a:r>
            <a:endParaRPr sz="3000">
              <a:latin typeface="Carlito"/>
              <a:cs typeface="Carlito"/>
            </a:endParaRPr>
          </a:p>
          <a:p>
            <a:pPr marL="469900" marR="128905" indent="-343535" algn="just">
              <a:lnSpc>
                <a:spcPct val="80000"/>
              </a:lnSpc>
              <a:spcBef>
                <a:spcPts val="720"/>
              </a:spcBef>
              <a:buFont typeface="Arial"/>
              <a:buChar char="•"/>
              <a:tabLst>
                <a:tab pos="470534" algn="l"/>
                <a:tab pos="4076065" algn="l"/>
              </a:tabLst>
            </a:pPr>
            <a:r>
              <a:rPr sz="3000" spc="-5" dirty="0">
                <a:latin typeface="Carlito"/>
                <a:cs typeface="Carlito"/>
              </a:rPr>
              <a:t>Since </a:t>
            </a:r>
            <a:r>
              <a:rPr sz="3000" spc="-445" dirty="0">
                <a:latin typeface="Arial Black"/>
                <a:cs typeface="Arial Black"/>
              </a:rPr>
              <a:t>𝑣</a:t>
            </a:r>
            <a:r>
              <a:rPr sz="3300" spc="-667" baseline="-15151" dirty="0">
                <a:latin typeface="Arial Black"/>
                <a:cs typeface="Arial Black"/>
              </a:rPr>
              <a:t>𝑑 </a:t>
            </a:r>
            <a:r>
              <a:rPr sz="3000" dirty="0">
                <a:latin typeface="Carlito"/>
                <a:cs typeface="Carlito"/>
              </a:rPr>
              <a:t>and </a:t>
            </a:r>
            <a:r>
              <a:rPr sz="3000" b="1" i="1" dirty="0">
                <a:latin typeface="Carlito"/>
                <a:cs typeface="Carlito"/>
              </a:rPr>
              <a:t>B </a:t>
            </a:r>
            <a:r>
              <a:rPr sz="3000" spc="-15" dirty="0">
                <a:latin typeface="Carlito"/>
                <a:cs typeface="Carlito"/>
              </a:rPr>
              <a:t>are  </a:t>
            </a:r>
            <a:r>
              <a:rPr sz="3000" spc="-5" dirty="0">
                <a:latin typeface="Carlito"/>
                <a:cs typeface="Carlito"/>
              </a:rPr>
              <a:t>p</a:t>
            </a:r>
            <a:r>
              <a:rPr sz="3000" spc="-15" dirty="0">
                <a:latin typeface="Carlito"/>
                <a:cs typeface="Carlito"/>
              </a:rPr>
              <a:t>e</a:t>
            </a:r>
            <a:r>
              <a:rPr sz="3000" dirty="0">
                <a:latin typeface="Carlito"/>
                <a:cs typeface="Carlito"/>
              </a:rPr>
              <a:t>rp</a:t>
            </a:r>
            <a:r>
              <a:rPr sz="3000" spc="-15" dirty="0">
                <a:latin typeface="Carlito"/>
                <a:cs typeface="Carlito"/>
              </a:rPr>
              <a:t>e</a:t>
            </a:r>
            <a:r>
              <a:rPr sz="3000" spc="-5" dirty="0">
                <a:latin typeface="Carlito"/>
                <a:cs typeface="Carlito"/>
              </a:rPr>
              <a:t>ndicu</a:t>
            </a:r>
            <a:r>
              <a:rPr sz="3000" spc="-15" dirty="0">
                <a:latin typeface="Carlito"/>
                <a:cs typeface="Carlito"/>
              </a:rPr>
              <a:t>l</a:t>
            </a:r>
            <a:r>
              <a:rPr sz="3000" dirty="0">
                <a:latin typeface="Carlito"/>
                <a:cs typeface="Carlito"/>
              </a:rPr>
              <a:t>a</a:t>
            </a:r>
            <a:r>
              <a:rPr sz="3000" spc="-260" dirty="0">
                <a:latin typeface="Carlito"/>
                <a:cs typeface="Carlito"/>
              </a:rPr>
              <a:t>r</a:t>
            </a:r>
            <a:r>
              <a:rPr sz="3000" dirty="0">
                <a:latin typeface="Carlito"/>
                <a:cs typeface="Carlito"/>
              </a:rPr>
              <a:t>,	</a:t>
            </a:r>
            <a:r>
              <a:rPr sz="3000" spc="-10" dirty="0">
                <a:latin typeface="Carlito"/>
                <a:cs typeface="Carlito"/>
              </a:rPr>
              <a:t>t</a:t>
            </a:r>
            <a:r>
              <a:rPr sz="3000" spc="-5" dirty="0">
                <a:latin typeface="Carlito"/>
                <a:cs typeface="Carlito"/>
              </a:rPr>
              <a:t>he  magnitude </a:t>
            </a:r>
            <a:r>
              <a:rPr sz="3000" dirty="0">
                <a:latin typeface="Carlito"/>
                <a:cs typeface="Carlito"/>
              </a:rPr>
              <a:t>of the </a:t>
            </a:r>
            <a:r>
              <a:rPr sz="3000" spc="-25" dirty="0">
                <a:latin typeface="Carlito"/>
                <a:cs typeface="Carlito"/>
              </a:rPr>
              <a:t>force</a:t>
            </a:r>
            <a:r>
              <a:rPr sz="3000" spc="-145" dirty="0">
                <a:latin typeface="Carlito"/>
                <a:cs typeface="Carlito"/>
              </a:rPr>
              <a:t> </a:t>
            </a:r>
            <a:r>
              <a:rPr sz="3000" spc="-5" dirty="0">
                <a:latin typeface="Carlito"/>
                <a:cs typeface="Carlito"/>
              </a:rPr>
              <a:t>is</a:t>
            </a:r>
            <a:endParaRPr sz="3000">
              <a:latin typeface="Carlito"/>
              <a:cs typeface="Carlito"/>
            </a:endParaRPr>
          </a:p>
          <a:p>
            <a:pPr marL="469900">
              <a:lnSpc>
                <a:spcPts val="2880"/>
              </a:lnSpc>
              <a:tabLst>
                <a:tab pos="908685" algn="l"/>
              </a:tabLst>
            </a:pPr>
            <a:r>
              <a:rPr sz="3000" spc="-420" dirty="0">
                <a:latin typeface="Arial Black"/>
                <a:cs typeface="Arial Black"/>
              </a:rPr>
              <a:t>𝐹	</a:t>
            </a:r>
            <a:r>
              <a:rPr sz="3000" spc="260" dirty="0">
                <a:latin typeface="Arial Black"/>
                <a:cs typeface="Arial Black"/>
              </a:rPr>
              <a:t>=</a:t>
            </a:r>
            <a:r>
              <a:rPr sz="3000" spc="480" dirty="0">
                <a:latin typeface="Arial Black"/>
                <a:cs typeface="Arial Black"/>
              </a:rPr>
              <a:t> </a:t>
            </a:r>
            <a:r>
              <a:rPr sz="3000" spc="-290" dirty="0">
                <a:latin typeface="Arial Black"/>
                <a:cs typeface="Arial Black"/>
              </a:rPr>
              <a:t>𝑞𝑣</a:t>
            </a:r>
            <a:r>
              <a:rPr sz="3300" spc="-434" baseline="-15151" dirty="0">
                <a:latin typeface="Arial Black"/>
                <a:cs typeface="Arial Black"/>
              </a:rPr>
              <a:t>𝑑</a:t>
            </a:r>
            <a:r>
              <a:rPr sz="3000" spc="-290" dirty="0">
                <a:latin typeface="Arial Black"/>
                <a:cs typeface="Arial Black"/>
              </a:rPr>
              <a:t>𝐵</a:t>
            </a:r>
            <a:r>
              <a:rPr sz="3000" spc="-290" dirty="0">
                <a:latin typeface="Carlito"/>
                <a:cs typeface="Carlito"/>
              </a:rPr>
              <a:t>.</a:t>
            </a:r>
            <a:endParaRPr sz="3000">
              <a:latin typeface="Carlito"/>
              <a:cs typeface="Carlito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lang="en-US" spc="-5"/>
              <a:t>Engr. Safee Ullah, Department of Electrical Engineering, HITEC University</a:t>
            </a:r>
            <a:endParaRPr spc="-5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5</a:t>
            </a:fld>
            <a:endParaRPr dirty="0"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93570" marR="5080" indent="-1881505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Magnetic </a:t>
            </a:r>
            <a:r>
              <a:rPr spc="-30" dirty="0"/>
              <a:t>Force </a:t>
            </a:r>
            <a:r>
              <a:rPr spc="-5" dirty="0"/>
              <a:t>on a </a:t>
            </a:r>
            <a:r>
              <a:rPr spc="-20" dirty="0"/>
              <a:t>Current </a:t>
            </a:r>
            <a:r>
              <a:rPr dirty="0"/>
              <a:t>Carrying  </a:t>
            </a:r>
            <a:r>
              <a:rPr spc="-10" dirty="0"/>
              <a:t>Conductor </a:t>
            </a:r>
            <a:r>
              <a:rPr spc="-15" dirty="0"/>
              <a:t>(Contd.)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103876" y="1600200"/>
            <a:ext cx="3811524" cy="45262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132076" y="5377560"/>
            <a:ext cx="841375" cy="353060"/>
          </a:xfrm>
          <a:custGeom>
            <a:avLst/>
            <a:gdLst/>
            <a:ahLst/>
            <a:cxnLst/>
            <a:rect l="l" t="t" r="r" b="b"/>
            <a:pathLst>
              <a:path w="841375" h="353060">
                <a:moveTo>
                  <a:pt x="728344" y="0"/>
                </a:moveTo>
                <a:lnTo>
                  <a:pt x="723392" y="14350"/>
                </a:lnTo>
                <a:lnTo>
                  <a:pt x="743795" y="23207"/>
                </a:lnTo>
                <a:lnTo>
                  <a:pt x="761365" y="35480"/>
                </a:lnTo>
                <a:lnTo>
                  <a:pt x="787907" y="70230"/>
                </a:lnTo>
                <a:lnTo>
                  <a:pt x="803513" y="117205"/>
                </a:lnTo>
                <a:lnTo>
                  <a:pt x="808736" y="174751"/>
                </a:lnTo>
                <a:lnTo>
                  <a:pt x="807426" y="205862"/>
                </a:lnTo>
                <a:lnTo>
                  <a:pt x="796948" y="259521"/>
                </a:lnTo>
                <a:lnTo>
                  <a:pt x="775942" y="301438"/>
                </a:lnTo>
                <a:lnTo>
                  <a:pt x="744025" y="329714"/>
                </a:lnTo>
                <a:lnTo>
                  <a:pt x="723900" y="338620"/>
                </a:lnTo>
                <a:lnTo>
                  <a:pt x="728344" y="352945"/>
                </a:lnTo>
                <a:lnTo>
                  <a:pt x="776509" y="330363"/>
                </a:lnTo>
                <a:lnTo>
                  <a:pt x="811911" y="291274"/>
                </a:lnTo>
                <a:lnTo>
                  <a:pt x="833627" y="238926"/>
                </a:lnTo>
                <a:lnTo>
                  <a:pt x="840867" y="176529"/>
                </a:lnTo>
                <a:lnTo>
                  <a:pt x="839055" y="144216"/>
                </a:lnTo>
                <a:lnTo>
                  <a:pt x="824525" y="86875"/>
                </a:lnTo>
                <a:lnTo>
                  <a:pt x="795639" y="40183"/>
                </a:lnTo>
                <a:lnTo>
                  <a:pt x="753919" y="9235"/>
                </a:lnTo>
                <a:lnTo>
                  <a:pt x="728344" y="0"/>
                </a:lnTo>
                <a:close/>
              </a:path>
              <a:path w="841375" h="353060">
                <a:moveTo>
                  <a:pt x="112522" y="0"/>
                </a:moveTo>
                <a:lnTo>
                  <a:pt x="64516" y="22637"/>
                </a:lnTo>
                <a:lnTo>
                  <a:pt x="29082" y="61848"/>
                </a:lnTo>
                <a:lnTo>
                  <a:pt x="7254" y="114331"/>
                </a:lnTo>
                <a:lnTo>
                  <a:pt x="0" y="176529"/>
                </a:lnTo>
                <a:lnTo>
                  <a:pt x="1809" y="208987"/>
                </a:lnTo>
                <a:lnTo>
                  <a:pt x="16287" y="266353"/>
                </a:lnTo>
                <a:lnTo>
                  <a:pt x="45102" y="312881"/>
                </a:lnTo>
                <a:lnTo>
                  <a:pt x="86873" y="343718"/>
                </a:lnTo>
                <a:lnTo>
                  <a:pt x="112522" y="352945"/>
                </a:lnTo>
                <a:lnTo>
                  <a:pt x="116967" y="338620"/>
                </a:lnTo>
                <a:lnTo>
                  <a:pt x="96841" y="329714"/>
                </a:lnTo>
                <a:lnTo>
                  <a:pt x="79502" y="317320"/>
                </a:lnTo>
                <a:lnTo>
                  <a:pt x="53086" y="282066"/>
                </a:lnTo>
                <a:lnTo>
                  <a:pt x="37369" y="234119"/>
                </a:lnTo>
                <a:lnTo>
                  <a:pt x="32131" y="174751"/>
                </a:lnTo>
                <a:lnTo>
                  <a:pt x="33440" y="144651"/>
                </a:lnTo>
                <a:lnTo>
                  <a:pt x="43918" y="92402"/>
                </a:lnTo>
                <a:lnTo>
                  <a:pt x="64968" y="51159"/>
                </a:lnTo>
                <a:lnTo>
                  <a:pt x="97162" y="23207"/>
                </a:lnTo>
                <a:lnTo>
                  <a:pt x="117475" y="14350"/>
                </a:lnTo>
                <a:lnTo>
                  <a:pt x="11252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040379" y="5377560"/>
            <a:ext cx="1133475" cy="353060"/>
          </a:xfrm>
          <a:custGeom>
            <a:avLst/>
            <a:gdLst/>
            <a:ahLst/>
            <a:cxnLst/>
            <a:rect l="l" t="t" r="r" b="b"/>
            <a:pathLst>
              <a:path w="1133475" h="353060">
                <a:moveTo>
                  <a:pt x="1020953" y="0"/>
                </a:moveTo>
                <a:lnTo>
                  <a:pt x="1015999" y="14350"/>
                </a:lnTo>
                <a:lnTo>
                  <a:pt x="1036403" y="23207"/>
                </a:lnTo>
                <a:lnTo>
                  <a:pt x="1053972" y="35480"/>
                </a:lnTo>
                <a:lnTo>
                  <a:pt x="1080516" y="70230"/>
                </a:lnTo>
                <a:lnTo>
                  <a:pt x="1096121" y="117205"/>
                </a:lnTo>
                <a:lnTo>
                  <a:pt x="1101344" y="174751"/>
                </a:lnTo>
                <a:lnTo>
                  <a:pt x="1100034" y="205862"/>
                </a:lnTo>
                <a:lnTo>
                  <a:pt x="1089556" y="259521"/>
                </a:lnTo>
                <a:lnTo>
                  <a:pt x="1068550" y="301438"/>
                </a:lnTo>
                <a:lnTo>
                  <a:pt x="1036633" y="329714"/>
                </a:lnTo>
                <a:lnTo>
                  <a:pt x="1016507" y="338620"/>
                </a:lnTo>
                <a:lnTo>
                  <a:pt x="1020953" y="352945"/>
                </a:lnTo>
                <a:lnTo>
                  <a:pt x="1069117" y="330363"/>
                </a:lnTo>
                <a:lnTo>
                  <a:pt x="1104519" y="291274"/>
                </a:lnTo>
                <a:lnTo>
                  <a:pt x="1126235" y="238926"/>
                </a:lnTo>
                <a:lnTo>
                  <a:pt x="1133474" y="176529"/>
                </a:lnTo>
                <a:lnTo>
                  <a:pt x="1131663" y="144216"/>
                </a:lnTo>
                <a:lnTo>
                  <a:pt x="1117133" y="86875"/>
                </a:lnTo>
                <a:lnTo>
                  <a:pt x="1088247" y="40183"/>
                </a:lnTo>
                <a:lnTo>
                  <a:pt x="1046527" y="9235"/>
                </a:lnTo>
                <a:lnTo>
                  <a:pt x="1020953" y="0"/>
                </a:lnTo>
                <a:close/>
              </a:path>
              <a:path w="1133475" h="353060">
                <a:moveTo>
                  <a:pt x="112521" y="0"/>
                </a:moveTo>
                <a:lnTo>
                  <a:pt x="64516" y="22637"/>
                </a:lnTo>
                <a:lnTo>
                  <a:pt x="29082" y="61848"/>
                </a:lnTo>
                <a:lnTo>
                  <a:pt x="7254" y="114331"/>
                </a:lnTo>
                <a:lnTo>
                  <a:pt x="0" y="176529"/>
                </a:lnTo>
                <a:lnTo>
                  <a:pt x="1809" y="208987"/>
                </a:lnTo>
                <a:lnTo>
                  <a:pt x="16287" y="266353"/>
                </a:lnTo>
                <a:lnTo>
                  <a:pt x="45102" y="312881"/>
                </a:lnTo>
                <a:lnTo>
                  <a:pt x="86873" y="343718"/>
                </a:lnTo>
                <a:lnTo>
                  <a:pt x="112521" y="352945"/>
                </a:lnTo>
                <a:lnTo>
                  <a:pt x="116967" y="338620"/>
                </a:lnTo>
                <a:lnTo>
                  <a:pt x="96841" y="329714"/>
                </a:lnTo>
                <a:lnTo>
                  <a:pt x="79501" y="317320"/>
                </a:lnTo>
                <a:lnTo>
                  <a:pt x="53086" y="282066"/>
                </a:lnTo>
                <a:lnTo>
                  <a:pt x="37369" y="234119"/>
                </a:lnTo>
                <a:lnTo>
                  <a:pt x="32131" y="174751"/>
                </a:lnTo>
                <a:lnTo>
                  <a:pt x="33440" y="144651"/>
                </a:lnTo>
                <a:lnTo>
                  <a:pt x="43918" y="92402"/>
                </a:lnTo>
                <a:lnTo>
                  <a:pt x="64968" y="51159"/>
                </a:lnTo>
                <a:lnTo>
                  <a:pt x="97162" y="23207"/>
                </a:lnTo>
                <a:lnTo>
                  <a:pt x="117475" y="14350"/>
                </a:lnTo>
                <a:lnTo>
                  <a:pt x="1125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23240" y="1526489"/>
            <a:ext cx="4519295" cy="4225290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368300" marR="17780" indent="-343535" algn="just">
              <a:lnSpc>
                <a:spcPct val="80000"/>
              </a:lnSpc>
              <a:spcBef>
                <a:spcPts val="819"/>
              </a:spcBef>
              <a:buFont typeface="Arial"/>
              <a:buChar char="•"/>
              <a:tabLst>
                <a:tab pos="368935" algn="l"/>
              </a:tabLst>
            </a:pPr>
            <a:r>
              <a:rPr sz="3000" spc="-5" dirty="0">
                <a:latin typeface="Carlito"/>
                <a:cs typeface="Carlito"/>
              </a:rPr>
              <a:t>The number </a:t>
            </a:r>
            <a:r>
              <a:rPr sz="3000" dirty="0">
                <a:latin typeface="Carlito"/>
                <a:cs typeface="Carlito"/>
              </a:rPr>
              <a:t>of </a:t>
            </a:r>
            <a:r>
              <a:rPr sz="3000" spc="-15" dirty="0">
                <a:latin typeface="Carlito"/>
                <a:cs typeface="Carlito"/>
              </a:rPr>
              <a:t>charges  </a:t>
            </a:r>
            <a:r>
              <a:rPr sz="3000" spc="-10" dirty="0">
                <a:latin typeface="Carlito"/>
                <a:cs typeface="Carlito"/>
              </a:rPr>
              <a:t>per unit volume, </a:t>
            </a:r>
            <a:r>
              <a:rPr sz="3000" dirty="0">
                <a:latin typeface="Carlito"/>
                <a:cs typeface="Carlito"/>
              </a:rPr>
              <a:t>or </a:t>
            </a:r>
            <a:r>
              <a:rPr sz="3000" spc="-10" dirty="0">
                <a:latin typeface="Carlito"/>
                <a:cs typeface="Carlito"/>
              </a:rPr>
              <a:t>charge  </a:t>
            </a:r>
            <a:r>
              <a:rPr sz="3000" spc="-15" dirty="0">
                <a:latin typeface="Carlito"/>
                <a:cs typeface="Carlito"/>
              </a:rPr>
              <a:t>concentration, </a:t>
            </a:r>
            <a:r>
              <a:rPr sz="3000" spc="-5" dirty="0">
                <a:latin typeface="Carlito"/>
                <a:cs typeface="Carlito"/>
              </a:rPr>
              <a:t>is </a:t>
            </a:r>
            <a:r>
              <a:rPr sz="3000" i="1" dirty="0">
                <a:latin typeface="Carlito"/>
                <a:cs typeface="Carlito"/>
              </a:rPr>
              <a:t>n</a:t>
            </a:r>
            <a:r>
              <a:rPr sz="3000" dirty="0">
                <a:latin typeface="Carlito"/>
                <a:cs typeface="Carlito"/>
              </a:rPr>
              <a:t>; a  </a:t>
            </a:r>
            <a:r>
              <a:rPr sz="3000" spc="-10" dirty="0">
                <a:latin typeface="Carlito"/>
                <a:cs typeface="Carlito"/>
              </a:rPr>
              <a:t>segment </a:t>
            </a:r>
            <a:r>
              <a:rPr sz="3000" dirty="0">
                <a:latin typeface="Carlito"/>
                <a:cs typeface="Carlito"/>
              </a:rPr>
              <a:t>of </a:t>
            </a:r>
            <a:r>
              <a:rPr sz="3000" spc="-15" dirty="0">
                <a:latin typeface="Carlito"/>
                <a:cs typeface="Carlito"/>
              </a:rPr>
              <a:t>conductor  </a:t>
            </a:r>
            <a:r>
              <a:rPr sz="3000" dirty="0">
                <a:latin typeface="Carlito"/>
                <a:cs typeface="Carlito"/>
              </a:rPr>
              <a:t>with </a:t>
            </a:r>
            <a:r>
              <a:rPr sz="3000" spc="-15" dirty="0">
                <a:latin typeface="Carlito"/>
                <a:cs typeface="Carlito"/>
              </a:rPr>
              <a:t>length </a:t>
            </a:r>
            <a:r>
              <a:rPr sz="3000" i="1" dirty="0">
                <a:latin typeface="Carlito"/>
                <a:cs typeface="Carlito"/>
              </a:rPr>
              <a:t>l </a:t>
            </a:r>
            <a:r>
              <a:rPr sz="3000" spc="-5" dirty="0">
                <a:latin typeface="Carlito"/>
                <a:cs typeface="Carlito"/>
              </a:rPr>
              <a:t>has </a:t>
            </a:r>
            <a:r>
              <a:rPr sz="3000" spc="-10" dirty="0">
                <a:latin typeface="Carlito"/>
                <a:cs typeface="Carlito"/>
              </a:rPr>
              <a:t>volume  </a:t>
            </a:r>
            <a:r>
              <a:rPr sz="3000" i="1" dirty="0">
                <a:latin typeface="Carlito"/>
                <a:cs typeface="Carlito"/>
              </a:rPr>
              <a:t>Al </a:t>
            </a:r>
            <a:r>
              <a:rPr sz="3000" dirty="0">
                <a:latin typeface="Carlito"/>
                <a:cs typeface="Carlito"/>
              </a:rPr>
              <a:t>and </a:t>
            </a:r>
            <a:r>
              <a:rPr sz="3000" spc="-15" dirty="0">
                <a:latin typeface="Carlito"/>
                <a:cs typeface="Carlito"/>
              </a:rPr>
              <a:t>contains </a:t>
            </a:r>
            <a:r>
              <a:rPr sz="3000" dirty="0">
                <a:latin typeface="Carlito"/>
                <a:cs typeface="Carlito"/>
              </a:rPr>
              <a:t>a </a:t>
            </a:r>
            <a:r>
              <a:rPr sz="3000" spc="-10" dirty="0">
                <a:latin typeface="Carlito"/>
                <a:cs typeface="Carlito"/>
              </a:rPr>
              <a:t>number  </a:t>
            </a:r>
            <a:r>
              <a:rPr sz="3000" dirty="0">
                <a:latin typeface="Carlito"/>
                <a:cs typeface="Carlito"/>
              </a:rPr>
              <a:t>of </a:t>
            </a:r>
            <a:r>
              <a:rPr sz="3000" spc="-15" dirty="0">
                <a:latin typeface="Carlito"/>
                <a:cs typeface="Carlito"/>
              </a:rPr>
              <a:t>charges </a:t>
            </a:r>
            <a:r>
              <a:rPr sz="3000" spc="-5" dirty="0">
                <a:latin typeface="Carlito"/>
                <a:cs typeface="Carlito"/>
              </a:rPr>
              <a:t>equal </a:t>
            </a:r>
            <a:r>
              <a:rPr sz="3000" spc="-15" dirty="0">
                <a:latin typeface="Carlito"/>
                <a:cs typeface="Carlito"/>
              </a:rPr>
              <a:t>to </a:t>
            </a:r>
            <a:r>
              <a:rPr sz="3000" i="1" dirty="0">
                <a:latin typeface="Carlito"/>
                <a:cs typeface="Carlito"/>
              </a:rPr>
              <a:t>nAl</a:t>
            </a:r>
            <a:r>
              <a:rPr sz="3000" dirty="0">
                <a:latin typeface="Carlito"/>
                <a:cs typeface="Carlito"/>
              </a:rPr>
              <a:t>.  </a:t>
            </a:r>
            <a:r>
              <a:rPr sz="3000" spc="-5" dirty="0">
                <a:latin typeface="Carlito"/>
                <a:cs typeface="Carlito"/>
              </a:rPr>
              <a:t>The </a:t>
            </a:r>
            <a:r>
              <a:rPr sz="3000" spc="-15" dirty="0">
                <a:latin typeface="Carlito"/>
                <a:cs typeface="Carlito"/>
              </a:rPr>
              <a:t>total </a:t>
            </a:r>
            <a:r>
              <a:rPr sz="3000" spc="-25" dirty="0">
                <a:latin typeface="Carlito"/>
                <a:cs typeface="Carlito"/>
              </a:rPr>
              <a:t>force </a:t>
            </a:r>
            <a:r>
              <a:rPr sz="3000" b="1" i="1" dirty="0">
                <a:latin typeface="Carlito"/>
                <a:cs typeface="Carlito"/>
              </a:rPr>
              <a:t>F </a:t>
            </a:r>
            <a:r>
              <a:rPr sz="3000" dirty="0">
                <a:latin typeface="Carlito"/>
                <a:cs typeface="Carlito"/>
              </a:rPr>
              <a:t>on </a:t>
            </a:r>
            <a:r>
              <a:rPr sz="3000" i="1" spc="-5" dirty="0">
                <a:latin typeface="Carlito"/>
                <a:cs typeface="Carlito"/>
              </a:rPr>
              <a:t>all </a:t>
            </a:r>
            <a:r>
              <a:rPr sz="3000" dirty="0">
                <a:latin typeface="Carlito"/>
                <a:cs typeface="Carlito"/>
              </a:rPr>
              <a:t>the  </a:t>
            </a:r>
            <a:r>
              <a:rPr sz="3000" spc="-5" dirty="0">
                <a:latin typeface="Carlito"/>
                <a:cs typeface="Carlito"/>
              </a:rPr>
              <a:t>moving </a:t>
            </a:r>
            <a:r>
              <a:rPr sz="3000" spc="-10" dirty="0">
                <a:latin typeface="Carlito"/>
                <a:cs typeface="Carlito"/>
              </a:rPr>
              <a:t>charges </a:t>
            </a:r>
            <a:r>
              <a:rPr sz="3000" spc="-5" dirty="0">
                <a:latin typeface="Carlito"/>
                <a:cs typeface="Carlito"/>
              </a:rPr>
              <a:t>in </a:t>
            </a:r>
            <a:r>
              <a:rPr sz="3000" dirty="0">
                <a:latin typeface="Carlito"/>
                <a:cs typeface="Carlito"/>
              </a:rPr>
              <a:t>this  </a:t>
            </a:r>
            <a:r>
              <a:rPr sz="3000" spc="-10" dirty="0">
                <a:latin typeface="Carlito"/>
                <a:cs typeface="Carlito"/>
              </a:rPr>
              <a:t>segment </a:t>
            </a:r>
            <a:r>
              <a:rPr sz="3000" spc="-5" dirty="0">
                <a:latin typeface="Carlito"/>
                <a:cs typeface="Carlito"/>
              </a:rPr>
              <a:t>has</a:t>
            </a:r>
            <a:r>
              <a:rPr sz="3000" spc="-25" dirty="0">
                <a:latin typeface="Carlito"/>
                <a:cs typeface="Carlito"/>
              </a:rPr>
              <a:t> </a:t>
            </a:r>
            <a:r>
              <a:rPr sz="3000" spc="-5" dirty="0">
                <a:latin typeface="Carlito"/>
                <a:cs typeface="Carlito"/>
              </a:rPr>
              <a:t>magnitude</a:t>
            </a:r>
            <a:endParaRPr sz="3000">
              <a:latin typeface="Carlito"/>
              <a:cs typeface="Carlito"/>
            </a:endParaRPr>
          </a:p>
          <a:p>
            <a:pPr marR="164465" algn="ctr">
              <a:lnSpc>
                <a:spcPts val="3540"/>
              </a:lnSpc>
              <a:tabLst>
                <a:tab pos="903605" algn="l"/>
                <a:tab pos="1812289" algn="l"/>
              </a:tabLst>
            </a:pPr>
            <a:r>
              <a:rPr sz="3000" spc="-420" dirty="0">
                <a:latin typeface="Arial Black"/>
                <a:cs typeface="Arial Black"/>
              </a:rPr>
              <a:t>𝐹</a:t>
            </a:r>
            <a:r>
              <a:rPr sz="3000" spc="-40" dirty="0">
                <a:latin typeface="Arial Black"/>
                <a:cs typeface="Arial Black"/>
              </a:rPr>
              <a:t> </a:t>
            </a:r>
            <a:r>
              <a:rPr sz="3000" spc="260" dirty="0">
                <a:latin typeface="Arial Black"/>
                <a:cs typeface="Arial Black"/>
              </a:rPr>
              <a:t>=	</a:t>
            </a:r>
            <a:r>
              <a:rPr sz="3000" spc="-730" dirty="0">
                <a:latin typeface="Arial Black"/>
                <a:cs typeface="Arial Black"/>
              </a:rPr>
              <a:t>𝑛𝐴𝑙	</a:t>
            </a:r>
            <a:r>
              <a:rPr sz="3000" spc="-385" dirty="0">
                <a:latin typeface="Arial Black"/>
                <a:cs typeface="Arial Black"/>
              </a:rPr>
              <a:t>𝑞𝑣</a:t>
            </a:r>
            <a:r>
              <a:rPr sz="3300" spc="-577" baseline="-15151" dirty="0">
                <a:latin typeface="Arial Black"/>
                <a:cs typeface="Arial Black"/>
              </a:rPr>
              <a:t>𝑑</a:t>
            </a:r>
            <a:r>
              <a:rPr sz="3000" spc="-385" dirty="0">
                <a:latin typeface="Arial Black"/>
                <a:cs typeface="Arial Black"/>
              </a:rPr>
              <a:t>𝐵</a:t>
            </a:r>
            <a:endParaRPr sz="3000">
              <a:latin typeface="Arial Black"/>
              <a:cs typeface="Arial Black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lang="en-US" spc="-5"/>
              <a:t>Engr. Safee Ullah, Department of Electrical Engineering, HITEC University</a:t>
            </a:r>
            <a:endParaRPr spc="-5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6</a:t>
            </a:fld>
            <a:endParaRPr dirty="0"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93570" marR="5080" indent="-1881505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Magnetic </a:t>
            </a:r>
            <a:r>
              <a:rPr spc="-30" dirty="0"/>
              <a:t>Force </a:t>
            </a:r>
            <a:r>
              <a:rPr spc="-5" dirty="0"/>
              <a:t>on a </a:t>
            </a:r>
            <a:r>
              <a:rPr spc="-20" dirty="0"/>
              <a:t>Current </a:t>
            </a:r>
            <a:r>
              <a:rPr dirty="0"/>
              <a:t>Carrying  </a:t>
            </a:r>
            <a:r>
              <a:rPr spc="-10" dirty="0"/>
              <a:t>Conductor </a:t>
            </a:r>
            <a:r>
              <a:rPr spc="-15" dirty="0"/>
              <a:t>(Contd.)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103876" y="1600200"/>
            <a:ext cx="3811524" cy="45262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719833" y="1723008"/>
            <a:ext cx="897890" cy="377190"/>
          </a:xfrm>
          <a:custGeom>
            <a:avLst/>
            <a:gdLst/>
            <a:ahLst/>
            <a:cxnLst/>
            <a:rect l="l" t="t" r="r" b="b"/>
            <a:pathLst>
              <a:path w="897889" h="377189">
                <a:moveTo>
                  <a:pt x="777240" y="0"/>
                </a:moveTo>
                <a:lnTo>
                  <a:pt x="771779" y="15366"/>
                </a:lnTo>
                <a:lnTo>
                  <a:pt x="793662" y="24818"/>
                </a:lnTo>
                <a:lnTo>
                  <a:pt x="812450" y="37925"/>
                </a:lnTo>
                <a:lnTo>
                  <a:pt x="840740" y="75056"/>
                </a:lnTo>
                <a:lnTo>
                  <a:pt x="857488" y="125142"/>
                </a:lnTo>
                <a:lnTo>
                  <a:pt x="863092" y="186562"/>
                </a:lnTo>
                <a:lnTo>
                  <a:pt x="861689" y="219805"/>
                </a:lnTo>
                <a:lnTo>
                  <a:pt x="850501" y="277145"/>
                </a:lnTo>
                <a:lnTo>
                  <a:pt x="828045" y="321941"/>
                </a:lnTo>
                <a:lnTo>
                  <a:pt x="793894" y="352143"/>
                </a:lnTo>
                <a:lnTo>
                  <a:pt x="772414" y="361695"/>
                </a:lnTo>
                <a:lnTo>
                  <a:pt x="777240" y="376936"/>
                </a:lnTo>
                <a:lnTo>
                  <a:pt x="828579" y="352853"/>
                </a:lnTo>
                <a:lnTo>
                  <a:pt x="866394" y="311150"/>
                </a:lnTo>
                <a:lnTo>
                  <a:pt x="889650" y="255206"/>
                </a:lnTo>
                <a:lnTo>
                  <a:pt x="897382" y="188594"/>
                </a:lnTo>
                <a:lnTo>
                  <a:pt x="895449" y="154070"/>
                </a:lnTo>
                <a:lnTo>
                  <a:pt x="879915" y="92833"/>
                </a:lnTo>
                <a:lnTo>
                  <a:pt x="849052" y="42969"/>
                </a:lnTo>
                <a:lnTo>
                  <a:pt x="804527" y="9909"/>
                </a:lnTo>
                <a:lnTo>
                  <a:pt x="777240" y="0"/>
                </a:lnTo>
                <a:close/>
              </a:path>
              <a:path w="897889" h="377189">
                <a:moveTo>
                  <a:pt x="120142" y="0"/>
                </a:moveTo>
                <a:lnTo>
                  <a:pt x="68897" y="24225"/>
                </a:lnTo>
                <a:lnTo>
                  <a:pt x="30988" y="66166"/>
                </a:lnTo>
                <a:lnTo>
                  <a:pt x="7731" y="122142"/>
                </a:lnTo>
                <a:lnTo>
                  <a:pt x="0" y="188594"/>
                </a:lnTo>
                <a:lnTo>
                  <a:pt x="1930" y="223246"/>
                </a:lnTo>
                <a:lnTo>
                  <a:pt x="17412" y="284499"/>
                </a:lnTo>
                <a:lnTo>
                  <a:pt x="48150" y="334198"/>
                </a:lnTo>
                <a:lnTo>
                  <a:pt x="92763" y="367103"/>
                </a:lnTo>
                <a:lnTo>
                  <a:pt x="120142" y="376936"/>
                </a:lnTo>
                <a:lnTo>
                  <a:pt x="124968" y="361695"/>
                </a:lnTo>
                <a:lnTo>
                  <a:pt x="103487" y="352143"/>
                </a:lnTo>
                <a:lnTo>
                  <a:pt x="84947" y="338899"/>
                </a:lnTo>
                <a:lnTo>
                  <a:pt x="56642" y="301243"/>
                </a:lnTo>
                <a:lnTo>
                  <a:pt x="39893" y="249999"/>
                </a:lnTo>
                <a:lnTo>
                  <a:pt x="34290" y="186562"/>
                </a:lnTo>
                <a:lnTo>
                  <a:pt x="35692" y="154441"/>
                </a:lnTo>
                <a:lnTo>
                  <a:pt x="46880" y="98677"/>
                </a:lnTo>
                <a:lnTo>
                  <a:pt x="69361" y="54675"/>
                </a:lnTo>
                <a:lnTo>
                  <a:pt x="103755" y="24818"/>
                </a:lnTo>
                <a:lnTo>
                  <a:pt x="125476" y="15366"/>
                </a:lnTo>
                <a:lnTo>
                  <a:pt x="12014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689098" y="1723008"/>
            <a:ext cx="1208405" cy="377190"/>
          </a:xfrm>
          <a:custGeom>
            <a:avLst/>
            <a:gdLst/>
            <a:ahLst/>
            <a:cxnLst/>
            <a:rect l="l" t="t" r="r" b="b"/>
            <a:pathLst>
              <a:path w="1208404" h="377189">
                <a:moveTo>
                  <a:pt x="1088136" y="0"/>
                </a:moveTo>
                <a:lnTo>
                  <a:pt x="1082675" y="15366"/>
                </a:lnTo>
                <a:lnTo>
                  <a:pt x="1104558" y="24818"/>
                </a:lnTo>
                <a:lnTo>
                  <a:pt x="1123346" y="37925"/>
                </a:lnTo>
                <a:lnTo>
                  <a:pt x="1151636" y="75056"/>
                </a:lnTo>
                <a:lnTo>
                  <a:pt x="1168384" y="125142"/>
                </a:lnTo>
                <a:lnTo>
                  <a:pt x="1173988" y="186562"/>
                </a:lnTo>
                <a:lnTo>
                  <a:pt x="1172585" y="219805"/>
                </a:lnTo>
                <a:lnTo>
                  <a:pt x="1161397" y="277145"/>
                </a:lnTo>
                <a:lnTo>
                  <a:pt x="1138941" y="321941"/>
                </a:lnTo>
                <a:lnTo>
                  <a:pt x="1104790" y="352143"/>
                </a:lnTo>
                <a:lnTo>
                  <a:pt x="1083310" y="361695"/>
                </a:lnTo>
                <a:lnTo>
                  <a:pt x="1088136" y="376936"/>
                </a:lnTo>
                <a:lnTo>
                  <a:pt x="1139475" y="352853"/>
                </a:lnTo>
                <a:lnTo>
                  <a:pt x="1177289" y="311150"/>
                </a:lnTo>
                <a:lnTo>
                  <a:pt x="1200546" y="255206"/>
                </a:lnTo>
                <a:lnTo>
                  <a:pt x="1208277" y="188594"/>
                </a:lnTo>
                <a:lnTo>
                  <a:pt x="1206345" y="154070"/>
                </a:lnTo>
                <a:lnTo>
                  <a:pt x="1190811" y="92833"/>
                </a:lnTo>
                <a:lnTo>
                  <a:pt x="1159948" y="42969"/>
                </a:lnTo>
                <a:lnTo>
                  <a:pt x="1115423" y="9909"/>
                </a:lnTo>
                <a:lnTo>
                  <a:pt x="1088136" y="0"/>
                </a:lnTo>
                <a:close/>
              </a:path>
              <a:path w="1208404" h="377189">
                <a:moveTo>
                  <a:pt x="120141" y="0"/>
                </a:moveTo>
                <a:lnTo>
                  <a:pt x="68897" y="24225"/>
                </a:lnTo>
                <a:lnTo>
                  <a:pt x="30987" y="66166"/>
                </a:lnTo>
                <a:lnTo>
                  <a:pt x="7731" y="122142"/>
                </a:lnTo>
                <a:lnTo>
                  <a:pt x="0" y="188594"/>
                </a:lnTo>
                <a:lnTo>
                  <a:pt x="1930" y="223246"/>
                </a:lnTo>
                <a:lnTo>
                  <a:pt x="17412" y="284499"/>
                </a:lnTo>
                <a:lnTo>
                  <a:pt x="48150" y="334198"/>
                </a:lnTo>
                <a:lnTo>
                  <a:pt x="92763" y="367103"/>
                </a:lnTo>
                <a:lnTo>
                  <a:pt x="120141" y="376936"/>
                </a:lnTo>
                <a:lnTo>
                  <a:pt x="124968" y="361695"/>
                </a:lnTo>
                <a:lnTo>
                  <a:pt x="103487" y="352143"/>
                </a:lnTo>
                <a:lnTo>
                  <a:pt x="84947" y="338899"/>
                </a:lnTo>
                <a:lnTo>
                  <a:pt x="56641" y="301243"/>
                </a:lnTo>
                <a:lnTo>
                  <a:pt x="39893" y="249999"/>
                </a:lnTo>
                <a:lnTo>
                  <a:pt x="34289" y="186562"/>
                </a:lnTo>
                <a:lnTo>
                  <a:pt x="35692" y="154441"/>
                </a:lnTo>
                <a:lnTo>
                  <a:pt x="46880" y="98677"/>
                </a:lnTo>
                <a:lnTo>
                  <a:pt x="69361" y="54675"/>
                </a:lnTo>
                <a:lnTo>
                  <a:pt x="103755" y="24818"/>
                </a:lnTo>
                <a:lnTo>
                  <a:pt x="125475" y="15366"/>
                </a:lnTo>
                <a:lnTo>
                  <a:pt x="12014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719833" y="2308225"/>
            <a:ext cx="1424940" cy="377190"/>
          </a:xfrm>
          <a:custGeom>
            <a:avLst/>
            <a:gdLst/>
            <a:ahLst/>
            <a:cxnLst/>
            <a:rect l="l" t="t" r="r" b="b"/>
            <a:pathLst>
              <a:path w="1424939" h="377189">
                <a:moveTo>
                  <a:pt x="1304544" y="0"/>
                </a:moveTo>
                <a:lnTo>
                  <a:pt x="1299083" y="15366"/>
                </a:lnTo>
                <a:lnTo>
                  <a:pt x="1320966" y="24818"/>
                </a:lnTo>
                <a:lnTo>
                  <a:pt x="1339754" y="37925"/>
                </a:lnTo>
                <a:lnTo>
                  <a:pt x="1368044" y="75057"/>
                </a:lnTo>
                <a:lnTo>
                  <a:pt x="1384792" y="125142"/>
                </a:lnTo>
                <a:lnTo>
                  <a:pt x="1390396" y="186562"/>
                </a:lnTo>
                <a:lnTo>
                  <a:pt x="1388993" y="219805"/>
                </a:lnTo>
                <a:lnTo>
                  <a:pt x="1377805" y="277145"/>
                </a:lnTo>
                <a:lnTo>
                  <a:pt x="1355349" y="321941"/>
                </a:lnTo>
                <a:lnTo>
                  <a:pt x="1321198" y="352143"/>
                </a:lnTo>
                <a:lnTo>
                  <a:pt x="1299718" y="361696"/>
                </a:lnTo>
                <a:lnTo>
                  <a:pt x="1304544" y="376936"/>
                </a:lnTo>
                <a:lnTo>
                  <a:pt x="1355883" y="352853"/>
                </a:lnTo>
                <a:lnTo>
                  <a:pt x="1393698" y="311150"/>
                </a:lnTo>
                <a:lnTo>
                  <a:pt x="1416954" y="255206"/>
                </a:lnTo>
                <a:lnTo>
                  <a:pt x="1424686" y="188595"/>
                </a:lnTo>
                <a:lnTo>
                  <a:pt x="1422753" y="154070"/>
                </a:lnTo>
                <a:lnTo>
                  <a:pt x="1407219" y="92833"/>
                </a:lnTo>
                <a:lnTo>
                  <a:pt x="1376356" y="42969"/>
                </a:lnTo>
                <a:lnTo>
                  <a:pt x="1331831" y="9909"/>
                </a:lnTo>
                <a:lnTo>
                  <a:pt x="1304544" y="0"/>
                </a:lnTo>
                <a:close/>
              </a:path>
              <a:path w="1424939" h="377189">
                <a:moveTo>
                  <a:pt x="120142" y="0"/>
                </a:moveTo>
                <a:lnTo>
                  <a:pt x="68897" y="24225"/>
                </a:lnTo>
                <a:lnTo>
                  <a:pt x="30988" y="66166"/>
                </a:lnTo>
                <a:lnTo>
                  <a:pt x="7731" y="122142"/>
                </a:lnTo>
                <a:lnTo>
                  <a:pt x="0" y="188595"/>
                </a:lnTo>
                <a:lnTo>
                  <a:pt x="1930" y="223246"/>
                </a:lnTo>
                <a:lnTo>
                  <a:pt x="17412" y="284499"/>
                </a:lnTo>
                <a:lnTo>
                  <a:pt x="48150" y="334198"/>
                </a:lnTo>
                <a:lnTo>
                  <a:pt x="92763" y="367103"/>
                </a:lnTo>
                <a:lnTo>
                  <a:pt x="120142" y="376936"/>
                </a:lnTo>
                <a:lnTo>
                  <a:pt x="124968" y="361696"/>
                </a:lnTo>
                <a:lnTo>
                  <a:pt x="103487" y="352143"/>
                </a:lnTo>
                <a:lnTo>
                  <a:pt x="84947" y="338899"/>
                </a:lnTo>
                <a:lnTo>
                  <a:pt x="56642" y="301244"/>
                </a:lnTo>
                <a:lnTo>
                  <a:pt x="39893" y="249999"/>
                </a:lnTo>
                <a:lnTo>
                  <a:pt x="34290" y="186562"/>
                </a:lnTo>
                <a:lnTo>
                  <a:pt x="35692" y="154441"/>
                </a:lnTo>
                <a:lnTo>
                  <a:pt x="46880" y="98677"/>
                </a:lnTo>
                <a:lnTo>
                  <a:pt x="69361" y="54675"/>
                </a:lnTo>
                <a:lnTo>
                  <a:pt x="103755" y="24818"/>
                </a:lnTo>
                <a:lnTo>
                  <a:pt x="125476" y="15366"/>
                </a:lnTo>
                <a:lnTo>
                  <a:pt x="12014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216401" y="2308225"/>
            <a:ext cx="671830" cy="377190"/>
          </a:xfrm>
          <a:custGeom>
            <a:avLst/>
            <a:gdLst/>
            <a:ahLst/>
            <a:cxnLst/>
            <a:rect l="l" t="t" r="r" b="b"/>
            <a:pathLst>
              <a:path w="671829" h="377189">
                <a:moveTo>
                  <a:pt x="551688" y="0"/>
                </a:moveTo>
                <a:lnTo>
                  <a:pt x="546226" y="15366"/>
                </a:lnTo>
                <a:lnTo>
                  <a:pt x="568110" y="24818"/>
                </a:lnTo>
                <a:lnTo>
                  <a:pt x="586898" y="37925"/>
                </a:lnTo>
                <a:lnTo>
                  <a:pt x="615188" y="75057"/>
                </a:lnTo>
                <a:lnTo>
                  <a:pt x="631936" y="125142"/>
                </a:lnTo>
                <a:lnTo>
                  <a:pt x="637539" y="186562"/>
                </a:lnTo>
                <a:lnTo>
                  <a:pt x="636137" y="219805"/>
                </a:lnTo>
                <a:lnTo>
                  <a:pt x="624949" y="277145"/>
                </a:lnTo>
                <a:lnTo>
                  <a:pt x="602493" y="321941"/>
                </a:lnTo>
                <a:lnTo>
                  <a:pt x="568342" y="352143"/>
                </a:lnTo>
                <a:lnTo>
                  <a:pt x="546862" y="361696"/>
                </a:lnTo>
                <a:lnTo>
                  <a:pt x="551688" y="376936"/>
                </a:lnTo>
                <a:lnTo>
                  <a:pt x="603027" y="352853"/>
                </a:lnTo>
                <a:lnTo>
                  <a:pt x="640842" y="311150"/>
                </a:lnTo>
                <a:lnTo>
                  <a:pt x="664098" y="255206"/>
                </a:lnTo>
                <a:lnTo>
                  <a:pt x="671830" y="188595"/>
                </a:lnTo>
                <a:lnTo>
                  <a:pt x="669897" y="154070"/>
                </a:lnTo>
                <a:lnTo>
                  <a:pt x="654363" y="92833"/>
                </a:lnTo>
                <a:lnTo>
                  <a:pt x="623500" y="42969"/>
                </a:lnTo>
                <a:lnTo>
                  <a:pt x="578975" y="9909"/>
                </a:lnTo>
                <a:lnTo>
                  <a:pt x="551688" y="0"/>
                </a:lnTo>
                <a:close/>
              </a:path>
              <a:path w="671829" h="377189">
                <a:moveTo>
                  <a:pt x="120142" y="0"/>
                </a:moveTo>
                <a:lnTo>
                  <a:pt x="68897" y="24225"/>
                </a:lnTo>
                <a:lnTo>
                  <a:pt x="30987" y="66166"/>
                </a:lnTo>
                <a:lnTo>
                  <a:pt x="7731" y="122142"/>
                </a:lnTo>
                <a:lnTo>
                  <a:pt x="0" y="188595"/>
                </a:lnTo>
                <a:lnTo>
                  <a:pt x="1930" y="223246"/>
                </a:lnTo>
                <a:lnTo>
                  <a:pt x="17412" y="284499"/>
                </a:lnTo>
                <a:lnTo>
                  <a:pt x="48150" y="334198"/>
                </a:lnTo>
                <a:lnTo>
                  <a:pt x="92763" y="367103"/>
                </a:lnTo>
                <a:lnTo>
                  <a:pt x="120142" y="376936"/>
                </a:lnTo>
                <a:lnTo>
                  <a:pt x="124968" y="361696"/>
                </a:lnTo>
                <a:lnTo>
                  <a:pt x="103487" y="352143"/>
                </a:lnTo>
                <a:lnTo>
                  <a:pt x="84947" y="338899"/>
                </a:lnTo>
                <a:lnTo>
                  <a:pt x="56642" y="301244"/>
                </a:lnTo>
                <a:lnTo>
                  <a:pt x="39893" y="249999"/>
                </a:lnTo>
                <a:lnTo>
                  <a:pt x="34290" y="186562"/>
                </a:lnTo>
                <a:lnTo>
                  <a:pt x="35692" y="154441"/>
                </a:lnTo>
                <a:lnTo>
                  <a:pt x="46880" y="98677"/>
                </a:lnTo>
                <a:lnTo>
                  <a:pt x="69361" y="54675"/>
                </a:lnTo>
                <a:lnTo>
                  <a:pt x="103755" y="24818"/>
                </a:lnTo>
                <a:lnTo>
                  <a:pt x="125475" y="15366"/>
                </a:lnTo>
                <a:lnTo>
                  <a:pt x="12014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72440" y="1509941"/>
            <a:ext cx="4525645" cy="2367915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419100" indent="-343535">
              <a:lnSpc>
                <a:spcPct val="100000"/>
              </a:lnSpc>
              <a:spcBef>
                <a:spcPts val="869"/>
              </a:spcBef>
              <a:buFont typeface="Arial"/>
              <a:buChar char="•"/>
              <a:tabLst>
                <a:tab pos="419100" algn="l"/>
                <a:tab pos="419734" algn="l"/>
                <a:tab pos="1380490" algn="l"/>
                <a:tab pos="2350135" algn="l"/>
              </a:tabLst>
            </a:pPr>
            <a:r>
              <a:rPr sz="3200" spc="-445" dirty="0">
                <a:latin typeface="Arial Black"/>
                <a:cs typeface="Arial Black"/>
              </a:rPr>
              <a:t>𝐹</a:t>
            </a:r>
            <a:r>
              <a:rPr sz="3200" spc="-60" dirty="0">
                <a:latin typeface="Arial Black"/>
                <a:cs typeface="Arial Black"/>
              </a:rPr>
              <a:t> </a:t>
            </a:r>
            <a:r>
              <a:rPr sz="3200" spc="280" dirty="0">
                <a:latin typeface="Arial Black"/>
                <a:cs typeface="Arial Black"/>
              </a:rPr>
              <a:t>=	</a:t>
            </a:r>
            <a:r>
              <a:rPr sz="3200" spc="-775" dirty="0">
                <a:latin typeface="Arial Black"/>
                <a:cs typeface="Arial Black"/>
              </a:rPr>
              <a:t>𝑛𝐴𝑙	</a:t>
            </a:r>
            <a:r>
              <a:rPr sz="3200" spc="-409" dirty="0">
                <a:latin typeface="Arial Black"/>
                <a:cs typeface="Arial Black"/>
              </a:rPr>
              <a:t>𝑞𝑣</a:t>
            </a:r>
            <a:r>
              <a:rPr sz="3525" spc="-615" baseline="-15366" dirty="0">
                <a:latin typeface="Arial Black"/>
                <a:cs typeface="Arial Black"/>
              </a:rPr>
              <a:t>𝑑</a:t>
            </a:r>
            <a:r>
              <a:rPr sz="3200" spc="-409" dirty="0">
                <a:latin typeface="Arial Black"/>
                <a:cs typeface="Arial Black"/>
              </a:rPr>
              <a:t>𝐵</a:t>
            </a:r>
            <a:endParaRPr sz="3200">
              <a:latin typeface="Arial Black"/>
              <a:cs typeface="Arial Black"/>
            </a:endParaRPr>
          </a:p>
          <a:p>
            <a:pPr marL="419100" indent="-34353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419100" algn="l"/>
                <a:tab pos="419734" algn="l"/>
                <a:tab pos="1380490" algn="l"/>
                <a:tab pos="2877820" algn="l"/>
              </a:tabLst>
            </a:pPr>
            <a:r>
              <a:rPr sz="3200" spc="-445" dirty="0">
                <a:latin typeface="Arial Black"/>
                <a:cs typeface="Arial Black"/>
              </a:rPr>
              <a:t>𝐹</a:t>
            </a:r>
            <a:r>
              <a:rPr sz="3200" spc="-65" dirty="0">
                <a:latin typeface="Arial Black"/>
                <a:cs typeface="Arial Black"/>
              </a:rPr>
              <a:t> </a:t>
            </a:r>
            <a:r>
              <a:rPr sz="3200" spc="280" dirty="0">
                <a:latin typeface="Arial Black"/>
                <a:cs typeface="Arial Black"/>
              </a:rPr>
              <a:t>=	</a:t>
            </a:r>
            <a:r>
              <a:rPr sz="3200" spc="-459" dirty="0">
                <a:latin typeface="Arial Black"/>
                <a:cs typeface="Arial Black"/>
              </a:rPr>
              <a:t>𝑛𝑞𝑣</a:t>
            </a:r>
            <a:r>
              <a:rPr sz="3525" spc="-690" baseline="-15366" dirty="0">
                <a:latin typeface="Arial Black"/>
                <a:cs typeface="Arial Black"/>
              </a:rPr>
              <a:t>𝑑</a:t>
            </a:r>
            <a:r>
              <a:rPr sz="3200" spc="-459" dirty="0">
                <a:latin typeface="Arial Black"/>
                <a:cs typeface="Arial Black"/>
              </a:rPr>
              <a:t>𝐴	</a:t>
            </a:r>
            <a:r>
              <a:rPr sz="3200" spc="-850" dirty="0">
                <a:latin typeface="Arial Black"/>
                <a:cs typeface="Arial Black"/>
              </a:rPr>
              <a:t>𝑙𝐵</a:t>
            </a:r>
            <a:endParaRPr sz="3200">
              <a:latin typeface="Arial Black"/>
              <a:cs typeface="Arial Black"/>
            </a:endParaRPr>
          </a:p>
          <a:p>
            <a:pPr marL="419100" indent="-34353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419100" algn="l"/>
                <a:tab pos="419734" algn="l"/>
              </a:tabLst>
            </a:pPr>
            <a:r>
              <a:rPr sz="3200" spc="-5" dirty="0">
                <a:latin typeface="Carlito"/>
                <a:cs typeface="Carlito"/>
              </a:rPr>
              <a:t>The </a:t>
            </a:r>
            <a:r>
              <a:rPr sz="3200" spc="-10" dirty="0">
                <a:latin typeface="Carlito"/>
                <a:cs typeface="Carlito"/>
              </a:rPr>
              <a:t>current </a:t>
            </a:r>
            <a:r>
              <a:rPr sz="3200" spc="-5" dirty="0">
                <a:latin typeface="Carlito"/>
                <a:cs typeface="Carlito"/>
              </a:rPr>
              <a:t>density</a:t>
            </a:r>
            <a:r>
              <a:rPr sz="3200" spc="-35" dirty="0">
                <a:latin typeface="Carlito"/>
                <a:cs typeface="Carlito"/>
              </a:rPr>
              <a:t> </a:t>
            </a:r>
            <a:r>
              <a:rPr sz="3200" spc="-10" dirty="0">
                <a:latin typeface="Carlito"/>
                <a:cs typeface="Carlito"/>
              </a:rPr>
              <a:t>was;</a:t>
            </a:r>
            <a:endParaRPr sz="3200">
              <a:latin typeface="Carlito"/>
              <a:cs typeface="Carlito"/>
            </a:endParaRPr>
          </a:p>
          <a:p>
            <a:pPr marL="419100" indent="-34353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419100" algn="l"/>
                <a:tab pos="419734" algn="l"/>
              </a:tabLst>
            </a:pPr>
            <a:r>
              <a:rPr sz="3200" spc="-1180" dirty="0">
                <a:latin typeface="Arial Black"/>
                <a:cs typeface="Arial Black"/>
              </a:rPr>
              <a:t>𝐽</a:t>
            </a:r>
            <a:r>
              <a:rPr sz="3200" spc="-125" dirty="0">
                <a:latin typeface="Arial Black"/>
                <a:cs typeface="Arial Black"/>
              </a:rPr>
              <a:t> </a:t>
            </a:r>
            <a:r>
              <a:rPr sz="3200" spc="280" dirty="0">
                <a:latin typeface="Arial Black"/>
                <a:cs typeface="Arial Black"/>
              </a:rPr>
              <a:t>=</a:t>
            </a:r>
            <a:r>
              <a:rPr sz="3200" spc="-195" dirty="0">
                <a:latin typeface="Arial Black"/>
                <a:cs typeface="Arial Black"/>
              </a:rPr>
              <a:t> </a:t>
            </a:r>
            <a:r>
              <a:rPr sz="3200" spc="-530" dirty="0">
                <a:latin typeface="Arial Black"/>
                <a:cs typeface="Arial Black"/>
              </a:rPr>
              <a:t>𝑛𝑞𝑣</a:t>
            </a:r>
            <a:r>
              <a:rPr sz="3525" spc="-794" baseline="-15366" dirty="0">
                <a:latin typeface="Arial Black"/>
                <a:cs typeface="Arial Black"/>
              </a:rPr>
              <a:t>𝑑</a:t>
            </a:r>
            <a:endParaRPr sz="3525" baseline="-15366">
              <a:latin typeface="Arial Black"/>
              <a:cs typeface="Arial Black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57954" y="3949065"/>
            <a:ext cx="106934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03555" algn="l"/>
              </a:tabLst>
            </a:pPr>
            <a:r>
              <a:rPr sz="3200" spc="-5" dirty="0">
                <a:latin typeface="Carlito"/>
                <a:cs typeface="Carlito"/>
              </a:rPr>
              <a:t>i</a:t>
            </a:r>
            <a:r>
              <a:rPr sz="3200" dirty="0">
                <a:latin typeface="Carlito"/>
                <a:cs typeface="Carlito"/>
              </a:rPr>
              <a:t>s	the</a:t>
            </a:r>
            <a:endParaRPr sz="3200">
              <a:latin typeface="Carlito"/>
              <a:cs typeface="Carlito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824733" y="5136769"/>
            <a:ext cx="551815" cy="377190"/>
          </a:xfrm>
          <a:custGeom>
            <a:avLst/>
            <a:gdLst/>
            <a:ahLst/>
            <a:cxnLst/>
            <a:rect l="l" t="t" r="r" b="b"/>
            <a:pathLst>
              <a:path w="551814" h="377189">
                <a:moveTo>
                  <a:pt x="431292" y="0"/>
                </a:moveTo>
                <a:lnTo>
                  <a:pt x="425831" y="15366"/>
                </a:lnTo>
                <a:lnTo>
                  <a:pt x="447714" y="24818"/>
                </a:lnTo>
                <a:lnTo>
                  <a:pt x="466502" y="37925"/>
                </a:lnTo>
                <a:lnTo>
                  <a:pt x="494792" y="75056"/>
                </a:lnTo>
                <a:lnTo>
                  <a:pt x="511540" y="125142"/>
                </a:lnTo>
                <a:lnTo>
                  <a:pt x="517144" y="186562"/>
                </a:lnTo>
                <a:lnTo>
                  <a:pt x="515741" y="219805"/>
                </a:lnTo>
                <a:lnTo>
                  <a:pt x="504553" y="277145"/>
                </a:lnTo>
                <a:lnTo>
                  <a:pt x="482097" y="321941"/>
                </a:lnTo>
                <a:lnTo>
                  <a:pt x="447946" y="352143"/>
                </a:lnTo>
                <a:lnTo>
                  <a:pt x="426466" y="361695"/>
                </a:lnTo>
                <a:lnTo>
                  <a:pt x="431292" y="376935"/>
                </a:lnTo>
                <a:lnTo>
                  <a:pt x="482631" y="352853"/>
                </a:lnTo>
                <a:lnTo>
                  <a:pt x="520445" y="311149"/>
                </a:lnTo>
                <a:lnTo>
                  <a:pt x="543702" y="255206"/>
                </a:lnTo>
                <a:lnTo>
                  <a:pt x="551433" y="188594"/>
                </a:lnTo>
                <a:lnTo>
                  <a:pt x="549501" y="154070"/>
                </a:lnTo>
                <a:lnTo>
                  <a:pt x="533967" y="92833"/>
                </a:lnTo>
                <a:lnTo>
                  <a:pt x="503104" y="42969"/>
                </a:lnTo>
                <a:lnTo>
                  <a:pt x="458579" y="9909"/>
                </a:lnTo>
                <a:lnTo>
                  <a:pt x="431292" y="0"/>
                </a:lnTo>
                <a:close/>
              </a:path>
              <a:path w="551814" h="377189">
                <a:moveTo>
                  <a:pt x="120142" y="0"/>
                </a:moveTo>
                <a:lnTo>
                  <a:pt x="68897" y="24225"/>
                </a:lnTo>
                <a:lnTo>
                  <a:pt x="30988" y="66166"/>
                </a:lnTo>
                <a:lnTo>
                  <a:pt x="7731" y="122142"/>
                </a:lnTo>
                <a:lnTo>
                  <a:pt x="0" y="188594"/>
                </a:lnTo>
                <a:lnTo>
                  <a:pt x="1930" y="223246"/>
                </a:lnTo>
                <a:lnTo>
                  <a:pt x="17412" y="284499"/>
                </a:lnTo>
                <a:lnTo>
                  <a:pt x="48150" y="334198"/>
                </a:lnTo>
                <a:lnTo>
                  <a:pt x="92763" y="367103"/>
                </a:lnTo>
                <a:lnTo>
                  <a:pt x="120142" y="376935"/>
                </a:lnTo>
                <a:lnTo>
                  <a:pt x="124968" y="361695"/>
                </a:lnTo>
                <a:lnTo>
                  <a:pt x="103487" y="352143"/>
                </a:lnTo>
                <a:lnTo>
                  <a:pt x="84947" y="338899"/>
                </a:lnTo>
                <a:lnTo>
                  <a:pt x="56642" y="301243"/>
                </a:lnTo>
                <a:lnTo>
                  <a:pt x="39893" y="249999"/>
                </a:lnTo>
                <a:lnTo>
                  <a:pt x="34290" y="186562"/>
                </a:lnTo>
                <a:lnTo>
                  <a:pt x="35692" y="154441"/>
                </a:lnTo>
                <a:lnTo>
                  <a:pt x="46880" y="98677"/>
                </a:lnTo>
                <a:lnTo>
                  <a:pt x="69361" y="54675"/>
                </a:lnTo>
                <a:lnTo>
                  <a:pt x="103755" y="24818"/>
                </a:lnTo>
                <a:lnTo>
                  <a:pt x="125476" y="15366"/>
                </a:lnTo>
                <a:lnTo>
                  <a:pt x="12014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35940" y="3949065"/>
            <a:ext cx="3171825" cy="1587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900" indent="-3429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42900" algn="l"/>
                <a:tab pos="356235" algn="l"/>
                <a:tab pos="1194435" algn="l"/>
                <a:tab pos="2733040" algn="l"/>
              </a:tabLst>
            </a:pPr>
            <a:r>
              <a:rPr sz="3200" spc="-5" dirty="0">
                <a:latin typeface="Carlito"/>
                <a:cs typeface="Carlito"/>
              </a:rPr>
              <a:t>The	</a:t>
            </a:r>
            <a:r>
              <a:rPr sz="3200" spc="-10" dirty="0">
                <a:latin typeface="Carlito"/>
                <a:cs typeface="Carlito"/>
              </a:rPr>
              <a:t>product	</a:t>
            </a:r>
            <a:r>
              <a:rPr sz="3200" spc="-775" dirty="0">
                <a:latin typeface="Arial Black"/>
                <a:cs typeface="Arial Black"/>
              </a:rPr>
              <a:t>𝐽𝐴</a:t>
            </a:r>
            <a:endParaRPr sz="3200">
              <a:latin typeface="Arial Black"/>
              <a:cs typeface="Arial Black"/>
            </a:endParaRPr>
          </a:p>
          <a:p>
            <a:pPr marR="18415" algn="ctr">
              <a:lnSpc>
                <a:spcPct val="100000"/>
              </a:lnSpc>
            </a:pPr>
            <a:r>
              <a:rPr sz="3200" spc="-20" dirty="0">
                <a:latin typeface="Carlito"/>
                <a:cs typeface="Carlito"/>
              </a:rPr>
              <a:t>total </a:t>
            </a:r>
            <a:r>
              <a:rPr sz="3200" spc="-10" dirty="0">
                <a:latin typeface="Carlito"/>
                <a:cs typeface="Carlito"/>
              </a:rPr>
              <a:t>current</a:t>
            </a:r>
            <a:r>
              <a:rPr sz="3200" spc="-15" dirty="0">
                <a:latin typeface="Carlito"/>
                <a:cs typeface="Carlito"/>
              </a:rPr>
              <a:t> </a:t>
            </a:r>
            <a:r>
              <a:rPr sz="3200" spc="-540" dirty="0">
                <a:latin typeface="Arial Black"/>
                <a:cs typeface="Arial Black"/>
              </a:rPr>
              <a:t>𝐼</a:t>
            </a:r>
            <a:r>
              <a:rPr sz="3200" spc="-540" dirty="0">
                <a:latin typeface="Carlito"/>
                <a:cs typeface="Carlito"/>
              </a:rPr>
              <a:t>.</a:t>
            </a:r>
            <a:endParaRPr sz="32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7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spc="-445" dirty="0">
                <a:latin typeface="Arial Black"/>
                <a:cs typeface="Arial Black"/>
              </a:rPr>
              <a:t>𝐹 </a:t>
            </a:r>
            <a:r>
              <a:rPr sz="3200" spc="280" dirty="0">
                <a:latin typeface="Arial Black"/>
                <a:cs typeface="Arial Black"/>
              </a:rPr>
              <a:t>= </a:t>
            </a:r>
            <a:r>
              <a:rPr sz="3200" spc="-960" dirty="0">
                <a:latin typeface="Arial Black"/>
                <a:cs typeface="Arial Black"/>
              </a:rPr>
              <a:t>𝐼𝑙𝐵𝑠𝑖𝑛</a:t>
            </a:r>
            <a:r>
              <a:rPr sz="3200" spc="-869" dirty="0">
                <a:latin typeface="Arial Black"/>
                <a:cs typeface="Arial Black"/>
              </a:rPr>
              <a:t> </a:t>
            </a:r>
            <a:r>
              <a:rPr sz="3200" spc="-235" dirty="0">
                <a:latin typeface="Arial Black"/>
                <a:cs typeface="Arial Black"/>
              </a:rPr>
              <a:t>𝜑</a:t>
            </a:r>
            <a:endParaRPr sz="3200">
              <a:latin typeface="Arial Black"/>
              <a:cs typeface="Arial Black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lang="en-US" spc="-5"/>
              <a:t>Engr. Safee Ullah, Department of Electrical Engineering, HITEC University</a:t>
            </a:r>
            <a:endParaRPr spc="-5" dirty="0"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7</a:t>
            </a:fld>
            <a:endParaRPr dirty="0"/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93570" marR="5080" indent="-1881505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Magnetic </a:t>
            </a:r>
            <a:r>
              <a:rPr spc="-30" dirty="0"/>
              <a:t>Force </a:t>
            </a:r>
            <a:r>
              <a:rPr spc="-5" dirty="0"/>
              <a:t>on a </a:t>
            </a:r>
            <a:r>
              <a:rPr spc="-20" dirty="0"/>
              <a:t>Current </a:t>
            </a:r>
            <a:r>
              <a:rPr dirty="0"/>
              <a:t>Carrying  </a:t>
            </a:r>
            <a:r>
              <a:rPr spc="-10" dirty="0"/>
              <a:t>Conductor </a:t>
            </a:r>
            <a:r>
              <a:rPr spc="-15" dirty="0"/>
              <a:t>(Contd.)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93570" marR="5080" indent="-1881505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Magnetic </a:t>
            </a:r>
            <a:r>
              <a:rPr spc="-30" dirty="0"/>
              <a:t>Force </a:t>
            </a:r>
            <a:r>
              <a:rPr spc="-5" dirty="0"/>
              <a:t>on a </a:t>
            </a:r>
            <a:r>
              <a:rPr spc="-20" dirty="0"/>
              <a:t>Current </a:t>
            </a:r>
            <a:r>
              <a:rPr dirty="0"/>
              <a:t>Carrying  </a:t>
            </a:r>
            <a:r>
              <a:rPr spc="-10" dirty="0"/>
              <a:t>Conductor </a:t>
            </a:r>
            <a:r>
              <a:rPr spc="-15" dirty="0"/>
              <a:t>(Contd.)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lang="en-US" spc="-5"/>
              <a:t>Engr. Safee Ullah, Department of Electrical Engineering, HITEC University</a:t>
            </a:r>
            <a:endParaRPr spc="-5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8</a:t>
            </a:fld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03704" y="4300728"/>
            <a:ext cx="4736592" cy="2209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35940" y="1555749"/>
            <a:ext cx="8073390" cy="2908935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355600" marR="5080" indent="-343535" algn="just">
              <a:lnSpc>
                <a:spcPct val="80000"/>
              </a:lnSpc>
              <a:spcBef>
                <a:spcPts val="620"/>
              </a:spcBef>
              <a:buFont typeface="Arial"/>
              <a:buChar char="•"/>
              <a:tabLst>
                <a:tab pos="356235" algn="l"/>
              </a:tabLst>
            </a:pPr>
            <a:r>
              <a:rPr sz="2200" spc="-5" dirty="0">
                <a:latin typeface="Carlito"/>
                <a:cs typeface="Carlito"/>
              </a:rPr>
              <a:t>A </a:t>
            </a:r>
            <a:r>
              <a:rPr sz="2200" spc="-15" dirty="0">
                <a:latin typeface="Carlito"/>
                <a:cs typeface="Carlito"/>
              </a:rPr>
              <a:t>straight horizontal </a:t>
            </a:r>
            <a:r>
              <a:rPr sz="2200" spc="-10" dirty="0">
                <a:latin typeface="Carlito"/>
                <a:cs typeface="Carlito"/>
              </a:rPr>
              <a:t>copper </a:t>
            </a:r>
            <a:r>
              <a:rPr sz="2200" spc="-15" dirty="0">
                <a:latin typeface="Carlito"/>
                <a:cs typeface="Carlito"/>
              </a:rPr>
              <a:t>rod </a:t>
            </a:r>
            <a:r>
              <a:rPr sz="2200" spc="-10" dirty="0">
                <a:latin typeface="Carlito"/>
                <a:cs typeface="Carlito"/>
              </a:rPr>
              <a:t>carries </a:t>
            </a:r>
            <a:r>
              <a:rPr sz="2200" spc="-5" dirty="0">
                <a:latin typeface="Carlito"/>
                <a:cs typeface="Carlito"/>
              </a:rPr>
              <a:t>a </a:t>
            </a:r>
            <a:r>
              <a:rPr sz="2200" spc="-15" dirty="0">
                <a:latin typeface="Carlito"/>
                <a:cs typeface="Carlito"/>
              </a:rPr>
              <a:t>current </a:t>
            </a:r>
            <a:r>
              <a:rPr sz="2200" dirty="0">
                <a:latin typeface="Carlito"/>
                <a:cs typeface="Carlito"/>
              </a:rPr>
              <a:t>of </a:t>
            </a:r>
            <a:r>
              <a:rPr sz="2200" spc="-5" dirty="0">
                <a:latin typeface="Carlito"/>
                <a:cs typeface="Carlito"/>
              </a:rPr>
              <a:t>50.0 A </a:t>
            </a:r>
            <a:r>
              <a:rPr sz="2200" spc="-15" dirty="0">
                <a:latin typeface="Carlito"/>
                <a:cs typeface="Carlito"/>
              </a:rPr>
              <a:t>from  </a:t>
            </a:r>
            <a:r>
              <a:rPr sz="2200" spc="-10" dirty="0">
                <a:latin typeface="Carlito"/>
                <a:cs typeface="Carlito"/>
              </a:rPr>
              <a:t>west </a:t>
            </a:r>
            <a:r>
              <a:rPr sz="2200" spc="-20" dirty="0">
                <a:latin typeface="Carlito"/>
                <a:cs typeface="Carlito"/>
              </a:rPr>
              <a:t>to </a:t>
            </a:r>
            <a:r>
              <a:rPr sz="2200" spc="-5" dirty="0">
                <a:latin typeface="Carlito"/>
                <a:cs typeface="Carlito"/>
              </a:rPr>
              <a:t>east in a region </a:t>
            </a:r>
            <a:r>
              <a:rPr sz="2200" spc="-10" dirty="0">
                <a:latin typeface="Carlito"/>
                <a:cs typeface="Carlito"/>
              </a:rPr>
              <a:t>between </a:t>
            </a:r>
            <a:r>
              <a:rPr sz="2200" spc="-5" dirty="0">
                <a:latin typeface="Carlito"/>
                <a:cs typeface="Carlito"/>
              </a:rPr>
              <a:t>the poles of a </a:t>
            </a:r>
            <a:r>
              <a:rPr sz="2200" spc="-15" dirty="0">
                <a:latin typeface="Carlito"/>
                <a:cs typeface="Carlito"/>
              </a:rPr>
              <a:t>large  </a:t>
            </a:r>
            <a:r>
              <a:rPr sz="2200" spc="-10" dirty="0">
                <a:latin typeface="Carlito"/>
                <a:cs typeface="Carlito"/>
              </a:rPr>
              <a:t>electromagnet. </a:t>
            </a:r>
            <a:r>
              <a:rPr sz="2200" spc="-5" dirty="0">
                <a:latin typeface="Carlito"/>
                <a:cs typeface="Carlito"/>
              </a:rPr>
              <a:t>In this </a:t>
            </a:r>
            <a:r>
              <a:rPr sz="2200" spc="-10" dirty="0">
                <a:latin typeface="Carlito"/>
                <a:cs typeface="Carlito"/>
              </a:rPr>
              <a:t>region there </a:t>
            </a:r>
            <a:r>
              <a:rPr sz="2200" spc="-5" dirty="0">
                <a:latin typeface="Carlito"/>
                <a:cs typeface="Carlito"/>
              </a:rPr>
              <a:t>is a </a:t>
            </a:r>
            <a:r>
              <a:rPr sz="2200" spc="-15" dirty="0">
                <a:latin typeface="Carlito"/>
                <a:cs typeface="Carlito"/>
              </a:rPr>
              <a:t>horizontal </a:t>
            </a:r>
            <a:r>
              <a:rPr sz="2200" spc="-5" dirty="0">
                <a:latin typeface="Carlito"/>
                <a:cs typeface="Carlito"/>
              </a:rPr>
              <a:t>magnetic field  </a:t>
            </a:r>
            <a:r>
              <a:rPr sz="2200" spc="-20" dirty="0">
                <a:latin typeface="Carlito"/>
                <a:cs typeface="Carlito"/>
              </a:rPr>
              <a:t>toward</a:t>
            </a:r>
            <a:r>
              <a:rPr sz="2200" spc="355" dirty="0">
                <a:latin typeface="Carlito"/>
                <a:cs typeface="Carlito"/>
              </a:rPr>
              <a:t> </a:t>
            </a:r>
            <a:r>
              <a:rPr sz="2200" spc="-5" dirty="0">
                <a:latin typeface="Carlito"/>
                <a:cs typeface="Carlito"/>
              </a:rPr>
              <a:t>the</a:t>
            </a:r>
            <a:r>
              <a:rPr sz="2200" spc="360" dirty="0">
                <a:latin typeface="Carlito"/>
                <a:cs typeface="Carlito"/>
              </a:rPr>
              <a:t> </a:t>
            </a:r>
            <a:r>
              <a:rPr sz="2200" spc="-5" dirty="0">
                <a:latin typeface="Carlito"/>
                <a:cs typeface="Carlito"/>
              </a:rPr>
              <a:t>northeast</a:t>
            </a:r>
            <a:r>
              <a:rPr sz="2200" spc="360" dirty="0">
                <a:latin typeface="Carlito"/>
                <a:cs typeface="Carlito"/>
              </a:rPr>
              <a:t> </a:t>
            </a:r>
            <a:r>
              <a:rPr sz="2200" spc="-10" dirty="0">
                <a:latin typeface="Carlito"/>
                <a:cs typeface="Carlito"/>
              </a:rPr>
              <a:t>(that</a:t>
            </a:r>
            <a:r>
              <a:rPr sz="2200" spc="355" dirty="0">
                <a:latin typeface="Carlito"/>
                <a:cs typeface="Carlito"/>
              </a:rPr>
              <a:t> </a:t>
            </a:r>
            <a:r>
              <a:rPr sz="2200" spc="-5" dirty="0">
                <a:latin typeface="Carlito"/>
                <a:cs typeface="Carlito"/>
              </a:rPr>
              <a:t>is,</a:t>
            </a:r>
            <a:r>
              <a:rPr sz="2200" spc="380" dirty="0">
                <a:latin typeface="Carlito"/>
                <a:cs typeface="Carlito"/>
              </a:rPr>
              <a:t> </a:t>
            </a:r>
            <a:r>
              <a:rPr sz="2200" spc="-5" dirty="0">
                <a:latin typeface="Carlito"/>
                <a:cs typeface="Carlito"/>
              </a:rPr>
              <a:t>45°</a:t>
            </a:r>
            <a:r>
              <a:rPr sz="2200" spc="355" dirty="0">
                <a:latin typeface="Carlito"/>
                <a:cs typeface="Carlito"/>
              </a:rPr>
              <a:t> </a:t>
            </a:r>
            <a:r>
              <a:rPr sz="2200" spc="-5" dirty="0">
                <a:latin typeface="Carlito"/>
                <a:cs typeface="Carlito"/>
              </a:rPr>
              <a:t>north</a:t>
            </a:r>
            <a:r>
              <a:rPr sz="2200" spc="370" dirty="0">
                <a:latin typeface="Carlito"/>
                <a:cs typeface="Carlito"/>
              </a:rPr>
              <a:t> </a:t>
            </a:r>
            <a:r>
              <a:rPr sz="2200" dirty="0">
                <a:latin typeface="Carlito"/>
                <a:cs typeface="Carlito"/>
              </a:rPr>
              <a:t>of</a:t>
            </a:r>
            <a:r>
              <a:rPr sz="2200" spc="370" dirty="0">
                <a:latin typeface="Carlito"/>
                <a:cs typeface="Carlito"/>
              </a:rPr>
              <a:t> </a:t>
            </a:r>
            <a:r>
              <a:rPr sz="2200" spc="-5" dirty="0">
                <a:latin typeface="Carlito"/>
                <a:cs typeface="Carlito"/>
              </a:rPr>
              <a:t>east)</a:t>
            </a:r>
            <a:r>
              <a:rPr sz="2200" spc="370" dirty="0">
                <a:latin typeface="Carlito"/>
                <a:cs typeface="Carlito"/>
              </a:rPr>
              <a:t> </a:t>
            </a:r>
            <a:r>
              <a:rPr sz="2200" spc="-5" dirty="0">
                <a:latin typeface="Carlito"/>
                <a:cs typeface="Carlito"/>
              </a:rPr>
              <a:t>with</a:t>
            </a:r>
            <a:r>
              <a:rPr sz="2200" spc="365" dirty="0">
                <a:latin typeface="Carlito"/>
                <a:cs typeface="Carlito"/>
              </a:rPr>
              <a:t> </a:t>
            </a:r>
            <a:r>
              <a:rPr sz="2200" spc="-5" dirty="0">
                <a:latin typeface="Carlito"/>
                <a:cs typeface="Carlito"/>
              </a:rPr>
              <a:t>magnitude</a:t>
            </a:r>
            <a:endParaRPr sz="2200">
              <a:latin typeface="Carlito"/>
              <a:cs typeface="Carlito"/>
            </a:endParaRPr>
          </a:p>
          <a:p>
            <a:pPr marL="355600" algn="just">
              <a:lnSpc>
                <a:spcPts val="2110"/>
              </a:lnSpc>
            </a:pPr>
            <a:r>
              <a:rPr sz="2200" spc="-5" dirty="0">
                <a:latin typeface="Carlito"/>
                <a:cs typeface="Carlito"/>
              </a:rPr>
              <a:t>1.20</a:t>
            </a:r>
            <a:r>
              <a:rPr sz="2200" spc="-10" dirty="0">
                <a:latin typeface="Carlito"/>
                <a:cs typeface="Carlito"/>
              </a:rPr>
              <a:t> </a:t>
            </a:r>
            <a:r>
              <a:rPr sz="2200" spc="-114" dirty="0">
                <a:latin typeface="Carlito"/>
                <a:cs typeface="Carlito"/>
              </a:rPr>
              <a:t>T.</a:t>
            </a:r>
            <a:endParaRPr sz="2200">
              <a:latin typeface="Carlito"/>
              <a:cs typeface="Carlito"/>
            </a:endParaRPr>
          </a:p>
          <a:p>
            <a:pPr marL="355600" indent="-343535" algn="just">
              <a:lnSpc>
                <a:spcPts val="2375"/>
              </a:lnSpc>
              <a:buFont typeface="Arial"/>
              <a:buChar char="•"/>
              <a:tabLst>
                <a:tab pos="356235" algn="l"/>
              </a:tabLst>
            </a:pPr>
            <a:r>
              <a:rPr sz="2200" spc="-5" dirty="0">
                <a:latin typeface="Carlito"/>
                <a:cs typeface="Carlito"/>
              </a:rPr>
              <a:t>(a)</a:t>
            </a:r>
            <a:r>
              <a:rPr sz="2200" spc="35" dirty="0">
                <a:latin typeface="Carlito"/>
                <a:cs typeface="Carlito"/>
              </a:rPr>
              <a:t> </a:t>
            </a:r>
            <a:r>
              <a:rPr sz="2200" spc="-10" dirty="0">
                <a:latin typeface="Carlito"/>
                <a:cs typeface="Carlito"/>
              </a:rPr>
              <a:t>Find</a:t>
            </a:r>
            <a:r>
              <a:rPr sz="2200" spc="55" dirty="0">
                <a:latin typeface="Carlito"/>
                <a:cs typeface="Carlito"/>
              </a:rPr>
              <a:t> </a:t>
            </a:r>
            <a:r>
              <a:rPr sz="2200" spc="-5" dirty="0">
                <a:latin typeface="Carlito"/>
                <a:cs typeface="Carlito"/>
              </a:rPr>
              <a:t>the</a:t>
            </a:r>
            <a:r>
              <a:rPr sz="2200" spc="65" dirty="0">
                <a:latin typeface="Carlito"/>
                <a:cs typeface="Carlito"/>
              </a:rPr>
              <a:t> </a:t>
            </a:r>
            <a:r>
              <a:rPr sz="2200" spc="-5" dirty="0">
                <a:latin typeface="Carlito"/>
                <a:cs typeface="Carlito"/>
              </a:rPr>
              <a:t>magnitude</a:t>
            </a:r>
            <a:r>
              <a:rPr sz="2200" spc="60" dirty="0">
                <a:latin typeface="Carlito"/>
                <a:cs typeface="Carlito"/>
              </a:rPr>
              <a:t> </a:t>
            </a:r>
            <a:r>
              <a:rPr sz="2200" spc="-5" dirty="0">
                <a:latin typeface="Carlito"/>
                <a:cs typeface="Carlito"/>
              </a:rPr>
              <a:t>and</a:t>
            </a:r>
            <a:r>
              <a:rPr sz="2200" spc="40" dirty="0">
                <a:latin typeface="Carlito"/>
                <a:cs typeface="Carlito"/>
              </a:rPr>
              <a:t> </a:t>
            </a:r>
            <a:r>
              <a:rPr sz="2200" spc="-10" dirty="0">
                <a:latin typeface="Carlito"/>
                <a:cs typeface="Carlito"/>
              </a:rPr>
              <a:t>direction</a:t>
            </a:r>
            <a:r>
              <a:rPr sz="2200" spc="45" dirty="0">
                <a:latin typeface="Carlito"/>
                <a:cs typeface="Carlito"/>
              </a:rPr>
              <a:t> </a:t>
            </a:r>
            <a:r>
              <a:rPr sz="2200" dirty="0">
                <a:latin typeface="Carlito"/>
                <a:cs typeface="Carlito"/>
              </a:rPr>
              <a:t>of</a:t>
            </a:r>
            <a:r>
              <a:rPr sz="2200" spc="50" dirty="0">
                <a:latin typeface="Carlito"/>
                <a:cs typeface="Carlito"/>
              </a:rPr>
              <a:t> </a:t>
            </a:r>
            <a:r>
              <a:rPr sz="2200" spc="-5" dirty="0">
                <a:latin typeface="Carlito"/>
                <a:cs typeface="Carlito"/>
              </a:rPr>
              <a:t>the</a:t>
            </a:r>
            <a:r>
              <a:rPr sz="2200" spc="55" dirty="0">
                <a:latin typeface="Carlito"/>
                <a:cs typeface="Carlito"/>
              </a:rPr>
              <a:t> </a:t>
            </a:r>
            <a:r>
              <a:rPr sz="2200" spc="-20" dirty="0">
                <a:latin typeface="Carlito"/>
                <a:cs typeface="Carlito"/>
              </a:rPr>
              <a:t>force</a:t>
            </a:r>
            <a:r>
              <a:rPr sz="2200" spc="70" dirty="0">
                <a:latin typeface="Carlito"/>
                <a:cs typeface="Carlito"/>
              </a:rPr>
              <a:t> </a:t>
            </a:r>
            <a:r>
              <a:rPr sz="2200" dirty="0">
                <a:latin typeface="Carlito"/>
                <a:cs typeface="Carlito"/>
              </a:rPr>
              <a:t>on</a:t>
            </a:r>
            <a:r>
              <a:rPr sz="2200" spc="35" dirty="0">
                <a:latin typeface="Carlito"/>
                <a:cs typeface="Carlito"/>
              </a:rPr>
              <a:t> </a:t>
            </a:r>
            <a:r>
              <a:rPr sz="2200" spc="-5" dirty="0">
                <a:latin typeface="Carlito"/>
                <a:cs typeface="Carlito"/>
              </a:rPr>
              <a:t>a</a:t>
            </a:r>
            <a:r>
              <a:rPr sz="2200" spc="55" dirty="0">
                <a:latin typeface="Carlito"/>
                <a:cs typeface="Carlito"/>
              </a:rPr>
              <a:t> </a:t>
            </a:r>
            <a:r>
              <a:rPr sz="2200" spc="-5" dirty="0">
                <a:latin typeface="Carlito"/>
                <a:cs typeface="Carlito"/>
              </a:rPr>
              <a:t>1.00-m</a:t>
            </a:r>
            <a:endParaRPr sz="2200">
              <a:latin typeface="Carlito"/>
              <a:cs typeface="Carlito"/>
            </a:endParaRPr>
          </a:p>
          <a:p>
            <a:pPr marL="355600" algn="just">
              <a:lnSpc>
                <a:spcPts val="2375"/>
              </a:lnSpc>
            </a:pPr>
            <a:r>
              <a:rPr sz="2200" spc="-5" dirty="0">
                <a:latin typeface="Carlito"/>
                <a:cs typeface="Carlito"/>
              </a:rPr>
              <a:t>section of</a:t>
            </a:r>
            <a:r>
              <a:rPr sz="2200" spc="10" dirty="0">
                <a:latin typeface="Carlito"/>
                <a:cs typeface="Carlito"/>
              </a:rPr>
              <a:t> </a:t>
            </a:r>
            <a:r>
              <a:rPr sz="2200" spc="-10" dirty="0">
                <a:latin typeface="Carlito"/>
                <a:cs typeface="Carlito"/>
              </a:rPr>
              <a:t>rod.</a:t>
            </a:r>
            <a:endParaRPr sz="2200">
              <a:latin typeface="Carlito"/>
              <a:cs typeface="Carlito"/>
            </a:endParaRPr>
          </a:p>
          <a:p>
            <a:pPr marL="355600" marR="5080" indent="-343535" algn="just">
              <a:lnSpc>
                <a:spcPct val="80000"/>
              </a:lnSpc>
              <a:spcBef>
                <a:spcPts val="535"/>
              </a:spcBef>
              <a:buFont typeface="Arial"/>
              <a:buChar char="•"/>
              <a:tabLst>
                <a:tab pos="356235" algn="l"/>
              </a:tabLst>
            </a:pPr>
            <a:r>
              <a:rPr sz="2200" spc="-5" dirty="0">
                <a:latin typeface="Carlito"/>
                <a:cs typeface="Carlito"/>
              </a:rPr>
              <a:t>(b) While </a:t>
            </a:r>
            <a:r>
              <a:rPr sz="2200" spc="-15" dirty="0">
                <a:latin typeface="Carlito"/>
                <a:cs typeface="Carlito"/>
              </a:rPr>
              <a:t>keeping </a:t>
            </a:r>
            <a:r>
              <a:rPr sz="2200" spc="-5" dirty="0">
                <a:latin typeface="Carlito"/>
                <a:cs typeface="Carlito"/>
              </a:rPr>
              <a:t>the </a:t>
            </a:r>
            <a:r>
              <a:rPr sz="2200" spc="-15" dirty="0">
                <a:latin typeface="Carlito"/>
                <a:cs typeface="Carlito"/>
              </a:rPr>
              <a:t>rod horizontal, </a:t>
            </a:r>
            <a:r>
              <a:rPr sz="2200" spc="-10" dirty="0">
                <a:latin typeface="Carlito"/>
                <a:cs typeface="Carlito"/>
              </a:rPr>
              <a:t>how </a:t>
            </a:r>
            <a:r>
              <a:rPr sz="2200" spc="-5" dirty="0">
                <a:latin typeface="Carlito"/>
                <a:cs typeface="Carlito"/>
              </a:rPr>
              <a:t>should it be </a:t>
            </a:r>
            <a:r>
              <a:rPr sz="2200" spc="-10" dirty="0">
                <a:latin typeface="Carlito"/>
                <a:cs typeface="Carlito"/>
              </a:rPr>
              <a:t>oriented </a:t>
            </a:r>
            <a:r>
              <a:rPr sz="2200" spc="-25" dirty="0">
                <a:latin typeface="Carlito"/>
                <a:cs typeface="Carlito"/>
              </a:rPr>
              <a:t>to  </a:t>
            </a:r>
            <a:r>
              <a:rPr sz="2200" spc="-15" dirty="0">
                <a:latin typeface="Carlito"/>
                <a:cs typeface="Carlito"/>
              </a:rPr>
              <a:t>maximize </a:t>
            </a:r>
            <a:r>
              <a:rPr sz="2200" spc="-5" dirty="0">
                <a:latin typeface="Carlito"/>
                <a:cs typeface="Carlito"/>
              </a:rPr>
              <a:t>the magnitude </a:t>
            </a:r>
            <a:r>
              <a:rPr sz="2200" spc="5" dirty="0">
                <a:latin typeface="Carlito"/>
                <a:cs typeface="Carlito"/>
              </a:rPr>
              <a:t>of </a:t>
            </a:r>
            <a:r>
              <a:rPr sz="2200" spc="-5" dirty="0">
                <a:latin typeface="Carlito"/>
                <a:cs typeface="Carlito"/>
              </a:rPr>
              <a:t>the </a:t>
            </a:r>
            <a:r>
              <a:rPr sz="2200" spc="-20" dirty="0">
                <a:latin typeface="Carlito"/>
                <a:cs typeface="Carlito"/>
              </a:rPr>
              <a:t>force? </a:t>
            </a:r>
            <a:r>
              <a:rPr sz="2200" spc="-10" dirty="0">
                <a:latin typeface="Carlito"/>
                <a:cs typeface="Carlito"/>
              </a:rPr>
              <a:t>What </a:t>
            </a:r>
            <a:r>
              <a:rPr sz="2200" spc="-5" dirty="0">
                <a:latin typeface="Carlito"/>
                <a:cs typeface="Carlito"/>
              </a:rPr>
              <a:t>is the </a:t>
            </a:r>
            <a:r>
              <a:rPr sz="2200" spc="-20" dirty="0">
                <a:latin typeface="Carlito"/>
                <a:cs typeface="Carlito"/>
              </a:rPr>
              <a:t>force </a:t>
            </a:r>
            <a:r>
              <a:rPr sz="2200" spc="-5" dirty="0">
                <a:latin typeface="Carlito"/>
                <a:cs typeface="Carlito"/>
              </a:rPr>
              <a:t>magnitude  in this </a:t>
            </a:r>
            <a:r>
              <a:rPr sz="2200" spc="-10" dirty="0">
                <a:latin typeface="Carlito"/>
                <a:cs typeface="Carlito"/>
              </a:rPr>
              <a:t>case?</a:t>
            </a:r>
            <a:endParaRPr sz="2200">
              <a:latin typeface="Carlito"/>
              <a:cs typeface="Carlito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lang="en-US" spc="-5"/>
              <a:t>Engr. Safee Ullah, Department of Electrical Engineering, HITEC University</a:t>
            </a:r>
            <a:endParaRPr spc="-5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9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535940" y="5445963"/>
            <a:ext cx="190817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200" spc="-5" dirty="0">
                <a:latin typeface="Carlito"/>
                <a:cs typeface="Carlito"/>
              </a:rPr>
              <a:t>F=42.4N,</a:t>
            </a:r>
            <a:r>
              <a:rPr sz="2200" spc="-60" dirty="0">
                <a:latin typeface="Carlito"/>
                <a:cs typeface="Carlito"/>
              </a:rPr>
              <a:t> </a:t>
            </a:r>
            <a:r>
              <a:rPr sz="2200" spc="-5" dirty="0">
                <a:latin typeface="Carlito"/>
                <a:cs typeface="Carlito"/>
              </a:rPr>
              <a:t>60N</a:t>
            </a:r>
            <a:endParaRPr sz="2200">
              <a:latin typeface="Carlito"/>
              <a:cs typeface="Carlito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784475" marR="5080" indent="-1868805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Magnetic </a:t>
            </a:r>
            <a:r>
              <a:rPr spc="-30" dirty="0"/>
              <a:t>Force </a:t>
            </a:r>
            <a:r>
              <a:rPr spc="-5" dirty="0"/>
              <a:t>on a </a:t>
            </a:r>
            <a:r>
              <a:rPr spc="-20" dirty="0"/>
              <a:t>Straight  </a:t>
            </a:r>
            <a:r>
              <a:rPr spc="-10" dirty="0"/>
              <a:t>Conductor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355600" marR="5080" indent="-343535" algn="just">
              <a:lnSpc>
                <a:spcPct val="80100"/>
              </a:lnSpc>
              <a:spcBef>
                <a:spcPts val="620"/>
              </a:spcBef>
              <a:buFont typeface="Arial"/>
              <a:buChar char="•"/>
              <a:tabLst>
                <a:tab pos="356235" algn="l"/>
              </a:tabLst>
            </a:pPr>
            <a:r>
              <a:rPr spc="-5" dirty="0"/>
              <a:t>In </a:t>
            </a:r>
            <a:r>
              <a:rPr b="1" spc="-5" dirty="0">
                <a:latin typeface="Carlito"/>
                <a:cs typeface="Carlito"/>
              </a:rPr>
              <a:t>Fig. </a:t>
            </a:r>
            <a:r>
              <a:rPr spc="-5" dirty="0"/>
              <a:t>the magnetic field </a:t>
            </a:r>
            <a:r>
              <a:rPr b="1" i="1" spc="-5" dirty="0">
                <a:latin typeface="Carlito"/>
                <a:cs typeface="Carlito"/>
              </a:rPr>
              <a:t>B </a:t>
            </a:r>
            <a:r>
              <a:rPr spc="-5" dirty="0"/>
              <a:t>is </a:t>
            </a:r>
            <a:r>
              <a:rPr spc="-15" dirty="0"/>
              <a:t>uniform </a:t>
            </a:r>
            <a:r>
              <a:rPr spc="-5" dirty="0"/>
              <a:t>and perpendicular </a:t>
            </a:r>
            <a:r>
              <a:rPr spc="-20" dirty="0"/>
              <a:t>to </a:t>
            </a:r>
            <a:r>
              <a:rPr spc="-5" dirty="0"/>
              <a:t>the  plane of the </a:t>
            </a:r>
            <a:r>
              <a:rPr spc="-10" dirty="0"/>
              <a:t>figure, pointing </a:t>
            </a:r>
            <a:r>
              <a:rPr dirty="0"/>
              <a:t>out </a:t>
            </a:r>
            <a:r>
              <a:rPr spc="-5" dirty="0"/>
              <a:t>of the </a:t>
            </a:r>
            <a:r>
              <a:rPr spc="-10" dirty="0"/>
              <a:t>page. </a:t>
            </a:r>
            <a:r>
              <a:rPr spc="-5" dirty="0"/>
              <a:t>The </a:t>
            </a:r>
            <a:r>
              <a:rPr spc="-30" dirty="0"/>
              <a:t>conductor,  </a:t>
            </a:r>
            <a:r>
              <a:rPr spc="-5" dirty="0"/>
              <a:t>carrying </a:t>
            </a:r>
            <a:r>
              <a:rPr spc="-15" dirty="0"/>
              <a:t>current </a:t>
            </a:r>
            <a:r>
              <a:rPr spc="-819" dirty="0">
                <a:latin typeface="Arial Black"/>
                <a:cs typeface="Arial Black"/>
              </a:rPr>
              <a:t>𝐼</a:t>
            </a:r>
            <a:r>
              <a:rPr spc="-150" dirty="0">
                <a:latin typeface="Arial Black"/>
                <a:cs typeface="Arial Black"/>
              </a:rPr>
              <a:t> </a:t>
            </a:r>
            <a:r>
              <a:rPr spc="-20" dirty="0"/>
              <a:t>to </a:t>
            </a:r>
            <a:r>
              <a:rPr spc="-5" dirty="0"/>
              <a:t>the </a:t>
            </a:r>
            <a:r>
              <a:rPr spc="-10" dirty="0"/>
              <a:t>left, has three</a:t>
            </a:r>
            <a:r>
              <a:rPr spc="85" dirty="0"/>
              <a:t> </a:t>
            </a:r>
            <a:r>
              <a:rPr spc="-10" dirty="0"/>
              <a:t>segments:</a:t>
            </a:r>
          </a:p>
          <a:p>
            <a:pPr marL="355600" marR="5715" indent="-343535" algn="just">
              <a:lnSpc>
                <a:spcPct val="80000"/>
              </a:lnSpc>
              <a:spcBef>
                <a:spcPts val="530"/>
              </a:spcBef>
              <a:buFont typeface="Arial"/>
              <a:buChar char="•"/>
              <a:tabLst>
                <a:tab pos="356235" algn="l"/>
              </a:tabLst>
            </a:pPr>
            <a:r>
              <a:rPr spc="-5" dirty="0"/>
              <a:t>(1) a </a:t>
            </a:r>
            <a:r>
              <a:rPr spc="-15" dirty="0"/>
              <a:t>straight </a:t>
            </a:r>
            <a:r>
              <a:rPr spc="-5" dirty="0"/>
              <a:t>segment with </a:t>
            </a:r>
            <a:r>
              <a:rPr spc="-10" dirty="0"/>
              <a:t>length </a:t>
            </a:r>
            <a:r>
              <a:rPr spc="-484" dirty="0">
                <a:latin typeface="Arial Black"/>
                <a:cs typeface="Arial Black"/>
              </a:rPr>
              <a:t>𝐿 </a:t>
            </a:r>
            <a:r>
              <a:rPr spc="-5" dirty="0"/>
              <a:t>perpendicular </a:t>
            </a:r>
            <a:r>
              <a:rPr spc="-20" dirty="0"/>
              <a:t>to </a:t>
            </a:r>
            <a:r>
              <a:rPr spc="-5" dirty="0"/>
              <a:t>the </a:t>
            </a:r>
            <a:r>
              <a:rPr spc="-10" dirty="0"/>
              <a:t>plane </a:t>
            </a:r>
            <a:r>
              <a:rPr dirty="0"/>
              <a:t>of  </a:t>
            </a:r>
            <a:r>
              <a:rPr spc="-5" dirty="0"/>
              <a:t>the</a:t>
            </a:r>
            <a:r>
              <a:rPr spc="5" dirty="0"/>
              <a:t> </a:t>
            </a:r>
            <a:r>
              <a:rPr spc="-10" dirty="0"/>
              <a:t>figure,</a:t>
            </a:r>
          </a:p>
          <a:p>
            <a:pPr marL="355600" indent="-343535">
              <a:lnSpc>
                <a:spcPct val="100000"/>
              </a:lnSpc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pc="-5" dirty="0"/>
              <a:t>(2) a </a:t>
            </a:r>
            <a:r>
              <a:rPr spc="-10" dirty="0"/>
              <a:t>semicircle </a:t>
            </a:r>
            <a:r>
              <a:rPr spc="-5" dirty="0"/>
              <a:t>with </a:t>
            </a:r>
            <a:r>
              <a:rPr spc="-10" dirty="0"/>
              <a:t>radius </a:t>
            </a:r>
            <a:r>
              <a:rPr i="1" spc="-5" dirty="0">
                <a:latin typeface="Carlito"/>
                <a:cs typeface="Carlito"/>
              </a:rPr>
              <a:t>R</a:t>
            </a:r>
            <a:r>
              <a:rPr spc="-5" dirty="0"/>
              <a:t>,</a:t>
            </a:r>
            <a:r>
              <a:rPr spc="35" dirty="0"/>
              <a:t> </a:t>
            </a:r>
            <a:r>
              <a:rPr spc="-5" dirty="0"/>
              <a:t>and</a:t>
            </a:r>
          </a:p>
          <a:p>
            <a:pPr marL="355600" indent="-343535">
              <a:lnSpc>
                <a:spcPct val="100000"/>
              </a:lnSpc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pc="-5" dirty="0"/>
              <a:t>(3) another </a:t>
            </a:r>
            <a:r>
              <a:rPr spc="-15" dirty="0"/>
              <a:t>straight </a:t>
            </a:r>
            <a:r>
              <a:rPr spc="-10" dirty="0"/>
              <a:t>segment </a:t>
            </a:r>
            <a:r>
              <a:rPr spc="-5" dirty="0"/>
              <a:t>with </a:t>
            </a:r>
            <a:r>
              <a:rPr spc="-10" dirty="0"/>
              <a:t>length </a:t>
            </a:r>
            <a:r>
              <a:rPr spc="-484" dirty="0">
                <a:latin typeface="Arial Black"/>
                <a:cs typeface="Arial Black"/>
              </a:rPr>
              <a:t>𝐿 </a:t>
            </a:r>
            <a:r>
              <a:rPr spc="-10" dirty="0"/>
              <a:t>parallel </a:t>
            </a:r>
            <a:r>
              <a:rPr spc="-20" dirty="0"/>
              <a:t>to </a:t>
            </a:r>
            <a:r>
              <a:rPr spc="-5" dirty="0"/>
              <a:t>the</a:t>
            </a:r>
            <a:r>
              <a:rPr spc="180" dirty="0"/>
              <a:t> </a:t>
            </a:r>
            <a:r>
              <a:rPr i="1" spc="-10" dirty="0">
                <a:latin typeface="Carlito"/>
                <a:cs typeface="Carlito"/>
              </a:rPr>
              <a:t>x</a:t>
            </a:r>
            <a:r>
              <a:rPr spc="-10" dirty="0"/>
              <a:t>-axis.</a:t>
            </a:r>
          </a:p>
          <a:p>
            <a:pPr marL="355600" indent="-343535">
              <a:lnSpc>
                <a:spcPct val="100000"/>
              </a:lnSpc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pc="-10" dirty="0"/>
              <a:t>Find </a:t>
            </a:r>
            <a:r>
              <a:rPr spc="-5" dirty="0"/>
              <a:t>the </a:t>
            </a:r>
            <a:r>
              <a:rPr spc="-15" dirty="0"/>
              <a:t>total </a:t>
            </a:r>
            <a:r>
              <a:rPr spc="-5" dirty="0"/>
              <a:t>magnetic </a:t>
            </a:r>
            <a:r>
              <a:rPr spc="-20" dirty="0"/>
              <a:t>force </a:t>
            </a:r>
            <a:r>
              <a:rPr dirty="0"/>
              <a:t>on </a:t>
            </a:r>
            <a:r>
              <a:rPr spc="-5" dirty="0"/>
              <a:t>this</a:t>
            </a:r>
            <a:r>
              <a:rPr spc="70" dirty="0"/>
              <a:t> </a:t>
            </a:r>
            <a:r>
              <a:rPr spc="-35" dirty="0"/>
              <a:t>conductor.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5043677"/>
            <a:ext cx="50736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200" spc="-5" dirty="0">
                <a:latin typeface="Carlito"/>
                <a:cs typeface="Carlito"/>
              </a:rPr>
              <a:t>e</a:t>
            </a:r>
            <a:endParaRPr sz="2200">
              <a:latin typeface="Carlito"/>
              <a:cs typeface="Carlito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36854" y="496950"/>
            <a:ext cx="806577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Magnetic </a:t>
            </a:r>
            <a:r>
              <a:rPr spc="-30" dirty="0"/>
              <a:t>Force </a:t>
            </a:r>
            <a:r>
              <a:rPr spc="-5" dirty="0"/>
              <a:t>on a </a:t>
            </a:r>
            <a:r>
              <a:rPr spc="-10" dirty="0"/>
              <a:t>Curved</a:t>
            </a:r>
            <a:r>
              <a:rPr spc="-15" dirty="0"/>
              <a:t> </a:t>
            </a:r>
            <a:r>
              <a:rPr spc="-10" dirty="0"/>
              <a:t>Conductor</a:t>
            </a:r>
          </a:p>
        </p:txBody>
      </p:sp>
      <p:sp>
        <p:nvSpPr>
          <p:cNvPr id="5" name="object 5"/>
          <p:cNvSpPr/>
          <p:nvPr/>
        </p:nvSpPr>
        <p:spPr>
          <a:xfrm>
            <a:off x="2819400" y="4035552"/>
            <a:ext cx="3810000" cy="2286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lang="en-US" spc="-5"/>
              <a:t>Engr. Safee Ullah, Department of Electrical Engineering, HITEC University</a:t>
            </a:r>
            <a:endParaRPr spc="-5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10</a:t>
            </a:fld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710</Words>
  <Application>Microsoft Office PowerPoint</Application>
  <PresentationFormat>On-screen Show (4:3)</PresentationFormat>
  <Paragraphs>71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Arial Black</vt:lpstr>
      <vt:lpstr>Calibri</vt:lpstr>
      <vt:lpstr>Carlito</vt:lpstr>
      <vt:lpstr>Office Theme</vt:lpstr>
      <vt:lpstr>BS – 101 Engineering Physics</vt:lpstr>
      <vt:lpstr>Magnetic Force on a Current Carrying  Conductor</vt:lpstr>
      <vt:lpstr>Magnetic Force on a Current Carrying  Conductor (Contd.)</vt:lpstr>
      <vt:lpstr>Magnetic Force on a Current Carrying  Conductor (Contd.)</vt:lpstr>
      <vt:lpstr>Magnetic Force on a Current Carrying  Conductor (Contd.)</vt:lpstr>
      <vt:lpstr>Magnetic Force on a Current Carrying  Conductor (Contd.)</vt:lpstr>
      <vt:lpstr>Magnetic Force on a Current Carrying  Conductor (Contd.)</vt:lpstr>
      <vt:lpstr>Magnetic Force on a Current Carrying  Conductor (Contd.)</vt:lpstr>
      <vt:lpstr>Magnetic Force on a Straight  Conductor</vt:lpstr>
      <vt:lpstr>Magnetic Force on a Curved Conductor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Fundamentals of Electrical Engineering</dc:title>
  <dc:creator>Mamoon Riaz</dc:creator>
  <cp:lastModifiedBy>Safee</cp:lastModifiedBy>
  <cp:revision>1</cp:revision>
  <dcterms:created xsi:type="dcterms:W3CDTF">2021-11-17T14:22:26Z</dcterms:created>
  <dcterms:modified xsi:type="dcterms:W3CDTF">2021-11-17T14:26:10Z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2018-11-27T00:00:00Z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2021-11-17T00:00:00Z</vt:filetime>
  </property>
</Properties>
</file>