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99E73-B516-4F4D-A00B-644D0125281D}" type="datetimeFigureOut">
              <a:rPr lang="en-US" smtClean="0"/>
              <a:t>12/22/2021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B0DB0-D16C-4E7C-A305-443D68963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0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71BA3-07FD-43E8-BCA0-3EB41E59ED9E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13C9F-1BBB-4D91-BF1E-BB1FF5865883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B13CD-E230-4227-BFCB-C01A6BB12A69}" type="datetime1">
              <a:rPr lang="en-US" smtClean="0"/>
              <a:t>12/22/2021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31ED4-2B48-4674-B09C-84A0744688C0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FE3D0-5E41-43FB-AFAB-5D158345004F}" type="datetime1">
              <a:rPr lang="en-US" smtClean="0"/>
              <a:t>12/22/2021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815" y="405511"/>
            <a:ext cx="423036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509978"/>
            <a:ext cx="8072120" cy="4367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1370" y="6373774"/>
            <a:ext cx="2459354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10BD3-7941-424F-A26A-F8B6C36080D2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4925" y="502742"/>
            <a:ext cx="6529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BS – 101 </a:t>
            </a:r>
            <a:r>
              <a:rPr spc="-5" dirty="0"/>
              <a:t>Engineering</a:t>
            </a:r>
            <a:r>
              <a:rPr spc="-75" dirty="0"/>
              <a:t> </a:t>
            </a:r>
            <a:r>
              <a:rPr spc="-20" dirty="0"/>
              <a:t>Physics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3664" y="2827147"/>
            <a:ext cx="2900936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Lecture </a:t>
            </a:r>
            <a:r>
              <a:rPr sz="3200" dirty="0">
                <a:latin typeface="Carlito"/>
                <a:cs typeface="Carlito"/>
              </a:rPr>
              <a:t>–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lang="en-US" sz="3200" spc="-5" dirty="0">
                <a:latin typeface="Carlito"/>
                <a:cs typeface="Carlito"/>
              </a:rPr>
              <a:t>13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200" dirty="0">
                <a:latin typeface="Carlito"/>
                <a:cs typeface="Carlito"/>
              </a:rPr>
              <a:t>Engr. Safee Ullah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590B2-2D28-41A8-AED0-D87A98B8FA0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8B94-C566-4333-8D4B-2A5707A297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74025" cy="3929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All </a:t>
            </a:r>
            <a:r>
              <a:rPr sz="3200" spc="-15" dirty="0">
                <a:latin typeface="Carlito"/>
                <a:cs typeface="Carlito"/>
              </a:rPr>
              <a:t>matter </a:t>
            </a:r>
            <a:r>
              <a:rPr sz="3200" spc="-5" dirty="0">
                <a:latin typeface="Carlito"/>
                <a:cs typeface="Carlito"/>
              </a:rPr>
              <a:t>is composed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atoms;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15" dirty="0">
                <a:latin typeface="Carlito"/>
                <a:cs typeface="Carlito"/>
              </a:rPr>
              <a:t>atoms  consist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electrons, </a:t>
            </a:r>
            <a:r>
              <a:rPr sz="3200" spc="-15" dirty="0">
                <a:latin typeface="Carlito"/>
                <a:cs typeface="Carlito"/>
              </a:rPr>
              <a:t>protons, </a:t>
            </a:r>
            <a:r>
              <a:rPr sz="3200" spc="5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neutrons  </a:t>
            </a:r>
            <a:r>
              <a:rPr sz="3200" spc="-25" dirty="0">
                <a:latin typeface="Carlito"/>
                <a:cs typeface="Carlito"/>
              </a:rPr>
              <a:t>except </a:t>
            </a:r>
            <a:r>
              <a:rPr sz="3200" spc="-5" dirty="0">
                <a:latin typeface="Carlito"/>
                <a:cs typeface="Carlito"/>
              </a:rPr>
              <a:t>normal </a:t>
            </a:r>
            <a:r>
              <a:rPr sz="3200" spc="-20" dirty="0">
                <a:latin typeface="Carlito"/>
                <a:cs typeface="Carlito"/>
              </a:rPr>
              <a:t>hydrogen, </a:t>
            </a:r>
            <a:r>
              <a:rPr sz="3200" dirty="0">
                <a:latin typeface="Carlito"/>
                <a:cs typeface="Carlito"/>
              </a:rPr>
              <a:t>which does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spc="-20" dirty="0">
                <a:latin typeface="Carlito"/>
                <a:cs typeface="Carlito"/>
              </a:rPr>
              <a:t>have 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neutron. </a:t>
            </a: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element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periodic </a:t>
            </a:r>
            <a:r>
              <a:rPr sz="3200" spc="-10" dirty="0">
                <a:latin typeface="Carlito"/>
                <a:cs typeface="Carlito"/>
              </a:rPr>
              <a:t>table 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a unique </a:t>
            </a:r>
            <a:r>
              <a:rPr sz="3200" spc="-10" dirty="0">
                <a:latin typeface="Carlito"/>
                <a:cs typeface="Carlito"/>
              </a:rPr>
              <a:t>atomic structure, </a:t>
            </a:r>
            <a:r>
              <a:rPr sz="3200" dirty="0">
                <a:latin typeface="Carlito"/>
                <a:cs typeface="Carlito"/>
              </a:rPr>
              <a:t>and all </a:t>
            </a:r>
            <a:r>
              <a:rPr sz="3200" spc="-10" dirty="0">
                <a:latin typeface="Carlito"/>
                <a:cs typeface="Carlito"/>
              </a:rPr>
              <a:t>atoms  </a:t>
            </a:r>
            <a:r>
              <a:rPr sz="3200" dirty="0">
                <a:latin typeface="Carlito"/>
                <a:cs typeface="Carlito"/>
              </a:rPr>
              <a:t>within a </a:t>
            </a:r>
            <a:r>
              <a:rPr sz="3200" spc="-5" dirty="0">
                <a:latin typeface="Carlito"/>
                <a:cs typeface="Carlito"/>
              </a:rPr>
              <a:t>given element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same </a:t>
            </a:r>
            <a:r>
              <a:rPr sz="3200" dirty="0">
                <a:latin typeface="Carlito"/>
                <a:cs typeface="Carlito"/>
              </a:rPr>
              <a:t>number  of </a:t>
            </a:r>
            <a:r>
              <a:rPr sz="3200" spc="-15" dirty="0">
                <a:latin typeface="Carlito"/>
                <a:cs typeface="Carlito"/>
              </a:rPr>
              <a:t>protons. </a:t>
            </a:r>
            <a:r>
              <a:rPr sz="3200" spc="-40" dirty="0">
                <a:latin typeface="Carlito"/>
                <a:cs typeface="Carlito"/>
              </a:rPr>
              <a:t>At </a:t>
            </a:r>
            <a:r>
              <a:rPr sz="3200" spc="-20" dirty="0">
                <a:latin typeface="Carlito"/>
                <a:cs typeface="Carlito"/>
              </a:rPr>
              <a:t>first,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spc="-5" dirty="0">
                <a:latin typeface="Carlito"/>
                <a:cs typeface="Carlito"/>
              </a:rPr>
              <a:t>thought </a:t>
            </a:r>
            <a:r>
              <a:rPr sz="3200" spc="-45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tiny </a:t>
            </a:r>
            <a:r>
              <a:rPr sz="3200" dirty="0">
                <a:latin typeface="Carlito"/>
                <a:cs typeface="Carlito"/>
              </a:rPr>
              <a:t>indivisible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sphere.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 dirty="0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57194" y="405511"/>
            <a:ext cx="22275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</a:t>
            </a:r>
            <a:r>
              <a:rPr spc="-75" dirty="0"/>
              <a:t> </a:t>
            </a:r>
            <a:r>
              <a:rPr spc="-45" dirty="0"/>
              <a:t>Atom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8493"/>
            <a:ext cx="8074025" cy="44653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45" dirty="0">
                <a:latin typeface="Carlito"/>
                <a:cs typeface="Carlito"/>
              </a:rPr>
              <a:t>At </a:t>
            </a:r>
            <a:r>
              <a:rPr sz="3200" spc="-20" dirty="0">
                <a:latin typeface="Carlito"/>
                <a:cs typeface="Carlito"/>
              </a:rPr>
              <a:t>first,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dirty="0">
                <a:latin typeface="Carlito"/>
                <a:cs typeface="Carlito"/>
              </a:rPr>
              <a:t>thought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be a </a:t>
            </a:r>
            <a:r>
              <a:rPr sz="3200" spc="-15" dirty="0">
                <a:latin typeface="Carlito"/>
                <a:cs typeface="Carlito"/>
              </a:rPr>
              <a:t>tiny  </a:t>
            </a:r>
            <a:r>
              <a:rPr sz="3200" dirty="0">
                <a:latin typeface="Carlito"/>
                <a:cs typeface="Carlito"/>
              </a:rPr>
              <a:t>indivisible </a:t>
            </a:r>
            <a:r>
              <a:rPr sz="3200" spc="-10" dirty="0">
                <a:latin typeface="Carlito"/>
                <a:cs typeface="Carlito"/>
              </a:rPr>
              <a:t>sphere. </a:t>
            </a:r>
            <a:r>
              <a:rPr sz="3200" spc="-15" dirty="0">
                <a:latin typeface="Carlito"/>
                <a:cs typeface="Carlito"/>
              </a:rPr>
              <a:t>Later </a:t>
            </a:r>
            <a:r>
              <a:rPr sz="3200" spc="-5" dirty="0">
                <a:latin typeface="Carlito"/>
                <a:cs typeface="Carlito"/>
              </a:rPr>
              <a:t>it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spc="-5" dirty="0">
                <a:latin typeface="Carlito"/>
                <a:cs typeface="Carlito"/>
              </a:rPr>
              <a:t>shown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dirty="0">
                <a:latin typeface="Carlito"/>
                <a:cs typeface="Carlito"/>
              </a:rPr>
              <a:t>a single </a:t>
            </a:r>
            <a:r>
              <a:rPr sz="3200" spc="-5" dirty="0">
                <a:latin typeface="Carlito"/>
                <a:cs typeface="Carlito"/>
              </a:rPr>
              <a:t>particle but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spc="5" dirty="0">
                <a:latin typeface="Carlito"/>
                <a:cs typeface="Carlito"/>
              </a:rPr>
              <a:t>made  </a:t>
            </a:r>
            <a:r>
              <a:rPr sz="3200" spc="-5" dirty="0">
                <a:latin typeface="Carlito"/>
                <a:cs typeface="Carlito"/>
              </a:rPr>
              <a:t>up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5" dirty="0">
                <a:latin typeface="Carlito"/>
                <a:cs typeface="Carlito"/>
              </a:rPr>
              <a:t>small </a:t>
            </a:r>
            <a:r>
              <a:rPr sz="3200" dirty="0">
                <a:latin typeface="Carlito"/>
                <a:cs typeface="Carlito"/>
              </a:rPr>
              <a:t>dense </a:t>
            </a:r>
            <a:r>
              <a:rPr sz="3200" spc="-5" dirty="0">
                <a:latin typeface="Carlito"/>
                <a:cs typeface="Carlito"/>
              </a:rPr>
              <a:t>nucleus </a:t>
            </a:r>
            <a:r>
              <a:rPr sz="3200" spc="-10" dirty="0">
                <a:latin typeface="Carlito"/>
                <a:cs typeface="Carlito"/>
              </a:rPr>
              <a:t>around </a:t>
            </a:r>
            <a:r>
              <a:rPr sz="3200" dirty="0">
                <a:latin typeface="Carlito"/>
                <a:cs typeface="Carlito"/>
              </a:rPr>
              <a:t>which  </a:t>
            </a:r>
            <a:r>
              <a:rPr sz="3200" spc="-10" dirty="0">
                <a:latin typeface="Carlito"/>
                <a:cs typeface="Carlito"/>
              </a:rPr>
              <a:t>electrons </a:t>
            </a:r>
            <a:r>
              <a:rPr sz="3200" spc="-5" dirty="0">
                <a:latin typeface="Carlito"/>
                <a:cs typeface="Carlito"/>
              </a:rPr>
              <a:t>orbit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spc="-15" dirty="0">
                <a:latin typeface="Carlito"/>
                <a:cs typeface="Carlito"/>
              </a:rPr>
              <a:t>great </a:t>
            </a:r>
            <a:r>
              <a:rPr sz="3200" spc="-10" dirty="0">
                <a:latin typeface="Carlito"/>
                <a:cs typeface="Carlito"/>
              </a:rPr>
              <a:t>distances </a:t>
            </a:r>
            <a:r>
              <a:rPr sz="3200" spc="-15" dirty="0">
                <a:latin typeface="Carlito"/>
                <a:cs typeface="Carlito"/>
              </a:rPr>
              <a:t>from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nucleus, similar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5" dirty="0">
                <a:latin typeface="Carlito"/>
                <a:cs typeface="Carlito"/>
              </a:rPr>
              <a:t>planets orbit </a:t>
            </a:r>
            <a:r>
              <a:rPr sz="3200" spc="5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sun. Niels </a:t>
            </a:r>
            <a:r>
              <a:rPr sz="3200" dirty="0">
                <a:latin typeface="Carlito"/>
                <a:cs typeface="Carlito"/>
              </a:rPr>
              <a:t>Bohr </a:t>
            </a:r>
            <a:r>
              <a:rPr sz="3200" spc="-10" dirty="0">
                <a:latin typeface="Carlito"/>
                <a:cs typeface="Carlito"/>
              </a:rPr>
              <a:t>proposed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electrons </a:t>
            </a:r>
            <a:r>
              <a:rPr sz="3200" spc="-5" dirty="0">
                <a:latin typeface="Carlito"/>
                <a:cs typeface="Carlito"/>
              </a:rPr>
              <a:t>in 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spc="-10" dirty="0">
                <a:latin typeface="Carlito"/>
                <a:cs typeface="Carlito"/>
              </a:rPr>
              <a:t>circle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nucleus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dirty="0">
                <a:latin typeface="Carlito"/>
                <a:cs typeface="Carlito"/>
              </a:rPr>
              <a:t>obits,  </a:t>
            </a:r>
            <a:r>
              <a:rPr sz="3200" spc="-5" dirty="0">
                <a:latin typeface="Carlito"/>
                <a:cs typeface="Carlito"/>
              </a:rPr>
              <a:t>similar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5" dirty="0">
                <a:latin typeface="Carlito"/>
                <a:cs typeface="Carlito"/>
              </a:rPr>
              <a:t>planets orbit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sun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our  solar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system.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4214" y="405511"/>
            <a:ext cx="41941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45" dirty="0"/>
              <a:t>Atom</a:t>
            </a:r>
            <a:r>
              <a:rPr spc="-30" dirty="0"/>
              <a:t>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6489"/>
            <a:ext cx="8074659" cy="42329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Niels </a:t>
            </a:r>
            <a:r>
              <a:rPr sz="3000" dirty="0">
                <a:latin typeface="Carlito"/>
                <a:cs typeface="Carlito"/>
              </a:rPr>
              <a:t>Bohr </a:t>
            </a:r>
            <a:r>
              <a:rPr sz="3000" spc="-10" dirty="0">
                <a:latin typeface="Carlito"/>
                <a:cs typeface="Carlito"/>
              </a:rPr>
              <a:t>proposed that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an  </a:t>
            </a:r>
            <a:r>
              <a:rPr sz="3000" spc="-20" dirty="0">
                <a:latin typeface="Carlito"/>
                <a:cs typeface="Carlito"/>
              </a:rPr>
              <a:t>atom </a:t>
            </a:r>
            <a:r>
              <a:rPr sz="3000" spc="-15" dirty="0">
                <a:latin typeface="Carlito"/>
                <a:cs typeface="Carlito"/>
              </a:rPr>
              <a:t>circle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nucleus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25" dirty="0">
                <a:latin typeface="Carlito"/>
                <a:cs typeface="Carlito"/>
              </a:rPr>
              <a:t>different </a:t>
            </a:r>
            <a:r>
              <a:rPr sz="3000" spc="-5" dirty="0">
                <a:latin typeface="Carlito"/>
                <a:cs typeface="Carlito"/>
              </a:rPr>
              <a:t>obits, similar 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35" dirty="0">
                <a:latin typeface="Carlito"/>
                <a:cs typeface="Carlito"/>
              </a:rPr>
              <a:t>way </a:t>
            </a:r>
            <a:r>
              <a:rPr sz="3000" spc="-10" dirty="0">
                <a:latin typeface="Carlito"/>
                <a:cs typeface="Carlito"/>
              </a:rPr>
              <a:t>planets </a:t>
            </a:r>
            <a:r>
              <a:rPr sz="3000" spc="-5" dirty="0">
                <a:latin typeface="Carlito"/>
                <a:cs typeface="Carlito"/>
              </a:rPr>
              <a:t>orbit the sun in our solar  </a:t>
            </a:r>
            <a:r>
              <a:rPr sz="3000" spc="-25" dirty="0">
                <a:latin typeface="Carlito"/>
                <a:cs typeface="Carlito"/>
              </a:rPr>
              <a:t>system. </a:t>
            </a:r>
            <a:r>
              <a:rPr sz="3000" spc="-10" dirty="0">
                <a:latin typeface="Carlito"/>
                <a:cs typeface="Carlito"/>
              </a:rPr>
              <a:t>The </a:t>
            </a:r>
            <a:r>
              <a:rPr sz="3000" dirty="0">
                <a:latin typeface="Carlito"/>
                <a:cs typeface="Carlito"/>
              </a:rPr>
              <a:t>Bohr model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often </a:t>
            </a:r>
            <a:r>
              <a:rPr sz="3000" spc="-30" dirty="0">
                <a:latin typeface="Carlito"/>
                <a:cs typeface="Carlito"/>
              </a:rPr>
              <a:t>referred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as  the </a:t>
            </a:r>
            <a:r>
              <a:rPr sz="3000" spc="-10" dirty="0">
                <a:latin typeface="Carlito"/>
                <a:cs typeface="Carlito"/>
              </a:rPr>
              <a:t>planetary </a:t>
            </a:r>
            <a:r>
              <a:rPr sz="3000" spc="-5" dirty="0">
                <a:latin typeface="Carlito"/>
                <a:cs typeface="Carlito"/>
              </a:rPr>
              <a:t>model. Another </a:t>
            </a:r>
            <a:r>
              <a:rPr sz="3000" spc="-10" dirty="0">
                <a:latin typeface="Carlito"/>
                <a:cs typeface="Carlito"/>
              </a:rPr>
              <a:t>view </a:t>
            </a:r>
            <a:r>
              <a:rPr sz="3000" dirty="0">
                <a:latin typeface="Carlito"/>
                <a:cs typeface="Carlito"/>
              </a:rPr>
              <a:t>of the </a:t>
            </a:r>
            <a:r>
              <a:rPr sz="3000" spc="-20" dirty="0">
                <a:latin typeface="Carlito"/>
                <a:cs typeface="Carlito"/>
              </a:rPr>
              <a:t>atom 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i="1" spc="-15" dirty="0">
                <a:latin typeface="Carlito"/>
                <a:cs typeface="Carlito"/>
              </a:rPr>
              <a:t>quantum </a:t>
            </a:r>
            <a:r>
              <a:rPr sz="3000" i="1" dirty="0">
                <a:latin typeface="Carlito"/>
                <a:cs typeface="Carlito"/>
              </a:rPr>
              <a:t>model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5" dirty="0">
                <a:latin typeface="Carlito"/>
                <a:cs typeface="Carlito"/>
              </a:rPr>
              <a:t>considered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more  </a:t>
            </a:r>
            <a:r>
              <a:rPr sz="3000" spc="-20" dirty="0">
                <a:latin typeface="Carlito"/>
                <a:cs typeface="Carlito"/>
              </a:rPr>
              <a:t>accurate </a:t>
            </a:r>
            <a:r>
              <a:rPr sz="3000" spc="-15" dirty="0">
                <a:latin typeface="Carlito"/>
                <a:cs typeface="Carlito"/>
              </a:rPr>
              <a:t>representation,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but it is </a:t>
            </a:r>
            <a:r>
              <a:rPr sz="3000" spc="-10" dirty="0">
                <a:latin typeface="Carlito"/>
                <a:cs typeface="Carlito"/>
              </a:rPr>
              <a:t>difficult </a:t>
            </a:r>
            <a:r>
              <a:rPr sz="3000" spc="-25" dirty="0">
                <a:latin typeface="Carlito"/>
                <a:cs typeface="Carlito"/>
              </a:rPr>
              <a:t>to  </a:t>
            </a:r>
            <a:r>
              <a:rPr sz="3000" spc="-10" dirty="0">
                <a:latin typeface="Carlito"/>
                <a:cs typeface="Carlito"/>
              </a:rPr>
              <a:t>visualize.</a:t>
            </a:r>
            <a:endParaRPr sz="30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most </a:t>
            </a:r>
            <a:r>
              <a:rPr sz="3000" spc="-15" dirty="0">
                <a:latin typeface="Carlito"/>
                <a:cs typeface="Carlito"/>
              </a:rPr>
              <a:t>practical </a:t>
            </a:r>
            <a:r>
              <a:rPr sz="3000" spc="-5" dirty="0">
                <a:latin typeface="Carlito"/>
                <a:cs typeface="Carlito"/>
              </a:rPr>
              <a:t>purposes in </a:t>
            </a:r>
            <a:r>
              <a:rPr sz="3000" spc="-10" dirty="0">
                <a:latin typeface="Carlito"/>
                <a:cs typeface="Carlito"/>
              </a:rPr>
              <a:t>electronics, </a:t>
            </a:r>
            <a:r>
              <a:rPr sz="3000" dirty="0">
                <a:latin typeface="Carlito"/>
                <a:cs typeface="Carlito"/>
              </a:rPr>
              <a:t>the  Bohr </a:t>
            </a:r>
            <a:r>
              <a:rPr sz="3000" spc="-5" dirty="0">
                <a:latin typeface="Carlito"/>
                <a:cs typeface="Carlito"/>
              </a:rPr>
              <a:t>model </a:t>
            </a:r>
            <a:r>
              <a:rPr sz="3000" spc="-10" dirty="0">
                <a:latin typeface="Carlito"/>
                <a:cs typeface="Carlito"/>
              </a:rPr>
              <a:t>suffices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commonly </a:t>
            </a:r>
            <a:r>
              <a:rPr sz="3000" spc="-5" dirty="0">
                <a:latin typeface="Carlito"/>
                <a:cs typeface="Carlito"/>
              </a:rPr>
              <a:t>used  </a:t>
            </a:r>
            <a:r>
              <a:rPr sz="3000" spc="-10" dirty="0">
                <a:latin typeface="Carlito"/>
                <a:cs typeface="Carlito"/>
              </a:rPr>
              <a:t>because </a:t>
            </a:r>
            <a:r>
              <a:rPr sz="3000" spc="-5" dirty="0">
                <a:latin typeface="Carlito"/>
                <a:cs typeface="Carlito"/>
              </a:rPr>
              <a:t>it is </a:t>
            </a:r>
            <a:r>
              <a:rPr sz="3000" spc="-15" dirty="0">
                <a:latin typeface="Carlito"/>
                <a:cs typeface="Carlito"/>
              </a:rPr>
              <a:t>easy to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visualize.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4214" y="405511"/>
            <a:ext cx="41941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45" dirty="0"/>
              <a:t>Atom</a:t>
            </a:r>
            <a:r>
              <a:rPr spc="-30" dirty="0"/>
              <a:t>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722" y="405511"/>
            <a:ext cx="3685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</a:t>
            </a:r>
            <a:r>
              <a:rPr spc="-65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58493"/>
            <a:ext cx="8074025" cy="44653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An </a:t>
            </a:r>
            <a:r>
              <a:rPr sz="3200" b="1" spc="-15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smallest particle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5" dirty="0">
                <a:latin typeface="Carlito"/>
                <a:cs typeface="Carlito"/>
              </a:rPr>
              <a:t>an </a:t>
            </a:r>
            <a:r>
              <a:rPr sz="3200" spc="-5" dirty="0">
                <a:latin typeface="Carlito"/>
                <a:cs typeface="Carlito"/>
              </a:rPr>
              <a:t>element 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retains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characteristics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that  element. </a:t>
            </a: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dirty="0">
                <a:latin typeface="Carlito"/>
                <a:cs typeface="Carlito"/>
              </a:rPr>
              <a:t>of the known </a:t>
            </a:r>
            <a:r>
              <a:rPr sz="3200" spc="-5" dirty="0">
                <a:latin typeface="Carlito"/>
                <a:cs typeface="Carlito"/>
              </a:rPr>
              <a:t>118 elements </a:t>
            </a:r>
            <a:r>
              <a:rPr sz="3200" dirty="0">
                <a:latin typeface="Carlito"/>
                <a:cs typeface="Carlito"/>
              </a:rPr>
              <a:t>has  </a:t>
            </a:r>
            <a:r>
              <a:rPr sz="3200" spc="-15" dirty="0">
                <a:latin typeface="Carlito"/>
                <a:cs typeface="Carlito"/>
              </a:rPr>
              <a:t>atoms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atoms </a:t>
            </a:r>
            <a:r>
              <a:rPr sz="3200" dirty="0">
                <a:latin typeface="Carlito"/>
                <a:cs typeface="Carlito"/>
              </a:rPr>
              <a:t>of all  </a:t>
            </a:r>
            <a:r>
              <a:rPr sz="3200" spc="-5" dirty="0">
                <a:latin typeface="Carlito"/>
                <a:cs typeface="Carlito"/>
              </a:rPr>
              <a:t>other elements. This gives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element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5" dirty="0">
                <a:latin typeface="Carlito"/>
                <a:cs typeface="Carlito"/>
              </a:rPr>
              <a:t>unique </a:t>
            </a:r>
            <a:r>
              <a:rPr sz="3200" spc="-15" dirty="0">
                <a:latin typeface="Carlito"/>
                <a:cs typeface="Carlito"/>
              </a:rPr>
              <a:t>atomic </a:t>
            </a:r>
            <a:r>
              <a:rPr sz="3200" spc="-10" dirty="0">
                <a:latin typeface="Carlito"/>
                <a:cs typeface="Carlito"/>
              </a:rPr>
              <a:t>structure. According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classical </a:t>
            </a:r>
            <a:r>
              <a:rPr sz="3200" dirty="0">
                <a:latin typeface="Carlito"/>
                <a:cs typeface="Carlito"/>
              </a:rPr>
              <a:t>Bohr model, </a:t>
            </a:r>
            <a:r>
              <a:rPr sz="3200" spc="-15" dirty="0">
                <a:latin typeface="Carlito"/>
                <a:cs typeface="Carlito"/>
              </a:rPr>
              <a:t>atoms </a:t>
            </a:r>
            <a:r>
              <a:rPr sz="3200" spc="-25" dirty="0">
                <a:latin typeface="Carlito"/>
                <a:cs typeface="Carlito"/>
              </a:rPr>
              <a:t>have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planetary  </a:t>
            </a:r>
            <a:r>
              <a:rPr sz="3200" dirty="0">
                <a:latin typeface="Carlito"/>
                <a:cs typeface="Carlito"/>
              </a:rPr>
              <a:t>type of </a:t>
            </a:r>
            <a:r>
              <a:rPr sz="3200" spc="-10" dirty="0">
                <a:latin typeface="Carlito"/>
                <a:cs typeface="Carlito"/>
              </a:rPr>
              <a:t>structure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consists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15" dirty="0">
                <a:latin typeface="Carlito"/>
                <a:cs typeface="Carlito"/>
              </a:rPr>
              <a:t>central  </a:t>
            </a:r>
            <a:r>
              <a:rPr sz="3200" spc="-5" dirty="0">
                <a:latin typeface="Carlito"/>
                <a:cs typeface="Carlito"/>
              </a:rPr>
              <a:t>nucleus </a:t>
            </a:r>
            <a:r>
              <a:rPr sz="3200" spc="-10" dirty="0">
                <a:latin typeface="Carlito"/>
                <a:cs typeface="Carlito"/>
              </a:rPr>
              <a:t>surrounded by </a:t>
            </a:r>
            <a:r>
              <a:rPr sz="3200" spc="-5" dirty="0">
                <a:latin typeface="Carlito"/>
                <a:cs typeface="Carlito"/>
              </a:rPr>
              <a:t>orbiting </a:t>
            </a:r>
            <a:r>
              <a:rPr sz="3200" spc="-10" dirty="0">
                <a:latin typeface="Carlito"/>
                <a:cs typeface="Carlito"/>
              </a:rPr>
              <a:t>electrons, </a:t>
            </a:r>
            <a:r>
              <a:rPr sz="3200" dirty="0">
                <a:latin typeface="Carlito"/>
                <a:cs typeface="Carlito"/>
              </a:rPr>
              <a:t>as  </a:t>
            </a:r>
            <a:r>
              <a:rPr sz="3200" spc="-20" dirty="0">
                <a:latin typeface="Carlito"/>
                <a:cs typeface="Carlito"/>
              </a:rPr>
              <a:t>illustrated </a:t>
            </a:r>
            <a:r>
              <a:rPr sz="3200" spc="-5" dirty="0">
                <a:latin typeface="Carlito"/>
                <a:cs typeface="Carlito"/>
              </a:rPr>
              <a:t>in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0" y="940308"/>
            <a:ext cx="4953000" cy="5366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8722" y="405511"/>
            <a:ext cx="3685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</a:t>
            </a:r>
            <a:r>
              <a:rPr spc="-65" dirty="0"/>
              <a:t> </a:t>
            </a:r>
            <a:r>
              <a:rPr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885" y="405511"/>
            <a:ext cx="5649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 Model</a:t>
            </a:r>
            <a:r>
              <a:rPr spc="-5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607261"/>
            <a:ext cx="8074659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b="1" spc="-5" dirty="0">
                <a:latin typeface="Carlito"/>
                <a:cs typeface="Carlito"/>
              </a:rPr>
              <a:t>nucleus </a:t>
            </a:r>
            <a:r>
              <a:rPr sz="3200" spc="-15" dirty="0">
                <a:latin typeface="Carlito"/>
                <a:cs typeface="Carlito"/>
              </a:rPr>
              <a:t>consists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positively </a:t>
            </a:r>
            <a:r>
              <a:rPr sz="3200" spc="-10" dirty="0">
                <a:latin typeface="Carlito"/>
                <a:cs typeface="Carlito"/>
              </a:rPr>
              <a:t>charged  </a:t>
            </a:r>
            <a:r>
              <a:rPr sz="3200" spc="-5" dirty="0">
                <a:latin typeface="Carlito"/>
                <a:cs typeface="Carlito"/>
              </a:rPr>
              <a:t>particles called </a:t>
            </a:r>
            <a:r>
              <a:rPr sz="3200" b="1" spc="-15" dirty="0">
                <a:latin typeface="Carlito"/>
                <a:cs typeface="Carlito"/>
              </a:rPr>
              <a:t>protons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uncharged  </a:t>
            </a:r>
            <a:r>
              <a:rPr sz="3200" spc="-5" dirty="0">
                <a:latin typeface="Carlito"/>
                <a:cs typeface="Carlito"/>
              </a:rPr>
              <a:t>particles called </a:t>
            </a:r>
            <a:r>
              <a:rPr sz="3200" b="1" spc="-5" dirty="0">
                <a:latin typeface="Carlito"/>
                <a:cs typeface="Carlito"/>
              </a:rPr>
              <a:t>neutrons. </a:t>
            </a:r>
            <a:r>
              <a:rPr sz="3200" spc="-5" dirty="0">
                <a:latin typeface="Carlito"/>
                <a:cs typeface="Carlito"/>
              </a:rPr>
              <a:t>The basic particles 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negative charge </a:t>
            </a:r>
            <a:r>
              <a:rPr sz="3200" spc="-20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b="1" spc="-5" dirty="0">
                <a:latin typeface="Carlito"/>
                <a:cs typeface="Carlito"/>
              </a:rPr>
              <a:t>electrons</a:t>
            </a:r>
            <a:r>
              <a:rPr sz="3200" spc="-5" dirty="0">
                <a:latin typeface="Carlito"/>
                <a:cs typeface="Carlito"/>
              </a:rPr>
              <a:t>. </a:t>
            </a: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 of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certain </a:t>
            </a:r>
            <a:r>
              <a:rPr sz="3200" spc="-5" dirty="0">
                <a:latin typeface="Carlito"/>
                <a:cs typeface="Carlito"/>
              </a:rPr>
              <a:t>number </a:t>
            </a:r>
            <a:r>
              <a:rPr sz="3200" dirty="0">
                <a:latin typeface="Carlito"/>
                <a:cs typeface="Carlito"/>
              </a:rPr>
              <a:t>of  </a:t>
            </a:r>
            <a:r>
              <a:rPr sz="3200" spc="-10" dirty="0">
                <a:latin typeface="Carlito"/>
                <a:cs typeface="Carlito"/>
              </a:rPr>
              <a:t>electrons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protons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that distinguishes </a:t>
            </a:r>
            <a:r>
              <a:rPr sz="3200" spc="5" dirty="0">
                <a:latin typeface="Carlito"/>
                <a:cs typeface="Carlito"/>
              </a:rPr>
              <a:t>it 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atoms </a:t>
            </a:r>
            <a:r>
              <a:rPr sz="3200" dirty="0">
                <a:latin typeface="Carlito"/>
                <a:cs typeface="Carlito"/>
              </a:rPr>
              <a:t>of all </a:t>
            </a:r>
            <a:r>
              <a:rPr sz="3200" spc="-5" dirty="0">
                <a:latin typeface="Carlito"/>
                <a:cs typeface="Carlito"/>
              </a:rPr>
              <a:t>other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elements.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885" y="405511"/>
            <a:ext cx="5649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 Model</a:t>
            </a:r>
            <a:r>
              <a:rPr spc="-5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607261"/>
            <a:ext cx="8075295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20" dirty="0">
                <a:latin typeface="Carlito"/>
                <a:cs typeface="Carlito"/>
              </a:rPr>
              <a:t>For </a:t>
            </a:r>
            <a:r>
              <a:rPr sz="3200" spc="-15" dirty="0">
                <a:latin typeface="Carlito"/>
                <a:cs typeface="Carlito"/>
              </a:rPr>
              <a:t>example,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simplest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is that </a:t>
            </a:r>
            <a:r>
              <a:rPr sz="3200" dirty="0">
                <a:latin typeface="Carlito"/>
                <a:cs typeface="Carlito"/>
              </a:rPr>
              <a:t>of  </a:t>
            </a:r>
            <a:r>
              <a:rPr sz="3200" spc="-20" dirty="0">
                <a:latin typeface="Carlito"/>
                <a:cs typeface="Carlito"/>
              </a:rPr>
              <a:t>hydrogen, </a:t>
            </a:r>
            <a:r>
              <a:rPr sz="3200" dirty="0">
                <a:latin typeface="Carlito"/>
                <a:cs typeface="Carlito"/>
              </a:rPr>
              <a:t>which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one </a:t>
            </a:r>
            <a:r>
              <a:rPr sz="3200" spc="-15" dirty="0">
                <a:latin typeface="Carlito"/>
                <a:cs typeface="Carlito"/>
              </a:rPr>
              <a:t>proton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one  </a:t>
            </a:r>
            <a:r>
              <a:rPr sz="3200" spc="-10" dirty="0">
                <a:latin typeface="Carlito"/>
                <a:cs typeface="Carlito"/>
              </a:rPr>
              <a:t>electron, </a:t>
            </a:r>
            <a:r>
              <a:rPr sz="3200" dirty="0">
                <a:latin typeface="Carlito"/>
                <a:cs typeface="Carlito"/>
              </a:rPr>
              <a:t>as shown in </a:t>
            </a:r>
            <a:r>
              <a:rPr sz="3200" spc="-5" dirty="0">
                <a:latin typeface="Carlito"/>
                <a:cs typeface="Carlito"/>
              </a:rPr>
              <a:t>Figure. </a:t>
            </a:r>
            <a:r>
              <a:rPr sz="3200" dirty="0">
                <a:latin typeface="Carlito"/>
                <a:cs typeface="Carlito"/>
              </a:rPr>
              <a:t>As another  </a:t>
            </a:r>
            <a:r>
              <a:rPr sz="3200" spc="-15" dirty="0">
                <a:latin typeface="Carlito"/>
                <a:cs typeface="Carlito"/>
              </a:rPr>
              <a:t>example,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helium </a:t>
            </a:r>
            <a:r>
              <a:rPr sz="3200" spc="-10" dirty="0">
                <a:latin typeface="Carlito"/>
                <a:cs typeface="Carlito"/>
              </a:rPr>
              <a:t>atom, </a:t>
            </a:r>
            <a:r>
              <a:rPr sz="3200" spc="-5" dirty="0">
                <a:latin typeface="Carlito"/>
                <a:cs typeface="Carlito"/>
              </a:rPr>
              <a:t>shown in </a:t>
            </a:r>
            <a:r>
              <a:rPr sz="3200" spc="-10" dirty="0">
                <a:latin typeface="Carlito"/>
                <a:cs typeface="Carlito"/>
              </a:rPr>
              <a:t>Figure, 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spc="-10" dirty="0">
                <a:latin typeface="Carlito"/>
                <a:cs typeface="Carlito"/>
              </a:rPr>
              <a:t>two </a:t>
            </a:r>
            <a:r>
              <a:rPr sz="3200" spc="-15" dirty="0">
                <a:latin typeface="Carlito"/>
                <a:cs typeface="Carlito"/>
              </a:rPr>
              <a:t>protons </a:t>
            </a:r>
            <a:r>
              <a:rPr sz="3200" spc="5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two </a:t>
            </a:r>
            <a:r>
              <a:rPr sz="3200" spc="-10" dirty="0">
                <a:latin typeface="Carlito"/>
                <a:cs typeface="Carlito"/>
              </a:rPr>
              <a:t>neutrons </a:t>
            </a:r>
            <a:r>
              <a:rPr sz="3200" dirty="0">
                <a:latin typeface="Carlito"/>
                <a:cs typeface="Carlito"/>
              </a:rPr>
              <a:t>in the  </a:t>
            </a:r>
            <a:r>
              <a:rPr sz="3200" spc="-5" dirty="0">
                <a:latin typeface="Carlito"/>
                <a:cs typeface="Carlito"/>
              </a:rPr>
              <a:t>nucleus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two </a:t>
            </a:r>
            <a:r>
              <a:rPr sz="3200" spc="-10" dirty="0">
                <a:latin typeface="Carlito"/>
                <a:cs typeface="Carlito"/>
              </a:rPr>
              <a:t>electrons </a:t>
            </a:r>
            <a:r>
              <a:rPr sz="3200" spc="-5" dirty="0">
                <a:latin typeface="Carlito"/>
                <a:cs typeface="Carlito"/>
              </a:rPr>
              <a:t>orbiting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nucleus.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686" y="405511"/>
            <a:ext cx="77076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 Model </a:t>
            </a:r>
            <a:r>
              <a:rPr spc="-20" dirty="0"/>
              <a:t>(Hydrogen</a:t>
            </a:r>
            <a:r>
              <a:rPr spc="-65" dirty="0"/>
              <a:t> </a:t>
            </a:r>
            <a:r>
              <a:rPr spc="-35" dirty="0"/>
              <a:t>Atom)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103" y="1143000"/>
            <a:ext cx="7550150" cy="5097780"/>
            <a:chOff x="832103" y="1143000"/>
            <a:chExt cx="7550150" cy="5097780"/>
          </a:xfrm>
        </p:grpSpPr>
        <p:sp>
          <p:nvSpPr>
            <p:cNvPr id="4" name="object 4"/>
            <p:cNvSpPr/>
            <p:nvPr/>
          </p:nvSpPr>
          <p:spPr>
            <a:xfrm>
              <a:off x="1976628" y="1478279"/>
              <a:ext cx="5948680" cy="1645920"/>
            </a:xfrm>
            <a:custGeom>
              <a:avLst/>
              <a:gdLst/>
              <a:ahLst/>
              <a:cxnLst/>
              <a:rect l="l" t="t" r="r" b="b"/>
              <a:pathLst>
                <a:path w="5948680" h="1645920">
                  <a:moveTo>
                    <a:pt x="9906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90600" y="1280160"/>
                  </a:lnTo>
                  <a:lnTo>
                    <a:pt x="990600" y="0"/>
                  </a:lnTo>
                  <a:close/>
                </a:path>
                <a:path w="5948680" h="1645920">
                  <a:moveTo>
                    <a:pt x="5948172" y="365760"/>
                  </a:moveTo>
                  <a:lnTo>
                    <a:pt x="4957572" y="365760"/>
                  </a:lnTo>
                  <a:lnTo>
                    <a:pt x="4957572" y="1645920"/>
                  </a:lnTo>
                  <a:lnTo>
                    <a:pt x="5948172" y="1645920"/>
                  </a:lnTo>
                  <a:lnTo>
                    <a:pt x="5948172" y="365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2103" y="1143000"/>
              <a:ext cx="7549896" cy="5097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722" y="405511"/>
            <a:ext cx="71310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Bohr Model </a:t>
            </a:r>
            <a:r>
              <a:rPr spc="-5" dirty="0"/>
              <a:t>(Helium</a:t>
            </a:r>
            <a:r>
              <a:rPr spc="-55" dirty="0"/>
              <a:t> </a:t>
            </a:r>
            <a:r>
              <a:rPr spc="-35" dirty="0"/>
              <a:t>Atom)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5400" y="1219200"/>
            <a:ext cx="6718300" cy="4996180"/>
            <a:chOff x="1295400" y="1219200"/>
            <a:chExt cx="6718300" cy="4996180"/>
          </a:xfrm>
        </p:grpSpPr>
        <p:sp>
          <p:nvSpPr>
            <p:cNvPr id="4" name="object 4"/>
            <p:cNvSpPr/>
            <p:nvPr/>
          </p:nvSpPr>
          <p:spPr>
            <a:xfrm>
              <a:off x="1976628" y="1478279"/>
              <a:ext cx="5948680" cy="1645920"/>
            </a:xfrm>
            <a:custGeom>
              <a:avLst/>
              <a:gdLst/>
              <a:ahLst/>
              <a:cxnLst/>
              <a:rect l="l" t="t" r="r" b="b"/>
              <a:pathLst>
                <a:path w="5948680" h="1645920">
                  <a:moveTo>
                    <a:pt x="9906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90600" y="1280160"/>
                  </a:lnTo>
                  <a:lnTo>
                    <a:pt x="990600" y="0"/>
                  </a:lnTo>
                  <a:close/>
                </a:path>
                <a:path w="5948680" h="1645920">
                  <a:moveTo>
                    <a:pt x="5948172" y="365760"/>
                  </a:moveTo>
                  <a:lnTo>
                    <a:pt x="4957572" y="365760"/>
                  </a:lnTo>
                  <a:lnTo>
                    <a:pt x="4957572" y="1645920"/>
                  </a:lnTo>
                  <a:lnTo>
                    <a:pt x="5948172" y="1645920"/>
                  </a:lnTo>
                  <a:lnTo>
                    <a:pt x="5948172" y="365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95400" y="1219200"/>
              <a:ext cx="6717792" cy="4995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250" y="405511"/>
            <a:ext cx="36195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Atomic</a:t>
            </a:r>
            <a:r>
              <a:rPr spc="-60" dirty="0"/>
              <a:t> </a:t>
            </a:r>
            <a:r>
              <a:rPr dirty="0"/>
              <a:t>Number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570685"/>
            <a:ext cx="8074659" cy="32772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2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b="1" spc="-10" dirty="0">
                <a:latin typeface="Carlito"/>
                <a:cs typeface="Carlito"/>
              </a:rPr>
              <a:t>atomic </a:t>
            </a:r>
            <a:r>
              <a:rPr sz="2700" b="1" dirty="0">
                <a:latin typeface="Carlito"/>
                <a:cs typeface="Carlito"/>
              </a:rPr>
              <a:t>number </a:t>
            </a:r>
            <a:r>
              <a:rPr sz="2700" spc="-5" dirty="0">
                <a:latin typeface="Carlito"/>
                <a:cs typeface="Carlito"/>
              </a:rPr>
              <a:t>equals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number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15" dirty="0">
                <a:latin typeface="Carlito"/>
                <a:cs typeface="Carlito"/>
              </a:rPr>
              <a:t>protons </a:t>
            </a:r>
            <a:r>
              <a:rPr sz="2700" dirty="0">
                <a:latin typeface="Carlito"/>
                <a:cs typeface="Carlito"/>
              </a:rPr>
              <a:t>in  the </a:t>
            </a:r>
            <a:r>
              <a:rPr sz="2700" spc="-10" dirty="0">
                <a:latin typeface="Carlito"/>
                <a:cs typeface="Carlito"/>
              </a:rPr>
              <a:t>nucleus, </a:t>
            </a:r>
            <a:r>
              <a:rPr sz="2700" dirty="0">
                <a:latin typeface="Carlito"/>
                <a:cs typeface="Carlito"/>
              </a:rPr>
              <a:t>which is </a:t>
            </a:r>
            <a:r>
              <a:rPr sz="2700" spc="-10" dirty="0">
                <a:latin typeface="Carlito"/>
                <a:cs typeface="Carlito"/>
              </a:rPr>
              <a:t>the same </a:t>
            </a:r>
            <a:r>
              <a:rPr sz="2700" spc="-5" dirty="0">
                <a:latin typeface="Carlito"/>
                <a:cs typeface="Carlito"/>
              </a:rPr>
              <a:t>as </a:t>
            </a:r>
            <a:r>
              <a:rPr sz="2700" spc="-15" dirty="0">
                <a:latin typeface="Carlito"/>
                <a:cs typeface="Carlito"/>
              </a:rPr>
              <a:t>the</a:t>
            </a:r>
            <a:r>
              <a:rPr sz="2700" spc="58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number </a:t>
            </a:r>
            <a:r>
              <a:rPr sz="2700" dirty="0">
                <a:latin typeface="Carlito"/>
                <a:cs typeface="Carlito"/>
              </a:rPr>
              <a:t>of  </a:t>
            </a:r>
            <a:r>
              <a:rPr sz="2700" spc="-10" dirty="0">
                <a:latin typeface="Carlito"/>
                <a:cs typeface="Carlito"/>
              </a:rPr>
              <a:t>electrons </a:t>
            </a:r>
            <a:r>
              <a:rPr sz="2700" dirty="0">
                <a:latin typeface="Carlito"/>
                <a:cs typeface="Carlito"/>
              </a:rPr>
              <a:t>in an </a:t>
            </a:r>
            <a:r>
              <a:rPr sz="2700" spc="-5" dirty="0">
                <a:latin typeface="Carlito"/>
                <a:cs typeface="Carlito"/>
              </a:rPr>
              <a:t>electrically balanced </a:t>
            </a:r>
            <a:r>
              <a:rPr sz="2700" spc="-15" dirty="0">
                <a:latin typeface="Carlito"/>
                <a:cs typeface="Carlito"/>
              </a:rPr>
              <a:t>(neutral)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atom.</a:t>
            </a:r>
            <a:endParaRPr sz="2700">
              <a:latin typeface="Carlito"/>
              <a:cs typeface="Carlito"/>
            </a:endParaRPr>
          </a:p>
          <a:p>
            <a:pPr marL="355600" marR="8255" indent="-343535">
              <a:lnSpc>
                <a:spcPts val="2920"/>
              </a:lnSpc>
              <a:spcBef>
                <a:spcPts val="6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All </a:t>
            </a:r>
            <a:r>
              <a:rPr sz="2700" spc="-5" dirty="0">
                <a:latin typeface="Carlito"/>
                <a:cs typeface="Carlito"/>
              </a:rPr>
              <a:t>elements </a:t>
            </a:r>
            <a:r>
              <a:rPr sz="2700" spc="-15" dirty="0">
                <a:latin typeface="Carlito"/>
                <a:cs typeface="Carlito"/>
              </a:rPr>
              <a:t>are arranged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periodic </a:t>
            </a:r>
            <a:r>
              <a:rPr sz="2700" spc="-10" dirty="0">
                <a:latin typeface="Carlito"/>
                <a:cs typeface="Carlito"/>
              </a:rPr>
              <a:t>table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spc="-10" dirty="0">
                <a:latin typeface="Carlito"/>
                <a:cs typeface="Carlito"/>
              </a:rPr>
              <a:t>the  </a:t>
            </a:r>
            <a:r>
              <a:rPr sz="2700" spc="-5" dirty="0">
                <a:latin typeface="Carlito"/>
                <a:cs typeface="Carlito"/>
              </a:rPr>
              <a:t>elements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5" dirty="0">
                <a:latin typeface="Carlito"/>
                <a:cs typeface="Carlito"/>
              </a:rPr>
              <a:t>order </a:t>
            </a:r>
            <a:r>
              <a:rPr sz="2700" spc="-10" dirty="0">
                <a:latin typeface="Carlito"/>
                <a:cs typeface="Carlito"/>
              </a:rPr>
              <a:t>according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their </a:t>
            </a:r>
            <a:r>
              <a:rPr sz="2700" spc="-15" dirty="0">
                <a:latin typeface="Carlito"/>
                <a:cs typeface="Carlito"/>
              </a:rPr>
              <a:t>atomic</a:t>
            </a:r>
            <a:r>
              <a:rPr sz="2700" spc="-45" dirty="0">
                <a:latin typeface="Carlito"/>
                <a:cs typeface="Carlito"/>
              </a:rPr>
              <a:t> number.</a:t>
            </a:r>
            <a:endParaRPr sz="2700">
              <a:latin typeface="Carlito"/>
              <a:cs typeface="Carlito"/>
            </a:endParaRPr>
          </a:p>
          <a:p>
            <a:pPr marL="355600" marR="5080" indent="-343535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20" dirty="0">
                <a:latin typeface="Carlito"/>
                <a:cs typeface="Carlito"/>
              </a:rPr>
              <a:t>For </a:t>
            </a:r>
            <a:r>
              <a:rPr sz="2700" spc="-15" dirty="0">
                <a:latin typeface="Carlito"/>
                <a:cs typeface="Carlito"/>
              </a:rPr>
              <a:t>example, </a:t>
            </a:r>
            <a:r>
              <a:rPr sz="2700" spc="-25" dirty="0">
                <a:latin typeface="Carlito"/>
                <a:cs typeface="Carlito"/>
              </a:rPr>
              <a:t>hydrogen </a:t>
            </a:r>
            <a:r>
              <a:rPr sz="2700" spc="-5" dirty="0">
                <a:latin typeface="Carlito"/>
                <a:cs typeface="Carlito"/>
              </a:rPr>
              <a:t>has an </a:t>
            </a:r>
            <a:r>
              <a:rPr sz="2700" spc="-15" dirty="0">
                <a:latin typeface="Carlito"/>
                <a:cs typeface="Carlito"/>
              </a:rPr>
              <a:t>atomic </a:t>
            </a:r>
            <a:r>
              <a:rPr sz="2700" spc="-5" dirty="0">
                <a:latin typeface="Carlito"/>
                <a:cs typeface="Carlito"/>
              </a:rPr>
              <a:t>number </a:t>
            </a:r>
            <a:r>
              <a:rPr sz="2700" dirty="0">
                <a:latin typeface="Carlito"/>
                <a:cs typeface="Carlito"/>
              </a:rPr>
              <a:t>of 1 </a:t>
            </a:r>
            <a:r>
              <a:rPr sz="2700" spc="-5" dirty="0">
                <a:latin typeface="Carlito"/>
                <a:cs typeface="Carlito"/>
              </a:rPr>
              <a:t>and  helium has </a:t>
            </a:r>
            <a:r>
              <a:rPr sz="2700" dirty="0">
                <a:latin typeface="Carlito"/>
                <a:cs typeface="Carlito"/>
              </a:rPr>
              <a:t>an </a:t>
            </a:r>
            <a:r>
              <a:rPr sz="2700" spc="-10" dirty="0">
                <a:latin typeface="Carlito"/>
                <a:cs typeface="Carlito"/>
              </a:rPr>
              <a:t>atomic </a:t>
            </a:r>
            <a:r>
              <a:rPr sz="2700" spc="-5" dirty="0">
                <a:latin typeface="Carlito"/>
                <a:cs typeface="Carlito"/>
              </a:rPr>
              <a:t>number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2.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In</a:t>
            </a:r>
            <a:r>
              <a:rPr sz="2700" spc="26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their</a:t>
            </a:r>
            <a:r>
              <a:rPr sz="2700" spc="27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normal</a:t>
            </a:r>
            <a:r>
              <a:rPr sz="2700" spc="28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(or</a:t>
            </a:r>
            <a:r>
              <a:rPr sz="2700" spc="27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neutral)</a:t>
            </a:r>
            <a:r>
              <a:rPr sz="2700" spc="285" dirty="0">
                <a:latin typeface="Carlito"/>
                <a:cs typeface="Carlito"/>
              </a:rPr>
              <a:t> </a:t>
            </a:r>
            <a:r>
              <a:rPr sz="2700" spc="-30" dirty="0">
                <a:latin typeface="Carlito"/>
                <a:cs typeface="Carlito"/>
              </a:rPr>
              <a:t>state,</a:t>
            </a:r>
            <a:r>
              <a:rPr sz="2700" spc="2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all</a:t>
            </a:r>
            <a:r>
              <a:rPr sz="2700" spc="27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atoms</a:t>
            </a:r>
            <a:r>
              <a:rPr sz="2700" spc="2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2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28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given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879144" y="5151882"/>
            <a:ext cx="11982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rlito"/>
                <a:cs typeface="Carlito"/>
              </a:rPr>
              <a:t>protons;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44" y="4780864"/>
            <a:ext cx="7727950" cy="80835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416050" marR="5080" indent="-1403985">
              <a:lnSpc>
                <a:spcPts val="2920"/>
              </a:lnSpc>
              <a:spcBef>
                <a:spcPts val="465"/>
              </a:spcBef>
              <a:tabLst>
                <a:tab pos="1411605" algn="l"/>
                <a:tab pos="2111375" algn="l"/>
                <a:tab pos="2317115" algn="l"/>
                <a:tab pos="3023870" algn="l"/>
                <a:tab pos="3431540" algn="l"/>
                <a:tab pos="4011929" algn="l"/>
                <a:tab pos="4726940" algn="l"/>
                <a:tab pos="5359400" algn="l"/>
                <a:tab pos="5838190" algn="l"/>
                <a:tab pos="5888355" algn="l"/>
                <a:tab pos="6534784" algn="l"/>
                <a:tab pos="7418705" algn="l"/>
              </a:tabLst>
            </a:pPr>
            <a:r>
              <a:rPr sz="2700" dirty="0">
                <a:latin typeface="Carlito"/>
                <a:cs typeface="Carlito"/>
              </a:rPr>
              <a:t>elem</a:t>
            </a:r>
            <a:r>
              <a:rPr sz="2700" spc="-15" dirty="0">
                <a:latin typeface="Carlito"/>
                <a:cs typeface="Carlito"/>
              </a:rPr>
              <a:t>e</a:t>
            </a:r>
            <a:r>
              <a:rPr sz="2700" spc="-30" dirty="0">
                <a:latin typeface="Carlito"/>
                <a:cs typeface="Carlito"/>
              </a:rPr>
              <a:t>n</a:t>
            </a:r>
            <a:r>
              <a:rPr sz="2700" dirty="0">
                <a:latin typeface="Carlito"/>
                <a:cs typeface="Carlito"/>
              </a:rPr>
              <a:t>t	</a:t>
            </a:r>
            <a:r>
              <a:rPr sz="2700" spc="-5" dirty="0">
                <a:latin typeface="Carlito"/>
                <a:cs typeface="Carlito"/>
              </a:rPr>
              <a:t>h</a:t>
            </a:r>
            <a:r>
              <a:rPr sz="2700" spc="-50" dirty="0">
                <a:latin typeface="Carlito"/>
                <a:cs typeface="Carlito"/>
              </a:rPr>
              <a:t>a</a:t>
            </a:r>
            <a:r>
              <a:rPr sz="2700" spc="-25" dirty="0">
                <a:latin typeface="Carlito"/>
                <a:cs typeface="Carlito"/>
              </a:rPr>
              <a:t>v</a:t>
            </a:r>
            <a:r>
              <a:rPr sz="2700" dirty="0">
                <a:latin typeface="Carlito"/>
                <a:cs typeface="Carlito"/>
              </a:rPr>
              <a:t>e		t</a:t>
            </a:r>
            <a:r>
              <a:rPr sz="2700" spc="-20" dirty="0">
                <a:latin typeface="Carlito"/>
                <a:cs typeface="Carlito"/>
              </a:rPr>
              <a:t>h</a:t>
            </a:r>
            <a:r>
              <a:rPr sz="2700" dirty="0">
                <a:latin typeface="Carlito"/>
                <a:cs typeface="Carlito"/>
              </a:rPr>
              <a:t>e	</a:t>
            </a:r>
            <a:r>
              <a:rPr sz="2700" spc="-5" dirty="0">
                <a:latin typeface="Carlito"/>
                <a:cs typeface="Carlito"/>
              </a:rPr>
              <a:t>sam</a:t>
            </a:r>
            <a:r>
              <a:rPr sz="2700" dirty="0">
                <a:latin typeface="Carlito"/>
                <a:cs typeface="Carlito"/>
              </a:rPr>
              <a:t>e	</a:t>
            </a:r>
            <a:r>
              <a:rPr sz="2700" spc="-15" dirty="0">
                <a:latin typeface="Carlito"/>
                <a:cs typeface="Carlito"/>
              </a:rPr>
              <a:t>n</a:t>
            </a:r>
            <a:r>
              <a:rPr sz="2700" spc="-5" dirty="0">
                <a:latin typeface="Carlito"/>
                <a:cs typeface="Carlito"/>
              </a:rPr>
              <a:t>umbe</a:t>
            </a:r>
            <a:r>
              <a:rPr sz="2700" dirty="0">
                <a:latin typeface="Carlito"/>
                <a:cs typeface="Carlito"/>
              </a:rPr>
              <a:t>r	</a:t>
            </a:r>
            <a:r>
              <a:rPr sz="2700" spc="-10" dirty="0">
                <a:latin typeface="Carlito"/>
                <a:cs typeface="Carlito"/>
              </a:rPr>
              <a:t>o</a:t>
            </a:r>
            <a:r>
              <a:rPr sz="2700" dirty="0">
                <a:latin typeface="Carlito"/>
                <a:cs typeface="Carlito"/>
              </a:rPr>
              <a:t>f		elec</a:t>
            </a:r>
            <a:r>
              <a:rPr sz="2700" spc="-10" dirty="0">
                <a:latin typeface="Carlito"/>
                <a:cs typeface="Carlito"/>
              </a:rPr>
              <a:t>t</a:t>
            </a:r>
            <a:r>
              <a:rPr sz="2700" spc="-55" dirty="0">
                <a:latin typeface="Carlito"/>
                <a:cs typeface="Carlito"/>
              </a:rPr>
              <a:t>r</a:t>
            </a:r>
            <a:r>
              <a:rPr sz="2700" spc="-10" dirty="0">
                <a:latin typeface="Carlito"/>
                <a:cs typeface="Carlito"/>
              </a:rPr>
              <a:t>o</a:t>
            </a:r>
            <a:r>
              <a:rPr sz="2700" spc="-5" dirty="0">
                <a:latin typeface="Carlito"/>
                <a:cs typeface="Carlito"/>
              </a:rPr>
              <a:t>n</a:t>
            </a:r>
            <a:r>
              <a:rPr sz="2700" dirty="0">
                <a:latin typeface="Carlito"/>
                <a:cs typeface="Carlito"/>
              </a:rPr>
              <a:t>s	</a:t>
            </a:r>
            <a:r>
              <a:rPr sz="2700" spc="-15" dirty="0">
                <a:latin typeface="Carlito"/>
                <a:cs typeface="Carlito"/>
              </a:rPr>
              <a:t>as  </a:t>
            </a:r>
            <a:r>
              <a:rPr sz="2700" spc="-20" dirty="0">
                <a:latin typeface="Carlito"/>
                <a:cs typeface="Carlito"/>
              </a:rPr>
              <a:t>t</a:t>
            </a:r>
            <a:r>
              <a:rPr sz="2700" spc="-5" dirty="0">
                <a:latin typeface="Carlito"/>
                <a:cs typeface="Carlito"/>
              </a:rPr>
              <a:t>h</a:t>
            </a:r>
            <a:r>
              <a:rPr sz="2700" dirty="0">
                <a:latin typeface="Carlito"/>
                <a:cs typeface="Carlito"/>
              </a:rPr>
              <a:t>e	</a:t>
            </a:r>
            <a:r>
              <a:rPr sz="2700" spc="-5" dirty="0">
                <a:latin typeface="Carlito"/>
                <a:cs typeface="Carlito"/>
              </a:rPr>
              <a:t>p</a:t>
            </a:r>
            <a:r>
              <a:rPr sz="2700" spc="-10" dirty="0">
                <a:latin typeface="Carlito"/>
                <a:cs typeface="Carlito"/>
              </a:rPr>
              <a:t>o</a:t>
            </a:r>
            <a:r>
              <a:rPr sz="2700" spc="-5" dirty="0">
                <a:latin typeface="Carlito"/>
                <a:cs typeface="Carlito"/>
              </a:rPr>
              <a:t>siti</a:t>
            </a:r>
            <a:r>
              <a:rPr sz="2700" spc="-30" dirty="0">
                <a:latin typeface="Carlito"/>
                <a:cs typeface="Carlito"/>
              </a:rPr>
              <a:t>v</a:t>
            </a:r>
            <a:r>
              <a:rPr sz="2700" dirty="0">
                <a:latin typeface="Carlito"/>
                <a:cs typeface="Carlito"/>
              </a:rPr>
              <a:t>e	cha</a:t>
            </a:r>
            <a:r>
              <a:rPr sz="2700" spc="-45" dirty="0">
                <a:latin typeface="Carlito"/>
                <a:cs typeface="Carlito"/>
              </a:rPr>
              <a:t>r</a:t>
            </a:r>
            <a:r>
              <a:rPr sz="2700" spc="-35" dirty="0">
                <a:latin typeface="Carlito"/>
                <a:cs typeface="Carlito"/>
              </a:rPr>
              <a:t>g</a:t>
            </a:r>
            <a:r>
              <a:rPr sz="2700" dirty="0">
                <a:latin typeface="Carlito"/>
                <a:cs typeface="Carlito"/>
              </a:rPr>
              <a:t>es	</a:t>
            </a:r>
            <a:r>
              <a:rPr sz="2700" spc="-30" dirty="0">
                <a:latin typeface="Carlito"/>
                <a:cs typeface="Carlito"/>
              </a:rPr>
              <a:t>c</a:t>
            </a:r>
            <a:r>
              <a:rPr sz="2700" dirty="0">
                <a:latin typeface="Carlito"/>
                <a:cs typeface="Carlito"/>
              </a:rPr>
              <a:t>an</a:t>
            </a:r>
            <a:r>
              <a:rPr sz="2700" spc="-15" dirty="0">
                <a:latin typeface="Carlito"/>
                <a:cs typeface="Carlito"/>
              </a:rPr>
              <a:t>c</a:t>
            </a:r>
            <a:r>
              <a:rPr sz="2700" dirty="0">
                <a:latin typeface="Carlito"/>
                <a:cs typeface="Carlito"/>
              </a:rPr>
              <a:t>el	the	</a:t>
            </a:r>
            <a:r>
              <a:rPr sz="2700" spc="-5" dirty="0">
                <a:latin typeface="Carlito"/>
                <a:cs typeface="Carlito"/>
              </a:rPr>
              <a:t>ne</a:t>
            </a:r>
            <a:r>
              <a:rPr sz="2700" spc="-65" dirty="0">
                <a:latin typeface="Carlito"/>
                <a:cs typeface="Carlito"/>
              </a:rPr>
              <a:t>g</a:t>
            </a:r>
            <a:r>
              <a:rPr sz="2700" spc="-25" dirty="0">
                <a:latin typeface="Carlito"/>
                <a:cs typeface="Carlito"/>
              </a:rPr>
              <a:t>a</a:t>
            </a:r>
            <a:r>
              <a:rPr sz="2700" dirty="0">
                <a:latin typeface="Carlito"/>
                <a:cs typeface="Carlito"/>
              </a:rPr>
              <a:t>t</a:t>
            </a:r>
            <a:r>
              <a:rPr sz="2700" spc="-15" dirty="0">
                <a:latin typeface="Carlito"/>
                <a:cs typeface="Carlito"/>
              </a:rPr>
              <a:t>i</a:t>
            </a:r>
            <a:r>
              <a:rPr sz="2700" spc="-25" dirty="0">
                <a:latin typeface="Carlito"/>
                <a:cs typeface="Carlito"/>
              </a:rPr>
              <a:t>v</a:t>
            </a:r>
            <a:r>
              <a:rPr sz="2700" dirty="0">
                <a:latin typeface="Carlito"/>
                <a:cs typeface="Carlito"/>
              </a:rPr>
              <a:t>e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5522163"/>
            <a:ext cx="65874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rlito"/>
                <a:cs typeface="Carlito"/>
              </a:rPr>
              <a:t>charges, </a:t>
            </a:r>
            <a:r>
              <a:rPr sz="2700" dirty="0">
                <a:latin typeface="Carlito"/>
                <a:cs typeface="Carlito"/>
              </a:rPr>
              <a:t>and the </a:t>
            </a:r>
            <a:r>
              <a:rPr sz="2700" spc="-15" dirty="0">
                <a:latin typeface="Carlito"/>
                <a:cs typeface="Carlito"/>
              </a:rPr>
              <a:t>atom </a:t>
            </a:r>
            <a:r>
              <a:rPr sz="2700" spc="-5" dirty="0">
                <a:latin typeface="Carlito"/>
                <a:cs typeface="Carlito"/>
              </a:rPr>
              <a:t>has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net </a:t>
            </a:r>
            <a:r>
              <a:rPr sz="2700" spc="-15" dirty="0">
                <a:latin typeface="Carlito"/>
                <a:cs typeface="Carlito"/>
              </a:rPr>
              <a:t>charge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zero.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001" y="405511"/>
            <a:ext cx="4535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Electrons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Shells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526489"/>
            <a:ext cx="807529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000" b="1" i="1" spc="-5" dirty="0">
                <a:latin typeface="Carlito"/>
                <a:cs typeface="Carlito"/>
              </a:rPr>
              <a:t>Energy </a:t>
            </a:r>
            <a:r>
              <a:rPr sz="3000" b="1" i="1" spc="-10" dirty="0">
                <a:latin typeface="Carlito"/>
                <a:cs typeface="Carlito"/>
              </a:rPr>
              <a:t>Levels</a:t>
            </a:r>
            <a:endParaRPr sz="3000">
              <a:latin typeface="Carlito"/>
              <a:cs typeface="Carlito"/>
            </a:endParaRPr>
          </a:p>
          <a:p>
            <a:pPr marL="355600" marR="8890" indent="-343535" algn="just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5" dirty="0">
                <a:latin typeface="Carlito"/>
                <a:cs typeface="Carlito"/>
              </a:rPr>
              <a:t>orbit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nucleus </a:t>
            </a:r>
            <a:r>
              <a:rPr sz="3000" dirty="0">
                <a:latin typeface="Carlito"/>
                <a:cs typeface="Carlito"/>
              </a:rPr>
              <a:t>of an </a:t>
            </a:r>
            <a:r>
              <a:rPr sz="3000" spc="-20" dirty="0">
                <a:latin typeface="Carlito"/>
                <a:cs typeface="Carlito"/>
              </a:rPr>
              <a:t>atom at </a:t>
            </a:r>
            <a:r>
              <a:rPr sz="3000" spc="-10" dirty="0">
                <a:latin typeface="Carlito"/>
                <a:cs typeface="Carlito"/>
              </a:rPr>
              <a:t>certain  distances </a:t>
            </a:r>
            <a:r>
              <a:rPr sz="3000" spc="-15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nucleus.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5" dirty="0">
                <a:latin typeface="Carlito"/>
                <a:cs typeface="Carlito"/>
              </a:rPr>
              <a:t>near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nucleus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5" dirty="0">
                <a:latin typeface="Carlito"/>
                <a:cs typeface="Carlito"/>
              </a:rPr>
              <a:t>less </a:t>
            </a:r>
            <a:r>
              <a:rPr sz="3000" spc="-15" dirty="0">
                <a:latin typeface="Carlito"/>
                <a:cs typeface="Carlito"/>
              </a:rPr>
              <a:t>energy </a:t>
            </a:r>
            <a:r>
              <a:rPr sz="3000" spc="-5" dirty="0">
                <a:latin typeface="Carlito"/>
                <a:cs typeface="Carlito"/>
              </a:rPr>
              <a:t>than  </a:t>
            </a:r>
            <a:r>
              <a:rPr sz="3000" dirty="0">
                <a:latin typeface="Carlito"/>
                <a:cs typeface="Carlito"/>
              </a:rPr>
              <a:t>those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20" dirty="0">
                <a:latin typeface="Carlito"/>
                <a:cs typeface="Carlito"/>
              </a:rPr>
              <a:t>distant </a:t>
            </a:r>
            <a:r>
              <a:rPr sz="3000" spc="-5" dirty="0">
                <a:latin typeface="Carlito"/>
                <a:cs typeface="Carlito"/>
              </a:rPr>
              <a:t>orbits. Only </a:t>
            </a:r>
            <a:r>
              <a:rPr sz="3000" spc="-15" dirty="0">
                <a:latin typeface="Carlito"/>
                <a:cs typeface="Carlito"/>
              </a:rPr>
              <a:t>discrete  </a:t>
            </a:r>
            <a:r>
              <a:rPr sz="3000" spc="-20" dirty="0">
                <a:latin typeface="Carlito"/>
                <a:cs typeface="Carlito"/>
              </a:rPr>
              <a:t>(separate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distinct) </a:t>
            </a:r>
            <a:r>
              <a:rPr sz="3000" spc="-15" dirty="0">
                <a:latin typeface="Carlito"/>
                <a:cs typeface="Carlito"/>
              </a:rPr>
              <a:t>values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electron </a:t>
            </a:r>
            <a:r>
              <a:rPr sz="3000" spc="-10" dirty="0">
                <a:latin typeface="Carlito"/>
                <a:cs typeface="Carlito"/>
              </a:rPr>
              <a:t>energies  </a:t>
            </a:r>
            <a:r>
              <a:rPr sz="3000" spc="-25" dirty="0">
                <a:latin typeface="Carlito"/>
                <a:cs typeface="Carlito"/>
              </a:rPr>
              <a:t>exist </a:t>
            </a:r>
            <a:r>
              <a:rPr sz="3000" spc="-5" dirty="0">
                <a:latin typeface="Carlito"/>
                <a:cs typeface="Carlito"/>
              </a:rPr>
              <a:t>within </a:t>
            </a:r>
            <a:r>
              <a:rPr sz="3000" spc="-15" dirty="0">
                <a:latin typeface="Carlito"/>
                <a:cs typeface="Carlito"/>
              </a:rPr>
              <a:t>atomic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structures.</a:t>
            </a:r>
            <a:endParaRPr sz="30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25" dirty="0">
                <a:latin typeface="Carlito"/>
                <a:cs typeface="Carlito"/>
              </a:rPr>
              <a:t>Therefore, </a:t>
            </a:r>
            <a:r>
              <a:rPr sz="3000" spc="-10" dirty="0">
                <a:latin typeface="Carlito"/>
                <a:cs typeface="Carlito"/>
              </a:rPr>
              <a:t>electrons must </a:t>
            </a:r>
            <a:r>
              <a:rPr sz="3000" spc="-5" dirty="0">
                <a:latin typeface="Carlito"/>
                <a:cs typeface="Carlito"/>
              </a:rPr>
              <a:t>orbit only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spc="-20" dirty="0">
                <a:latin typeface="Carlito"/>
                <a:cs typeface="Carlito"/>
              </a:rPr>
              <a:t>discrete  </a:t>
            </a:r>
            <a:r>
              <a:rPr sz="3000" spc="-10" dirty="0">
                <a:latin typeface="Carlito"/>
                <a:cs typeface="Carlito"/>
              </a:rPr>
              <a:t>distances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nucleus. </a:t>
            </a:r>
            <a:r>
              <a:rPr sz="3000" spc="-15" dirty="0">
                <a:latin typeface="Carlito"/>
                <a:cs typeface="Carlito"/>
              </a:rPr>
              <a:t>Each discrete  distance </a:t>
            </a:r>
            <a:r>
              <a:rPr sz="3000" spc="-5" dirty="0">
                <a:latin typeface="Carlito"/>
                <a:cs typeface="Carlito"/>
              </a:rPr>
              <a:t>(</a:t>
            </a:r>
            <a:r>
              <a:rPr sz="3000" b="1" spc="-5" dirty="0">
                <a:latin typeface="Carlito"/>
                <a:cs typeface="Carlito"/>
              </a:rPr>
              <a:t>orbit</a:t>
            </a:r>
            <a:r>
              <a:rPr sz="3000" spc="-5" dirty="0">
                <a:latin typeface="Carlito"/>
                <a:cs typeface="Carlito"/>
              </a:rPr>
              <a:t>) </a:t>
            </a:r>
            <a:r>
              <a:rPr sz="3000" spc="-15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nucleus corresponds </a:t>
            </a:r>
            <a:r>
              <a:rPr sz="3000" spc="-35" dirty="0">
                <a:latin typeface="Carlito"/>
                <a:cs typeface="Carlito"/>
              </a:rPr>
              <a:t>to 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certain energy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level.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0164" y="405511"/>
            <a:ext cx="6497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Electrons </a:t>
            </a:r>
            <a:r>
              <a:rPr dirty="0"/>
              <a:t>and </a:t>
            </a:r>
            <a:r>
              <a:rPr spc="-5" dirty="0"/>
              <a:t>Shells</a:t>
            </a:r>
            <a:r>
              <a:rPr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608785"/>
            <a:ext cx="807339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5" dirty="0">
                <a:latin typeface="Carlito"/>
                <a:cs typeface="Carlito"/>
              </a:rPr>
              <a:t>atom,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orbits </a:t>
            </a:r>
            <a:r>
              <a:rPr sz="3000" spc="-15" dirty="0">
                <a:latin typeface="Carlito"/>
                <a:cs typeface="Carlito"/>
              </a:rPr>
              <a:t>are grouped into energy 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levels </a:t>
            </a:r>
            <a:r>
              <a:rPr sz="3000" spc="-5" dirty="0">
                <a:latin typeface="Carlito"/>
                <a:cs typeface="Carlito"/>
              </a:rPr>
              <a:t>known </a:t>
            </a:r>
            <a:r>
              <a:rPr sz="3000" dirty="0">
                <a:latin typeface="Carlito"/>
                <a:cs typeface="Carlito"/>
              </a:rPr>
              <a:t>as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b="1" spc="-5" dirty="0">
                <a:latin typeface="Carlito"/>
                <a:cs typeface="Carlito"/>
              </a:rPr>
              <a:t>shells</a:t>
            </a:r>
            <a:r>
              <a:rPr sz="3000" spc="-5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given </a:t>
            </a:r>
            <a:r>
              <a:rPr sz="3000" spc="-20" dirty="0">
                <a:latin typeface="Carlito"/>
                <a:cs typeface="Carlito"/>
              </a:rPr>
              <a:t>atom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5" dirty="0">
                <a:latin typeface="Carlito"/>
                <a:cs typeface="Carlito"/>
              </a:rPr>
              <a:t>fixed </a:t>
            </a:r>
            <a:r>
              <a:rPr sz="3000" spc="-5" dirty="0">
                <a:latin typeface="Carlito"/>
                <a:cs typeface="Carlito"/>
              </a:rPr>
              <a:t>number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5" dirty="0">
                <a:latin typeface="Carlito"/>
                <a:cs typeface="Carlito"/>
              </a:rPr>
              <a:t>shells. </a:t>
            </a:r>
            <a:r>
              <a:rPr sz="3000" spc="-20" dirty="0">
                <a:latin typeface="Carlito"/>
                <a:cs typeface="Carlito"/>
              </a:rPr>
              <a:t>Each  </a:t>
            </a:r>
            <a:r>
              <a:rPr sz="3000" spc="-5" dirty="0">
                <a:latin typeface="Carlito"/>
                <a:cs typeface="Carlito"/>
              </a:rPr>
              <a:t>shell has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fixed </a:t>
            </a:r>
            <a:r>
              <a:rPr sz="3000" spc="-5" dirty="0">
                <a:latin typeface="Carlito"/>
                <a:cs typeface="Carlito"/>
              </a:rPr>
              <a:t>maximum number </a:t>
            </a:r>
            <a:r>
              <a:rPr sz="3000" dirty="0">
                <a:latin typeface="Carlito"/>
                <a:cs typeface="Carlito"/>
              </a:rPr>
              <a:t>of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electrons.</a:t>
            </a:r>
            <a:endParaRPr sz="30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shells </a:t>
            </a:r>
            <a:r>
              <a:rPr sz="3000" spc="-10" dirty="0">
                <a:latin typeface="Carlito"/>
                <a:cs typeface="Carlito"/>
              </a:rPr>
              <a:t>(energy levels) </a:t>
            </a:r>
            <a:r>
              <a:rPr sz="3000" spc="-20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designated </a:t>
            </a:r>
            <a:r>
              <a:rPr sz="3000" dirty="0">
                <a:latin typeface="Carlito"/>
                <a:cs typeface="Carlito"/>
              </a:rPr>
              <a:t>1, 2, 3,  and so </a:t>
            </a:r>
            <a:r>
              <a:rPr sz="3000" spc="-5" dirty="0">
                <a:latin typeface="Carlito"/>
                <a:cs typeface="Carlito"/>
              </a:rPr>
              <a:t>on, </a:t>
            </a:r>
            <a:r>
              <a:rPr sz="3000" dirty="0">
                <a:latin typeface="Carlito"/>
                <a:cs typeface="Carlito"/>
              </a:rPr>
              <a:t>with 1 </a:t>
            </a:r>
            <a:r>
              <a:rPr sz="3000" spc="-10" dirty="0">
                <a:latin typeface="Carlito"/>
                <a:cs typeface="Carlito"/>
              </a:rPr>
              <a:t>being closest to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nucleus.</a:t>
            </a:r>
            <a:endParaRPr sz="30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dirty="0">
                <a:latin typeface="Carlito"/>
                <a:cs typeface="Carlito"/>
              </a:rPr>
              <a:t>Bohr model of the </a:t>
            </a:r>
            <a:r>
              <a:rPr sz="3000" spc="-10" dirty="0">
                <a:latin typeface="Carlito"/>
                <a:cs typeface="Carlito"/>
              </a:rPr>
              <a:t>silicon </a:t>
            </a:r>
            <a:r>
              <a:rPr sz="3000" spc="-15" dirty="0">
                <a:latin typeface="Carlito"/>
                <a:cs typeface="Carlito"/>
              </a:rPr>
              <a:t>atom </a:t>
            </a:r>
            <a:r>
              <a:rPr sz="3000" spc="-5" dirty="0">
                <a:latin typeface="Carlito"/>
                <a:cs typeface="Carlito"/>
              </a:rPr>
              <a:t>is shown in  </a:t>
            </a:r>
            <a:r>
              <a:rPr sz="3000" spc="-10" dirty="0">
                <a:latin typeface="Carlito"/>
                <a:cs typeface="Carlito"/>
              </a:rPr>
              <a:t>Figure. </a:t>
            </a:r>
            <a:r>
              <a:rPr sz="3000" dirty="0">
                <a:latin typeface="Carlito"/>
                <a:cs typeface="Carlito"/>
              </a:rPr>
              <a:t>Notice </a:t>
            </a:r>
            <a:r>
              <a:rPr sz="3000" spc="-10" dirty="0">
                <a:latin typeface="Carlito"/>
                <a:cs typeface="Carlito"/>
              </a:rPr>
              <a:t>that there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14 </a:t>
            </a:r>
            <a:r>
              <a:rPr sz="3000" spc="-15" dirty="0">
                <a:latin typeface="Carlito"/>
                <a:cs typeface="Carlito"/>
              </a:rPr>
              <a:t>electrons </a:t>
            </a:r>
            <a:r>
              <a:rPr sz="3000" dirty="0">
                <a:latin typeface="Carlito"/>
                <a:cs typeface="Carlito"/>
              </a:rPr>
              <a:t>and 14  each of </a:t>
            </a:r>
            <a:r>
              <a:rPr sz="3000" spc="-15" dirty="0">
                <a:latin typeface="Carlito"/>
                <a:cs typeface="Carlito"/>
              </a:rPr>
              <a:t>protons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neutrons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nucleus.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6627" y="1199388"/>
            <a:ext cx="5567172" cy="504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4702" y="135762"/>
            <a:ext cx="74517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20620" marR="5080" indent="-240855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Illustration </a:t>
            </a:r>
            <a:r>
              <a:rPr sz="4000" spc="-5" dirty="0"/>
              <a:t>of the Bohr model of the  </a:t>
            </a:r>
            <a:r>
              <a:rPr sz="4000" spc="-15" dirty="0"/>
              <a:t>silicon</a:t>
            </a:r>
            <a:r>
              <a:rPr sz="4000" spc="-10" dirty="0"/>
              <a:t> </a:t>
            </a:r>
            <a:r>
              <a:rPr sz="4000" spc="-20" dirty="0"/>
              <a:t>atom.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100" y="405511"/>
            <a:ext cx="6003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Periodic </a:t>
            </a:r>
            <a:r>
              <a:rPr spc="-75" dirty="0"/>
              <a:t>Table </a:t>
            </a:r>
            <a:r>
              <a:rPr spc="-5" dirty="0"/>
              <a:t>of</a:t>
            </a:r>
            <a:r>
              <a:rPr spc="60" dirty="0"/>
              <a:t> </a:t>
            </a:r>
            <a:r>
              <a:rPr spc="-10" dirty="0"/>
              <a:t>Elements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1291" y="1092708"/>
            <a:ext cx="7900670" cy="5232400"/>
            <a:chOff x="431291" y="1092708"/>
            <a:chExt cx="7900670" cy="5232400"/>
          </a:xfrm>
        </p:grpSpPr>
        <p:sp>
          <p:nvSpPr>
            <p:cNvPr id="4" name="object 4"/>
            <p:cNvSpPr/>
            <p:nvPr/>
          </p:nvSpPr>
          <p:spPr>
            <a:xfrm>
              <a:off x="431292" y="1478279"/>
              <a:ext cx="7493634" cy="3670300"/>
            </a:xfrm>
            <a:custGeom>
              <a:avLst/>
              <a:gdLst/>
              <a:ahLst/>
              <a:cxnLst/>
              <a:rect l="l" t="t" r="r" b="b"/>
              <a:pathLst>
                <a:path w="7493634" h="3670300">
                  <a:moveTo>
                    <a:pt x="990600" y="2389632"/>
                  </a:moveTo>
                  <a:lnTo>
                    <a:pt x="0" y="2389632"/>
                  </a:lnTo>
                  <a:lnTo>
                    <a:pt x="0" y="3669792"/>
                  </a:lnTo>
                  <a:lnTo>
                    <a:pt x="990600" y="3669792"/>
                  </a:lnTo>
                  <a:lnTo>
                    <a:pt x="990600" y="2389632"/>
                  </a:lnTo>
                  <a:close/>
                </a:path>
                <a:path w="7493634" h="3670300">
                  <a:moveTo>
                    <a:pt x="2535936" y="0"/>
                  </a:moveTo>
                  <a:lnTo>
                    <a:pt x="1545336" y="0"/>
                  </a:lnTo>
                  <a:lnTo>
                    <a:pt x="1545336" y="1280160"/>
                  </a:lnTo>
                  <a:lnTo>
                    <a:pt x="2535936" y="1280160"/>
                  </a:lnTo>
                  <a:lnTo>
                    <a:pt x="2535936" y="0"/>
                  </a:lnTo>
                  <a:close/>
                </a:path>
                <a:path w="7493634" h="3670300">
                  <a:moveTo>
                    <a:pt x="7493508" y="365760"/>
                  </a:moveTo>
                  <a:lnTo>
                    <a:pt x="6502908" y="365760"/>
                  </a:lnTo>
                  <a:lnTo>
                    <a:pt x="6502908" y="1645920"/>
                  </a:lnTo>
                  <a:lnTo>
                    <a:pt x="7493508" y="1645920"/>
                  </a:lnTo>
                  <a:lnTo>
                    <a:pt x="7493508" y="365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1092708"/>
              <a:ext cx="7645908" cy="52318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950" y="135762"/>
            <a:ext cx="80568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315" marR="5080" indent="-352425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Maximum </a:t>
            </a:r>
            <a:r>
              <a:rPr sz="4000" spc="-5" dirty="0"/>
              <a:t>Number </a:t>
            </a:r>
            <a:r>
              <a:rPr sz="4000" dirty="0"/>
              <a:t>of </a:t>
            </a:r>
            <a:r>
              <a:rPr sz="4000" spc="-15" dirty="0"/>
              <a:t>Electrons </a:t>
            </a:r>
            <a:r>
              <a:rPr sz="4000" spc="-5" dirty="0"/>
              <a:t>in </a:t>
            </a:r>
            <a:r>
              <a:rPr sz="4000" spc="-25" dirty="0"/>
              <a:t>Each  </a:t>
            </a:r>
            <a:r>
              <a:rPr sz="4000" spc="-10" dirty="0"/>
              <a:t>Shell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29806" y="1723008"/>
            <a:ext cx="1095375" cy="1401445"/>
            <a:chOff x="6829806" y="1723008"/>
            <a:chExt cx="1095375" cy="1401445"/>
          </a:xfrm>
        </p:grpSpPr>
        <p:sp>
          <p:nvSpPr>
            <p:cNvPr id="6" name="object 6"/>
            <p:cNvSpPr/>
            <p:nvPr/>
          </p:nvSpPr>
          <p:spPr>
            <a:xfrm>
              <a:off x="6934200" y="1844039"/>
              <a:ext cx="990600" cy="1280160"/>
            </a:xfrm>
            <a:custGeom>
              <a:avLst/>
              <a:gdLst/>
              <a:ahLst/>
              <a:cxnLst/>
              <a:rect l="l" t="t" r="r" b="b"/>
              <a:pathLst>
                <a:path w="990600" h="1280160">
                  <a:moveTo>
                    <a:pt x="9906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90600" y="128016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29806" y="1723008"/>
              <a:ext cx="719455" cy="377190"/>
            </a:xfrm>
            <a:custGeom>
              <a:avLst/>
              <a:gdLst/>
              <a:ahLst/>
              <a:cxnLst/>
              <a:rect l="l" t="t" r="r" b="b"/>
              <a:pathLst>
                <a:path w="719454" h="377189">
                  <a:moveTo>
                    <a:pt x="598932" y="0"/>
                  </a:moveTo>
                  <a:lnTo>
                    <a:pt x="593471" y="15366"/>
                  </a:lnTo>
                  <a:lnTo>
                    <a:pt x="615354" y="24818"/>
                  </a:lnTo>
                  <a:lnTo>
                    <a:pt x="634142" y="37925"/>
                  </a:lnTo>
                  <a:lnTo>
                    <a:pt x="662432" y="75056"/>
                  </a:lnTo>
                  <a:lnTo>
                    <a:pt x="679180" y="125142"/>
                  </a:lnTo>
                  <a:lnTo>
                    <a:pt x="684784" y="186562"/>
                  </a:lnTo>
                  <a:lnTo>
                    <a:pt x="683381" y="219805"/>
                  </a:lnTo>
                  <a:lnTo>
                    <a:pt x="672193" y="277145"/>
                  </a:lnTo>
                  <a:lnTo>
                    <a:pt x="649737" y="321941"/>
                  </a:lnTo>
                  <a:lnTo>
                    <a:pt x="615586" y="352143"/>
                  </a:lnTo>
                  <a:lnTo>
                    <a:pt x="594105" y="361695"/>
                  </a:lnTo>
                  <a:lnTo>
                    <a:pt x="598932" y="376936"/>
                  </a:lnTo>
                  <a:lnTo>
                    <a:pt x="650271" y="352853"/>
                  </a:lnTo>
                  <a:lnTo>
                    <a:pt x="688086" y="311150"/>
                  </a:lnTo>
                  <a:lnTo>
                    <a:pt x="711342" y="255206"/>
                  </a:lnTo>
                  <a:lnTo>
                    <a:pt x="719074" y="188594"/>
                  </a:lnTo>
                  <a:lnTo>
                    <a:pt x="717141" y="154070"/>
                  </a:lnTo>
                  <a:lnTo>
                    <a:pt x="701607" y="92833"/>
                  </a:lnTo>
                  <a:lnTo>
                    <a:pt x="670744" y="42969"/>
                  </a:lnTo>
                  <a:lnTo>
                    <a:pt x="626219" y="9909"/>
                  </a:lnTo>
                  <a:lnTo>
                    <a:pt x="598932" y="0"/>
                  </a:lnTo>
                  <a:close/>
                </a:path>
                <a:path w="719454" h="377189">
                  <a:moveTo>
                    <a:pt x="120142" y="0"/>
                  </a:moveTo>
                  <a:lnTo>
                    <a:pt x="68897" y="24225"/>
                  </a:lnTo>
                  <a:lnTo>
                    <a:pt x="30988" y="66166"/>
                  </a:lnTo>
                  <a:lnTo>
                    <a:pt x="7731" y="122142"/>
                  </a:lnTo>
                  <a:lnTo>
                    <a:pt x="0" y="188594"/>
                  </a:lnTo>
                  <a:lnTo>
                    <a:pt x="1930" y="223246"/>
                  </a:lnTo>
                  <a:lnTo>
                    <a:pt x="17412" y="284499"/>
                  </a:lnTo>
                  <a:lnTo>
                    <a:pt x="48150" y="334198"/>
                  </a:lnTo>
                  <a:lnTo>
                    <a:pt x="92763" y="367103"/>
                  </a:lnTo>
                  <a:lnTo>
                    <a:pt x="120142" y="376936"/>
                  </a:lnTo>
                  <a:lnTo>
                    <a:pt x="124968" y="361695"/>
                  </a:lnTo>
                  <a:lnTo>
                    <a:pt x="103487" y="352143"/>
                  </a:lnTo>
                  <a:lnTo>
                    <a:pt x="84947" y="338899"/>
                  </a:lnTo>
                  <a:lnTo>
                    <a:pt x="56642" y="301243"/>
                  </a:lnTo>
                  <a:lnTo>
                    <a:pt x="39893" y="249999"/>
                  </a:lnTo>
                  <a:lnTo>
                    <a:pt x="34290" y="186562"/>
                  </a:lnTo>
                  <a:lnTo>
                    <a:pt x="35692" y="154441"/>
                  </a:lnTo>
                  <a:lnTo>
                    <a:pt x="46880" y="98677"/>
                  </a:lnTo>
                  <a:lnTo>
                    <a:pt x="69361" y="54675"/>
                  </a:lnTo>
                  <a:lnTo>
                    <a:pt x="103755" y="24818"/>
                  </a:lnTo>
                  <a:lnTo>
                    <a:pt x="125475" y="15366"/>
                  </a:lnTo>
                  <a:lnTo>
                    <a:pt x="1201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8940" y="1607261"/>
            <a:ext cx="8072755" cy="402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2600" marR="1193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82600" algn="l"/>
                <a:tab pos="483234" algn="l"/>
                <a:tab pos="6555105" algn="l"/>
                <a:tab pos="7266940" algn="l"/>
              </a:tabLst>
            </a:pPr>
            <a:r>
              <a:rPr sz="3200" spc="-5" dirty="0">
                <a:latin typeface="Carlito"/>
                <a:cs typeface="Carlito"/>
              </a:rPr>
              <a:t>Th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5" dirty="0">
                <a:latin typeface="Carlito"/>
                <a:cs typeface="Carlito"/>
              </a:rPr>
              <a:t>m</a:t>
            </a:r>
            <a:r>
              <a:rPr sz="3200" spc="-30" dirty="0">
                <a:latin typeface="Carlito"/>
                <a:cs typeface="Carlito"/>
              </a:rPr>
              <a:t>a</a:t>
            </a:r>
            <a:r>
              <a:rPr sz="3200" spc="-5" dirty="0">
                <a:latin typeface="Carlito"/>
                <a:cs typeface="Carlito"/>
              </a:rPr>
              <a:t>xim</a:t>
            </a:r>
            <a:r>
              <a:rPr sz="3200" spc="-10" dirty="0">
                <a:latin typeface="Carlito"/>
                <a:cs typeface="Carlito"/>
              </a:rPr>
              <a:t>u</a:t>
            </a:r>
            <a:r>
              <a:rPr sz="3200" spc="5" dirty="0">
                <a:latin typeface="Carlito"/>
                <a:cs typeface="Carlito"/>
              </a:rPr>
              <a:t>m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nu</a:t>
            </a:r>
            <a:r>
              <a:rPr sz="3200" spc="-10" dirty="0">
                <a:latin typeface="Carlito"/>
                <a:cs typeface="Carlito"/>
              </a:rPr>
              <a:t>m</a:t>
            </a:r>
            <a:r>
              <a:rPr sz="3200" spc="-5" dirty="0">
                <a:latin typeface="Carlito"/>
                <a:cs typeface="Carlito"/>
              </a:rPr>
              <a:t>be</a:t>
            </a:r>
            <a:r>
              <a:rPr sz="3200" dirty="0">
                <a:latin typeface="Carlito"/>
                <a:cs typeface="Carlito"/>
              </a:rPr>
              <a:t>r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o</a:t>
            </a:r>
            <a:r>
              <a:rPr sz="3200" dirty="0">
                <a:latin typeface="Carlito"/>
                <a:cs typeface="Carlito"/>
              </a:rPr>
              <a:t>f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15" dirty="0">
                <a:latin typeface="Carlito"/>
                <a:cs typeface="Carlito"/>
              </a:rPr>
              <a:t>l</a:t>
            </a:r>
            <a:r>
              <a:rPr sz="3200" dirty="0">
                <a:latin typeface="Carlito"/>
                <a:cs typeface="Carlito"/>
              </a:rPr>
              <a:t>ect</a:t>
            </a:r>
            <a:r>
              <a:rPr sz="3200" spc="-60" dirty="0">
                <a:latin typeface="Carlito"/>
                <a:cs typeface="Carlito"/>
              </a:rPr>
              <a:t>r</a:t>
            </a:r>
            <a:r>
              <a:rPr sz="3200" spc="-5" dirty="0">
                <a:latin typeface="Carlito"/>
                <a:cs typeface="Carlito"/>
              </a:rPr>
              <a:t>on</a:t>
            </a:r>
            <a:r>
              <a:rPr sz="3200" dirty="0">
                <a:latin typeface="Carlito"/>
                <a:cs typeface="Carlito"/>
              </a:rPr>
              <a:t>s	</a:t>
            </a:r>
            <a:r>
              <a:rPr sz="3200" spc="-1120" dirty="0">
                <a:latin typeface="Verdana"/>
                <a:cs typeface="Verdana"/>
              </a:rPr>
              <a:t>𝑁</a:t>
            </a:r>
            <a:r>
              <a:rPr sz="3525" spc="-1620" baseline="-15366" dirty="0">
                <a:latin typeface="Verdana"/>
                <a:cs typeface="Verdana"/>
              </a:rPr>
              <a:t>𝑒</a:t>
            </a:r>
            <a:r>
              <a:rPr sz="3525" baseline="-15366" dirty="0">
                <a:latin typeface="Verdana"/>
                <a:cs typeface="Verdana"/>
              </a:rPr>
              <a:t>	</a:t>
            </a:r>
            <a:r>
              <a:rPr sz="3200" dirty="0">
                <a:latin typeface="Carlito"/>
                <a:cs typeface="Carlito"/>
              </a:rPr>
              <a:t>th</a:t>
            </a:r>
            <a:r>
              <a:rPr sz="3200" spc="-35" dirty="0">
                <a:latin typeface="Carlito"/>
                <a:cs typeface="Carlito"/>
              </a:rPr>
              <a:t>a</a:t>
            </a:r>
            <a:r>
              <a:rPr sz="3200" dirty="0">
                <a:latin typeface="Carlito"/>
                <a:cs typeface="Carlito"/>
              </a:rPr>
              <a:t>t 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20" dirty="0">
                <a:latin typeface="Carlito"/>
                <a:cs typeface="Carlito"/>
              </a:rPr>
              <a:t>exist </a:t>
            </a:r>
            <a:r>
              <a:rPr sz="3200" dirty="0">
                <a:latin typeface="Carlito"/>
                <a:cs typeface="Carlito"/>
              </a:rPr>
              <a:t>in each </a:t>
            </a:r>
            <a:r>
              <a:rPr sz="3200" spc="-5" dirty="0">
                <a:latin typeface="Carlito"/>
                <a:cs typeface="Carlito"/>
              </a:rPr>
              <a:t>shell of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15" dirty="0">
                <a:latin typeface="Carlito"/>
                <a:cs typeface="Carlito"/>
              </a:rPr>
              <a:t>fact </a:t>
            </a:r>
            <a:r>
              <a:rPr sz="3200" spc="-5" dirty="0">
                <a:latin typeface="Carlito"/>
                <a:cs typeface="Carlito"/>
              </a:rPr>
              <a:t>of  </a:t>
            </a:r>
            <a:r>
              <a:rPr sz="3200" spc="-15" dirty="0">
                <a:latin typeface="Carlito"/>
                <a:cs typeface="Carlito"/>
              </a:rPr>
              <a:t>nature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calculated </a:t>
            </a:r>
            <a:r>
              <a:rPr sz="3200" spc="-5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formula,</a:t>
            </a:r>
            <a:endParaRPr sz="3200">
              <a:latin typeface="Carlito"/>
              <a:cs typeface="Carlito"/>
            </a:endParaRPr>
          </a:p>
          <a:p>
            <a:pPr marL="239395" algn="ctr">
              <a:lnSpc>
                <a:spcPct val="100000"/>
              </a:lnSpc>
              <a:spcBef>
                <a:spcPts val="25"/>
              </a:spcBef>
            </a:pPr>
            <a:r>
              <a:rPr sz="3200" spc="-1100" dirty="0">
                <a:latin typeface="Verdana"/>
                <a:cs typeface="Verdana"/>
              </a:rPr>
              <a:t>𝑁</a:t>
            </a:r>
            <a:r>
              <a:rPr sz="3525" spc="-1650" baseline="-15366" dirty="0">
                <a:latin typeface="Verdana"/>
                <a:cs typeface="Verdana"/>
              </a:rPr>
              <a:t>𝑒</a:t>
            </a:r>
            <a:r>
              <a:rPr sz="3525" spc="359" baseline="-15366" dirty="0">
                <a:latin typeface="Verdana"/>
                <a:cs typeface="Verdana"/>
              </a:rPr>
              <a:t> </a:t>
            </a:r>
            <a:r>
              <a:rPr sz="3200" spc="-225" dirty="0">
                <a:latin typeface="Verdana"/>
                <a:cs typeface="Verdana"/>
              </a:rPr>
              <a:t>=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570" dirty="0">
                <a:latin typeface="Verdana"/>
                <a:cs typeface="Verdana"/>
              </a:rPr>
              <a:t>2𝑛</a:t>
            </a:r>
            <a:r>
              <a:rPr sz="3525" spc="-855" baseline="28368" dirty="0">
                <a:latin typeface="Verdana"/>
                <a:cs typeface="Verdana"/>
              </a:rPr>
              <a:t>2</a:t>
            </a:r>
            <a:endParaRPr sz="3525" baseline="28368">
              <a:latin typeface="Verdana"/>
              <a:cs typeface="Verdana"/>
            </a:endParaRPr>
          </a:p>
          <a:p>
            <a:pPr marL="482600" marR="188595" indent="-34353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482600" algn="l"/>
                <a:tab pos="483234" algn="l"/>
              </a:tabLst>
            </a:pPr>
            <a:r>
              <a:rPr sz="3200" spc="-5" dirty="0">
                <a:latin typeface="Carlito"/>
                <a:cs typeface="Carlito"/>
              </a:rPr>
              <a:t>Where </a:t>
            </a:r>
            <a:r>
              <a:rPr sz="3200" spc="-1365" dirty="0">
                <a:latin typeface="Verdana"/>
                <a:cs typeface="Verdana"/>
              </a:rPr>
              <a:t>𝑛</a:t>
            </a:r>
            <a:r>
              <a:rPr sz="3200" spc="-340" dirty="0">
                <a:latin typeface="Verdana"/>
                <a:cs typeface="Verdana"/>
              </a:rPr>
              <a:t>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5" dirty="0">
                <a:latin typeface="Carlito"/>
                <a:cs typeface="Carlito"/>
              </a:rPr>
              <a:t>number of the shell. The  maximum number of electrons </a:t>
            </a:r>
            <a:r>
              <a:rPr sz="3200" spc="-10" dirty="0">
                <a:latin typeface="Carlito"/>
                <a:cs typeface="Carlito"/>
              </a:rPr>
              <a:t>that can </a:t>
            </a:r>
            <a:r>
              <a:rPr sz="3200" spc="-20" dirty="0">
                <a:latin typeface="Carlito"/>
                <a:cs typeface="Carlito"/>
              </a:rPr>
              <a:t>exist 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the innermost shell (shell1)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  <a:p>
            <a:pPr marL="254000" algn="ctr">
              <a:lnSpc>
                <a:spcPct val="100000"/>
              </a:lnSpc>
              <a:spcBef>
                <a:spcPts val="25"/>
              </a:spcBef>
            </a:pPr>
            <a:r>
              <a:rPr sz="3200" spc="-1100" dirty="0">
                <a:latin typeface="Verdana"/>
                <a:cs typeface="Verdana"/>
              </a:rPr>
              <a:t>𝑁</a:t>
            </a:r>
            <a:r>
              <a:rPr sz="3525" spc="-1650" baseline="-15366" dirty="0">
                <a:latin typeface="Verdana"/>
                <a:cs typeface="Verdana"/>
              </a:rPr>
              <a:t>𝑒</a:t>
            </a:r>
            <a:r>
              <a:rPr sz="3525" spc="375" baseline="-15366" dirty="0">
                <a:latin typeface="Verdana"/>
                <a:cs typeface="Verdana"/>
              </a:rPr>
              <a:t>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570" dirty="0">
                <a:latin typeface="Verdana"/>
                <a:cs typeface="Verdana"/>
              </a:rPr>
              <a:t>2𝑛</a:t>
            </a:r>
            <a:r>
              <a:rPr sz="3525" spc="-855" baseline="28368" dirty="0">
                <a:latin typeface="Verdana"/>
                <a:cs typeface="Verdana"/>
              </a:rPr>
              <a:t>2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170" dirty="0">
                <a:latin typeface="Verdana"/>
                <a:cs typeface="Verdana"/>
              </a:rPr>
              <a:t>2(1)</a:t>
            </a:r>
            <a:r>
              <a:rPr sz="3525" spc="-254" baseline="28368" dirty="0">
                <a:latin typeface="Verdana"/>
                <a:cs typeface="Verdana"/>
              </a:rPr>
              <a:t>2</a:t>
            </a:r>
            <a:r>
              <a:rPr sz="3200" spc="-170" dirty="0">
                <a:latin typeface="Verdana"/>
                <a:cs typeface="Verdana"/>
              </a:rPr>
              <a:t>=</a:t>
            </a:r>
            <a:r>
              <a:rPr sz="3200" spc="-300" dirty="0">
                <a:latin typeface="Verdana"/>
                <a:cs typeface="Verdana"/>
              </a:rPr>
              <a:t> </a:t>
            </a:r>
            <a:r>
              <a:rPr sz="3200" spc="-265" dirty="0">
                <a:latin typeface="Verdana"/>
                <a:cs typeface="Verdana"/>
              </a:rPr>
              <a:t>2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950" y="135762"/>
            <a:ext cx="80568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4775" marR="5080" indent="-263271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Maximum </a:t>
            </a:r>
            <a:r>
              <a:rPr sz="4000" spc="-5" dirty="0"/>
              <a:t>Number </a:t>
            </a:r>
            <a:r>
              <a:rPr sz="4000" dirty="0"/>
              <a:t>of </a:t>
            </a:r>
            <a:r>
              <a:rPr sz="4000" spc="-15" dirty="0"/>
              <a:t>Electrons </a:t>
            </a:r>
            <a:r>
              <a:rPr sz="4000" spc="-5" dirty="0"/>
              <a:t>in </a:t>
            </a:r>
            <a:r>
              <a:rPr sz="4000" spc="-25" dirty="0"/>
              <a:t>Each  </a:t>
            </a:r>
            <a:r>
              <a:rPr sz="4000" spc="-5" dirty="0"/>
              <a:t>Shell</a:t>
            </a:r>
            <a:r>
              <a:rPr sz="4000" spc="-20" dirty="0"/>
              <a:t> </a:t>
            </a:r>
            <a:r>
              <a:rPr sz="4000" spc="-15" dirty="0"/>
              <a:t>(Contd.)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7040" y="1558493"/>
            <a:ext cx="7794625" cy="43707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44500" marR="93980" indent="-343535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444500" algn="l"/>
                <a:tab pos="445134" algn="l"/>
              </a:tabLst>
            </a:pPr>
            <a:r>
              <a:rPr sz="3200" spc="-5" dirty="0">
                <a:latin typeface="Carlito"/>
                <a:cs typeface="Carlito"/>
              </a:rPr>
              <a:t>The maximum number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electrons that can  </a:t>
            </a:r>
            <a:r>
              <a:rPr sz="3200" spc="-20" dirty="0">
                <a:latin typeface="Carlito"/>
                <a:cs typeface="Carlito"/>
              </a:rPr>
              <a:t>exist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shell </a:t>
            </a:r>
            <a:r>
              <a:rPr sz="3200" dirty="0">
                <a:latin typeface="Carlito"/>
                <a:cs typeface="Carlito"/>
              </a:rPr>
              <a:t>2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  <a:p>
            <a:pPr marL="455295" algn="ctr">
              <a:lnSpc>
                <a:spcPts val="3810"/>
              </a:lnSpc>
            </a:pPr>
            <a:r>
              <a:rPr sz="3200" spc="-1100" dirty="0">
                <a:latin typeface="Verdana"/>
                <a:cs typeface="Verdana"/>
              </a:rPr>
              <a:t>𝑁</a:t>
            </a:r>
            <a:r>
              <a:rPr sz="3525" spc="-1650" baseline="-15366" dirty="0">
                <a:latin typeface="Verdana"/>
                <a:cs typeface="Verdana"/>
              </a:rPr>
              <a:t>𝑒</a:t>
            </a:r>
            <a:r>
              <a:rPr sz="3525" spc="375" baseline="-15366" dirty="0">
                <a:latin typeface="Verdana"/>
                <a:cs typeface="Verdana"/>
              </a:rPr>
              <a:t>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570" dirty="0">
                <a:latin typeface="Verdana"/>
                <a:cs typeface="Verdana"/>
              </a:rPr>
              <a:t>2𝑛</a:t>
            </a:r>
            <a:r>
              <a:rPr sz="3525" spc="-855" baseline="28368" dirty="0">
                <a:latin typeface="Verdana"/>
                <a:cs typeface="Verdana"/>
              </a:rPr>
              <a:t>2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170" dirty="0">
                <a:latin typeface="Verdana"/>
                <a:cs typeface="Verdana"/>
              </a:rPr>
              <a:t>2(2)</a:t>
            </a:r>
            <a:r>
              <a:rPr sz="3525" spc="-254" baseline="28368" dirty="0">
                <a:latin typeface="Verdana"/>
                <a:cs typeface="Verdana"/>
              </a:rPr>
              <a:t>2</a:t>
            </a:r>
            <a:r>
              <a:rPr sz="3200" spc="-170" dirty="0">
                <a:latin typeface="Verdana"/>
                <a:cs typeface="Verdana"/>
              </a:rPr>
              <a:t>=</a:t>
            </a:r>
            <a:r>
              <a:rPr sz="3200" spc="-300" dirty="0">
                <a:latin typeface="Verdana"/>
                <a:cs typeface="Verdana"/>
              </a:rPr>
              <a:t> </a:t>
            </a:r>
            <a:r>
              <a:rPr sz="3200" spc="-265" dirty="0">
                <a:latin typeface="Verdana"/>
                <a:cs typeface="Verdana"/>
              </a:rPr>
              <a:t>8</a:t>
            </a:r>
            <a:endParaRPr sz="3200">
              <a:latin typeface="Verdana"/>
              <a:cs typeface="Verdana"/>
            </a:endParaRPr>
          </a:p>
          <a:p>
            <a:pPr marL="444500" marR="93980" indent="-343535">
              <a:lnSpc>
                <a:spcPts val="3460"/>
              </a:lnSpc>
              <a:spcBef>
                <a:spcPts val="795"/>
              </a:spcBef>
              <a:buFont typeface="Arial"/>
              <a:buChar char="•"/>
              <a:tabLst>
                <a:tab pos="444500" algn="l"/>
                <a:tab pos="445134" algn="l"/>
              </a:tabLst>
            </a:pPr>
            <a:r>
              <a:rPr sz="3200" spc="-5" dirty="0">
                <a:latin typeface="Carlito"/>
                <a:cs typeface="Carlito"/>
              </a:rPr>
              <a:t>The maximum number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electrons that can  </a:t>
            </a:r>
            <a:r>
              <a:rPr sz="3200" spc="-20" dirty="0">
                <a:latin typeface="Carlito"/>
                <a:cs typeface="Carlito"/>
              </a:rPr>
              <a:t>exist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shell </a:t>
            </a:r>
            <a:r>
              <a:rPr sz="3200" dirty="0">
                <a:latin typeface="Carlito"/>
                <a:cs typeface="Carlito"/>
              </a:rPr>
              <a:t>3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  <a:p>
            <a:pPr marL="455295" algn="ctr">
              <a:lnSpc>
                <a:spcPts val="3810"/>
              </a:lnSpc>
            </a:pPr>
            <a:r>
              <a:rPr sz="3200" spc="-1100" dirty="0">
                <a:latin typeface="Verdana"/>
                <a:cs typeface="Verdana"/>
              </a:rPr>
              <a:t>𝑁</a:t>
            </a:r>
            <a:r>
              <a:rPr sz="3525" spc="-1650" baseline="-15366" dirty="0">
                <a:latin typeface="Verdana"/>
                <a:cs typeface="Verdana"/>
              </a:rPr>
              <a:t>𝑒</a:t>
            </a:r>
            <a:r>
              <a:rPr sz="3525" spc="375" baseline="-15366" dirty="0">
                <a:latin typeface="Verdana"/>
                <a:cs typeface="Verdana"/>
              </a:rPr>
              <a:t>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570" dirty="0">
                <a:latin typeface="Verdana"/>
                <a:cs typeface="Verdana"/>
              </a:rPr>
              <a:t>2𝑛</a:t>
            </a:r>
            <a:r>
              <a:rPr sz="3525" spc="-855" baseline="28368" dirty="0">
                <a:latin typeface="Verdana"/>
                <a:cs typeface="Verdana"/>
              </a:rPr>
              <a:t>2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170" dirty="0">
                <a:latin typeface="Verdana"/>
                <a:cs typeface="Verdana"/>
              </a:rPr>
              <a:t>2(3)</a:t>
            </a:r>
            <a:r>
              <a:rPr sz="3525" spc="-254" baseline="28368" dirty="0">
                <a:latin typeface="Verdana"/>
                <a:cs typeface="Verdana"/>
              </a:rPr>
              <a:t>2</a:t>
            </a:r>
            <a:r>
              <a:rPr sz="3200" spc="-170" dirty="0">
                <a:latin typeface="Verdana"/>
                <a:cs typeface="Verdana"/>
              </a:rPr>
              <a:t>=</a:t>
            </a:r>
            <a:r>
              <a:rPr sz="3200" spc="-305" dirty="0">
                <a:latin typeface="Verdana"/>
                <a:cs typeface="Verdana"/>
              </a:rPr>
              <a:t> </a:t>
            </a:r>
            <a:r>
              <a:rPr sz="3200" spc="-265" dirty="0">
                <a:latin typeface="Verdana"/>
                <a:cs typeface="Verdana"/>
              </a:rPr>
              <a:t>18</a:t>
            </a:r>
            <a:endParaRPr sz="3200">
              <a:latin typeface="Verdana"/>
              <a:cs typeface="Verdana"/>
            </a:endParaRPr>
          </a:p>
          <a:p>
            <a:pPr marL="444500" marR="93980" indent="-343535">
              <a:lnSpc>
                <a:spcPts val="3460"/>
              </a:lnSpc>
              <a:spcBef>
                <a:spcPts val="790"/>
              </a:spcBef>
              <a:buFont typeface="Arial"/>
              <a:buChar char="•"/>
              <a:tabLst>
                <a:tab pos="444500" algn="l"/>
                <a:tab pos="445134" algn="l"/>
              </a:tabLst>
            </a:pPr>
            <a:r>
              <a:rPr sz="3200" spc="-5" dirty="0">
                <a:latin typeface="Carlito"/>
                <a:cs typeface="Carlito"/>
              </a:rPr>
              <a:t>The maximum number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electrons that can  </a:t>
            </a:r>
            <a:r>
              <a:rPr sz="3200" spc="-20" dirty="0">
                <a:latin typeface="Carlito"/>
                <a:cs typeface="Carlito"/>
              </a:rPr>
              <a:t>exist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shell </a:t>
            </a:r>
            <a:r>
              <a:rPr sz="3200" dirty="0">
                <a:latin typeface="Carlito"/>
                <a:cs typeface="Carlito"/>
              </a:rPr>
              <a:t>4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endParaRPr sz="3200">
              <a:latin typeface="Carlito"/>
              <a:cs typeface="Carlito"/>
            </a:endParaRPr>
          </a:p>
          <a:p>
            <a:pPr marL="455295" algn="ctr">
              <a:lnSpc>
                <a:spcPts val="3810"/>
              </a:lnSpc>
            </a:pPr>
            <a:r>
              <a:rPr sz="3200" spc="-1100" dirty="0">
                <a:latin typeface="Verdana"/>
                <a:cs typeface="Verdana"/>
              </a:rPr>
              <a:t>𝑁</a:t>
            </a:r>
            <a:r>
              <a:rPr sz="3525" spc="-1650" baseline="-15366" dirty="0">
                <a:latin typeface="Verdana"/>
                <a:cs typeface="Verdana"/>
              </a:rPr>
              <a:t>𝑒</a:t>
            </a:r>
            <a:r>
              <a:rPr sz="3525" spc="375" baseline="-15366" dirty="0">
                <a:latin typeface="Verdana"/>
                <a:cs typeface="Verdana"/>
              </a:rPr>
              <a:t>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570" dirty="0">
                <a:latin typeface="Verdana"/>
                <a:cs typeface="Verdana"/>
              </a:rPr>
              <a:t>2𝑛</a:t>
            </a:r>
            <a:r>
              <a:rPr sz="3525" spc="-855" baseline="28368" dirty="0">
                <a:latin typeface="Verdana"/>
                <a:cs typeface="Verdana"/>
              </a:rPr>
              <a:t>2 </a:t>
            </a:r>
            <a:r>
              <a:rPr sz="3200" spc="-229" dirty="0">
                <a:latin typeface="Verdana"/>
                <a:cs typeface="Verdana"/>
              </a:rPr>
              <a:t>= </a:t>
            </a:r>
            <a:r>
              <a:rPr sz="3200" spc="-170" dirty="0">
                <a:latin typeface="Verdana"/>
                <a:cs typeface="Verdana"/>
              </a:rPr>
              <a:t>2(4)</a:t>
            </a:r>
            <a:r>
              <a:rPr sz="3525" spc="-254" baseline="28368" dirty="0">
                <a:latin typeface="Verdana"/>
                <a:cs typeface="Verdana"/>
              </a:rPr>
              <a:t>2</a:t>
            </a:r>
            <a:r>
              <a:rPr sz="3200" spc="-170" dirty="0">
                <a:latin typeface="Verdana"/>
                <a:cs typeface="Verdana"/>
              </a:rPr>
              <a:t>=</a:t>
            </a:r>
            <a:r>
              <a:rPr sz="3200" spc="-305" dirty="0">
                <a:latin typeface="Verdana"/>
                <a:cs typeface="Verdana"/>
              </a:rPr>
              <a:t> </a:t>
            </a:r>
            <a:r>
              <a:rPr sz="3200" spc="-265" dirty="0">
                <a:latin typeface="Verdana"/>
                <a:cs typeface="Verdana"/>
              </a:rPr>
              <a:t>32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2605" y="405511"/>
            <a:ext cx="4015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Valence</a:t>
            </a:r>
            <a:r>
              <a:rPr spc="-55" dirty="0"/>
              <a:t> </a:t>
            </a:r>
            <a:r>
              <a:rPr spc="-15" dirty="0"/>
              <a:t>Electrons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537461"/>
            <a:ext cx="8075295" cy="43059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15" dirty="0">
                <a:latin typeface="Carlito"/>
                <a:cs typeface="Carlito"/>
              </a:rPr>
              <a:t>Electrons that are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5" dirty="0">
                <a:latin typeface="Carlito"/>
                <a:cs typeface="Carlito"/>
              </a:rPr>
              <a:t>orbits </a:t>
            </a:r>
            <a:r>
              <a:rPr sz="2700" spc="-15" dirty="0">
                <a:latin typeface="Carlito"/>
                <a:cs typeface="Carlito"/>
              </a:rPr>
              <a:t>farther from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nucleus  </a:t>
            </a:r>
            <a:r>
              <a:rPr sz="2700" spc="-20" dirty="0">
                <a:latin typeface="Carlito"/>
                <a:cs typeface="Carlito"/>
              </a:rPr>
              <a:t>have </a:t>
            </a:r>
            <a:r>
              <a:rPr sz="2700" spc="-5" dirty="0">
                <a:latin typeface="Carlito"/>
                <a:cs typeface="Carlito"/>
              </a:rPr>
              <a:t>higher </a:t>
            </a:r>
            <a:r>
              <a:rPr sz="2700" spc="-10" dirty="0">
                <a:latin typeface="Carlito"/>
                <a:cs typeface="Carlito"/>
              </a:rPr>
              <a:t>energy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less </a:t>
            </a:r>
            <a:r>
              <a:rPr sz="2700" spc="-5" dirty="0">
                <a:latin typeface="Carlito"/>
                <a:cs typeface="Carlito"/>
              </a:rPr>
              <a:t>tightly bound </a:t>
            </a:r>
            <a:r>
              <a:rPr sz="2700" spc="-2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  </a:t>
            </a:r>
            <a:r>
              <a:rPr sz="2700" spc="-15" dirty="0">
                <a:latin typeface="Carlito"/>
                <a:cs typeface="Carlito"/>
              </a:rPr>
              <a:t>atom </a:t>
            </a:r>
            <a:r>
              <a:rPr sz="2700" dirty="0">
                <a:latin typeface="Carlito"/>
                <a:cs typeface="Carlito"/>
              </a:rPr>
              <a:t>than those closer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nucleus.</a:t>
            </a:r>
            <a:endParaRPr sz="27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This is </a:t>
            </a:r>
            <a:r>
              <a:rPr sz="2700" spc="-10" dirty="0">
                <a:latin typeface="Carlito"/>
                <a:cs typeface="Carlito"/>
              </a:rPr>
              <a:t>because the </a:t>
            </a:r>
            <a:r>
              <a:rPr sz="2700" spc="-25" dirty="0">
                <a:latin typeface="Carlito"/>
                <a:cs typeface="Carlito"/>
              </a:rPr>
              <a:t>force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20" dirty="0">
                <a:latin typeface="Carlito"/>
                <a:cs typeface="Carlito"/>
              </a:rPr>
              <a:t>attraction </a:t>
            </a:r>
            <a:r>
              <a:rPr sz="2700" spc="-15" dirty="0">
                <a:latin typeface="Carlito"/>
                <a:cs typeface="Carlito"/>
              </a:rPr>
              <a:t>between </a:t>
            </a:r>
            <a:r>
              <a:rPr sz="2700" spc="-10" dirty="0">
                <a:latin typeface="Carlito"/>
                <a:cs typeface="Carlito"/>
              </a:rPr>
              <a:t>the  positively charged nucleus </a:t>
            </a:r>
            <a:r>
              <a:rPr sz="2700" dirty="0">
                <a:latin typeface="Carlito"/>
                <a:cs typeface="Carlito"/>
              </a:rPr>
              <a:t>and the </a:t>
            </a:r>
            <a:r>
              <a:rPr sz="2700" spc="-15" dirty="0">
                <a:latin typeface="Carlito"/>
                <a:cs typeface="Carlito"/>
              </a:rPr>
              <a:t>negatively charged  </a:t>
            </a:r>
            <a:r>
              <a:rPr sz="2700" spc="-10" dirty="0">
                <a:latin typeface="Carlito"/>
                <a:cs typeface="Carlito"/>
              </a:rPr>
              <a:t>electron decreases </a:t>
            </a:r>
            <a:r>
              <a:rPr sz="2700" dirty="0">
                <a:latin typeface="Carlito"/>
                <a:cs typeface="Carlito"/>
              </a:rPr>
              <a:t>with </a:t>
            </a:r>
            <a:r>
              <a:rPr sz="2700" spc="-10" dirty="0">
                <a:latin typeface="Carlito"/>
                <a:cs typeface="Carlito"/>
              </a:rPr>
              <a:t>increasing </a:t>
            </a:r>
            <a:r>
              <a:rPr sz="2700" spc="-15" dirty="0">
                <a:latin typeface="Carlito"/>
                <a:cs typeface="Carlito"/>
              </a:rPr>
              <a:t>distance from </a:t>
            </a:r>
            <a:r>
              <a:rPr sz="2700" dirty="0">
                <a:latin typeface="Carlito"/>
                <a:cs typeface="Carlito"/>
              </a:rPr>
              <a:t>the  </a:t>
            </a:r>
            <a:r>
              <a:rPr sz="2700" spc="-5" dirty="0">
                <a:latin typeface="Carlito"/>
                <a:cs typeface="Carlito"/>
              </a:rPr>
              <a:t>nucleus.</a:t>
            </a:r>
            <a:endParaRPr sz="2700">
              <a:latin typeface="Carlito"/>
              <a:cs typeface="Carlito"/>
            </a:endParaRPr>
          </a:p>
          <a:p>
            <a:pPr marL="355600" marR="6350" indent="-343535" algn="just">
              <a:lnSpc>
                <a:spcPts val="2590"/>
              </a:lnSpc>
              <a:spcBef>
                <a:spcPts val="62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15" dirty="0">
                <a:latin typeface="Carlito"/>
                <a:cs typeface="Carlito"/>
              </a:rPr>
              <a:t>Electrons </a:t>
            </a:r>
            <a:r>
              <a:rPr sz="2700" dirty="0">
                <a:latin typeface="Carlito"/>
                <a:cs typeface="Carlito"/>
              </a:rPr>
              <a:t>with </a:t>
            </a:r>
            <a:r>
              <a:rPr sz="2700" spc="-10" dirty="0">
                <a:latin typeface="Carlito"/>
                <a:cs typeface="Carlito"/>
              </a:rPr>
              <a:t>the highest energy </a:t>
            </a:r>
            <a:r>
              <a:rPr sz="2700" spc="-20" dirty="0">
                <a:latin typeface="Carlito"/>
                <a:cs typeface="Carlito"/>
              </a:rPr>
              <a:t>exist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the  outermost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5" dirty="0">
                <a:latin typeface="Carlito"/>
                <a:cs typeface="Carlito"/>
              </a:rPr>
              <a:t>an </a:t>
            </a:r>
            <a:r>
              <a:rPr sz="2700" spc="-20" dirty="0">
                <a:latin typeface="Carlito"/>
                <a:cs typeface="Carlito"/>
              </a:rPr>
              <a:t>atom </a:t>
            </a:r>
            <a:r>
              <a:rPr sz="2700" spc="-10" dirty="0">
                <a:latin typeface="Carlito"/>
                <a:cs typeface="Carlito"/>
              </a:rPr>
              <a:t>and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15" dirty="0">
                <a:latin typeface="Carlito"/>
                <a:cs typeface="Carlito"/>
              </a:rPr>
              <a:t>relatively </a:t>
            </a:r>
            <a:r>
              <a:rPr sz="2700" spc="-5" dirty="0">
                <a:latin typeface="Carlito"/>
                <a:cs typeface="Carlito"/>
              </a:rPr>
              <a:t>loosely  bound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atom.</a:t>
            </a:r>
            <a:endParaRPr sz="27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680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This </a:t>
            </a:r>
            <a:r>
              <a:rPr sz="2700" spc="-15" dirty="0">
                <a:latin typeface="Carlito"/>
                <a:cs typeface="Carlito"/>
              </a:rPr>
              <a:t>outermost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5" dirty="0">
                <a:latin typeface="Carlito"/>
                <a:cs typeface="Carlito"/>
              </a:rPr>
              <a:t>known as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b="1" spc="-10" dirty="0">
                <a:latin typeface="Carlito"/>
                <a:cs typeface="Carlito"/>
              </a:rPr>
              <a:t>valence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spc="-10" dirty="0">
                <a:latin typeface="Carlito"/>
                <a:cs typeface="Carlito"/>
              </a:rPr>
              <a:t>and  electrons </a:t>
            </a:r>
            <a:r>
              <a:rPr sz="2700" dirty="0">
                <a:latin typeface="Carlito"/>
                <a:cs typeface="Carlito"/>
              </a:rPr>
              <a:t>in this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5" dirty="0">
                <a:latin typeface="Carlito"/>
                <a:cs typeface="Carlito"/>
              </a:rPr>
              <a:t>called </a:t>
            </a:r>
            <a:r>
              <a:rPr sz="2700" i="1" dirty="0">
                <a:latin typeface="Carlito"/>
                <a:cs typeface="Carlito"/>
              </a:rPr>
              <a:t>valence</a:t>
            </a:r>
            <a:r>
              <a:rPr sz="2700" i="1" spc="-65" dirty="0">
                <a:latin typeface="Carlito"/>
                <a:cs typeface="Carlito"/>
              </a:rPr>
              <a:t> </a:t>
            </a:r>
            <a:r>
              <a:rPr sz="2700" i="1" spc="-5" dirty="0">
                <a:latin typeface="Carlito"/>
                <a:cs typeface="Carlito"/>
              </a:rPr>
              <a:t>electrons.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9244" y="405511"/>
            <a:ext cx="59823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Valence </a:t>
            </a:r>
            <a:r>
              <a:rPr spc="-15" dirty="0"/>
              <a:t>Electrons</a:t>
            </a:r>
            <a:r>
              <a:rPr spc="2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563065"/>
            <a:ext cx="8074025" cy="44615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715" indent="-343535" algn="just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outermost shell </a:t>
            </a:r>
            <a:r>
              <a:rPr sz="3000" spc="-5" dirty="0">
                <a:latin typeface="Carlito"/>
                <a:cs typeface="Carlito"/>
              </a:rPr>
              <a:t>is known </a:t>
            </a:r>
            <a:r>
              <a:rPr sz="3000" dirty="0">
                <a:latin typeface="Carlito"/>
                <a:cs typeface="Carlito"/>
              </a:rPr>
              <a:t>as the </a:t>
            </a:r>
            <a:r>
              <a:rPr sz="3000" b="1" spc="-15" dirty="0">
                <a:latin typeface="Carlito"/>
                <a:cs typeface="Carlito"/>
              </a:rPr>
              <a:t>valence </a:t>
            </a:r>
            <a:r>
              <a:rPr sz="3000" spc="-10" dirty="0">
                <a:latin typeface="Carlito"/>
                <a:cs typeface="Carlito"/>
              </a:rPr>
              <a:t>shell 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shell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i="1" spc="-10" dirty="0">
                <a:latin typeface="Carlito"/>
                <a:cs typeface="Carlito"/>
              </a:rPr>
              <a:t>valence  </a:t>
            </a:r>
            <a:r>
              <a:rPr sz="3000" i="1" spc="-5" dirty="0">
                <a:latin typeface="Carlito"/>
                <a:cs typeface="Carlito"/>
              </a:rPr>
              <a:t>electrons.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valence </a:t>
            </a: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15" dirty="0">
                <a:latin typeface="Carlito"/>
                <a:cs typeface="Carlito"/>
              </a:rPr>
              <a:t>contribute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chemical  reactions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bonding </a:t>
            </a:r>
            <a:r>
              <a:rPr sz="3000" spc="-5" dirty="0">
                <a:latin typeface="Carlito"/>
                <a:cs typeface="Carlito"/>
              </a:rPr>
              <a:t>within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structure </a:t>
            </a:r>
            <a:r>
              <a:rPr sz="3000" dirty="0">
                <a:latin typeface="Carlito"/>
                <a:cs typeface="Carlito"/>
              </a:rPr>
              <a:t>of a  </a:t>
            </a:r>
            <a:r>
              <a:rPr sz="3000" spc="-10" dirty="0">
                <a:latin typeface="Carlito"/>
                <a:cs typeface="Carlito"/>
              </a:rPr>
              <a:t>material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determine </a:t>
            </a:r>
            <a:r>
              <a:rPr sz="3000" dirty="0">
                <a:latin typeface="Carlito"/>
                <a:cs typeface="Carlito"/>
              </a:rPr>
              <a:t>its </a:t>
            </a:r>
            <a:r>
              <a:rPr sz="3000" spc="-5" dirty="0">
                <a:latin typeface="Carlito"/>
                <a:cs typeface="Carlito"/>
              </a:rPr>
              <a:t>electrical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properties.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valence </a:t>
            </a:r>
            <a:r>
              <a:rPr sz="3000" spc="-15" dirty="0">
                <a:latin typeface="Carlito"/>
                <a:cs typeface="Carlito"/>
              </a:rPr>
              <a:t>electron gains </a:t>
            </a:r>
            <a:r>
              <a:rPr sz="3000" spc="-10" dirty="0">
                <a:latin typeface="Carlito"/>
                <a:cs typeface="Carlito"/>
              </a:rPr>
              <a:t>sufficient </a:t>
            </a:r>
            <a:r>
              <a:rPr sz="3000" spc="-15" dirty="0">
                <a:latin typeface="Carlito"/>
                <a:cs typeface="Carlito"/>
              </a:rPr>
              <a:t>energy 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5" dirty="0">
                <a:latin typeface="Carlito"/>
                <a:cs typeface="Carlito"/>
              </a:rPr>
              <a:t>external </a:t>
            </a:r>
            <a:r>
              <a:rPr sz="3000" spc="-10" dirty="0">
                <a:latin typeface="Carlito"/>
                <a:cs typeface="Carlito"/>
              </a:rPr>
              <a:t>source, </a:t>
            </a:r>
            <a:r>
              <a:rPr sz="3000" spc="-5" dirty="0">
                <a:latin typeface="Carlito"/>
                <a:cs typeface="Carlito"/>
              </a:rPr>
              <a:t>it </a:t>
            </a:r>
            <a:r>
              <a:rPr sz="3000" spc="-15" dirty="0">
                <a:latin typeface="Carlito"/>
                <a:cs typeface="Carlito"/>
              </a:rPr>
              <a:t>can </a:t>
            </a:r>
            <a:r>
              <a:rPr sz="3000" spc="-10" dirty="0">
                <a:latin typeface="Carlito"/>
                <a:cs typeface="Carlito"/>
              </a:rPr>
              <a:t>break </a:t>
            </a:r>
            <a:r>
              <a:rPr sz="3000" spc="-20" dirty="0">
                <a:latin typeface="Carlito"/>
                <a:cs typeface="Carlito"/>
              </a:rPr>
              <a:t>free from </a:t>
            </a:r>
            <a:r>
              <a:rPr sz="3000" spc="-5" dirty="0">
                <a:latin typeface="Carlito"/>
                <a:cs typeface="Carlito"/>
              </a:rPr>
              <a:t>its  </a:t>
            </a:r>
            <a:r>
              <a:rPr sz="3000" spc="-10" dirty="0">
                <a:latin typeface="Carlito"/>
                <a:cs typeface="Carlito"/>
              </a:rPr>
              <a:t>atom.</a:t>
            </a:r>
            <a:endParaRPr sz="30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This is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basis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conduction </a:t>
            </a:r>
            <a:r>
              <a:rPr sz="3000" spc="-5" dirty="0">
                <a:latin typeface="Carlito"/>
                <a:cs typeface="Carlito"/>
              </a:rPr>
              <a:t>in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materials.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405511"/>
            <a:ext cx="2263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Ioni</a:t>
            </a:r>
            <a:r>
              <a:rPr spc="-75" dirty="0"/>
              <a:t>z</a:t>
            </a:r>
            <a:r>
              <a:rPr spc="-40" dirty="0"/>
              <a:t>a</a:t>
            </a:r>
            <a:r>
              <a:rPr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91" y="3867911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570685"/>
            <a:ext cx="8075930" cy="39363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2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When </a:t>
            </a:r>
            <a:r>
              <a:rPr sz="2700" dirty="0">
                <a:latin typeface="Carlito"/>
                <a:cs typeface="Carlito"/>
              </a:rPr>
              <a:t>an </a:t>
            </a:r>
            <a:r>
              <a:rPr sz="2700" spc="-15" dirty="0">
                <a:latin typeface="Carlito"/>
                <a:cs typeface="Carlito"/>
              </a:rPr>
              <a:t>atom </a:t>
            </a:r>
            <a:r>
              <a:rPr sz="2700" spc="-10" dirty="0">
                <a:latin typeface="Carlito"/>
                <a:cs typeface="Carlito"/>
              </a:rPr>
              <a:t>absorbs energy </a:t>
            </a:r>
            <a:r>
              <a:rPr sz="2700" spc="-20" dirty="0">
                <a:latin typeface="Carlito"/>
                <a:cs typeface="Carlito"/>
              </a:rPr>
              <a:t>from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5" dirty="0">
                <a:latin typeface="Carlito"/>
                <a:cs typeface="Carlito"/>
              </a:rPr>
              <a:t>heat source </a:t>
            </a:r>
            <a:r>
              <a:rPr sz="2700" dirty="0">
                <a:latin typeface="Carlito"/>
                <a:cs typeface="Carlito"/>
              </a:rPr>
              <a:t>or  </a:t>
            </a:r>
            <a:r>
              <a:rPr sz="2700" spc="-15" dirty="0">
                <a:latin typeface="Carlito"/>
                <a:cs typeface="Carlito"/>
              </a:rPr>
              <a:t>from </a:t>
            </a:r>
            <a:r>
              <a:rPr sz="2700" spc="-5" dirty="0">
                <a:latin typeface="Carlito"/>
                <a:cs typeface="Carlito"/>
              </a:rPr>
              <a:t>light, </a:t>
            </a:r>
            <a:r>
              <a:rPr sz="2700" spc="-25" dirty="0">
                <a:latin typeface="Carlito"/>
                <a:cs typeface="Carlito"/>
              </a:rPr>
              <a:t>for </a:t>
            </a:r>
            <a:r>
              <a:rPr sz="2700" spc="-15" dirty="0">
                <a:latin typeface="Carlito"/>
                <a:cs typeface="Carlito"/>
              </a:rPr>
              <a:t>example, </a:t>
            </a:r>
            <a:r>
              <a:rPr sz="2700" spc="-10" dirty="0">
                <a:latin typeface="Carlito"/>
                <a:cs typeface="Carlito"/>
              </a:rPr>
              <a:t>the energies </a:t>
            </a:r>
            <a:r>
              <a:rPr sz="2700" dirty="0">
                <a:latin typeface="Carlito"/>
                <a:cs typeface="Carlito"/>
              </a:rPr>
              <a:t>of the </a:t>
            </a:r>
            <a:r>
              <a:rPr sz="2700" spc="-10" dirty="0">
                <a:latin typeface="Carlito"/>
                <a:cs typeface="Carlito"/>
              </a:rPr>
              <a:t>electrons 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raised.</a:t>
            </a:r>
            <a:endParaRPr sz="27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90000"/>
              </a:lnSpc>
              <a:spcBef>
                <a:spcPts val="650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valence electrons possess more energy </a:t>
            </a:r>
            <a:r>
              <a:rPr sz="2700" spc="-5" dirty="0">
                <a:latin typeface="Carlito"/>
                <a:cs typeface="Carlito"/>
              </a:rPr>
              <a:t>and </a:t>
            </a:r>
            <a:r>
              <a:rPr sz="2700" spc="-15" dirty="0">
                <a:latin typeface="Carlito"/>
                <a:cs typeface="Carlito"/>
              </a:rPr>
              <a:t>are  </a:t>
            </a:r>
            <a:r>
              <a:rPr sz="2700" spc="-10" dirty="0">
                <a:latin typeface="Carlito"/>
                <a:cs typeface="Carlito"/>
              </a:rPr>
              <a:t>more </a:t>
            </a:r>
            <a:r>
              <a:rPr sz="2700" spc="-5" dirty="0">
                <a:latin typeface="Carlito"/>
                <a:cs typeface="Carlito"/>
              </a:rPr>
              <a:t>loosely </a:t>
            </a:r>
            <a:r>
              <a:rPr sz="2700" spc="-10" dirty="0">
                <a:latin typeface="Carlito"/>
                <a:cs typeface="Carlito"/>
              </a:rPr>
              <a:t>bound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atom </a:t>
            </a:r>
            <a:r>
              <a:rPr sz="2700" dirty="0">
                <a:latin typeface="Carlito"/>
                <a:cs typeface="Carlito"/>
              </a:rPr>
              <a:t>than </a:t>
            </a:r>
            <a:r>
              <a:rPr sz="2700" spc="-5" dirty="0">
                <a:latin typeface="Carlito"/>
                <a:cs typeface="Carlito"/>
              </a:rPr>
              <a:t>inner </a:t>
            </a:r>
            <a:r>
              <a:rPr sz="2700" spc="-10" dirty="0">
                <a:latin typeface="Carlito"/>
                <a:cs typeface="Carlito"/>
              </a:rPr>
              <a:t>electrons,  </a:t>
            </a:r>
            <a:r>
              <a:rPr sz="2700" dirty="0">
                <a:latin typeface="Carlito"/>
                <a:cs typeface="Carlito"/>
              </a:rPr>
              <a:t>so </a:t>
            </a:r>
            <a:r>
              <a:rPr sz="2700" spc="-10" dirty="0">
                <a:latin typeface="Carlito"/>
                <a:cs typeface="Carlito"/>
              </a:rPr>
              <a:t>they </a:t>
            </a:r>
            <a:r>
              <a:rPr sz="2700" spc="-20" dirty="0">
                <a:latin typeface="Carlito"/>
                <a:cs typeface="Carlito"/>
              </a:rPr>
              <a:t>can </a:t>
            </a:r>
            <a:r>
              <a:rPr sz="2700" spc="-5" dirty="0">
                <a:latin typeface="Carlito"/>
                <a:cs typeface="Carlito"/>
              </a:rPr>
              <a:t>easily jump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10" dirty="0">
                <a:latin typeface="Carlito"/>
                <a:cs typeface="Carlito"/>
              </a:rPr>
              <a:t>higher </a:t>
            </a:r>
            <a:r>
              <a:rPr sz="2700" spc="-15" dirty="0">
                <a:latin typeface="Carlito"/>
                <a:cs typeface="Carlito"/>
              </a:rPr>
              <a:t>energy </a:t>
            </a:r>
            <a:r>
              <a:rPr sz="2700" spc="-5" dirty="0">
                <a:latin typeface="Carlito"/>
                <a:cs typeface="Carlito"/>
              </a:rPr>
              <a:t>shells </a:t>
            </a:r>
            <a:r>
              <a:rPr sz="2700" spc="-10" dirty="0">
                <a:latin typeface="Carlito"/>
                <a:cs typeface="Carlito"/>
              </a:rPr>
              <a:t>when  external energy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5" dirty="0">
                <a:latin typeface="Carlito"/>
                <a:cs typeface="Carlito"/>
              </a:rPr>
              <a:t>absorbed </a:t>
            </a:r>
            <a:r>
              <a:rPr sz="2700" spc="-10" dirty="0">
                <a:latin typeface="Carlito"/>
                <a:cs typeface="Carlito"/>
              </a:rPr>
              <a:t>by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atom.</a:t>
            </a:r>
            <a:endParaRPr sz="27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90000"/>
              </a:lnSpc>
              <a:spcBef>
                <a:spcPts val="6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If a </a:t>
            </a:r>
            <a:r>
              <a:rPr sz="2700" spc="-10" dirty="0">
                <a:latin typeface="Carlito"/>
                <a:cs typeface="Carlito"/>
              </a:rPr>
              <a:t>valence electron acquires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sufficient amount </a:t>
            </a:r>
            <a:r>
              <a:rPr sz="2700" dirty="0">
                <a:latin typeface="Carlito"/>
                <a:cs typeface="Carlito"/>
              </a:rPr>
              <a:t>of  </a:t>
            </a:r>
            <a:r>
              <a:rPr sz="2700" spc="-35" dirty="0">
                <a:latin typeface="Carlito"/>
                <a:cs typeface="Carlito"/>
              </a:rPr>
              <a:t>energy, </a:t>
            </a:r>
            <a:r>
              <a:rPr sz="2700" spc="-5" dirty="0">
                <a:latin typeface="Carlito"/>
                <a:cs typeface="Carlito"/>
              </a:rPr>
              <a:t>called </a:t>
            </a:r>
            <a:r>
              <a:rPr sz="2700" i="1" spc="-10" dirty="0">
                <a:latin typeface="Carlito"/>
                <a:cs typeface="Carlito"/>
              </a:rPr>
              <a:t>ionization </a:t>
            </a:r>
            <a:r>
              <a:rPr sz="2700" i="1" spc="-25" dirty="0">
                <a:latin typeface="Carlito"/>
                <a:cs typeface="Carlito"/>
              </a:rPr>
              <a:t>energy, </a:t>
            </a:r>
            <a:r>
              <a:rPr sz="2700" dirty="0">
                <a:latin typeface="Carlito"/>
                <a:cs typeface="Carlito"/>
              </a:rPr>
              <a:t>it </a:t>
            </a:r>
            <a:r>
              <a:rPr sz="2700" spc="-10" dirty="0">
                <a:latin typeface="Carlito"/>
                <a:cs typeface="Carlito"/>
              </a:rPr>
              <a:t>can </a:t>
            </a:r>
            <a:r>
              <a:rPr sz="2700" spc="-5" dirty="0">
                <a:latin typeface="Carlito"/>
                <a:cs typeface="Carlito"/>
              </a:rPr>
              <a:t>actually </a:t>
            </a:r>
            <a:r>
              <a:rPr sz="2700" spc="-10" dirty="0">
                <a:latin typeface="Carlito"/>
                <a:cs typeface="Carlito"/>
              </a:rPr>
              <a:t>escape  </a:t>
            </a:r>
            <a:r>
              <a:rPr sz="2700" spc="-15" dirty="0">
                <a:latin typeface="Carlito"/>
                <a:cs typeface="Carlito"/>
              </a:rPr>
              <a:t>from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outer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dirty="0">
                <a:latin typeface="Carlito"/>
                <a:cs typeface="Carlito"/>
              </a:rPr>
              <a:t>and the </a:t>
            </a:r>
            <a:r>
              <a:rPr sz="2700" spc="-40" dirty="0">
                <a:latin typeface="Carlito"/>
                <a:cs typeface="Carlito"/>
              </a:rPr>
              <a:t>atom’s</a:t>
            </a:r>
            <a:r>
              <a:rPr sz="2700" spc="-6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influence.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Ionization</a:t>
            </a:r>
            <a:r>
              <a:rPr spc="-6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7840" y="1526489"/>
            <a:ext cx="8151495" cy="43243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93700" marR="44450" indent="-343535" algn="just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943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departure </a:t>
            </a:r>
            <a:r>
              <a:rPr sz="3000" dirty="0">
                <a:latin typeface="Carlito"/>
                <a:cs typeface="Carlito"/>
              </a:rPr>
              <a:t>of a </a:t>
            </a:r>
            <a:r>
              <a:rPr sz="3000" spc="-15" dirty="0">
                <a:latin typeface="Carlito"/>
                <a:cs typeface="Carlito"/>
              </a:rPr>
              <a:t>valence electron </a:t>
            </a:r>
            <a:r>
              <a:rPr sz="3000" spc="-20" dirty="0">
                <a:latin typeface="Carlito"/>
                <a:cs typeface="Carlito"/>
              </a:rPr>
              <a:t>leaves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10" dirty="0">
                <a:latin typeface="Carlito"/>
                <a:cs typeface="Carlito"/>
              </a:rPr>
              <a:t>previously </a:t>
            </a:r>
            <a:r>
              <a:rPr sz="3000" spc="-15" dirty="0">
                <a:latin typeface="Carlito"/>
                <a:cs typeface="Carlito"/>
              </a:rPr>
              <a:t>neutral </a:t>
            </a:r>
            <a:r>
              <a:rPr sz="3000" spc="-20" dirty="0">
                <a:latin typeface="Carlito"/>
                <a:cs typeface="Carlito"/>
              </a:rPr>
              <a:t>atom </a:t>
            </a:r>
            <a:r>
              <a:rPr sz="3000" spc="-5" dirty="0">
                <a:latin typeface="Carlito"/>
                <a:cs typeface="Carlito"/>
              </a:rPr>
              <a:t>with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30" dirty="0">
                <a:latin typeface="Carlito"/>
                <a:cs typeface="Carlito"/>
              </a:rPr>
              <a:t>excess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positive  </a:t>
            </a:r>
            <a:r>
              <a:rPr sz="3000" spc="-15" dirty="0">
                <a:latin typeface="Carlito"/>
                <a:cs typeface="Carlito"/>
              </a:rPr>
              <a:t>charge </a:t>
            </a:r>
            <a:r>
              <a:rPr sz="3000" spc="-10" dirty="0">
                <a:latin typeface="Carlito"/>
                <a:cs typeface="Carlito"/>
              </a:rPr>
              <a:t>(more </a:t>
            </a:r>
            <a:r>
              <a:rPr sz="3000" spc="-15" dirty="0">
                <a:latin typeface="Carlito"/>
                <a:cs typeface="Carlito"/>
              </a:rPr>
              <a:t>protons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10" dirty="0">
                <a:latin typeface="Carlito"/>
                <a:cs typeface="Carlito"/>
              </a:rPr>
              <a:t>electrons).</a:t>
            </a:r>
            <a:endParaRPr sz="3000">
              <a:latin typeface="Carlito"/>
              <a:cs typeface="Carlito"/>
            </a:endParaRPr>
          </a:p>
          <a:p>
            <a:pPr marL="393700" marR="43180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943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process </a:t>
            </a:r>
            <a:r>
              <a:rPr sz="3000" dirty="0">
                <a:latin typeface="Carlito"/>
                <a:cs typeface="Carlito"/>
              </a:rPr>
              <a:t>of losing a </a:t>
            </a:r>
            <a:r>
              <a:rPr sz="3000" spc="-15" dirty="0">
                <a:latin typeface="Carlito"/>
                <a:cs typeface="Carlito"/>
              </a:rPr>
              <a:t>valence electron </a:t>
            </a:r>
            <a:r>
              <a:rPr sz="3000" spc="-5" dirty="0">
                <a:latin typeface="Carlito"/>
                <a:cs typeface="Carlito"/>
              </a:rPr>
              <a:t>is known 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b="1" spc="-10" dirty="0">
                <a:latin typeface="Carlito"/>
                <a:cs typeface="Carlito"/>
              </a:rPr>
              <a:t>ionization</a:t>
            </a:r>
            <a:r>
              <a:rPr sz="3000" spc="-10" dirty="0">
                <a:latin typeface="Carlito"/>
                <a:cs typeface="Carlito"/>
              </a:rPr>
              <a:t>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resulting positively charged  </a:t>
            </a:r>
            <a:r>
              <a:rPr sz="3000" spc="-15" dirty="0">
                <a:latin typeface="Carlito"/>
                <a:cs typeface="Carlito"/>
              </a:rPr>
              <a:t>atom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i="1" spc="-10" dirty="0">
                <a:latin typeface="Carlito"/>
                <a:cs typeface="Carlito"/>
              </a:rPr>
              <a:t>positive </a:t>
            </a:r>
            <a:r>
              <a:rPr sz="3000" i="1" spc="-5" dirty="0">
                <a:latin typeface="Carlito"/>
                <a:cs typeface="Carlito"/>
              </a:rPr>
              <a:t>ion.</a:t>
            </a:r>
            <a:endParaRPr sz="3000">
              <a:latin typeface="Carlito"/>
              <a:cs typeface="Carlito"/>
            </a:endParaRPr>
          </a:p>
          <a:p>
            <a:pPr marL="393700" indent="-343535" algn="just">
              <a:lnSpc>
                <a:spcPts val="3240"/>
              </a:lnSpc>
              <a:buFont typeface="Arial"/>
              <a:buChar char="•"/>
              <a:tabLst>
                <a:tab pos="394335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20" dirty="0">
                <a:latin typeface="Carlito"/>
                <a:cs typeface="Carlito"/>
              </a:rPr>
              <a:t>example,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chemical symbol </a:t>
            </a:r>
            <a:r>
              <a:rPr sz="3000" spc="-20" dirty="0">
                <a:latin typeface="Carlito"/>
                <a:cs typeface="Carlito"/>
              </a:rPr>
              <a:t>for </a:t>
            </a:r>
            <a:r>
              <a:rPr sz="3000" spc="-25" dirty="0">
                <a:latin typeface="Carlito"/>
                <a:cs typeface="Carlito"/>
              </a:rPr>
              <a:t>hydrogen</a:t>
            </a:r>
            <a:r>
              <a:rPr sz="3000" spc="6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is</a:t>
            </a:r>
            <a:endParaRPr sz="3000">
              <a:latin typeface="Carlito"/>
              <a:cs typeface="Carlito"/>
            </a:endParaRPr>
          </a:p>
          <a:p>
            <a:pPr marL="393700" marR="44450" algn="just">
              <a:lnSpc>
                <a:spcPct val="80000"/>
              </a:lnSpc>
              <a:spcBef>
                <a:spcPts val="360"/>
              </a:spcBef>
            </a:pPr>
            <a:r>
              <a:rPr sz="3000" dirty="0">
                <a:latin typeface="Carlito"/>
                <a:cs typeface="Carlito"/>
              </a:rPr>
              <a:t>H. </a:t>
            </a: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neutral </a:t>
            </a:r>
            <a:r>
              <a:rPr sz="3000" spc="-25" dirty="0">
                <a:latin typeface="Carlito"/>
                <a:cs typeface="Carlito"/>
              </a:rPr>
              <a:t>hydrogen </a:t>
            </a:r>
            <a:r>
              <a:rPr sz="3000" spc="-20" dirty="0">
                <a:latin typeface="Carlito"/>
                <a:cs typeface="Carlito"/>
              </a:rPr>
              <a:t>atom </a:t>
            </a:r>
            <a:r>
              <a:rPr sz="3000" dirty="0">
                <a:latin typeface="Carlito"/>
                <a:cs typeface="Carlito"/>
              </a:rPr>
              <a:t>loses </a:t>
            </a:r>
            <a:r>
              <a:rPr sz="3000" spc="-5" dirty="0">
                <a:latin typeface="Carlito"/>
                <a:cs typeface="Carlito"/>
              </a:rPr>
              <a:t>its  </a:t>
            </a:r>
            <a:r>
              <a:rPr sz="3000" spc="-10" dirty="0">
                <a:latin typeface="Carlito"/>
                <a:cs typeface="Carlito"/>
              </a:rPr>
              <a:t>valence </a:t>
            </a:r>
            <a:r>
              <a:rPr sz="3000" spc="-15" dirty="0">
                <a:latin typeface="Carlito"/>
                <a:cs typeface="Carlito"/>
              </a:rPr>
              <a:t>electron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becomes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positive </a:t>
            </a:r>
            <a:r>
              <a:rPr sz="3000" dirty="0">
                <a:latin typeface="Carlito"/>
                <a:cs typeface="Carlito"/>
              </a:rPr>
              <a:t>ion, </a:t>
            </a:r>
            <a:r>
              <a:rPr sz="3000" spc="-5" dirty="0">
                <a:latin typeface="Carlito"/>
                <a:cs typeface="Carlito"/>
              </a:rPr>
              <a:t>it is  </a:t>
            </a:r>
            <a:r>
              <a:rPr sz="3000" spc="-15" dirty="0">
                <a:latin typeface="Carlito"/>
                <a:cs typeface="Carlito"/>
              </a:rPr>
              <a:t>designated </a:t>
            </a:r>
            <a:r>
              <a:rPr sz="3000" spc="-275" dirty="0">
                <a:latin typeface="Verdana"/>
                <a:cs typeface="Verdana"/>
              </a:rPr>
              <a:t>𝐻</a:t>
            </a:r>
            <a:r>
              <a:rPr sz="3300" spc="-412" baseline="27777" dirty="0">
                <a:latin typeface="Verdana"/>
                <a:cs typeface="Verdana"/>
              </a:rPr>
              <a:t>+</a:t>
            </a:r>
            <a:r>
              <a:rPr sz="3000" spc="-275" dirty="0">
                <a:latin typeface="Carlito"/>
                <a:cs typeface="Carlito"/>
              </a:rPr>
              <a:t>.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escaped </a:t>
            </a:r>
            <a:r>
              <a:rPr sz="3000" spc="-15" dirty="0">
                <a:latin typeface="Carlito"/>
                <a:cs typeface="Carlito"/>
              </a:rPr>
              <a:t>valence electron </a:t>
            </a:r>
            <a:r>
              <a:rPr sz="3000" spc="-5" dirty="0">
                <a:latin typeface="Carlito"/>
                <a:cs typeface="Carlito"/>
              </a:rPr>
              <a:t>is 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b="1" spc="-15" dirty="0">
                <a:latin typeface="Carlito"/>
                <a:cs typeface="Carlito"/>
              </a:rPr>
              <a:t>free </a:t>
            </a:r>
            <a:r>
              <a:rPr sz="3000" b="1" spc="-10" dirty="0">
                <a:latin typeface="Carlito"/>
                <a:cs typeface="Carlito"/>
              </a:rPr>
              <a:t>electron</a:t>
            </a:r>
            <a:r>
              <a:rPr sz="3000" spc="-1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Ionization</a:t>
            </a:r>
            <a:r>
              <a:rPr spc="-6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58493"/>
            <a:ext cx="8075295" cy="42214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7620" indent="-343535" algn="just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25" dirty="0">
                <a:latin typeface="Carlito"/>
                <a:cs typeface="Carlito"/>
              </a:rPr>
              <a:t>reverse </a:t>
            </a:r>
            <a:r>
              <a:rPr sz="3200" spc="-15" dirty="0">
                <a:latin typeface="Carlito"/>
                <a:cs typeface="Carlito"/>
              </a:rPr>
              <a:t>process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occur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certain </a:t>
            </a:r>
            <a:r>
              <a:rPr sz="3200" spc="-15" dirty="0">
                <a:latin typeface="Carlito"/>
                <a:cs typeface="Carlito"/>
              </a:rPr>
              <a:t>atoms  </a:t>
            </a:r>
            <a:r>
              <a:rPr sz="3200" dirty="0">
                <a:latin typeface="Carlito"/>
                <a:cs typeface="Carlito"/>
              </a:rPr>
              <a:t>when a </a:t>
            </a:r>
            <a:r>
              <a:rPr sz="3200" spc="-10" dirty="0">
                <a:latin typeface="Carlito"/>
                <a:cs typeface="Carlito"/>
              </a:rPr>
              <a:t>free electron collides </a:t>
            </a:r>
            <a:r>
              <a:rPr sz="3200" dirty="0">
                <a:latin typeface="Carlito"/>
                <a:cs typeface="Carlito"/>
              </a:rPr>
              <a:t>with the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10" dirty="0">
                <a:latin typeface="Carlito"/>
                <a:cs typeface="Carlito"/>
              </a:rPr>
              <a:t>captured, </a:t>
            </a:r>
            <a:r>
              <a:rPr sz="3200" spc="-5" dirty="0">
                <a:latin typeface="Carlito"/>
                <a:cs typeface="Carlito"/>
              </a:rPr>
              <a:t>releasing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energy.</a:t>
            </a:r>
            <a:endParaRPr sz="32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that has acquired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5" dirty="0">
                <a:latin typeface="Carlito"/>
                <a:cs typeface="Carlito"/>
              </a:rPr>
              <a:t>extra </a:t>
            </a:r>
            <a:r>
              <a:rPr sz="3200" spc="-15" dirty="0">
                <a:latin typeface="Carlito"/>
                <a:cs typeface="Carlito"/>
              </a:rPr>
              <a:t>electron  </a:t>
            </a:r>
            <a:r>
              <a:rPr sz="3200" spc="-5" dirty="0">
                <a:latin typeface="Carlito"/>
                <a:cs typeface="Carlito"/>
              </a:rPr>
              <a:t>is called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i="1" spc="-5" dirty="0">
                <a:latin typeface="Carlito"/>
                <a:cs typeface="Carlito"/>
              </a:rPr>
              <a:t>negative ion</a:t>
            </a:r>
            <a:r>
              <a:rPr sz="3200" spc="-5" dirty="0">
                <a:latin typeface="Carlito"/>
                <a:cs typeface="Carlito"/>
              </a:rPr>
              <a:t>. The </a:t>
            </a:r>
            <a:r>
              <a:rPr sz="3200" spc="-10" dirty="0">
                <a:latin typeface="Carlito"/>
                <a:cs typeface="Carlito"/>
              </a:rPr>
              <a:t>ionization process  </a:t>
            </a:r>
            <a:r>
              <a:rPr sz="3200" spc="-5" dirty="0">
                <a:latin typeface="Carlito"/>
                <a:cs typeface="Carlito"/>
              </a:rPr>
              <a:t>is not </a:t>
            </a:r>
            <a:r>
              <a:rPr sz="3200" spc="-15" dirty="0">
                <a:latin typeface="Carlito"/>
                <a:cs typeface="Carlito"/>
              </a:rPr>
              <a:t>restricted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single</a:t>
            </a:r>
            <a:r>
              <a:rPr sz="3200" spc="7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atoms.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710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In </a:t>
            </a:r>
            <a:r>
              <a:rPr sz="3200" spc="-15" dirty="0">
                <a:latin typeface="Carlito"/>
                <a:cs typeface="Carlito"/>
              </a:rPr>
              <a:t>many </a:t>
            </a:r>
            <a:r>
              <a:rPr sz="3200" spc="-5" dirty="0">
                <a:latin typeface="Carlito"/>
                <a:cs typeface="Carlito"/>
              </a:rPr>
              <a:t>chemical reactions,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group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atoms 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bonded </a:t>
            </a:r>
            <a:r>
              <a:rPr sz="3200" spc="-10" dirty="0">
                <a:latin typeface="Carlito"/>
                <a:cs typeface="Carlito"/>
              </a:rPr>
              <a:t>together can </a:t>
            </a:r>
            <a:r>
              <a:rPr sz="3200" dirty="0">
                <a:latin typeface="Carlito"/>
                <a:cs typeface="Carlito"/>
              </a:rPr>
              <a:t>lose or </a:t>
            </a:r>
            <a:r>
              <a:rPr sz="3200" spc="-5" dirty="0">
                <a:latin typeface="Carlito"/>
                <a:cs typeface="Carlito"/>
              </a:rPr>
              <a:t>acquire  one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more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electrons.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Ionization</a:t>
            </a:r>
            <a:r>
              <a:rPr spc="-6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7840" y="1607261"/>
            <a:ext cx="8151495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4445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4335" algn="l"/>
              </a:tabLst>
            </a:pPr>
            <a:r>
              <a:rPr sz="3200" spc="-20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spc="-10" dirty="0">
                <a:latin typeface="Carlito"/>
                <a:cs typeface="Carlito"/>
              </a:rPr>
              <a:t>nonmetallic materials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 </a:t>
            </a:r>
            <a:r>
              <a:rPr sz="3200" spc="-5" dirty="0">
                <a:latin typeface="Carlito"/>
                <a:cs typeface="Carlito"/>
              </a:rPr>
              <a:t>chlorine,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free </a:t>
            </a:r>
            <a:r>
              <a:rPr sz="3200" spc="-10" dirty="0">
                <a:latin typeface="Carlito"/>
                <a:cs typeface="Carlito"/>
              </a:rPr>
              <a:t>electron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captured </a:t>
            </a:r>
            <a:r>
              <a:rPr sz="3200" spc="-5" dirty="0">
                <a:latin typeface="Carlito"/>
                <a:cs typeface="Carlito"/>
              </a:rPr>
              <a:t>by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neutral atom, forming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negative</a:t>
            </a:r>
            <a:r>
              <a:rPr sz="3200" spc="9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ion.</a:t>
            </a:r>
            <a:endParaRPr sz="3200">
              <a:latin typeface="Carlito"/>
              <a:cs typeface="Carlito"/>
            </a:endParaRPr>
          </a:p>
          <a:p>
            <a:pPr marL="393700" marR="431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94335" algn="l"/>
              </a:tabLst>
            </a:pP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case </a:t>
            </a:r>
            <a:r>
              <a:rPr sz="3200" dirty="0">
                <a:latin typeface="Carlito"/>
                <a:cs typeface="Carlito"/>
              </a:rPr>
              <a:t>of chlorine, the ion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spc="-15" dirty="0">
                <a:latin typeface="Carlito"/>
                <a:cs typeface="Carlito"/>
              </a:rPr>
              <a:t>stable  </a:t>
            </a:r>
            <a:r>
              <a:rPr sz="3200" dirty="0">
                <a:latin typeface="Carlito"/>
                <a:cs typeface="Carlito"/>
              </a:rPr>
              <a:t>than the </a:t>
            </a:r>
            <a:r>
              <a:rPr sz="3200" spc="-15" dirty="0">
                <a:latin typeface="Carlito"/>
                <a:cs typeface="Carlito"/>
              </a:rPr>
              <a:t>neutral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because it has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filled  </a:t>
            </a:r>
            <a:r>
              <a:rPr sz="3200" spc="-10" dirty="0">
                <a:latin typeface="Carlito"/>
                <a:cs typeface="Carlito"/>
              </a:rPr>
              <a:t>outer </a:t>
            </a:r>
            <a:r>
              <a:rPr sz="3200" spc="-5" dirty="0">
                <a:latin typeface="Carlito"/>
                <a:cs typeface="Carlito"/>
              </a:rPr>
              <a:t>shell. The chlorine </a:t>
            </a:r>
            <a:r>
              <a:rPr sz="3200" dirty="0">
                <a:latin typeface="Carlito"/>
                <a:cs typeface="Carlito"/>
              </a:rPr>
              <a:t>ion </a:t>
            </a:r>
            <a:r>
              <a:rPr sz="3200" spc="-5" dirty="0">
                <a:latin typeface="Carlito"/>
                <a:cs typeface="Carlito"/>
              </a:rPr>
              <a:t>is</a:t>
            </a:r>
            <a:r>
              <a:rPr sz="3200" spc="25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designated </a:t>
            </a:r>
            <a:r>
              <a:rPr sz="3200" dirty="0">
                <a:latin typeface="Carlito"/>
                <a:cs typeface="Carlito"/>
              </a:rPr>
              <a:t>as</a:t>
            </a:r>
            <a:endParaRPr sz="3200">
              <a:latin typeface="Carlito"/>
              <a:cs typeface="Carlito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3200" spc="-1200" dirty="0">
                <a:latin typeface="Verdana"/>
                <a:cs typeface="Verdana"/>
              </a:rPr>
              <a:t>𝐶𝑙</a:t>
            </a:r>
            <a:r>
              <a:rPr sz="3525" spc="-1800" baseline="28368" dirty="0">
                <a:latin typeface="Verdana"/>
                <a:cs typeface="Verdana"/>
              </a:rPr>
              <a:t>−</a:t>
            </a:r>
            <a:endParaRPr sz="3525" baseline="28368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4941" y="405511"/>
            <a:ext cx="4755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Quantum</a:t>
            </a:r>
            <a:r>
              <a:rPr spc="-50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63065"/>
            <a:ext cx="8073390" cy="44615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3535" algn="just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quantum </a:t>
            </a:r>
            <a:r>
              <a:rPr sz="3000" spc="-5" dirty="0">
                <a:latin typeface="Carlito"/>
                <a:cs typeface="Carlito"/>
              </a:rPr>
              <a:t>model is </a:t>
            </a:r>
            <a:r>
              <a:rPr sz="3000" spc="-15" dirty="0">
                <a:latin typeface="Carlito"/>
                <a:cs typeface="Carlito"/>
              </a:rPr>
              <a:t>considered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more  </a:t>
            </a:r>
            <a:r>
              <a:rPr sz="3000" spc="-15" dirty="0">
                <a:latin typeface="Carlito"/>
                <a:cs typeface="Carlito"/>
              </a:rPr>
              <a:t>accurate.</a:t>
            </a:r>
            <a:endParaRPr sz="3000">
              <a:latin typeface="Carlito"/>
              <a:cs typeface="Carlito"/>
            </a:endParaRPr>
          </a:p>
          <a:p>
            <a:pPr marL="355600" marR="8255" indent="-343535" algn="just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quantum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statistical </a:t>
            </a:r>
            <a:r>
              <a:rPr sz="3000" dirty="0">
                <a:latin typeface="Carlito"/>
                <a:cs typeface="Carlito"/>
              </a:rPr>
              <a:t>model and </a:t>
            </a:r>
            <a:r>
              <a:rPr sz="3000" spc="-15" dirty="0">
                <a:latin typeface="Carlito"/>
                <a:cs typeface="Carlito"/>
              </a:rPr>
              <a:t>very  </a:t>
            </a:r>
            <a:r>
              <a:rPr sz="3000" spc="-10" dirty="0">
                <a:latin typeface="Carlito"/>
                <a:cs typeface="Carlito"/>
              </a:rPr>
              <a:t>difficult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understand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visualize.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324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30" dirty="0">
                <a:latin typeface="Carlito"/>
                <a:cs typeface="Carlito"/>
              </a:rPr>
              <a:t>Like </a:t>
            </a:r>
            <a:r>
              <a:rPr sz="3000" dirty="0">
                <a:latin typeface="Carlito"/>
                <a:cs typeface="Carlito"/>
              </a:rPr>
              <a:t>the Bohr </a:t>
            </a:r>
            <a:r>
              <a:rPr sz="3000" spc="-5" dirty="0">
                <a:latin typeface="Carlito"/>
                <a:cs typeface="Carlito"/>
              </a:rPr>
              <a:t>model,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quantum </a:t>
            </a:r>
            <a:r>
              <a:rPr sz="3000" dirty="0">
                <a:latin typeface="Carlito"/>
                <a:cs typeface="Carlito"/>
              </a:rPr>
              <a:t>model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10" dirty="0">
                <a:latin typeface="Carlito"/>
                <a:cs typeface="Carlito"/>
              </a:rPr>
              <a:t>nucleus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protons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neutrons </a:t>
            </a:r>
            <a:r>
              <a:rPr sz="3000" spc="-10" dirty="0">
                <a:latin typeface="Carlito"/>
                <a:cs typeface="Carlito"/>
              </a:rPr>
              <a:t>surrounded </a:t>
            </a:r>
            <a:r>
              <a:rPr sz="3000" spc="-5" dirty="0">
                <a:latin typeface="Carlito"/>
                <a:cs typeface="Carlito"/>
              </a:rPr>
              <a:t>by  </a:t>
            </a:r>
            <a:r>
              <a:rPr sz="3000" spc="-10" dirty="0">
                <a:latin typeface="Carlito"/>
                <a:cs typeface="Carlito"/>
              </a:rPr>
              <a:t>electrons.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67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20" dirty="0">
                <a:latin typeface="Carlito"/>
                <a:cs typeface="Carlito"/>
              </a:rPr>
              <a:t>Unlike </a:t>
            </a:r>
            <a:r>
              <a:rPr sz="3000" dirty="0">
                <a:latin typeface="Carlito"/>
                <a:cs typeface="Carlito"/>
              </a:rPr>
              <a:t>the Bohr </a:t>
            </a:r>
            <a:r>
              <a:rPr sz="3000" spc="-5" dirty="0">
                <a:latin typeface="Carlito"/>
                <a:cs typeface="Carlito"/>
              </a:rPr>
              <a:t>model,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electrons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the  quantum </a:t>
            </a:r>
            <a:r>
              <a:rPr sz="3000" dirty="0">
                <a:latin typeface="Carlito"/>
                <a:cs typeface="Carlito"/>
              </a:rPr>
              <a:t>model </a:t>
            </a:r>
            <a:r>
              <a:rPr sz="3000" spc="-10" dirty="0">
                <a:latin typeface="Carlito"/>
                <a:cs typeface="Carlito"/>
              </a:rPr>
              <a:t>do </a:t>
            </a:r>
            <a:r>
              <a:rPr sz="3000" spc="-5" dirty="0">
                <a:latin typeface="Carlito"/>
                <a:cs typeface="Carlito"/>
              </a:rPr>
              <a:t>not </a:t>
            </a:r>
            <a:r>
              <a:rPr sz="3000" spc="-25" dirty="0">
                <a:latin typeface="Carlito"/>
                <a:cs typeface="Carlito"/>
              </a:rPr>
              <a:t>exist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precise circular  </a:t>
            </a:r>
            <a:r>
              <a:rPr sz="3000" spc="-5" dirty="0">
                <a:latin typeface="Carlito"/>
                <a:cs typeface="Carlito"/>
              </a:rPr>
              <a:t>orbits </a:t>
            </a:r>
            <a:r>
              <a:rPr sz="3000" dirty="0">
                <a:latin typeface="Carlito"/>
                <a:cs typeface="Carlito"/>
              </a:rPr>
              <a:t>as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particles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3510" y="405511"/>
            <a:ext cx="67170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Quantum </a:t>
            </a:r>
            <a:r>
              <a:rPr dirty="0"/>
              <a:t>Model</a:t>
            </a:r>
            <a:r>
              <a:rPr spc="-35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6235" algn="l"/>
              </a:tabLst>
            </a:pPr>
            <a:r>
              <a:rPr spc="-45" dirty="0"/>
              <a:t>Wave </a:t>
            </a:r>
            <a:r>
              <a:rPr spc="-10" dirty="0"/>
              <a:t>Particle</a:t>
            </a:r>
            <a:r>
              <a:rPr spc="20" dirty="0"/>
              <a:t> </a:t>
            </a:r>
            <a:r>
              <a:rPr spc="-5" dirty="0"/>
              <a:t>Duality</a:t>
            </a:r>
          </a:p>
          <a:p>
            <a:pPr marL="355600" indent="-343535" algn="just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356235" algn="l"/>
              </a:tabLst>
            </a:pPr>
            <a:r>
              <a:rPr spc="-10" dirty="0"/>
              <a:t>Uncertainty</a:t>
            </a:r>
            <a:r>
              <a:rPr spc="-5" dirty="0"/>
              <a:t> Principle</a:t>
            </a:r>
          </a:p>
          <a:p>
            <a:pPr marL="355600" marR="5080" indent="-343535" algn="just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In </a:t>
            </a:r>
            <a:r>
              <a:rPr dirty="0"/>
              <a:t>the </a:t>
            </a:r>
            <a:r>
              <a:rPr spc="-5" dirty="0"/>
              <a:t>quantum </a:t>
            </a:r>
            <a:r>
              <a:rPr dirty="0"/>
              <a:t>model, </a:t>
            </a:r>
            <a:r>
              <a:rPr spc="-5" dirty="0"/>
              <a:t>each shell </a:t>
            </a:r>
            <a:r>
              <a:rPr dirty="0"/>
              <a:t>or </a:t>
            </a:r>
            <a:r>
              <a:rPr spc="-10" dirty="0"/>
              <a:t>energy  level </a:t>
            </a:r>
            <a:r>
              <a:rPr spc="-15" dirty="0"/>
              <a:t>consists </a:t>
            </a:r>
            <a:r>
              <a:rPr dirty="0"/>
              <a:t>of </a:t>
            </a:r>
            <a:r>
              <a:rPr spc="5" dirty="0"/>
              <a:t>up </a:t>
            </a:r>
            <a:r>
              <a:rPr spc="-20" dirty="0"/>
              <a:t>to four </a:t>
            </a:r>
            <a:r>
              <a:rPr spc="-5" dirty="0"/>
              <a:t>subshells called  </a:t>
            </a:r>
            <a:r>
              <a:rPr spc="-10" dirty="0"/>
              <a:t>orbitals, </a:t>
            </a:r>
            <a:r>
              <a:rPr dirty="0"/>
              <a:t>which </a:t>
            </a:r>
            <a:r>
              <a:rPr spc="-15" dirty="0"/>
              <a:t>are </a:t>
            </a:r>
            <a:r>
              <a:rPr spc="-10" dirty="0"/>
              <a:t>designated </a:t>
            </a:r>
            <a:r>
              <a:rPr spc="-5" dirty="0"/>
              <a:t>s, p, </a:t>
            </a:r>
            <a:r>
              <a:rPr dirty="0"/>
              <a:t>d and</a:t>
            </a:r>
            <a:r>
              <a:rPr spc="95" dirty="0"/>
              <a:t> </a:t>
            </a:r>
            <a:r>
              <a:rPr spc="-114" dirty="0"/>
              <a:t>f.</a:t>
            </a:r>
          </a:p>
          <a:p>
            <a:pPr marL="355600" indent="-343535" algn="just">
              <a:lnSpc>
                <a:spcPts val="3650"/>
              </a:lnSpc>
              <a:spcBef>
                <a:spcPts val="325"/>
              </a:spcBef>
              <a:buFont typeface="Arial"/>
              <a:buChar char="•"/>
              <a:tabLst>
                <a:tab pos="356235" algn="l"/>
              </a:tabLst>
            </a:pPr>
            <a:r>
              <a:rPr spc="-10" dirty="0"/>
              <a:t>Orbital </a:t>
            </a:r>
            <a:r>
              <a:rPr dirty="0"/>
              <a:t>s </a:t>
            </a:r>
            <a:r>
              <a:rPr spc="-10" dirty="0"/>
              <a:t>can </a:t>
            </a:r>
            <a:r>
              <a:rPr spc="-5" dirty="0"/>
              <a:t>hold </a:t>
            </a:r>
            <a:r>
              <a:rPr dirty="0"/>
              <a:t>a </a:t>
            </a:r>
            <a:r>
              <a:rPr spc="-5" dirty="0"/>
              <a:t>maximum </a:t>
            </a:r>
            <a:r>
              <a:rPr dirty="0"/>
              <a:t>of </a:t>
            </a:r>
            <a:r>
              <a:rPr spc="-10" dirty="0"/>
              <a:t>two</a:t>
            </a:r>
            <a:r>
              <a:rPr spc="50" dirty="0"/>
              <a:t> </a:t>
            </a:r>
            <a:r>
              <a:rPr spc="-10" dirty="0"/>
              <a:t>electrons</a:t>
            </a:r>
          </a:p>
          <a:p>
            <a:pPr marL="355600" marR="5715" algn="just">
              <a:lnSpc>
                <a:spcPct val="90000"/>
              </a:lnSpc>
              <a:spcBef>
                <a:spcPts val="195"/>
              </a:spcBef>
            </a:pPr>
            <a:r>
              <a:rPr dirty="0"/>
              <a:t>, </a:t>
            </a:r>
            <a:r>
              <a:rPr spc="-10" dirty="0"/>
              <a:t>orbital </a:t>
            </a:r>
            <a:r>
              <a:rPr dirty="0"/>
              <a:t>p </a:t>
            </a:r>
            <a:r>
              <a:rPr spc="-10" dirty="0"/>
              <a:t>can </a:t>
            </a:r>
            <a:r>
              <a:rPr spc="-5" dirty="0"/>
              <a:t>hold six </a:t>
            </a:r>
            <a:r>
              <a:rPr spc="-10" dirty="0"/>
              <a:t>electrons, orbital </a:t>
            </a:r>
            <a:r>
              <a:rPr dirty="0"/>
              <a:t>d </a:t>
            </a:r>
            <a:r>
              <a:rPr spc="-10" dirty="0"/>
              <a:t>can  </a:t>
            </a:r>
            <a:r>
              <a:rPr spc="-5" dirty="0"/>
              <a:t>hold </a:t>
            </a:r>
            <a:r>
              <a:rPr spc="-15" dirty="0"/>
              <a:t>ten </a:t>
            </a:r>
            <a:r>
              <a:rPr spc="-10" dirty="0"/>
              <a:t>electrons, </a:t>
            </a:r>
            <a:r>
              <a:rPr dirty="0"/>
              <a:t>and </a:t>
            </a:r>
            <a:r>
              <a:rPr spc="-10" dirty="0"/>
              <a:t>orbital </a:t>
            </a:r>
            <a:r>
              <a:rPr dirty="0"/>
              <a:t>f </a:t>
            </a:r>
            <a:r>
              <a:rPr spc="-10" dirty="0"/>
              <a:t>can </a:t>
            </a:r>
            <a:r>
              <a:rPr spc="-5" dirty="0"/>
              <a:t>hold  </a:t>
            </a:r>
            <a:r>
              <a:rPr spc="-20" dirty="0"/>
              <a:t>fourteen</a:t>
            </a:r>
            <a:r>
              <a:rPr dirty="0"/>
              <a:t> </a:t>
            </a:r>
            <a:r>
              <a:rPr spc="-10" dirty="0"/>
              <a:t>electrons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013" y="405511"/>
            <a:ext cx="5127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Electron</a:t>
            </a:r>
            <a:r>
              <a:rPr spc="-45" dirty="0"/>
              <a:t> </a:t>
            </a:r>
            <a:r>
              <a:rPr spc="-10" dirty="0"/>
              <a:t>Configuration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76628" y="1478279"/>
            <a:ext cx="5948680" cy="1645920"/>
          </a:xfrm>
          <a:custGeom>
            <a:avLst/>
            <a:gdLst/>
            <a:ahLst/>
            <a:cxnLst/>
            <a:rect l="l" t="t" r="r" b="b"/>
            <a:pathLst>
              <a:path w="5948680" h="164592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  <a:path w="5948680" h="1645920">
                <a:moveTo>
                  <a:pt x="5948172" y="365760"/>
                </a:moveTo>
                <a:lnTo>
                  <a:pt x="4957572" y="365760"/>
                </a:lnTo>
                <a:lnTo>
                  <a:pt x="4957572" y="1645920"/>
                </a:lnTo>
                <a:lnTo>
                  <a:pt x="5948172" y="1645920"/>
                </a:lnTo>
                <a:lnTo>
                  <a:pt x="5948172" y="365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607261"/>
            <a:ext cx="6177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Electron </a:t>
            </a:r>
            <a:r>
              <a:rPr sz="3200" spc="-15" dirty="0">
                <a:latin typeface="Carlito"/>
                <a:cs typeface="Carlito"/>
              </a:rPr>
              <a:t>Configuration </a:t>
            </a:r>
            <a:r>
              <a:rPr sz="3200" spc="-30" dirty="0">
                <a:latin typeface="Carlito"/>
                <a:cs typeface="Carlito"/>
              </a:rPr>
              <a:t>for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Nitrogen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676144"/>
            <a:ext cx="8301228" cy="1142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270" y="405511"/>
            <a:ext cx="7505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Electron </a:t>
            </a:r>
            <a:r>
              <a:rPr spc="-10" dirty="0"/>
              <a:t>Configuration</a:t>
            </a:r>
            <a:r>
              <a:rPr spc="-7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607261"/>
            <a:ext cx="804227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Describe the </a:t>
            </a:r>
            <a:r>
              <a:rPr sz="3200" spc="-10" dirty="0">
                <a:latin typeface="Carlito"/>
                <a:cs typeface="Carlito"/>
              </a:rPr>
              <a:t>electron </a:t>
            </a:r>
            <a:r>
              <a:rPr sz="3200" spc="-15" dirty="0">
                <a:latin typeface="Carlito"/>
                <a:cs typeface="Carlito"/>
              </a:rPr>
              <a:t>configuration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10" dirty="0">
                <a:latin typeface="Carlito"/>
                <a:cs typeface="Carlito"/>
              </a:rPr>
              <a:t>silicon  </a:t>
            </a:r>
            <a:r>
              <a:rPr sz="3200" spc="-5" dirty="0">
                <a:latin typeface="Carlito"/>
                <a:cs typeface="Carlito"/>
              </a:rPr>
              <a:t>(Si) </a:t>
            </a:r>
            <a:r>
              <a:rPr sz="3200" spc="-15" dirty="0">
                <a:latin typeface="Carlito"/>
                <a:cs typeface="Carlito"/>
              </a:rPr>
              <a:t>atom. </a:t>
            </a:r>
            <a:r>
              <a:rPr sz="3200" spc="-10" dirty="0">
                <a:latin typeface="Carlito"/>
                <a:cs typeface="Carlito"/>
              </a:rPr>
              <a:t>(Hint: </a:t>
            </a:r>
            <a:r>
              <a:rPr sz="3200" dirty="0">
                <a:latin typeface="Carlito"/>
                <a:cs typeface="Carlito"/>
              </a:rPr>
              <a:t>14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Electrons)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270" y="405511"/>
            <a:ext cx="7505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Electron </a:t>
            </a:r>
            <a:r>
              <a:rPr spc="-10" dirty="0"/>
              <a:t>Configuration</a:t>
            </a:r>
            <a:r>
              <a:rPr spc="-7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617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2111375" algn="l"/>
                <a:tab pos="2986405" algn="l"/>
                <a:tab pos="4679950" algn="l"/>
                <a:tab pos="7202805" algn="l"/>
                <a:tab pos="7863840" algn="l"/>
              </a:tabLst>
            </a:pPr>
            <a:r>
              <a:rPr spc="-5" dirty="0"/>
              <a:t>De</a:t>
            </a:r>
            <a:r>
              <a:rPr spc="-15" dirty="0"/>
              <a:t>s</a:t>
            </a:r>
            <a:r>
              <a:rPr dirty="0"/>
              <a:t>cri</a:t>
            </a:r>
            <a:r>
              <a:rPr spc="-15" dirty="0"/>
              <a:t>b</a:t>
            </a:r>
            <a:r>
              <a:rPr dirty="0"/>
              <a:t>e	the	elect</a:t>
            </a:r>
            <a:r>
              <a:rPr spc="-65" dirty="0"/>
              <a:t>r</a:t>
            </a:r>
            <a:r>
              <a:rPr spc="-5" dirty="0"/>
              <a:t>o</a:t>
            </a:r>
            <a:r>
              <a:rPr dirty="0"/>
              <a:t>n	</a:t>
            </a:r>
            <a:r>
              <a:rPr spc="-30" dirty="0"/>
              <a:t>c</a:t>
            </a:r>
            <a:r>
              <a:rPr spc="-5" dirty="0"/>
              <a:t>o</a:t>
            </a:r>
            <a:r>
              <a:rPr spc="-30" dirty="0"/>
              <a:t>n</a:t>
            </a:r>
            <a:r>
              <a:rPr spc="-5" dirty="0"/>
              <a:t>f</a:t>
            </a:r>
            <a:r>
              <a:rPr spc="-15" dirty="0"/>
              <a:t>i</a:t>
            </a:r>
            <a:r>
              <a:rPr dirty="0"/>
              <a:t>gu</a:t>
            </a:r>
            <a:r>
              <a:rPr spc="-65" dirty="0"/>
              <a:t>r</a:t>
            </a:r>
            <a:r>
              <a:rPr spc="-25" dirty="0"/>
              <a:t>a</a:t>
            </a:r>
            <a:r>
              <a:rPr dirty="0"/>
              <a:t>t</a:t>
            </a:r>
            <a:r>
              <a:rPr spc="-15" dirty="0"/>
              <a:t>i</a:t>
            </a:r>
            <a:r>
              <a:rPr spc="-5" dirty="0"/>
              <a:t>o</a:t>
            </a:r>
            <a:r>
              <a:rPr dirty="0"/>
              <a:t>n	of	a  </a:t>
            </a:r>
            <a:r>
              <a:rPr spc="-5" dirty="0"/>
              <a:t>selenium (Sn) </a:t>
            </a:r>
            <a:r>
              <a:rPr spc="-15" dirty="0"/>
              <a:t>atom. </a:t>
            </a:r>
            <a:r>
              <a:rPr spc="-10" dirty="0"/>
              <a:t>(Hint: </a:t>
            </a:r>
            <a:r>
              <a:rPr spc="-5" dirty="0"/>
              <a:t>50 </a:t>
            </a:r>
            <a:r>
              <a:rPr spc="-10" dirty="0"/>
              <a:t>electrons)</a:t>
            </a:r>
            <a:r>
              <a:rPr spc="120" dirty="0"/>
              <a:t> </a:t>
            </a:r>
            <a:r>
              <a:rPr spc="-15" dirty="0"/>
              <a:t>even</a:t>
            </a: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pc="-15" dirty="0"/>
              <a:t>Arsenic </a:t>
            </a:r>
            <a:r>
              <a:rPr dirty="0"/>
              <a:t>(33 </a:t>
            </a:r>
            <a:r>
              <a:rPr spc="-10" dirty="0"/>
              <a:t>electrons)</a:t>
            </a:r>
            <a:r>
              <a:rPr spc="15" dirty="0"/>
              <a:t> </a:t>
            </a:r>
            <a:r>
              <a:rPr spc="-5" dirty="0"/>
              <a:t>odd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2064" y="405511"/>
            <a:ext cx="6578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Materials Used </a:t>
            </a:r>
            <a:r>
              <a:rPr dirty="0"/>
              <a:t>in</a:t>
            </a:r>
            <a:r>
              <a:rPr spc="20" dirty="0"/>
              <a:t> </a:t>
            </a:r>
            <a:r>
              <a:rPr spc="-15" dirty="0"/>
              <a:t>Electronics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09941"/>
            <a:ext cx="3010535" cy="17824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rlito"/>
                <a:cs typeface="Carlito"/>
              </a:rPr>
              <a:t>Insulators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rlito"/>
                <a:cs typeface="Carlito"/>
              </a:rPr>
              <a:t>Conductors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rlito"/>
                <a:cs typeface="Carlito"/>
              </a:rPr>
              <a:t>Semiconductors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8050" y="405511"/>
            <a:ext cx="22466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Insul</a:t>
            </a:r>
            <a:r>
              <a:rPr spc="-35" dirty="0"/>
              <a:t>a</a:t>
            </a:r>
            <a:r>
              <a:rPr spc="-50" dirty="0"/>
              <a:t>t</a:t>
            </a:r>
            <a:r>
              <a:rPr spc="-5" dirty="0"/>
              <a:t>o</a:t>
            </a:r>
            <a:r>
              <a:rPr spc="-70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58493"/>
            <a:ext cx="35756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1075055" algn="l"/>
                <a:tab pos="2842895" algn="l"/>
                <a:tab pos="3367404" algn="l"/>
              </a:tabLst>
            </a:pPr>
            <a:r>
              <a:rPr sz="3200" spc="-10" dirty="0">
                <a:latin typeface="Carlito"/>
                <a:cs typeface="Carlito"/>
              </a:rPr>
              <a:t>A</a:t>
            </a:r>
            <a:r>
              <a:rPr sz="3200" dirty="0">
                <a:latin typeface="Carlito"/>
                <a:cs typeface="Carlito"/>
              </a:rPr>
              <a:t>n	</a:t>
            </a:r>
            <a:r>
              <a:rPr sz="3200" b="1" dirty="0">
                <a:latin typeface="Carlito"/>
                <a:cs typeface="Carlito"/>
              </a:rPr>
              <a:t>insu</a:t>
            </a:r>
            <a:r>
              <a:rPr sz="3200" b="1" spc="-15" dirty="0">
                <a:latin typeface="Carlito"/>
                <a:cs typeface="Carlito"/>
              </a:rPr>
              <a:t>l</a:t>
            </a:r>
            <a:r>
              <a:rPr sz="3200" b="1" spc="-25" dirty="0">
                <a:latin typeface="Carlito"/>
                <a:cs typeface="Carlito"/>
              </a:rPr>
              <a:t>a</a:t>
            </a:r>
            <a:r>
              <a:rPr sz="3200" b="1" spc="-35" dirty="0">
                <a:latin typeface="Carlito"/>
                <a:cs typeface="Carlito"/>
              </a:rPr>
              <a:t>t</a:t>
            </a:r>
            <a:r>
              <a:rPr sz="3200" b="1" dirty="0">
                <a:latin typeface="Carlito"/>
                <a:cs typeface="Carlito"/>
              </a:rPr>
              <a:t>or	</a:t>
            </a:r>
            <a:r>
              <a:rPr sz="3200" spc="-5" dirty="0">
                <a:latin typeface="Carlito"/>
                <a:cs typeface="Carlito"/>
              </a:rPr>
              <a:t>i</a:t>
            </a:r>
            <a:r>
              <a:rPr sz="3200" dirty="0">
                <a:latin typeface="Carlito"/>
                <a:cs typeface="Carlito"/>
              </a:rPr>
              <a:t>s	a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005321" y="1558493"/>
            <a:ext cx="26022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3294" algn="l"/>
                <a:tab pos="2024380" algn="l"/>
              </a:tabLst>
            </a:pPr>
            <a:r>
              <a:rPr sz="3200" dirty="0">
                <a:latin typeface="Carlito"/>
                <a:cs typeface="Carlito"/>
              </a:rPr>
              <a:t>th</a:t>
            </a:r>
            <a:r>
              <a:rPr sz="3200" spc="-35" dirty="0">
                <a:latin typeface="Carlito"/>
                <a:cs typeface="Carlito"/>
              </a:rPr>
              <a:t>a</a:t>
            </a:r>
            <a:r>
              <a:rPr sz="3200" dirty="0">
                <a:latin typeface="Carlito"/>
                <a:cs typeface="Carlito"/>
              </a:rPr>
              <a:t>t	</a:t>
            </a:r>
            <a:r>
              <a:rPr sz="3200" spc="-5" dirty="0">
                <a:latin typeface="Carlito"/>
                <a:cs typeface="Carlito"/>
              </a:rPr>
              <a:t>doe</a:t>
            </a:r>
            <a:r>
              <a:rPr sz="3200" dirty="0">
                <a:latin typeface="Carlito"/>
                <a:cs typeface="Carlito"/>
              </a:rPr>
              <a:t>s	</a:t>
            </a:r>
            <a:r>
              <a:rPr sz="3200" spc="-5" dirty="0">
                <a:latin typeface="Carlito"/>
                <a:cs typeface="Carlito"/>
              </a:rPr>
              <a:t>not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1998091"/>
            <a:ext cx="32302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18310" algn="l"/>
              </a:tabLst>
            </a:pPr>
            <a:r>
              <a:rPr sz="3200" spc="-10" dirty="0">
                <a:latin typeface="Carlito"/>
                <a:cs typeface="Carlito"/>
              </a:rPr>
              <a:t>conduct	</a:t>
            </a:r>
            <a:r>
              <a:rPr sz="3200" spc="-5" dirty="0">
                <a:latin typeface="Carlito"/>
                <a:cs typeface="Carlito"/>
              </a:rPr>
              <a:t>electrical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8850" y="1998091"/>
            <a:ext cx="25679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72235" algn="l"/>
              </a:tabLst>
            </a:pPr>
            <a:r>
              <a:rPr sz="3200" spc="5" dirty="0">
                <a:latin typeface="Carlito"/>
                <a:cs typeface="Carlito"/>
              </a:rPr>
              <a:t>un</a:t>
            </a:r>
            <a:r>
              <a:rPr sz="3200" spc="-5" dirty="0">
                <a:latin typeface="Carlito"/>
                <a:cs typeface="Carlito"/>
              </a:rPr>
              <a:t>de</a:t>
            </a:r>
            <a:r>
              <a:rPr sz="3200" dirty="0">
                <a:latin typeface="Carlito"/>
                <a:cs typeface="Carlito"/>
              </a:rPr>
              <a:t>r	</a:t>
            </a:r>
            <a:r>
              <a:rPr sz="3200" spc="-5" dirty="0">
                <a:latin typeface="Carlito"/>
                <a:cs typeface="Carlito"/>
              </a:rPr>
              <a:t>normal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2437002"/>
            <a:ext cx="3216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8865" algn="l"/>
              </a:tabLst>
            </a:pP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ondition</a:t>
            </a:r>
            <a:r>
              <a:rPr sz="3200" dirty="0">
                <a:latin typeface="Carlito"/>
                <a:cs typeface="Carlito"/>
              </a:rPr>
              <a:t>s.	M</a:t>
            </a:r>
            <a:r>
              <a:rPr sz="3200" spc="5" dirty="0">
                <a:latin typeface="Carlito"/>
                <a:cs typeface="Carlito"/>
              </a:rPr>
              <a:t>o</a:t>
            </a:r>
            <a:r>
              <a:rPr sz="3200" spc="-45" dirty="0">
                <a:latin typeface="Carlito"/>
                <a:cs typeface="Carlito"/>
              </a:rPr>
              <a:t>s</a:t>
            </a:r>
            <a:r>
              <a:rPr sz="3200" dirty="0">
                <a:latin typeface="Carlito"/>
                <a:cs typeface="Carlito"/>
              </a:rPr>
              <a:t>t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9121" y="2437002"/>
            <a:ext cx="26784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31060" algn="l"/>
              </a:tabLst>
            </a:pPr>
            <a:r>
              <a:rPr sz="3200" dirty="0">
                <a:latin typeface="Carlito"/>
                <a:cs typeface="Carlito"/>
              </a:rPr>
              <a:t>ins</a:t>
            </a:r>
            <a:r>
              <a:rPr sz="3200" spc="5" dirty="0">
                <a:latin typeface="Carlito"/>
                <a:cs typeface="Carlito"/>
              </a:rPr>
              <a:t>u</a:t>
            </a:r>
            <a:r>
              <a:rPr sz="3200" dirty="0">
                <a:latin typeface="Carlito"/>
                <a:cs typeface="Carlito"/>
              </a:rPr>
              <a:t>l</a:t>
            </a:r>
            <a:r>
              <a:rPr sz="3200" spc="-15" dirty="0">
                <a:latin typeface="Carlito"/>
                <a:cs typeface="Carlito"/>
              </a:rPr>
              <a:t>a</a:t>
            </a:r>
            <a:r>
              <a:rPr sz="3200" spc="-45" dirty="0">
                <a:latin typeface="Carlito"/>
                <a:cs typeface="Carlito"/>
              </a:rPr>
              <a:t>t</a:t>
            </a:r>
            <a:r>
              <a:rPr sz="3200" spc="-5" dirty="0">
                <a:latin typeface="Carlito"/>
                <a:cs typeface="Carlito"/>
              </a:rPr>
              <a:t>o</a:t>
            </a:r>
            <a:r>
              <a:rPr sz="3200" spc="-60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s	</a:t>
            </a:r>
            <a:r>
              <a:rPr sz="3200" spc="5" dirty="0">
                <a:latin typeface="Carlito"/>
                <a:cs typeface="Carlito"/>
              </a:rPr>
              <a:t>a</a:t>
            </a:r>
            <a:r>
              <a:rPr sz="3200" spc="-5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9144" y="2875914"/>
            <a:ext cx="34944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61895" algn="l"/>
              </a:tabLst>
            </a:pP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ompound</a:t>
            </a:r>
            <a:r>
              <a:rPr sz="3200" dirty="0">
                <a:latin typeface="Carlito"/>
                <a:cs typeface="Carlito"/>
              </a:rPr>
              <a:t>s	</a:t>
            </a:r>
            <a:r>
              <a:rPr sz="3200" spc="-60" dirty="0">
                <a:latin typeface="Carlito"/>
                <a:cs typeface="Carlito"/>
              </a:rPr>
              <a:t>r</a:t>
            </a:r>
            <a:r>
              <a:rPr sz="3200" spc="-40" dirty="0">
                <a:latin typeface="Carlito"/>
                <a:cs typeface="Carlito"/>
              </a:rPr>
              <a:t>a</a:t>
            </a:r>
            <a:r>
              <a:rPr sz="3200" dirty="0">
                <a:latin typeface="Carlito"/>
                <a:cs typeface="Carlito"/>
              </a:rPr>
              <a:t>ther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7496" y="1558493"/>
            <a:ext cx="1400810" cy="183133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09855" marR="5080" indent="-97790" algn="just">
              <a:lnSpc>
                <a:spcPct val="90000"/>
              </a:lnSpc>
              <a:spcBef>
                <a:spcPts val="490"/>
              </a:spcBef>
            </a:pPr>
            <a:r>
              <a:rPr sz="3200" spc="5" dirty="0">
                <a:latin typeface="Carlito"/>
                <a:cs typeface="Carlito"/>
              </a:rPr>
              <a:t>m</a:t>
            </a:r>
            <a:r>
              <a:rPr sz="3200" spc="-30" dirty="0">
                <a:latin typeface="Carlito"/>
                <a:cs typeface="Carlito"/>
              </a:rPr>
              <a:t>a</a:t>
            </a:r>
            <a:r>
              <a:rPr sz="3200" spc="-45" dirty="0">
                <a:latin typeface="Carlito"/>
                <a:cs typeface="Carlito"/>
              </a:rPr>
              <a:t>t</a:t>
            </a:r>
            <a:r>
              <a:rPr sz="3200" dirty="0">
                <a:latin typeface="Carlito"/>
                <a:cs typeface="Carlito"/>
              </a:rPr>
              <a:t>erial  </a:t>
            </a:r>
            <a:r>
              <a:rPr sz="3200" spc="-10" dirty="0">
                <a:latin typeface="Carlito"/>
                <a:cs typeface="Carlito"/>
              </a:rPr>
              <a:t>current  good</a:t>
            </a:r>
            <a:endParaRPr sz="3200">
              <a:latin typeface="Carlito"/>
              <a:cs typeface="Carlito"/>
            </a:endParaRPr>
          </a:p>
          <a:p>
            <a:pPr marL="513715">
              <a:lnSpc>
                <a:spcPts val="3454"/>
              </a:lnSpc>
            </a:pPr>
            <a:r>
              <a:rPr sz="3200" dirty="0">
                <a:latin typeface="Carlito"/>
                <a:cs typeface="Carlito"/>
              </a:rPr>
              <a:t>than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1814" y="2875914"/>
            <a:ext cx="2477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rlito"/>
                <a:cs typeface="Carlito"/>
              </a:rPr>
              <a:t>single-element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9144" y="3315080"/>
            <a:ext cx="7728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23085" algn="l"/>
                <a:tab pos="2725420" algn="l"/>
                <a:tab pos="3789679" algn="l"/>
                <a:tab pos="4775200" algn="l"/>
                <a:tab pos="5767705" algn="l"/>
              </a:tabLst>
            </a:pPr>
            <a:r>
              <a:rPr sz="3200" spc="-10" dirty="0">
                <a:latin typeface="Carlito"/>
                <a:cs typeface="Carlito"/>
              </a:rPr>
              <a:t>materials	</a:t>
            </a:r>
            <a:r>
              <a:rPr sz="3200" dirty="0">
                <a:latin typeface="Carlito"/>
                <a:cs typeface="Carlito"/>
              </a:rPr>
              <a:t>and	</a:t>
            </a:r>
            <a:r>
              <a:rPr sz="3200" spc="-20" dirty="0">
                <a:latin typeface="Carlito"/>
                <a:cs typeface="Carlito"/>
              </a:rPr>
              <a:t>have	</a:t>
            </a:r>
            <a:r>
              <a:rPr sz="3200" spc="-10" dirty="0">
                <a:latin typeface="Carlito"/>
                <a:cs typeface="Carlito"/>
              </a:rPr>
              <a:t>very	</a:t>
            </a:r>
            <a:r>
              <a:rPr sz="3200" dirty="0">
                <a:latin typeface="Carlito"/>
                <a:cs typeface="Carlito"/>
              </a:rPr>
              <a:t>high	</a:t>
            </a:r>
            <a:r>
              <a:rPr sz="3200" spc="-10" dirty="0">
                <a:latin typeface="Carlito"/>
                <a:cs typeface="Carlito"/>
              </a:rPr>
              <a:t>resistivities.</a:t>
            </a:r>
            <a:endParaRPr sz="3200">
              <a:latin typeface="Carlito"/>
              <a:cs typeface="Carlito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60094" y="3868420"/>
          <a:ext cx="7769859" cy="128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  <a:tabLst>
                          <a:tab pos="1539875" algn="l"/>
                        </a:tabLst>
                      </a:pPr>
                      <a:r>
                        <a:rPr sz="3200" spc="-30" dirty="0">
                          <a:latin typeface="Carlito"/>
                          <a:cs typeface="Carlito"/>
                        </a:rPr>
                        <a:t>Valence	</a:t>
                      </a:r>
                      <a:r>
                        <a:rPr sz="3200" spc="-10" dirty="0">
                          <a:latin typeface="Carlito"/>
                          <a:cs typeface="Carlito"/>
                        </a:rPr>
                        <a:t>electrons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3045"/>
                        </a:lnSpc>
                        <a:tabLst>
                          <a:tab pos="854710" algn="l"/>
                        </a:tabLst>
                      </a:pPr>
                      <a:r>
                        <a:rPr sz="3200" spc="-15" dirty="0">
                          <a:latin typeface="Carlito"/>
                          <a:cs typeface="Carlito"/>
                        </a:rPr>
                        <a:t>are	</a:t>
                      </a:r>
                      <a:r>
                        <a:rPr sz="3200" spc="-5" dirty="0">
                          <a:latin typeface="Carlito"/>
                          <a:cs typeface="Carlito"/>
                        </a:rPr>
                        <a:t>tightly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3045"/>
                        </a:lnSpc>
                        <a:tabLst>
                          <a:tab pos="1438910" algn="l"/>
                        </a:tabLst>
                      </a:pPr>
                      <a:r>
                        <a:rPr sz="3200" dirty="0">
                          <a:latin typeface="Carlito"/>
                          <a:cs typeface="Carlito"/>
                        </a:rPr>
                        <a:t>bound	</a:t>
                      </a:r>
                      <a:r>
                        <a:rPr sz="3200" spc="-45" dirty="0">
                          <a:latin typeface="Carlito"/>
                          <a:cs typeface="Carlito"/>
                        </a:rPr>
                        <a:t>to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3045"/>
                        </a:lnSpc>
                      </a:pPr>
                      <a:r>
                        <a:rPr sz="3200" dirty="0">
                          <a:latin typeface="Carlito"/>
                          <a:cs typeface="Carlito"/>
                        </a:rPr>
                        <a:t>the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97">
                <a:tc>
                  <a:txBody>
                    <a:bodyPr/>
                    <a:lstStyle/>
                    <a:p>
                      <a:pPr marL="31750">
                        <a:lnSpc>
                          <a:spcPts val="3170"/>
                        </a:lnSpc>
                        <a:tabLst>
                          <a:tab pos="1415415" algn="l"/>
                        </a:tabLst>
                      </a:pPr>
                      <a:r>
                        <a:rPr sz="3200" spc="-15" dirty="0">
                          <a:latin typeface="Carlito"/>
                          <a:cs typeface="Carlito"/>
                        </a:rPr>
                        <a:t>atoms;	</a:t>
                      </a:r>
                      <a:r>
                        <a:rPr sz="3200" spc="-20" dirty="0">
                          <a:latin typeface="Carlito"/>
                          <a:cs typeface="Carlito"/>
                        </a:rPr>
                        <a:t>therefore,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3170"/>
                        </a:lnSpc>
                        <a:tabLst>
                          <a:tab pos="1275080" algn="l"/>
                        </a:tabLst>
                      </a:pPr>
                      <a:r>
                        <a:rPr sz="3200" spc="-10" dirty="0">
                          <a:latin typeface="Carlito"/>
                          <a:cs typeface="Carlito"/>
                        </a:rPr>
                        <a:t>there	</a:t>
                      </a:r>
                      <a:r>
                        <a:rPr sz="3200" spc="-15" dirty="0">
                          <a:latin typeface="Carlito"/>
                          <a:cs typeface="Carlito"/>
                        </a:rPr>
                        <a:t>are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3170"/>
                        </a:lnSpc>
                        <a:tabLst>
                          <a:tab pos="1040765" algn="l"/>
                        </a:tabLst>
                      </a:pPr>
                      <a:r>
                        <a:rPr sz="3200" spc="-10" dirty="0">
                          <a:latin typeface="Carlito"/>
                          <a:cs typeface="Carlito"/>
                        </a:rPr>
                        <a:t>very	</a:t>
                      </a:r>
                      <a:r>
                        <a:rPr sz="3200" spc="-35" dirty="0">
                          <a:latin typeface="Carlito"/>
                          <a:cs typeface="Carlito"/>
                        </a:rPr>
                        <a:t>few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3170"/>
                        </a:lnSpc>
                      </a:pPr>
                      <a:r>
                        <a:rPr sz="3200" spc="-5" dirty="0">
                          <a:latin typeface="Carlito"/>
                          <a:cs typeface="Carlito"/>
                        </a:rPr>
                        <a:t>f</a:t>
                      </a:r>
                      <a:r>
                        <a:rPr sz="3200" spc="-50" dirty="0">
                          <a:latin typeface="Carlito"/>
                          <a:cs typeface="Carlito"/>
                        </a:rPr>
                        <a:t>r</a:t>
                      </a:r>
                      <a:r>
                        <a:rPr sz="3200" spc="-15" dirty="0">
                          <a:latin typeface="Carlito"/>
                          <a:cs typeface="Carlito"/>
                        </a:rPr>
                        <a:t>e</a:t>
                      </a:r>
                      <a:r>
                        <a:rPr sz="3200" dirty="0">
                          <a:latin typeface="Carlito"/>
                          <a:cs typeface="Carlito"/>
                        </a:rPr>
                        <a:t>e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100">
                <a:tc>
                  <a:txBody>
                    <a:bodyPr/>
                    <a:lstStyle/>
                    <a:p>
                      <a:pPr marL="31750">
                        <a:lnSpc>
                          <a:spcPts val="3170"/>
                        </a:lnSpc>
                        <a:tabLst>
                          <a:tab pos="1967230" algn="l"/>
                          <a:tab pos="2683510" algn="l"/>
                        </a:tabLst>
                      </a:pPr>
                      <a:r>
                        <a:rPr sz="3200" spc="-10" dirty="0">
                          <a:latin typeface="Carlito"/>
                          <a:cs typeface="Carlito"/>
                        </a:rPr>
                        <a:t>electrons	</a:t>
                      </a:r>
                      <a:r>
                        <a:rPr sz="3200" dirty="0">
                          <a:latin typeface="Carlito"/>
                          <a:cs typeface="Carlito"/>
                        </a:rPr>
                        <a:t>in	</a:t>
                      </a:r>
                      <a:r>
                        <a:rPr sz="3200" spc="10" dirty="0">
                          <a:latin typeface="Carlito"/>
                          <a:cs typeface="Carlito"/>
                        </a:rPr>
                        <a:t>an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ts val="3170"/>
                        </a:lnSpc>
                      </a:pPr>
                      <a:r>
                        <a:rPr sz="3200" spc="-40" dirty="0">
                          <a:latin typeface="Carlito"/>
                          <a:cs typeface="Carlito"/>
                        </a:rPr>
                        <a:t>insulator.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ts val="3170"/>
                        </a:lnSpc>
                      </a:pPr>
                      <a:r>
                        <a:rPr sz="3200" spc="-10" dirty="0">
                          <a:latin typeface="Carlito"/>
                          <a:cs typeface="Carlito"/>
                        </a:rPr>
                        <a:t>Examples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170"/>
                        </a:lnSpc>
                      </a:pPr>
                      <a:r>
                        <a:rPr sz="3200" dirty="0">
                          <a:latin typeface="Carlito"/>
                          <a:cs typeface="Carlito"/>
                        </a:rPr>
                        <a:t>of</a:t>
                      </a:r>
                      <a:endParaRPr sz="32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79144" y="5071109"/>
            <a:ext cx="772922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spc="-10" dirty="0">
                <a:latin typeface="Carlito"/>
                <a:cs typeface="Carlito"/>
              </a:rPr>
              <a:t>insulators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40" dirty="0">
                <a:latin typeface="Carlito"/>
                <a:cs typeface="Carlito"/>
              </a:rPr>
              <a:t>rubber, </a:t>
            </a:r>
            <a:r>
              <a:rPr sz="3200" spc="-5" dirty="0">
                <a:latin typeface="Carlito"/>
                <a:cs typeface="Carlito"/>
              </a:rPr>
              <a:t>plastics, glass, </a:t>
            </a:r>
            <a:r>
              <a:rPr sz="3200" spc="-10" dirty="0">
                <a:latin typeface="Carlito"/>
                <a:cs typeface="Carlito"/>
              </a:rPr>
              <a:t>mica,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5" dirty="0">
                <a:latin typeface="Carlito"/>
                <a:cs typeface="Carlito"/>
              </a:rPr>
              <a:t>quartz.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2121" y="405511"/>
            <a:ext cx="2619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Conductors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63065"/>
            <a:ext cx="8075295" cy="41871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b="1" spc="-10" dirty="0">
                <a:latin typeface="Carlito"/>
                <a:cs typeface="Carlito"/>
              </a:rPr>
              <a:t>conductor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material that </a:t>
            </a:r>
            <a:r>
              <a:rPr sz="3000" spc="-5" dirty="0">
                <a:latin typeface="Carlito"/>
                <a:cs typeface="Carlito"/>
              </a:rPr>
              <a:t>easily </a:t>
            </a:r>
            <a:r>
              <a:rPr sz="3000" spc="-10" dirty="0">
                <a:latin typeface="Carlito"/>
                <a:cs typeface="Carlito"/>
              </a:rPr>
              <a:t>conducts  electrical </a:t>
            </a:r>
            <a:r>
              <a:rPr sz="3000" spc="-15" dirty="0">
                <a:latin typeface="Carlito"/>
                <a:cs typeface="Carlito"/>
              </a:rPr>
              <a:t>current. </a:t>
            </a:r>
            <a:r>
              <a:rPr sz="3000" spc="-10" dirty="0">
                <a:latin typeface="Carlito"/>
                <a:cs typeface="Carlito"/>
              </a:rPr>
              <a:t>Most </a:t>
            </a:r>
            <a:r>
              <a:rPr sz="3000" spc="-15" dirty="0">
                <a:latin typeface="Carlito"/>
                <a:cs typeface="Carlito"/>
              </a:rPr>
              <a:t>metals are good  conductors.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best  conductors  are  </a:t>
            </a:r>
            <a:r>
              <a:rPr sz="3000" spc="-5" dirty="0">
                <a:latin typeface="Carlito"/>
                <a:cs typeface="Carlito"/>
              </a:rPr>
              <a:t>single-  </a:t>
            </a:r>
            <a:r>
              <a:rPr sz="3000" spc="-10" dirty="0">
                <a:latin typeface="Carlito"/>
                <a:cs typeface="Carlito"/>
              </a:rPr>
              <a:t>element materials,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0" dirty="0">
                <a:latin typeface="Carlito"/>
                <a:cs typeface="Carlito"/>
              </a:rPr>
              <a:t>copper </a:t>
            </a:r>
            <a:r>
              <a:rPr sz="3000" spc="-5" dirty="0">
                <a:latin typeface="Carlito"/>
                <a:cs typeface="Carlito"/>
              </a:rPr>
              <a:t>(Cu), </a:t>
            </a:r>
            <a:r>
              <a:rPr sz="3000" spc="-10" dirty="0">
                <a:latin typeface="Carlito"/>
                <a:cs typeface="Carlito"/>
              </a:rPr>
              <a:t>silver  </a:t>
            </a:r>
            <a:r>
              <a:rPr sz="3000" dirty="0">
                <a:latin typeface="Carlito"/>
                <a:cs typeface="Carlito"/>
              </a:rPr>
              <a:t>(Ag), </a:t>
            </a:r>
            <a:r>
              <a:rPr sz="3000" spc="-10" dirty="0">
                <a:latin typeface="Carlito"/>
                <a:cs typeface="Carlito"/>
              </a:rPr>
              <a:t>gold </a:t>
            </a:r>
            <a:r>
              <a:rPr sz="3000" spc="-5" dirty="0">
                <a:latin typeface="Carlito"/>
                <a:cs typeface="Carlito"/>
              </a:rPr>
              <a:t>(Au), and aluminum (Al), which </a:t>
            </a:r>
            <a:r>
              <a:rPr sz="3000" spc="-20" dirty="0">
                <a:latin typeface="Carlito"/>
                <a:cs typeface="Carlito"/>
              </a:rPr>
              <a:t>are  </a:t>
            </a:r>
            <a:r>
              <a:rPr sz="3000" spc="-15" dirty="0">
                <a:latin typeface="Carlito"/>
                <a:cs typeface="Carlito"/>
              </a:rPr>
              <a:t>characterized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spc="-15" dirty="0">
                <a:latin typeface="Carlito"/>
                <a:cs typeface="Carlito"/>
              </a:rPr>
              <a:t>atoms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with </a:t>
            </a:r>
            <a:r>
              <a:rPr sz="3000" spc="-5" dirty="0">
                <a:latin typeface="Carlito"/>
                <a:cs typeface="Carlito"/>
              </a:rPr>
              <a:t>only </a:t>
            </a:r>
            <a:r>
              <a:rPr sz="3000" dirty="0">
                <a:latin typeface="Carlito"/>
                <a:cs typeface="Carlito"/>
              </a:rPr>
              <a:t>one </a:t>
            </a:r>
            <a:r>
              <a:rPr sz="3000" spc="-15" dirty="0">
                <a:latin typeface="Carlito"/>
                <a:cs typeface="Carlito"/>
              </a:rPr>
              <a:t>valence  </a:t>
            </a:r>
            <a:r>
              <a:rPr sz="3000" spc="-10" dirty="0">
                <a:latin typeface="Carlito"/>
                <a:cs typeface="Carlito"/>
              </a:rPr>
              <a:t>electron very </a:t>
            </a:r>
            <a:r>
              <a:rPr sz="3000" spc="-5" dirty="0">
                <a:latin typeface="Carlito"/>
                <a:cs typeface="Carlito"/>
              </a:rPr>
              <a:t>loosely bound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atom. </a:t>
            </a:r>
            <a:r>
              <a:rPr sz="3000" spc="-5" dirty="0">
                <a:latin typeface="Carlito"/>
                <a:cs typeface="Carlito"/>
              </a:rPr>
              <a:t>These  </a:t>
            </a:r>
            <a:r>
              <a:rPr sz="3000" dirty="0">
                <a:latin typeface="Carlito"/>
                <a:cs typeface="Carlito"/>
              </a:rPr>
              <a:t>loosely </a:t>
            </a:r>
            <a:r>
              <a:rPr sz="3000" spc="-5" dirty="0">
                <a:latin typeface="Carlito"/>
                <a:cs typeface="Carlito"/>
              </a:rPr>
              <a:t>bound </a:t>
            </a:r>
            <a:r>
              <a:rPr sz="3000" spc="-10" dirty="0">
                <a:latin typeface="Carlito"/>
                <a:cs typeface="Carlito"/>
              </a:rPr>
              <a:t>valence electrons become </a:t>
            </a:r>
            <a:r>
              <a:rPr sz="3000" spc="-15" dirty="0">
                <a:latin typeface="Carlito"/>
                <a:cs typeface="Carlito"/>
              </a:rPr>
              <a:t>free  </a:t>
            </a:r>
            <a:r>
              <a:rPr sz="3000" spc="-10" dirty="0">
                <a:latin typeface="Carlito"/>
                <a:cs typeface="Carlito"/>
              </a:rPr>
              <a:t>electrons. </a:t>
            </a:r>
            <a:r>
              <a:rPr sz="3000" spc="-25" dirty="0">
                <a:latin typeface="Carlito"/>
                <a:cs typeface="Carlito"/>
              </a:rPr>
              <a:t>Therefore,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conductive material the  </a:t>
            </a:r>
            <a:r>
              <a:rPr sz="3000" spc="-15" dirty="0">
                <a:latin typeface="Carlito"/>
                <a:cs typeface="Carlito"/>
              </a:rPr>
              <a:t>free </a:t>
            </a:r>
            <a:r>
              <a:rPr sz="3000" spc="-10" dirty="0">
                <a:latin typeface="Carlito"/>
                <a:cs typeface="Carlito"/>
              </a:rPr>
              <a:t>electrons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valence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electrons.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9389" y="405511"/>
            <a:ext cx="3660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Semiconductors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37461"/>
            <a:ext cx="8074659" cy="43884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A </a:t>
            </a:r>
            <a:r>
              <a:rPr sz="2700" b="1" spc="-5" dirty="0">
                <a:latin typeface="Carlito"/>
                <a:cs typeface="Carlito"/>
              </a:rPr>
              <a:t>semiconductor </a:t>
            </a:r>
            <a:r>
              <a:rPr sz="2700" spc="-5" dirty="0">
                <a:latin typeface="Carlito"/>
                <a:cs typeface="Carlito"/>
              </a:rPr>
              <a:t>is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5" dirty="0">
                <a:latin typeface="Carlito"/>
                <a:cs typeface="Carlito"/>
              </a:rPr>
              <a:t>material that 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between </a:t>
            </a:r>
            <a:r>
              <a:rPr sz="2700" spc="58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conductors</a:t>
            </a:r>
            <a:r>
              <a:rPr sz="2700" spc="58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5" dirty="0">
                <a:latin typeface="Carlito"/>
                <a:cs typeface="Carlito"/>
              </a:rPr>
              <a:t>insulators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5" dirty="0">
                <a:latin typeface="Carlito"/>
                <a:cs typeface="Carlito"/>
              </a:rPr>
              <a:t>its ability </a:t>
            </a:r>
            <a:r>
              <a:rPr sz="2700" spc="-15" dirty="0">
                <a:latin typeface="Carlito"/>
                <a:cs typeface="Carlito"/>
              </a:rPr>
              <a:t>to  conduct   </a:t>
            </a:r>
            <a:r>
              <a:rPr sz="2700" spc="-5" dirty="0">
                <a:latin typeface="Carlito"/>
                <a:cs typeface="Carlito"/>
              </a:rPr>
              <a:t>electrical </a:t>
            </a:r>
            <a:r>
              <a:rPr sz="2700" spc="-15" dirty="0">
                <a:latin typeface="Carlito"/>
                <a:cs typeface="Carlito"/>
              </a:rPr>
              <a:t>current.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semiconductor </a:t>
            </a:r>
            <a:r>
              <a:rPr sz="2700" dirty="0">
                <a:latin typeface="Carlito"/>
                <a:cs typeface="Carlito"/>
              </a:rPr>
              <a:t>in its </a:t>
            </a:r>
            <a:r>
              <a:rPr sz="2700" spc="-15" dirty="0">
                <a:latin typeface="Carlito"/>
                <a:cs typeface="Carlito"/>
              </a:rPr>
              <a:t>pure  </a:t>
            </a:r>
            <a:r>
              <a:rPr sz="2700" spc="-10" dirty="0">
                <a:latin typeface="Carlito"/>
                <a:cs typeface="Carlito"/>
              </a:rPr>
              <a:t>(intrinsic) </a:t>
            </a:r>
            <a:r>
              <a:rPr sz="2700" spc="-35" dirty="0">
                <a:latin typeface="Carlito"/>
                <a:cs typeface="Carlito"/>
              </a:rPr>
              <a:t>state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0" dirty="0">
                <a:latin typeface="Carlito"/>
                <a:cs typeface="Carlito"/>
              </a:rPr>
              <a:t>neither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good </a:t>
            </a:r>
            <a:r>
              <a:rPr sz="2700" spc="-15" dirty="0">
                <a:latin typeface="Carlito"/>
                <a:cs typeface="Carlito"/>
              </a:rPr>
              <a:t>conductor </a:t>
            </a:r>
            <a:r>
              <a:rPr sz="2700" spc="-5" dirty="0">
                <a:latin typeface="Carlito"/>
                <a:cs typeface="Carlito"/>
              </a:rPr>
              <a:t>nor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good  </a:t>
            </a:r>
            <a:r>
              <a:rPr sz="2700" spc="-40" dirty="0">
                <a:latin typeface="Carlito"/>
                <a:cs typeface="Carlito"/>
              </a:rPr>
              <a:t>insulator. </a:t>
            </a:r>
            <a:r>
              <a:rPr sz="2700" spc="-5" dirty="0">
                <a:latin typeface="Carlito"/>
                <a:cs typeface="Carlito"/>
              </a:rPr>
              <a:t>Single-element </a:t>
            </a:r>
            <a:r>
              <a:rPr sz="2700" spc="-15" dirty="0">
                <a:latin typeface="Carlito"/>
                <a:cs typeface="Carlito"/>
              </a:rPr>
              <a:t>semiconductors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antimony  (Sb), </a:t>
            </a:r>
            <a:r>
              <a:rPr sz="2700" spc="-15" dirty="0">
                <a:latin typeface="Carlito"/>
                <a:cs typeface="Carlito"/>
              </a:rPr>
              <a:t>arsenic </a:t>
            </a:r>
            <a:r>
              <a:rPr sz="2700" spc="-5" dirty="0">
                <a:latin typeface="Carlito"/>
                <a:cs typeface="Carlito"/>
              </a:rPr>
              <a:t>(As), </a:t>
            </a:r>
            <a:r>
              <a:rPr sz="2700" spc="-15" dirty="0">
                <a:latin typeface="Carlito"/>
                <a:cs typeface="Carlito"/>
              </a:rPr>
              <a:t>astatine </a:t>
            </a:r>
            <a:r>
              <a:rPr sz="2700" spc="-25" dirty="0">
                <a:latin typeface="Carlito"/>
                <a:cs typeface="Carlito"/>
              </a:rPr>
              <a:t>(At), </a:t>
            </a:r>
            <a:r>
              <a:rPr sz="2700" spc="-15" dirty="0">
                <a:latin typeface="Carlito"/>
                <a:cs typeface="Carlito"/>
              </a:rPr>
              <a:t>boron </a:t>
            </a:r>
            <a:r>
              <a:rPr sz="2700" spc="-10" dirty="0">
                <a:latin typeface="Carlito"/>
                <a:cs typeface="Carlito"/>
              </a:rPr>
              <a:t>(B), </a:t>
            </a:r>
            <a:r>
              <a:rPr sz="2700" spc="-5" dirty="0">
                <a:latin typeface="Carlito"/>
                <a:cs typeface="Carlito"/>
              </a:rPr>
              <a:t>polonium  </a:t>
            </a:r>
            <a:r>
              <a:rPr sz="2700" spc="-15" dirty="0">
                <a:latin typeface="Carlito"/>
                <a:cs typeface="Carlito"/>
              </a:rPr>
              <a:t>(Po), </a:t>
            </a:r>
            <a:r>
              <a:rPr sz="2700" spc="-5" dirty="0">
                <a:latin typeface="Carlito"/>
                <a:cs typeface="Carlito"/>
              </a:rPr>
              <a:t>tellurium </a:t>
            </a:r>
            <a:r>
              <a:rPr sz="2700" spc="-50" dirty="0">
                <a:latin typeface="Carlito"/>
                <a:cs typeface="Carlito"/>
              </a:rPr>
              <a:t>(Te), </a:t>
            </a:r>
            <a:r>
              <a:rPr sz="2700" spc="-10" dirty="0">
                <a:latin typeface="Carlito"/>
                <a:cs typeface="Carlito"/>
              </a:rPr>
              <a:t>silicon </a:t>
            </a:r>
            <a:r>
              <a:rPr sz="2700" spc="-5" dirty="0">
                <a:latin typeface="Carlito"/>
                <a:cs typeface="Carlito"/>
              </a:rPr>
              <a:t>(Si),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germanium </a:t>
            </a:r>
            <a:r>
              <a:rPr sz="2700" spc="-5" dirty="0">
                <a:latin typeface="Carlito"/>
                <a:cs typeface="Carlito"/>
              </a:rPr>
              <a:t>(Ge).  Compound </a:t>
            </a:r>
            <a:r>
              <a:rPr sz="2700" spc="-15" dirty="0">
                <a:latin typeface="Carlito"/>
                <a:cs typeface="Carlito"/>
              </a:rPr>
              <a:t>semiconductors </a:t>
            </a:r>
            <a:r>
              <a:rPr sz="2700" spc="-10" dirty="0">
                <a:latin typeface="Carlito"/>
                <a:cs typeface="Carlito"/>
              </a:rPr>
              <a:t>such </a:t>
            </a:r>
            <a:r>
              <a:rPr sz="2700" spc="-5" dirty="0">
                <a:latin typeface="Carlito"/>
                <a:cs typeface="Carlito"/>
              </a:rPr>
              <a:t>as </a:t>
            </a:r>
            <a:r>
              <a:rPr sz="2700" spc="-10" dirty="0">
                <a:latin typeface="Carlito"/>
                <a:cs typeface="Carlito"/>
              </a:rPr>
              <a:t>gallium arsenide,  </a:t>
            </a:r>
            <a:r>
              <a:rPr sz="2700" dirty="0">
                <a:latin typeface="Carlito"/>
                <a:cs typeface="Carlito"/>
              </a:rPr>
              <a:t>indium </a:t>
            </a:r>
            <a:r>
              <a:rPr sz="2700" spc="-10" dirty="0">
                <a:latin typeface="Carlito"/>
                <a:cs typeface="Carlito"/>
              </a:rPr>
              <a:t>phosphide, gallium </a:t>
            </a:r>
            <a:r>
              <a:rPr sz="2700" spc="-5" dirty="0">
                <a:latin typeface="Carlito"/>
                <a:cs typeface="Carlito"/>
              </a:rPr>
              <a:t>nitride, </a:t>
            </a:r>
            <a:r>
              <a:rPr sz="2700" spc="-10" dirty="0">
                <a:latin typeface="Carlito"/>
                <a:cs typeface="Carlito"/>
              </a:rPr>
              <a:t>silicon carbide, and  silicon </a:t>
            </a:r>
            <a:r>
              <a:rPr sz="2700" spc="-5" dirty="0">
                <a:latin typeface="Carlito"/>
                <a:cs typeface="Carlito"/>
              </a:rPr>
              <a:t>germanium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dirty="0">
                <a:latin typeface="Carlito"/>
                <a:cs typeface="Carlito"/>
              </a:rPr>
              <a:t>also </a:t>
            </a:r>
            <a:r>
              <a:rPr sz="2700" spc="-10" dirty="0">
                <a:latin typeface="Carlito"/>
                <a:cs typeface="Carlito"/>
              </a:rPr>
              <a:t>commonly used. </a:t>
            </a:r>
            <a:r>
              <a:rPr sz="2700" spc="-5" dirty="0">
                <a:latin typeface="Carlito"/>
                <a:cs typeface="Carlito"/>
              </a:rPr>
              <a:t>The single-  </a:t>
            </a:r>
            <a:r>
              <a:rPr sz="2700" spc="-10" dirty="0">
                <a:latin typeface="Carlito"/>
                <a:cs typeface="Carlito"/>
              </a:rPr>
              <a:t>element </a:t>
            </a:r>
            <a:r>
              <a:rPr sz="2700" spc="-15" dirty="0">
                <a:latin typeface="Carlito"/>
                <a:cs typeface="Carlito"/>
              </a:rPr>
              <a:t>semiconductors are </a:t>
            </a:r>
            <a:r>
              <a:rPr sz="2700" spc="-20" dirty="0">
                <a:latin typeface="Carlito"/>
                <a:cs typeface="Carlito"/>
              </a:rPr>
              <a:t>characterized </a:t>
            </a:r>
            <a:r>
              <a:rPr sz="2700" spc="-10" dirty="0">
                <a:latin typeface="Carlito"/>
                <a:cs typeface="Carlito"/>
              </a:rPr>
              <a:t>by </a:t>
            </a:r>
            <a:r>
              <a:rPr sz="2700" spc="-20" dirty="0">
                <a:latin typeface="Carlito"/>
                <a:cs typeface="Carlito"/>
              </a:rPr>
              <a:t>atoms  </a:t>
            </a:r>
            <a:r>
              <a:rPr sz="2700" dirty="0">
                <a:latin typeface="Carlito"/>
                <a:cs typeface="Carlito"/>
              </a:rPr>
              <a:t>with </a:t>
            </a:r>
            <a:r>
              <a:rPr sz="2700" spc="-20" dirty="0">
                <a:latin typeface="Carlito"/>
                <a:cs typeface="Carlito"/>
              </a:rPr>
              <a:t>four </a:t>
            </a:r>
            <a:r>
              <a:rPr sz="2700" spc="-10" dirty="0">
                <a:latin typeface="Carlito"/>
                <a:cs typeface="Carlito"/>
              </a:rPr>
              <a:t>valence electrons. Silicon </a:t>
            </a:r>
            <a:r>
              <a:rPr sz="2700" dirty="0">
                <a:latin typeface="Carlito"/>
                <a:cs typeface="Carlito"/>
              </a:rPr>
              <a:t>is the </a:t>
            </a:r>
            <a:r>
              <a:rPr sz="2700" spc="-15" dirty="0">
                <a:latin typeface="Carlito"/>
                <a:cs typeface="Carlito"/>
              </a:rPr>
              <a:t>most  </a:t>
            </a:r>
            <a:r>
              <a:rPr sz="2700" spc="-10" dirty="0">
                <a:latin typeface="Carlito"/>
                <a:cs typeface="Carlito"/>
              </a:rPr>
              <a:t>commonly </a:t>
            </a:r>
            <a:r>
              <a:rPr sz="2700" spc="-5" dirty="0">
                <a:latin typeface="Carlito"/>
                <a:cs typeface="Carlito"/>
              </a:rPr>
              <a:t>used</a:t>
            </a:r>
            <a:r>
              <a:rPr sz="2700" dirty="0">
                <a:latin typeface="Carlito"/>
                <a:cs typeface="Carlito"/>
              </a:rPr>
              <a:t> </a:t>
            </a:r>
            <a:r>
              <a:rPr sz="2700" spc="-30" dirty="0">
                <a:latin typeface="Carlito"/>
                <a:cs typeface="Carlito"/>
              </a:rPr>
              <a:t>semiconductor.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8717" y="405511"/>
            <a:ext cx="2228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Band</a:t>
            </a:r>
            <a:r>
              <a:rPr spc="-75" dirty="0"/>
              <a:t> </a:t>
            </a:r>
            <a:r>
              <a:rPr dirty="0"/>
              <a:t>Gap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63065"/>
            <a:ext cx="8074659" cy="43700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715" indent="-343535" algn="just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Recall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valence </a:t>
            </a:r>
            <a:r>
              <a:rPr sz="3000" spc="-5" dirty="0">
                <a:latin typeface="Carlito"/>
                <a:cs typeface="Carlito"/>
              </a:rPr>
              <a:t>shell </a:t>
            </a:r>
            <a:r>
              <a:rPr sz="3000" dirty="0">
                <a:latin typeface="Carlito"/>
                <a:cs typeface="Carlito"/>
              </a:rPr>
              <a:t>of an </a:t>
            </a:r>
            <a:r>
              <a:rPr sz="3000" spc="-20" dirty="0">
                <a:latin typeface="Carlito"/>
                <a:cs typeface="Carlito"/>
              </a:rPr>
              <a:t>atom  </a:t>
            </a:r>
            <a:r>
              <a:rPr sz="3000" spc="-15" dirty="0">
                <a:latin typeface="Carlito"/>
                <a:cs typeface="Carlito"/>
              </a:rPr>
              <a:t>represents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band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energy </a:t>
            </a:r>
            <a:r>
              <a:rPr sz="3000" spc="-15" dirty="0">
                <a:latin typeface="Carlito"/>
                <a:cs typeface="Carlito"/>
              </a:rPr>
              <a:t>levels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5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valence electrons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confined to that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band.</a:t>
            </a:r>
            <a:endParaRPr sz="30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5" dirty="0">
                <a:latin typeface="Carlito"/>
                <a:cs typeface="Carlito"/>
              </a:rPr>
              <a:t>electron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acquires </a:t>
            </a:r>
            <a:r>
              <a:rPr sz="3000" dirty="0">
                <a:latin typeface="Carlito"/>
                <a:cs typeface="Carlito"/>
              </a:rPr>
              <a:t>enough </a:t>
            </a:r>
            <a:r>
              <a:rPr sz="3000" spc="-5" dirty="0">
                <a:latin typeface="Carlito"/>
                <a:cs typeface="Carlito"/>
              </a:rPr>
              <a:t>additional  </a:t>
            </a:r>
            <a:r>
              <a:rPr sz="3000" spc="-40" dirty="0">
                <a:latin typeface="Carlito"/>
                <a:cs typeface="Carlito"/>
              </a:rPr>
              <a:t>energy, </a:t>
            </a:r>
            <a:r>
              <a:rPr sz="3000" spc="-5" dirty="0">
                <a:latin typeface="Carlito"/>
                <a:cs typeface="Carlito"/>
              </a:rPr>
              <a:t>it </a:t>
            </a:r>
            <a:r>
              <a:rPr sz="3000" spc="-15" dirty="0">
                <a:latin typeface="Carlito"/>
                <a:cs typeface="Carlito"/>
              </a:rPr>
              <a:t>can </a:t>
            </a:r>
            <a:r>
              <a:rPr sz="3000" spc="-25" dirty="0">
                <a:latin typeface="Carlito"/>
                <a:cs typeface="Carlito"/>
              </a:rPr>
              <a:t>leave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valence </a:t>
            </a:r>
            <a:r>
              <a:rPr sz="3000" spc="-10" dirty="0">
                <a:latin typeface="Carlito"/>
                <a:cs typeface="Carlito"/>
              </a:rPr>
              <a:t>shell, become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i="1" spc="-5" dirty="0">
                <a:latin typeface="Carlito"/>
                <a:cs typeface="Carlito"/>
              </a:rPr>
              <a:t>free </a:t>
            </a:r>
            <a:r>
              <a:rPr sz="3000" i="1" dirty="0">
                <a:latin typeface="Carlito"/>
                <a:cs typeface="Carlito"/>
              </a:rPr>
              <a:t>electron,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5" dirty="0">
                <a:latin typeface="Carlito"/>
                <a:cs typeface="Carlito"/>
              </a:rPr>
              <a:t>exist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5" dirty="0">
                <a:latin typeface="Carlito"/>
                <a:cs typeface="Carlito"/>
              </a:rPr>
              <a:t>what </a:t>
            </a:r>
            <a:r>
              <a:rPr sz="3000" spc="-5" dirty="0">
                <a:latin typeface="Carlito"/>
                <a:cs typeface="Carlito"/>
              </a:rPr>
              <a:t>is known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0" dirty="0">
                <a:latin typeface="Carlito"/>
                <a:cs typeface="Carlito"/>
              </a:rPr>
              <a:t>the  </a:t>
            </a:r>
            <a:r>
              <a:rPr sz="3000" i="1" spc="-5" dirty="0">
                <a:latin typeface="Carlito"/>
                <a:cs typeface="Carlito"/>
              </a:rPr>
              <a:t>conduction</a:t>
            </a:r>
            <a:r>
              <a:rPr sz="3000" i="1" spc="-35" dirty="0">
                <a:latin typeface="Carlito"/>
                <a:cs typeface="Carlito"/>
              </a:rPr>
              <a:t> </a:t>
            </a:r>
            <a:r>
              <a:rPr sz="3000" i="1" dirty="0">
                <a:latin typeface="Carlito"/>
                <a:cs typeface="Carlito"/>
              </a:rPr>
              <a:t>band.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difference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energy between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valence  </a:t>
            </a:r>
            <a:r>
              <a:rPr sz="3000" spc="-5" dirty="0">
                <a:latin typeface="Carlito"/>
                <a:cs typeface="Carlito"/>
              </a:rPr>
              <a:t>band </a:t>
            </a:r>
            <a:r>
              <a:rPr sz="3000" dirty="0">
                <a:latin typeface="Carlito"/>
                <a:cs typeface="Carlito"/>
              </a:rPr>
              <a:t>and the </a:t>
            </a:r>
            <a:r>
              <a:rPr sz="3000" spc="-10" dirty="0">
                <a:latin typeface="Carlito"/>
                <a:cs typeface="Carlito"/>
              </a:rPr>
              <a:t>conduction band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i="1" spc="-5" dirty="0">
                <a:latin typeface="Carlito"/>
                <a:cs typeface="Carlito"/>
              </a:rPr>
              <a:t>energy  </a:t>
            </a:r>
            <a:r>
              <a:rPr sz="3000" i="1" dirty="0">
                <a:latin typeface="Carlito"/>
                <a:cs typeface="Carlito"/>
              </a:rPr>
              <a:t>gap </a:t>
            </a:r>
            <a:r>
              <a:rPr sz="3000" dirty="0">
                <a:latin typeface="Carlito"/>
                <a:cs typeface="Carlito"/>
              </a:rPr>
              <a:t>or </a:t>
            </a:r>
            <a:r>
              <a:rPr sz="3000" b="1" spc="-5" dirty="0">
                <a:latin typeface="Carlito"/>
                <a:cs typeface="Carlito"/>
              </a:rPr>
              <a:t>band</a:t>
            </a:r>
            <a:r>
              <a:rPr sz="3000" b="1" spc="-35" dirty="0">
                <a:latin typeface="Carlito"/>
                <a:cs typeface="Carlito"/>
              </a:rPr>
              <a:t> </a:t>
            </a:r>
            <a:r>
              <a:rPr sz="3000" b="1" spc="-15" dirty="0">
                <a:latin typeface="Carlito"/>
                <a:cs typeface="Carlito"/>
              </a:rPr>
              <a:t>gap</a:t>
            </a:r>
            <a:r>
              <a:rPr sz="3000" i="1" spc="-15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5738" y="405511"/>
            <a:ext cx="4191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Band Gap</a:t>
            </a:r>
            <a:r>
              <a:rPr spc="-6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6934200" y="1844039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6627" y="1478280"/>
            <a:ext cx="990600" cy="1280160"/>
          </a:xfrm>
          <a:custGeom>
            <a:avLst/>
            <a:gdLst/>
            <a:ahLst/>
            <a:cxnLst/>
            <a:rect l="l" t="t" r="r" b="b"/>
            <a:pathLst>
              <a:path w="990600" h="1280160">
                <a:moveTo>
                  <a:pt x="990600" y="0"/>
                </a:moveTo>
                <a:lnTo>
                  <a:pt x="0" y="0"/>
                </a:lnTo>
                <a:lnTo>
                  <a:pt x="0" y="1280160"/>
                </a:lnTo>
                <a:lnTo>
                  <a:pt x="990600" y="128016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558493"/>
            <a:ext cx="8074659" cy="42214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6350" indent="-343535" algn="just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difference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energy between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valence  band </a:t>
            </a:r>
            <a:r>
              <a:rPr sz="3200" spc="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conduction </a:t>
            </a:r>
            <a:r>
              <a:rPr sz="3200" dirty="0">
                <a:latin typeface="Carlito"/>
                <a:cs typeface="Carlito"/>
              </a:rPr>
              <a:t>band is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i="1" dirty="0">
                <a:latin typeface="Carlito"/>
                <a:cs typeface="Carlito"/>
              </a:rPr>
              <a:t>energy </a:t>
            </a:r>
            <a:r>
              <a:rPr sz="3200" i="1" spc="-5" dirty="0">
                <a:latin typeface="Carlito"/>
                <a:cs typeface="Carlito"/>
              </a:rPr>
              <a:t>gap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b="1" dirty="0">
                <a:latin typeface="Carlito"/>
                <a:cs typeface="Carlito"/>
              </a:rPr>
              <a:t>band</a:t>
            </a:r>
            <a:r>
              <a:rPr sz="3200" b="1" spc="-25" dirty="0">
                <a:latin typeface="Carlito"/>
                <a:cs typeface="Carlito"/>
              </a:rPr>
              <a:t> </a:t>
            </a:r>
            <a:r>
              <a:rPr sz="3200" b="1" spc="-15" dirty="0">
                <a:latin typeface="Carlito"/>
                <a:cs typeface="Carlito"/>
              </a:rPr>
              <a:t>gap</a:t>
            </a:r>
            <a:r>
              <a:rPr sz="3200" i="1" spc="-15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This is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amount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energy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valence  </a:t>
            </a:r>
            <a:r>
              <a:rPr sz="3200" spc="-10" dirty="0">
                <a:latin typeface="Carlito"/>
                <a:cs typeface="Carlito"/>
              </a:rPr>
              <a:t>electron must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order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jump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valence band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conduction</a:t>
            </a:r>
            <a:r>
              <a:rPr sz="3200" spc="7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band.</a:t>
            </a:r>
            <a:endParaRPr sz="3200">
              <a:latin typeface="Carlito"/>
              <a:cs typeface="Carlito"/>
            </a:endParaRPr>
          </a:p>
          <a:p>
            <a:pPr marL="355600" marR="8255" indent="-343535" algn="just">
              <a:lnSpc>
                <a:spcPct val="90000"/>
              </a:lnSpc>
              <a:spcBef>
                <a:spcPts val="71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Once 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conduction band,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electron </a:t>
            </a:r>
            <a:r>
              <a:rPr sz="3200" spc="-5" dirty="0">
                <a:latin typeface="Carlito"/>
                <a:cs typeface="Carlito"/>
              </a:rPr>
              <a:t>is  </a:t>
            </a:r>
            <a:r>
              <a:rPr sz="3200" spc="-20" dirty="0">
                <a:latin typeface="Carlito"/>
                <a:cs typeface="Carlito"/>
              </a:rPr>
              <a:t>free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move throughout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material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is  not tied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10" dirty="0">
                <a:latin typeface="Carlito"/>
                <a:cs typeface="Carlito"/>
              </a:rPr>
              <a:t>given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atom.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5738" y="405511"/>
            <a:ext cx="4191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Band Gap</a:t>
            </a:r>
            <a:r>
              <a:rPr spc="-60" dirty="0"/>
              <a:t> </a:t>
            </a:r>
            <a:r>
              <a:rPr spc="-15" dirty="0"/>
              <a:t>(Contd.)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219200"/>
            <a:ext cx="7954009" cy="4907280"/>
            <a:chOff x="838200" y="1219200"/>
            <a:chExt cx="7954009" cy="4907280"/>
          </a:xfrm>
        </p:grpSpPr>
        <p:sp>
          <p:nvSpPr>
            <p:cNvPr id="4" name="object 4"/>
            <p:cNvSpPr/>
            <p:nvPr/>
          </p:nvSpPr>
          <p:spPr>
            <a:xfrm>
              <a:off x="1976628" y="1478279"/>
              <a:ext cx="5948680" cy="1645920"/>
            </a:xfrm>
            <a:custGeom>
              <a:avLst/>
              <a:gdLst/>
              <a:ahLst/>
              <a:cxnLst/>
              <a:rect l="l" t="t" r="r" b="b"/>
              <a:pathLst>
                <a:path w="5948680" h="1645920">
                  <a:moveTo>
                    <a:pt x="9906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990600" y="1280160"/>
                  </a:lnTo>
                  <a:lnTo>
                    <a:pt x="990600" y="0"/>
                  </a:lnTo>
                  <a:close/>
                </a:path>
                <a:path w="5948680" h="1645920">
                  <a:moveTo>
                    <a:pt x="5948172" y="365760"/>
                  </a:moveTo>
                  <a:lnTo>
                    <a:pt x="4957572" y="365760"/>
                  </a:lnTo>
                  <a:lnTo>
                    <a:pt x="4957572" y="1645920"/>
                  </a:lnTo>
                  <a:lnTo>
                    <a:pt x="5948172" y="1645920"/>
                  </a:lnTo>
                  <a:lnTo>
                    <a:pt x="5948172" y="365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1219200"/>
              <a:ext cx="7953756" cy="49072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2464</Words>
  <Application>Microsoft Office PowerPoint</Application>
  <PresentationFormat>On-screen Show (4:3)</PresentationFormat>
  <Paragraphs>208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Carlito</vt:lpstr>
      <vt:lpstr>Verdana</vt:lpstr>
      <vt:lpstr>Office Theme</vt:lpstr>
      <vt:lpstr>BS – 101 Engineering Physics</vt:lpstr>
      <vt:lpstr>The Atom</vt:lpstr>
      <vt:lpstr>The Atom (Contd.)</vt:lpstr>
      <vt:lpstr>The Atom (Contd.)</vt:lpstr>
      <vt:lpstr>The Bohr Model</vt:lpstr>
      <vt:lpstr>The Bohr Model</vt:lpstr>
      <vt:lpstr>The Bohr Model (Contd.)</vt:lpstr>
      <vt:lpstr>The Bohr Model (Contd.)</vt:lpstr>
      <vt:lpstr>The Bohr Model (Hydrogen Atom)</vt:lpstr>
      <vt:lpstr>The Bohr Model (Helium Atom)</vt:lpstr>
      <vt:lpstr>Atomic Number</vt:lpstr>
      <vt:lpstr>Electrons and Shells</vt:lpstr>
      <vt:lpstr>Electrons and Shells (Contd.)</vt:lpstr>
      <vt:lpstr>Illustration of the Bohr model of the  silicon atom.</vt:lpstr>
      <vt:lpstr>Periodic Table of Elements</vt:lpstr>
      <vt:lpstr>Maximum Number of Electrons in Each  Shell</vt:lpstr>
      <vt:lpstr>Maximum Number of Electrons in Each  Shell (Contd.)</vt:lpstr>
      <vt:lpstr>Valence Electrons</vt:lpstr>
      <vt:lpstr>Valence Electrons (Contd.)</vt:lpstr>
      <vt:lpstr>Ionization</vt:lpstr>
      <vt:lpstr>Ionization (Contd.)</vt:lpstr>
      <vt:lpstr>Ionization (Contd.)</vt:lpstr>
      <vt:lpstr>Ionization (Contd.)</vt:lpstr>
      <vt:lpstr>The Quantum Model</vt:lpstr>
      <vt:lpstr>The Quantum Model (Contd.)</vt:lpstr>
      <vt:lpstr>Electron Configuration</vt:lpstr>
      <vt:lpstr>Electron Configuration (Example)</vt:lpstr>
      <vt:lpstr>Electron Configuration (Example)</vt:lpstr>
      <vt:lpstr>Materials Used in Electronics</vt:lpstr>
      <vt:lpstr>Insulators</vt:lpstr>
      <vt:lpstr>Conductors</vt:lpstr>
      <vt:lpstr>Semiconductors</vt:lpstr>
      <vt:lpstr>Band Gap</vt:lpstr>
      <vt:lpstr>Band Gap (Contd.)</vt:lpstr>
      <vt:lpstr>Band Gap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Electrical Engineering</dc:title>
  <dc:creator>Mamoon Riaz</dc:creator>
  <cp:lastModifiedBy>Safee</cp:lastModifiedBy>
  <cp:revision>1</cp:revision>
  <dcterms:created xsi:type="dcterms:W3CDTF">2021-12-22T14:47:44Z</dcterms:created>
  <dcterms:modified xsi:type="dcterms:W3CDTF">2021-12-22T14:54:52Z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2021-12-22T00:00:00Z</vt:filetime>
  </property>
</Properties>
</file>