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7C4543-CC19-4296-95AD-3BFDFDB4D03E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9DFB2-9C06-4666-ADAB-0EAF68383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517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0B70F-074D-4B73-B659-7DE8E32B4A4E}" type="datetime1">
              <a:rPr lang="en-US" smtClean="0"/>
              <a:t>12/23/2021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62449-1D69-47E9-B2C4-46287BEC1791}" type="datetime1">
              <a:rPr lang="en-US" smtClean="0"/>
              <a:t>12/23/2021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CE6F3-ECA3-4AF3-8401-0160F7B7DC82}" type="datetime1">
              <a:rPr lang="en-US" smtClean="0"/>
              <a:t>12/23/2021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B8B1A-7F6B-4C8C-A329-7410D0A4997E}" type="datetime1">
              <a:rPr lang="en-US" smtClean="0"/>
              <a:t>12/23/2021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BE9DC-F86F-4606-9E77-5E43EA5C062E}" type="datetime1">
              <a:rPr lang="en-US" smtClean="0"/>
              <a:t>12/23/2021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8962" y="135762"/>
            <a:ext cx="786607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823669"/>
            <a:ext cx="8074659" cy="4184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41370" y="6373774"/>
            <a:ext cx="2459354" cy="36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78039-4675-47AB-826C-C7E5C4AA95A0}" type="datetime1">
              <a:rPr lang="en-US" smtClean="0"/>
              <a:t>12/23/2021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811" y="6465214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4925" y="502742"/>
            <a:ext cx="6529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BS – 101 </a:t>
            </a:r>
            <a:r>
              <a:rPr sz="4400" spc="-5" dirty="0"/>
              <a:t>Engineering</a:t>
            </a:r>
            <a:r>
              <a:rPr sz="4400" spc="-75" dirty="0"/>
              <a:t> </a:t>
            </a:r>
            <a:r>
              <a:rPr sz="4400" spc="-20" dirty="0"/>
              <a:t>Physics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3423664" y="2827147"/>
            <a:ext cx="3129535" cy="168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rlito"/>
                <a:cs typeface="Carlito"/>
              </a:rPr>
              <a:t>Lecture </a:t>
            </a:r>
            <a:r>
              <a:rPr sz="3200" dirty="0">
                <a:latin typeface="Carlito"/>
                <a:cs typeface="Carlito"/>
              </a:rPr>
              <a:t>–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lang="en-US" sz="3200" spc="-5" dirty="0">
                <a:latin typeface="Carlito"/>
                <a:cs typeface="Carlito"/>
              </a:rPr>
              <a:t>14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z="3200" dirty="0">
                <a:latin typeface="Carlito"/>
                <a:cs typeface="Carlito"/>
              </a:rPr>
              <a:t>Engr. Safee Ullah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BD529-E6BA-4651-9271-F4FD33E4D2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754D9-300D-49B0-87EA-E2CCFBFE17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261"/>
            <a:ext cx="807529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10" dirty="0">
                <a:latin typeface="Carlito"/>
                <a:cs typeface="Carlito"/>
              </a:rPr>
              <a:t>Silicon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semiconductor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copper is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40" dirty="0">
                <a:latin typeface="Carlito"/>
                <a:cs typeface="Carlito"/>
              </a:rPr>
              <a:t>conductor. </a:t>
            </a:r>
            <a:r>
              <a:rPr sz="3200" dirty="0">
                <a:latin typeface="Carlito"/>
                <a:cs typeface="Carlito"/>
              </a:rPr>
              <a:t>Bohr </a:t>
            </a:r>
            <a:r>
              <a:rPr sz="3200" spc="-10" dirty="0">
                <a:latin typeface="Carlito"/>
                <a:cs typeface="Carlito"/>
              </a:rPr>
              <a:t>diagrams </a:t>
            </a:r>
            <a:r>
              <a:rPr sz="3200" dirty="0">
                <a:latin typeface="Carlito"/>
                <a:cs typeface="Carlito"/>
              </a:rPr>
              <a:t>of the </a:t>
            </a:r>
            <a:r>
              <a:rPr sz="3200" spc="-5" dirty="0">
                <a:latin typeface="Carlito"/>
                <a:cs typeface="Carlito"/>
              </a:rPr>
              <a:t>silicon </a:t>
            </a:r>
            <a:r>
              <a:rPr sz="3200" spc="-15" dirty="0">
                <a:latin typeface="Carlito"/>
                <a:cs typeface="Carlito"/>
              </a:rPr>
              <a:t>atom </a:t>
            </a:r>
            <a:r>
              <a:rPr sz="3200" spc="6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and the </a:t>
            </a:r>
            <a:r>
              <a:rPr sz="3200" spc="-10" dirty="0">
                <a:latin typeface="Carlito"/>
                <a:cs typeface="Carlito"/>
              </a:rPr>
              <a:t>copper </a:t>
            </a:r>
            <a:r>
              <a:rPr sz="3200" spc="-15" dirty="0">
                <a:latin typeface="Carlito"/>
                <a:cs typeface="Carlito"/>
              </a:rPr>
              <a:t>atom are </a:t>
            </a:r>
            <a:r>
              <a:rPr sz="3200" spc="-5" dirty="0">
                <a:latin typeface="Carlito"/>
                <a:cs typeface="Carlito"/>
              </a:rPr>
              <a:t>shown in Figure.  </a:t>
            </a:r>
            <a:r>
              <a:rPr sz="3200" dirty="0">
                <a:latin typeface="Carlito"/>
                <a:cs typeface="Carlito"/>
              </a:rPr>
              <a:t>Notice </a:t>
            </a:r>
            <a:r>
              <a:rPr sz="3200" spc="-5" dirty="0">
                <a:latin typeface="Carlito"/>
                <a:cs typeface="Carlito"/>
              </a:rPr>
              <a:t>that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20" dirty="0">
                <a:latin typeface="Carlito"/>
                <a:cs typeface="Carlito"/>
              </a:rPr>
              <a:t>core </a:t>
            </a:r>
            <a:r>
              <a:rPr sz="3200" dirty="0">
                <a:latin typeface="Carlito"/>
                <a:cs typeface="Carlito"/>
              </a:rPr>
              <a:t>of the </a:t>
            </a:r>
            <a:r>
              <a:rPr sz="3200" spc="-10" dirty="0">
                <a:latin typeface="Carlito"/>
                <a:cs typeface="Carlito"/>
              </a:rPr>
              <a:t>silicon </a:t>
            </a:r>
            <a:r>
              <a:rPr sz="3200" spc="-15" dirty="0">
                <a:latin typeface="Carlito"/>
                <a:cs typeface="Carlito"/>
              </a:rPr>
              <a:t>atom </a:t>
            </a:r>
            <a:r>
              <a:rPr sz="3200" spc="-5" dirty="0">
                <a:latin typeface="Carlito"/>
                <a:cs typeface="Carlito"/>
              </a:rPr>
              <a:t>has </a:t>
            </a:r>
            <a:r>
              <a:rPr sz="3200" dirty="0">
                <a:latin typeface="Carlito"/>
                <a:cs typeface="Carlito"/>
              </a:rPr>
              <a:t>a  </a:t>
            </a:r>
            <a:r>
              <a:rPr sz="3200" spc="-5" dirty="0">
                <a:latin typeface="Carlito"/>
                <a:cs typeface="Carlito"/>
              </a:rPr>
              <a:t>net </a:t>
            </a:r>
            <a:r>
              <a:rPr sz="3200" spc="-10" dirty="0">
                <a:latin typeface="Carlito"/>
                <a:cs typeface="Carlito"/>
              </a:rPr>
              <a:t>charge </a:t>
            </a:r>
            <a:r>
              <a:rPr sz="3200" dirty="0">
                <a:latin typeface="Carlito"/>
                <a:cs typeface="Carlito"/>
              </a:rPr>
              <a:t>of 4 (14 </a:t>
            </a:r>
            <a:r>
              <a:rPr sz="3200" spc="-15" dirty="0">
                <a:latin typeface="Carlito"/>
                <a:cs typeface="Carlito"/>
              </a:rPr>
              <a:t>protons</a:t>
            </a:r>
            <a:r>
              <a:rPr sz="3200" spc="69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10 </a:t>
            </a:r>
            <a:r>
              <a:rPr sz="3200" spc="-10" dirty="0">
                <a:latin typeface="Carlito"/>
                <a:cs typeface="Carlito"/>
              </a:rPr>
              <a:t>electrons) </a:t>
            </a:r>
            <a:r>
              <a:rPr sz="3200" dirty="0">
                <a:latin typeface="Carlito"/>
                <a:cs typeface="Carlito"/>
              </a:rPr>
              <a:t>and  the </a:t>
            </a:r>
            <a:r>
              <a:rPr sz="3200" spc="-20" dirty="0">
                <a:latin typeface="Carlito"/>
                <a:cs typeface="Carlito"/>
              </a:rPr>
              <a:t>core </a:t>
            </a:r>
            <a:r>
              <a:rPr sz="3200" dirty="0">
                <a:latin typeface="Carlito"/>
                <a:cs typeface="Carlito"/>
              </a:rPr>
              <a:t>of the </a:t>
            </a:r>
            <a:r>
              <a:rPr sz="3200" spc="-10" dirty="0">
                <a:latin typeface="Carlito"/>
                <a:cs typeface="Carlito"/>
              </a:rPr>
              <a:t>copper </a:t>
            </a:r>
            <a:r>
              <a:rPr sz="3200" spc="-15" dirty="0">
                <a:latin typeface="Carlito"/>
                <a:cs typeface="Carlito"/>
              </a:rPr>
              <a:t>atom </a:t>
            </a:r>
            <a:r>
              <a:rPr sz="3200" dirty="0">
                <a:latin typeface="Carlito"/>
                <a:cs typeface="Carlito"/>
              </a:rPr>
              <a:t>has a </a:t>
            </a:r>
            <a:r>
              <a:rPr sz="3200" spc="-5" dirty="0">
                <a:latin typeface="Carlito"/>
                <a:cs typeface="Carlito"/>
              </a:rPr>
              <a:t>net </a:t>
            </a:r>
            <a:r>
              <a:rPr sz="3200" spc="-10" dirty="0">
                <a:latin typeface="Carlito"/>
                <a:cs typeface="Carlito"/>
              </a:rPr>
              <a:t>charge  </a:t>
            </a:r>
            <a:r>
              <a:rPr sz="3200" dirty="0">
                <a:latin typeface="Carlito"/>
                <a:cs typeface="Carlito"/>
              </a:rPr>
              <a:t>of 1 (29 </a:t>
            </a:r>
            <a:r>
              <a:rPr sz="3200" spc="-15" dirty="0">
                <a:latin typeface="Carlito"/>
                <a:cs typeface="Carlito"/>
              </a:rPr>
              <a:t>protons </a:t>
            </a:r>
            <a:r>
              <a:rPr sz="3200" spc="-5" dirty="0">
                <a:latin typeface="Carlito"/>
                <a:cs typeface="Carlito"/>
              </a:rPr>
              <a:t>28 </a:t>
            </a:r>
            <a:r>
              <a:rPr sz="3200" spc="-10" dirty="0">
                <a:latin typeface="Carlito"/>
                <a:cs typeface="Carlito"/>
              </a:rPr>
              <a:t>electrons). </a:t>
            </a: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20" dirty="0">
                <a:latin typeface="Carlito"/>
                <a:cs typeface="Carlito"/>
              </a:rPr>
              <a:t>core  </a:t>
            </a:r>
            <a:r>
              <a:rPr sz="3200" dirty="0">
                <a:latin typeface="Carlito"/>
                <a:cs typeface="Carlito"/>
              </a:rPr>
              <a:t>includes </a:t>
            </a:r>
            <a:r>
              <a:rPr sz="3200" spc="-5" dirty="0">
                <a:latin typeface="Carlito"/>
                <a:cs typeface="Carlito"/>
              </a:rPr>
              <a:t>everything </a:t>
            </a:r>
            <a:r>
              <a:rPr sz="3200" spc="-25" dirty="0">
                <a:latin typeface="Carlito"/>
                <a:cs typeface="Carlito"/>
              </a:rPr>
              <a:t>except </a:t>
            </a:r>
            <a:r>
              <a:rPr sz="3200" spc="5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valence  </a:t>
            </a:r>
            <a:r>
              <a:rPr sz="3200" spc="-10" dirty="0">
                <a:latin typeface="Carlito"/>
                <a:cs typeface="Carlito"/>
              </a:rPr>
              <a:t>electrons.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0539" marR="5080" indent="-176847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Comparison of a </a:t>
            </a:r>
            <a:r>
              <a:rPr spc="-15" dirty="0"/>
              <a:t>Semiconductor </a:t>
            </a:r>
            <a:r>
              <a:rPr spc="-40" dirty="0"/>
              <a:t>Atom  </a:t>
            </a:r>
            <a:r>
              <a:rPr spc="-20" dirty="0"/>
              <a:t>to </a:t>
            </a:r>
            <a:r>
              <a:rPr spc="-5" dirty="0"/>
              <a:t>a </a:t>
            </a:r>
            <a:r>
              <a:rPr spc="-10" dirty="0"/>
              <a:t>Conductor</a:t>
            </a:r>
            <a:r>
              <a:rPr spc="-15" dirty="0"/>
              <a:t> </a:t>
            </a:r>
            <a:r>
              <a:rPr spc="-40" dirty="0"/>
              <a:t>Atom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7408" y="1676400"/>
            <a:ext cx="8241792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8365" marR="5080" indent="-8763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Comparison of a </a:t>
            </a:r>
            <a:r>
              <a:rPr spc="-15" dirty="0"/>
              <a:t>Semiconductor </a:t>
            </a:r>
            <a:r>
              <a:rPr spc="-40" dirty="0"/>
              <a:t>Atom  </a:t>
            </a:r>
            <a:r>
              <a:rPr spc="-20" dirty="0"/>
              <a:t>to </a:t>
            </a:r>
            <a:r>
              <a:rPr spc="-5" dirty="0"/>
              <a:t>a </a:t>
            </a:r>
            <a:r>
              <a:rPr spc="-10" dirty="0"/>
              <a:t>Conductor </a:t>
            </a:r>
            <a:r>
              <a:rPr spc="-35" dirty="0"/>
              <a:t>Atom</a:t>
            </a:r>
            <a:r>
              <a:rPr spc="-25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55749"/>
            <a:ext cx="8074025" cy="438467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5715" indent="-343535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The valence electron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0" dirty="0">
                <a:latin typeface="Carlito"/>
                <a:cs typeface="Carlito"/>
              </a:rPr>
              <a:t>copper </a:t>
            </a:r>
            <a:r>
              <a:rPr sz="2200" spc="-15" dirty="0">
                <a:latin typeface="Carlito"/>
                <a:cs typeface="Carlito"/>
              </a:rPr>
              <a:t>atom </a:t>
            </a:r>
            <a:r>
              <a:rPr sz="2200" spc="-10" dirty="0">
                <a:latin typeface="Carlito"/>
                <a:cs typeface="Carlito"/>
              </a:rPr>
              <a:t>“feels” </a:t>
            </a:r>
            <a:r>
              <a:rPr sz="2200" spc="-5" dirty="0">
                <a:latin typeface="Carlito"/>
                <a:cs typeface="Carlito"/>
              </a:rPr>
              <a:t>an </a:t>
            </a:r>
            <a:r>
              <a:rPr sz="2200" spc="-20" dirty="0">
                <a:latin typeface="Carlito"/>
                <a:cs typeface="Carlito"/>
              </a:rPr>
              <a:t>attractive force  </a:t>
            </a:r>
            <a:r>
              <a:rPr sz="2200" spc="-5" dirty="0">
                <a:latin typeface="Carlito"/>
                <a:cs typeface="Carlito"/>
              </a:rPr>
              <a:t>of 1 </a:t>
            </a:r>
            <a:r>
              <a:rPr sz="2200" spc="-10" dirty="0">
                <a:latin typeface="Carlito"/>
                <a:cs typeface="Carlito"/>
              </a:rPr>
              <a:t>compared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valence electron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0" dirty="0">
                <a:latin typeface="Carlito"/>
                <a:cs typeface="Carlito"/>
              </a:rPr>
              <a:t>silicon </a:t>
            </a:r>
            <a:r>
              <a:rPr sz="2200" spc="-20" dirty="0">
                <a:latin typeface="Carlito"/>
                <a:cs typeface="Carlito"/>
              </a:rPr>
              <a:t>atom </a:t>
            </a:r>
            <a:r>
              <a:rPr sz="2200" spc="-5" dirty="0">
                <a:latin typeface="Carlito"/>
                <a:cs typeface="Carlito"/>
              </a:rPr>
              <a:t>which  </a:t>
            </a:r>
            <a:r>
              <a:rPr sz="2200" spc="-10" dirty="0">
                <a:latin typeface="Carlito"/>
                <a:cs typeface="Carlito"/>
              </a:rPr>
              <a:t>“feels” </a:t>
            </a:r>
            <a:r>
              <a:rPr sz="2200" spc="-5" dirty="0">
                <a:latin typeface="Carlito"/>
                <a:cs typeface="Carlito"/>
              </a:rPr>
              <a:t>an </a:t>
            </a:r>
            <a:r>
              <a:rPr sz="2200" spc="-15" dirty="0">
                <a:latin typeface="Carlito"/>
                <a:cs typeface="Carlito"/>
              </a:rPr>
              <a:t>attractive </a:t>
            </a:r>
            <a:r>
              <a:rPr sz="2200" spc="-20" dirty="0">
                <a:latin typeface="Carlito"/>
                <a:cs typeface="Carlito"/>
              </a:rPr>
              <a:t>force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4. </a:t>
            </a:r>
            <a:r>
              <a:rPr sz="2200" spc="-20" dirty="0">
                <a:latin typeface="Carlito"/>
                <a:cs typeface="Carlito"/>
              </a:rPr>
              <a:t>Therefore, </a:t>
            </a:r>
            <a:r>
              <a:rPr sz="2200" spc="-10" dirty="0">
                <a:latin typeface="Carlito"/>
                <a:cs typeface="Carlito"/>
              </a:rPr>
              <a:t>there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more </a:t>
            </a:r>
            <a:r>
              <a:rPr sz="2200" spc="-20" dirty="0">
                <a:latin typeface="Carlito"/>
                <a:cs typeface="Carlito"/>
              </a:rPr>
              <a:t>force </a:t>
            </a:r>
            <a:r>
              <a:rPr sz="2200" spc="-5" dirty="0">
                <a:latin typeface="Carlito"/>
                <a:cs typeface="Carlito"/>
              </a:rPr>
              <a:t>trying 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hold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valence electron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atom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silicon </a:t>
            </a:r>
            <a:r>
              <a:rPr sz="2200" spc="-5" dirty="0">
                <a:latin typeface="Carlito"/>
                <a:cs typeface="Carlito"/>
              </a:rPr>
              <a:t>than in</a:t>
            </a:r>
            <a:r>
              <a:rPr sz="2200" spc="160" dirty="0">
                <a:latin typeface="Carlito"/>
                <a:cs typeface="Carlito"/>
              </a:rPr>
              <a:t> </a:t>
            </a:r>
            <a:r>
              <a:rPr sz="2200" spc="-40" dirty="0">
                <a:latin typeface="Carlito"/>
                <a:cs typeface="Carlito"/>
              </a:rPr>
              <a:t>copper.</a:t>
            </a:r>
            <a:endParaRPr sz="2200">
              <a:latin typeface="Carlito"/>
              <a:cs typeface="Carlito"/>
            </a:endParaRPr>
          </a:p>
          <a:p>
            <a:pPr marL="355600" marR="6350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copper’s </a:t>
            </a:r>
            <a:r>
              <a:rPr sz="2200" spc="-10" dirty="0">
                <a:latin typeface="Carlito"/>
                <a:cs typeface="Carlito"/>
              </a:rPr>
              <a:t>valence electron </a:t>
            </a:r>
            <a:r>
              <a:rPr sz="2200" spc="-5" dirty="0">
                <a:latin typeface="Carlito"/>
                <a:cs typeface="Carlito"/>
              </a:rPr>
              <a:t>is in the </a:t>
            </a:r>
            <a:r>
              <a:rPr sz="2200" spc="-15" dirty="0">
                <a:latin typeface="Carlito"/>
                <a:cs typeface="Carlito"/>
              </a:rPr>
              <a:t>fourth </a:t>
            </a:r>
            <a:r>
              <a:rPr sz="2200" spc="-10" dirty="0">
                <a:latin typeface="Carlito"/>
                <a:cs typeface="Carlito"/>
              </a:rPr>
              <a:t>shell, </a:t>
            </a:r>
            <a:r>
              <a:rPr sz="2200" spc="-5" dirty="0">
                <a:latin typeface="Carlito"/>
                <a:cs typeface="Carlito"/>
              </a:rPr>
              <a:t>which is a  </a:t>
            </a:r>
            <a:r>
              <a:rPr sz="2200" spc="-15" dirty="0">
                <a:latin typeface="Carlito"/>
                <a:cs typeface="Carlito"/>
              </a:rPr>
              <a:t>greater </a:t>
            </a:r>
            <a:r>
              <a:rPr sz="2200" spc="-10" dirty="0">
                <a:latin typeface="Carlito"/>
                <a:cs typeface="Carlito"/>
              </a:rPr>
              <a:t>distance </a:t>
            </a:r>
            <a:r>
              <a:rPr sz="2200" spc="-15" dirty="0">
                <a:latin typeface="Carlito"/>
                <a:cs typeface="Carlito"/>
              </a:rPr>
              <a:t>from </a:t>
            </a:r>
            <a:r>
              <a:rPr sz="2200" spc="-5" dirty="0">
                <a:latin typeface="Carlito"/>
                <a:cs typeface="Carlito"/>
              </a:rPr>
              <a:t>its nucleus than the </a:t>
            </a:r>
            <a:r>
              <a:rPr sz="2200" spc="-25" dirty="0">
                <a:latin typeface="Carlito"/>
                <a:cs typeface="Carlito"/>
              </a:rPr>
              <a:t>silicon’s </a:t>
            </a:r>
            <a:r>
              <a:rPr sz="2200" spc="-10" dirty="0">
                <a:latin typeface="Carlito"/>
                <a:cs typeface="Carlito"/>
              </a:rPr>
              <a:t>valence electron 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0" dirty="0">
                <a:latin typeface="Carlito"/>
                <a:cs typeface="Carlito"/>
              </a:rPr>
              <a:t>third</a:t>
            </a:r>
            <a:r>
              <a:rPr sz="2200" spc="-1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shell.</a:t>
            </a:r>
            <a:endParaRPr sz="2200">
              <a:latin typeface="Carlito"/>
              <a:cs typeface="Carlito"/>
            </a:endParaRPr>
          </a:p>
          <a:p>
            <a:pPr marL="355600" marR="8255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Recall </a:t>
            </a:r>
            <a:r>
              <a:rPr sz="2200" spc="-10" dirty="0">
                <a:latin typeface="Carlito"/>
                <a:cs typeface="Carlito"/>
              </a:rPr>
              <a:t>that electrons </a:t>
            </a:r>
            <a:r>
              <a:rPr sz="2200" spc="-15" dirty="0">
                <a:latin typeface="Carlito"/>
                <a:cs typeface="Carlito"/>
              </a:rPr>
              <a:t>farthest from </a:t>
            </a:r>
            <a:r>
              <a:rPr sz="2200" spc="-5" dirty="0">
                <a:latin typeface="Carlito"/>
                <a:cs typeface="Carlito"/>
              </a:rPr>
              <a:t>the nucleus </a:t>
            </a:r>
            <a:r>
              <a:rPr sz="2200" spc="-20" dirty="0">
                <a:latin typeface="Carlito"/>
                <a:cs typeface="Carlito"/>
              </a:rPr>
              <a:t>have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most  </a:t>
            </a:r>
            <a:r>
              <a:rPr sz="2200" spc="-30" dirty="0">
                <a:latin typeface="Carlito"/>
                <a:cs typeface="Carlito"/>
              </a:rPr>
              <a:t>energy. </a:t>
            </a:r>
            <a:r>
              <a:rPr sz="2200" spc="-10" dirty="0">
                <a:latin typeface="Carlito"/>
                <a:cs typeface="Carlito"/>
              </a:rPr>
              <a:t>The valence electron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copper has more energy </a:t>
            </a:r>
            <a:r>
              <a:rPr sz="2200" spc="-5" dirty="0">
                <a:latin typeface="Carlito"/>
                <a:cs typeface="Carlito"/>
              </a:rPr>
              <a:t>than the  </a:t>
            </a:r>
            <a:r>
              <a:rPr sz="2200" spc="-10" dirty="0">
                <a:latin typeface="Carlito"/>
                <a:cs typeface="Carlito"/>
              </a:rPr>
              <a:t>valence electron </a:t>
            </a:r>
            <a:r>
              <a:rPr sz="2200" spc="-5" dirty="0">
                <a:latin typeface="Carlito"/>
                <a:cs typeface="Carlito"/>
              </a:rPr>
              <a:t>in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silicon.</a:t>
            </a:r>
            <a:endParaRPr sz="2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100"/>
              </a:lnSpc>
              <a:spcBef>
                <a:spcPts val="52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This </a:t>
            </a:r>
            <a:r>
              <a:rPr sz="2200" spc="-5" dirty="0">
                <a:latin typeface="Carlito"/>
                <a:cs typeface="Carlito"/>
              </a:rPr>
              <a:t>means </a:t>
            </a:r>
            <a:r>
              <a:rPr sz="2200" spc="-10" dirty="0">
                <a:latin typeface="Carlito"/>
                <a:cs typeface="Carlito"/>
              </a:rPr>
              <a:t>that </a:t>
            </a:r>
            <a:r>
              <a:rPr sz="2200" spc="-5" dirty="0">
                <a:latin typeface="Carlito"/>
                <a:cs typeface="Carlito"/>
              </a:rPr>
              <a:t>it is easier </a:t>
            </a:r>
            <a:r>
              <a:rPr sz="2200" spc="-20" dirty="0">
                <a:latin typeface="Carlito"/>
                <a:cs typeface="Carlito"/>
              </a:rPr>
              <a:t>for </a:t>
            </a:r>
            <a:r>
              <a:rPr sz="2200" spc="-10" dirty="0">
                <a:latin typeface="Carlito"/>
                <a:cs typeface="Carlito"/>
              </a:rPr>
              <a:t>valence electrons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copper </a:t>
            </a:r>
            <a:r>
              <a:rPr sz="2200" spc="-35" dirty="0">
                <a:latin typeface="Carlito"/>
                <a:cs typeface="Carlito"/>
              </a:rPr>
              <a:t>to  </a:t>
            </a:r>
            <a:r>
              <a:rPr sz="2200" spc="-10" dirty="0">
                <a:latin typeface="Carlito"/>
                <a:cs typeface="Carlito"/>
              </a:rPr>
              <a:t>acquire </a:t>
            </a:r>
            <a:r>
              <a:rPr sz="2200" spc="-5" dirty="0">
                <a:latin typeface="Carlito"/>
                <a:cs typeface="Carlito"/>
              </a:rPr>
              <a:t>enough additional energy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escape </a:t>
            </a:r>
            <a:r>
              <a:rPr sz="2200" spc="-15" dirty="0">
                <a:latin typeface="Carlito"/>
                <a:cs typeface="Carlito"/>
              </a:rPr>
              <a:t>from </a:t>
            </a:r>
            <a:r>
              <a:rPr sz="2200" spc="-5" dirty="0">
                <a:latin typeface="Carlito"/>
                <a:cs typeface="Carlito"/>
              </a:rPr>
              <a:t>their </a:t>
            </a:r>
            <a:r>
              <a:rPr sz="2200" spc="-10" dirty="0">
                <a:latin typeface="Carlito"/>
                <a:cs typeface="Carlito"/>
              </a:rPr>
              <a:t>atoms </a:t>
            </a:r>
            <a:r>
              <a:rPr sz="2200" dirty="0">
                <a:latin typeface="Carlito"/>
                <a:cs typeface="Carlito"/>
              </a:rPr>
              <a:t>and  </a:t>
            </a:r>
            <a:r>
              <a:rPr sz="2200" spc="-10" dirty="0">
                <a:latin typeface="Carlito"/>
                <a:cs typeface="Carlito"/>
              </a:rPr>
              <a:t>become free electrons </a:t>
            </a:r>
            <a:r>
              <a:rPr sz="2200" spc="-5" dirty="0">
                <a:latin typeface="Carlito"/>
                <a:cs typeface="Carlito"/>
              </a:rPr>
              <a:t>than it is in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silicon.</a:t>
            </a:r>
            <a:endParaRPr sz="2200">
              <a:latin typeface="Carlito"/>
              <a:cs typeface="Carlito"/>
            </a:endParaRPr>
          </a:p>
          <a:p>
            <a:pPr marL="355600" marR="8255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5" dirty="0">
                <a:latin typeface="Carlito"/>
                <a:cs typeface="Carlito"/>
              </a:rPr>
              <a:t>fact, large numbers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valence </a:t>
            </a:r>
            <a:r>
              <a:rPr sz="2200" spc="-10" dirty="0">
                <a:latin typeface="Carlito"/>
                <a:cs typeface="Carlito"/>
              </a:rPr>
              <a:t>electrons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copper </a:t>
            </a:r>
            <a:r>
              <a:rPr sz="2200" spc="-5" dirty="0">
                <a:latin typeface="Carlito"/>
                <a:cs typeface="Carlito"/>
              </a:rPr>
              <a:t>already </a:t>
            </a:r>
            <a:r>
              <a:rPr sz="2200" spc="-25" dirty="0">
                <a:latin typeface="Carlito"/>
                <a:cs typeface="Carlito"/>
              </a:rPr>
              <a:t>have  </a:t>
            </a:r>
            <a:r>
              <a:rPr sz="2200" spc="-15" dirty="0">
                <a:latin typeface="Carlito"/>
                <a:cs typeface="Carlito"/>
              </a:rPr>
              <a:t>sufficient </a:t>
            </a:r>
            <a:r>
              <a:rPr sz="2200" spc="-10" dirty="0">
                <a:latin typeface="Carlito"/>
                <a:cs typeface="Carlito"/>
              </a:rPr>
              <a:t>energy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0" dirty="0">
                <a:latin typeface="Carlito"/>
                <a:cs typeface="Carlito"/>
              </a:rPr>
              <a:t>free electrons </a:t>
            </a:r>
            <a:r>
              <a:rPr sz="2200" spc="-15" dirty="0">
                <a:latin typeface="Carlito"/>
                <a:cs typeface="Carlito"/>
              </a:rPr>
              <a:t>at </a:t>
            </a:r>
            <a:r>
              <a:rPr sz="2200" spc="-5" dirty="0">
                <a:latin typeface="Carlito"/>
                <a:cs typeface="Carlito"/>
              </a:rPr>
              <a:t>normal </a:t>
            </a:r>
            <a:r>
              <a:rPr sz="2200" spc="-15" dirty="0">
                <a:latin typeface="Carlito"/>
                <a:cs typeface="Carlito"/>
              </a:rPr>
              <a:t>room</a:t>
            </a:r>
            <a:r>
              <a:rPr sz="2200" spc="19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temperature.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8365" marR="5080" indent="-8763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Comparison of a </a:t>
            </a:r>
            <a:r>
              <a:rPr spc="-15" dirty="0"/>
              <a:t>Semiconductor </a:t>
            </a:r>
            <a:r>
              <a:rPr spc="-40" dirty="0"/>
              <a:t>Atom  </a:t>
            </a:r>
            <a:r>
              <a:rPr spc="-20" dirty="0"/>
              <a:t>to </a:t>
            </a:r>
            <a:r>
              <a:rPr spc="-5" dirty="0"/>
              <a:t>a </a:t>
            </a:r>
            <a:r>
              <a:rPr spc="-10" dirty="0"/>
              <a:t>Conductor </a:t>
            </a:r>
            <a:r>
              <a:rPr spc="-35" dirty="0"/>
              <a:t>Atom</a:t>
            </a:r>
            <a:r>
              <a:rPr spc="-25" dirty="0"/>
              <a:t> </a:t>
            </a:r>
            <a:r>
              <a:rPr spc="-15" dirty="0"/>
              <a:t>(Contd.)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261"/>
            <a:ext cx="8073390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atomic structures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silicon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5" dirty="0">
                <a:latin typeface="Carlito"/>
                <a:cs typeface="Carlito"/>
              </a:rPr>
              <a:t>germanium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10" dirty="0">
                <a:latin typeface="Carlito"/>
                <a:cs typeface="Carlito"/>
              </a:rPr>
              <a:t>compared </a:t>
            </a:r>
            <a:r>
              <a:rPr sz="3200" spc="-5" dirty="0">
                <a:latin typeface="Carlito"/>
                <a:cs typeface="Carlito"/>
              </a:rPr>
              <a:t>in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Figure.</a:t>
            </a:r>
            <a:endParaRPr sz="3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b="1" spc="-5" dirty="0">
                <a:latin typeface="Carlito"/>
                <a:cs typeface="Carlito"/>
              </a:rPr>
              <a:t>Silicon </a:t>
            </a:r>
            <a:r>
              <a:rPr sz="3200" spc="-5" dirty="0">
                <a:latin typeface="Carlito"/>
                <a:cs typeface="Carlito"/>
              </a:rPr>
              <a:t>is used </a:t>
            </a:r>
            <a:r>
              <a:rPr sz="3200" dirty="0">
                <a:latin typeface="Carlito"/>
                <a:cs typeface="Carlito"/>
              </a:rPr>
              <a:t>in diodes, </a:t>
            </a:r>
            <a:r>
              <a:rPr sz="3200" spc="-20" dirty="0">
                <a:latin typeface="Carlito"/>
                <a:cs typeface="Carlito"/>
              </a:rPr>
              <a:t>transistors,  integrated </a:t>
            </a:r>
            <a:r>
              <a:rPr sz="3200" spc="-5" dirty="0">
                <a:latin typeface="Carlito"/>
                <a:cs typeface="Carlito"/>
              </a:rPr>
              <a:t>circuits,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other </a:t>
            </a:r>
            <a:r>
              <a:rPr sz="3200" spc="-10" dirty="0">
                <a:latin typeface="Carlito"/>
                <a:cs typeface="Carlito"/>
              </a:rPr>
              <a:t>semiconductor  </a:t>
            </a:r>
            <a:r>
              <a:rPr sz="3200" spc="-5" dirty="0">
                <a:latin typeface="Carlito"/>
                <a:cs typeface="Carlito"/>
              </a:rPr>
              <a:t>devices.</a:t>
            </a:r>
            <a:endParaRPr sz="32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Notice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5" dirty="0">
                <a:latin typeface="Carlito"/>
                <a:cs typeface="Carlito"/>
              </a:rPr>
              <a:t>both silicon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b="1" spc="-10" dirty="0">
                <a:latin typeface="Carlito"/>
                <a:cs typeface="Carlito"/>
              </a:rPr>
              <a:t>germanium </a:t>
            </a:r>
            <a:r>
              <a:rPr sz="3200" spc="-25" dirty="0">
                <a:latin typeface="Carlito"/>
                <a:cs typeface="Carlito"/>
              </a:rPr>
              <a:t>have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characteristic </a:t>
            </a:r>
            <a:r>
              <a:rPr sz="3200" spc="-20" dirty="0">
                <a:latin typeface="Carlito"/>
                <a:cs typeface="Carlito"/>
              </a:rPr>
              <a:t>four </a:t>
            </a:r>
            <a:r>
              <a:rPr sz="3200" spc="-5" dirty="0">
                <a:latin typeface="Carlito"/>
                <a:cs typeface="Carlito"/>
              </a:rPr>
              <a:t>valence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electrons.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9097" y="405511"/>
            <a:ext cx="5302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Silicon </a:t>
            </a:r>
            <a:r>
              <a:rPr sz="4400" dirty="0"/>
              <a:t>and</a:t>
            </a:r>
            <a:r>
              <a:rPr sz="4400" spc="-45" dirty="0"/>
              <a:t> </a:t>
            </a:r>
            <a:r>
              <a:rPr sz="4400" dirty="0"/>
              <a:t>Germanium</a:t>
            </a:r>
            <a:endParaRPr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9412" y="1360931"/>
            <a:ext cx="7961376" cy="4506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7666" y="405511"/>
            <a:ext cx="7266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Silicon </a:t>
            </a:r>
            <a:r>
              <a:rPr sz="4400" dirty="0"/>
              <a:t>and Germanium</a:t>
            </a:r>
            <a:r>
              <a:rPr sz="4400" spc="-30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666" y="405511"/>
            <a:ext cx="7266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Silicon </a:t>
            </a:r>
            <a:r>
              <a:rPr sz="4400" dirty="0"/>
              <a:t>and Germanium</a:t>
            </a:r>
            <a:r>
              <a:rPr sz="4400" spc="-30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70685"/>
            <a:ext cx="8074659" cy="43884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3535" algn="just">
              <a:lnSpc>
                <a:spcPct val="90000"/>
              </a:lnSpc>
              <a:spcBef>
                <a:spcPts val="425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valence </a:t>
            </a:r>
            <a:r>
              <a:rPr sz="2700" spc="-10" dirty="0">
                <a:latin typeface="Carlito"/>
                <a:cs typeface="Carlito"/>
              </a:rPr>
              <a:t>electrons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spc="-10" dirty="0">
                <a:latin typeface="Carlito"/>
                <a:cs typeface="Carlito"/>
              </a:rPr>
              <a:t>germanium </a:t>
            </a:r>
            <a:r>
              <a:rPr sz="2700" spc="-20" dirty="0">
                <a:latin typeface="Carlito"/>
                <a:cs typeface="Carlito"/>
              </a:rPr>
              <a:t>are </a:t>
            </a:r>
            <a:r>
              <a:rPr sz="2700" spc="-5" dirty="0">
                <a:latin typeface="Carlito"/>
                <a:cs typeface="Carlito"/>
              </a:rPr>
              <a:t>in </a:t>
            </a:r>
            <a:r>
              <a:rPr sz="2700" spc="-1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fourth  </a:t>
            </a:r>
            <a:r>
              <a:rPr sz="2700" spc="-5" dirty="0">
                <a:latin typeface="Carlito"/>
                <a:cs typeface="Carlito"/>
              </a:rPr>
              <a:t>shell </a:t>
            </a:r>
            <a:r>
              <a:rPr sz="2700" dirty="0">
                <a:latin typeface="Carlito"/>
                <a:cs typeface="Carlito"/>
              </a:rPr>
              <a:t>while </a:t>
            </a:r>
            <a:r>
              <a:rPr sz="2700" spc="-5" dirty="0">
                <a:latin typeface="Carlito"/>
                <a:cs typeface="Carlito"/>
              </a:rPr>
              <a:t>those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spc="-10" dirty="0">
                <a:latin typeface="Carlito"/>
                <a:cs typeface="Carlito"/>
              </a:rPr>
              <a:t>silicon </a:t>
            </a:r>
            <a:r>
              <a:rPr sz="2700" spc="-15" dirty="0">
                <a:latin typeface="Carlito"/>
                <a:cs typeface="Carlito"/>
              </a:rPr>
              <a:t>are </a:t>
            </a:r>
            <a:r>
              <a:rPr sz="2700" spc="-5" dirty="0">
                <a:latin typeface="Carlito"/>
                <a:cs typeface="Carlito"/>
              </a:rPr>
              <a:t>in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third </a:t>
            </a:r>
            <a:r>
              <a:rPr sz="2700" spc="-5" dirty="0">
                <a:latin typeface="Carlito"/>
                <a:cs typeface="Carlito"/>
              </a:rPr>
              <a:t>shell, closer 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5" dirty="0">
                <a:latin typeface="Carlito"/>
                <a:cs typeface="Carlito"/>
              </a:rPr>
              <a:t> nucleus.</a:t>
            </a:r>
            <a:endParaRPr sz="27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90000"/>
              </a:lnSpc>
              <a:spcBef>
                <a:spcPts val="650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This </a:t>
            </a:r>
            <a:r>
              <a:rPr sz="2700" spc="-10" dirty="0">
                <a:latin typeface="Carlito"/>
                <a:cs typeface="Carlito"/>
              </a:rPr>
              <a:t>means that the </a:t>
            </a:r>
            <a:r>
              <a:rPr sz="2700" spc="-5" dirty="0">
                <a:latin typeface="Carlito"/>
                <a:cs typeface="Carlito"/>
              </a:rPr>
              <a:t>germanium </a:t>
            </a:r>
            <a:r>
              <a:rPr sz="2700" spc="-10" dirty="0">
                <a:latin typeface="Carlito"/>
                <a:cs typeface="Carlito"/>
              </a:rPr>
              <a:t>valence electrons </a:t>
            </a:r>
            <a:r>
              <a:rPr sz="2700" spc="-15" dirty="0">
                <a:latin typeface="Carlito"/>
                <a:cs typeface="Carlito"/>
              </a:rPr>
              <a:t>are  at</a:t>
            </a:r>
            <a:r>
              <a:rPr sz="2700" spc="58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higher </a:t>
            </a:r>
            <a:r>
              <a:rPr sz="2700" spc="-10" dirty="0">
                <a:latin typeface="Carlito"/>
                <a:cs typeface="Carlito"/>
              </a:rPr>
              <a:t>energy levels </a:t>
            </a:r>
            <a:r>
              <a:rPr sz="2700" spc="-5" dirty="0">
                <a:latin typeface="Carlito"/>
                <a:cs typeface="Carlito"/>
              </a:rPr>
              <a:t>than </a:t>
            </a:r>
            <a:r>
              <a:rPr sz="2700" dirty="0">
                <a:latin typeface="Carlito"/>
                <a:cs typeface="Carlito"/>
              </a:rPr>
              <a:t>those in </a:t>
            </a:r>
            <a:r>
              <a:rPr sz="2700" spc="-10" dirty="0">
                <a:latin typeface="Carlito"/>
                <a:cs typeface="Carlito"/>
              </a:rPr>
              <a:t>silicon and,  </a:t>
            </a:r>
            <a:r>
              <a:rPr sz="2700" spc="-20" dirty="0">
                <a:latin typeface="Carlito"/>
                <a:cs typeface="Carlito"/>
              </a:rPr>
              <a:t>therefore, </a:t>
            </a:r>
            <a:r>
              <a:rPr sz="2700" spc="-15" dirty="0">
                <a:latin typeface="Carlito"/>
                <a:cs typeface="Carlito"/>
              </a:rPr>
              <a:t>require</a:t>
            </a:r>
            <a:r>
              <a:rPr sz="2700" spc="58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5" dirty="0">
                <a:latin typeface="Carlito"/>
                <a:cs typeface="Carlito"/>
              </a:rPr>
              <a:t>smaller amount </a:t>
            </a:r>
            <a:r>
              <a:rPr sz="2700" dirty="0">
                <a:latin typeface="Carlito"/>
                <a:cs typeface="Carlito"/>
              </a:rPr>
              <a:t>of </a:t>
            </a:r>
            <a:r>
              <a:rPr sz="2700" spc="-5" dirty="0">
                <a:latin typeface="Carlito"/>
                <a:cs typeface="Carlito"/>
              </a:rPr>
              <a:t>additional  </a:t>
            </a:r>
            <a:r>
              <a:rPr sz="2700" spc="-10" dirty="0">
                <a:latin typeface="Carlito"/>
                <a:cs typeface="Carlito"/>
              </a:rPr>
              <a:t>energy </a:t>
            </a:r>
            <a:r>
              <a:rPr sz="2700" spc="-15" dirty="0">
                <a:latin typeface="Carlito"/>
                <a:cs typeface="Carlito"/>
              </a:rPr>
              <a:t>to </a:t>
            </a:r>
            <a:r>
              <a:rPr sz="2700" spc="-5" dirty="0">
                <a:latin typeface="Carlito"/>
                <a:cs typeface="Carlito"/>
              </a:rPr>
              <a:t>escape </a:t>
            </a:r>
            <a:r>
              <a:rPr sz="2700" spc="-15" dirty="0">
                <a:latin typeface="Carlito"/>
                <a:cs typeface="Carlito"/>
              </a:rPr>
              <a:t>from </a:t>
            </a:r>
            <a:r>
              <a:rPr sz="2700" dirty="0">
                <a:latin typeface="Carlito"/>
                <a:cs typeface="Carlito"/>
              </a:rPr>
              <a:t>the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atom.</a:t>
            </a:r>
            <a:endParaRPr sz="2700">
              <a:latin typeface="Carlito"/>
              <a:cs typeface="Carlito"/>
            </a:endParaRPr>
          </a:p>
          <a:p>
            <a:pPr marL="355600" marR="6985" indent="-343535" algn="just">
              <a:lnSpc>
                <a:spcPts val="2920"/>
              </a:lnSpc>
              <a:spcBef>
                <a:spcPts val="685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This </a:t>
            </a:r>
            <a:r>
              <a:rPr sz="2700" spc="-15" dirty="0">
                <a:latin typeface="Carlito"/>
                <a:cs typeface="Carlito"/>
              </a:rPr>
              <a:t>property </a:t>
            </a:r>
            <a:r>
              <a:rPr sz="2700" spc="-20" dirty="0">
                <a:latin typeface="Carlito"/>
                <a:cs typeface="Carlito"/>
              </a:rPr>
              <a:t>makes </a:t>
            </a:r>
            <a:r>
              <a:rPr sz="2700" spc="-5" dirty="0">
                <a:latin typeface="Carlito"/>
                <a:cs typeface="Carlito"/>
              </a:rPr>
              <a:t>germanium </a:t>
            </a:r>
            <a:r>
              <a:rPr sz="2700" spc="-10" dirty="0">
                <a:latin typeface="Carlito"/>
                <a:cs typeface="Carlito"/>
              </a:rPr>
              <a:t>more </a:t>
            </a:r>
            <a:r>
              <a:rPr sz="2700" spc="-15" dirty="0">
                <a:latin typeface="Carlito"/>
                <a:cs typeface="Carlito"/>
              </a:rPr>
              <a:t>unstable at </a:t>
            </a:r>
            <a:r>
              <a:rPr sz="2700" spc="-5" dirty="0">
                <a:latin typeface="Carlito"/>
                <a:cs typeface="Carlito"/>
              </a:rPr>
              <a:t>high  </a:t>
            </a:r>
            <a:r>
              <a:rPr sz="2700" spc="-15" dirty="0">
                <a:latin typeface="Carlito"/>
                <a:cs typeface="Carlito"/>
              </a:rPr>
              <a:t>temperatures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0" dirty="0">
                <a:latin typeface="Carlito"/>
                <a:cs typeface="Carlito"/>
              </a:rPr>
              <a:t>results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spc="-15" dirty="0">
                <a:latin typeface="Carlito"/>
                <a:cs typeface="Carlito"/>
              </a:rPr>
              <a:t>excessive </a:t>
            </a:r>
            <a:r>
              <a:rPr sz="2700" spc="-25" dirty="0">
                <a:latin typeface="Carlito"/>
                <a:cs typeface="Carlito"/>
              </a:rPr>
              <a:t>reverse</a:t>
            </a:r>
            <a:r>
              <a:rPr sz="2700" spc="-100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current.</a:t>
            </a:r>
            <a:endParaRPr sz="2700">
              <a:latin typeface="Carlito"/>
              <a:cs typeface="Carlito"/>
            </a:endParaRPr>
          </a:p>
          <a:p>
            <a:pPr marL="355600" marR="5715" indent="-343535" algn="just">
              <a:lnSpc>
                <a:spcPts val="2920"/>
              </a:lnSpc>
              <a:spcBef>
                <a:spcPts val="645"/>
              </a:spcBef>
              <a:buFont typeface="Arial"/>
              <a:buChar char="•"/>
              <a:tabLst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This </a:t>
            </a:r>
            <a:r>
              <a:rPr sz="2700" dirty="0">
                <a:latin typeface="Carlito"/>
                <a:cs typeface="Carlito"/>
              </a:rPr>
              <a:t>is </a:t>
            </a:r>
            <a:r>
              <a:rPr sz="2700" spc="-15" dirty="0">
                <a:latin typeface="Carlito"/>
                <a:cs typeface="Carlito"/>
              </a:rPr>
              <a:t>why </a:t>
            </a:r>
            <a:r>
              <a:rPr sz="2700" spc="-10" dirty="0">
                <a:latin typeface="Carlito"/>
                <a:cs typeface="Carlito"/>
              </a:rPr>
              <a:t>silicon </a:t>
            </a:r>
            <a:r>
              <a:rPr sz="2700" dirty="0">
                <a:latin typeface="Carlito"/>
                <a:cs typeface="Carlito"/>
              </a:rPr>
              <a:t>is a </a:t>
            </a:r>
            <a:r>
              <a:rPr sz="2700" spc="-10" dirty="0">
                <a:latin typeface="Carlito"/>
                <a:cs typeface="Carlito"/>
              </a:rPr>
              <a:t>more </a:t>
            </a:r>
            <a:r>
              <a:rPr sz="2700" dirty="0">
                <a:latin typeface="Carlito"/>
                <a:cs typeface="Carlito"/>
              </a:rPr>
              <a:t>widely </a:t>
            </a:r>
            <a:r>
              <a:rPr sz="2700" spc="-10" dirty="0">
                <a:latin typeface="Carlito"/>
                <a:cs typeface="Carlito"/>
              </a:rPr>
              <a:t>used  semiconductive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material.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8826" y="405511"/>
            <a:ext cx="35439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Covalent</a:t>
            </a:r>
            <a:r>
              <a:rPr sz="4400" spc="-100" dirty="0"/>
              <a:t> </a:t>
            </a:r>
            <a:r>
              <a:rPr sz="4400" dirty="0"/>
              <a:t>Bonds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8493"/>
            <a:ext cx="8074659" cy="422148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marR="6985" indent="-343535" algn="just">
              <a:lnSpc>
                <a:spcPct val="90000"/>
              </a:lnSpc>
              <a:spcBef>
                <a:spcPts val="49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10" dirty="0">
                <a:latin typeface="Carlito"/>
                <a:cs typeface="Carlito"/>
              </a:rPr>
              <a:t>Figure shows </a:t>
            </a:r>
            <a:r>
              <a:rPr sz="3200" spc="-5" dirty="0">
                <a:latin typeface="Carlito"/>
                <a:cs typeface="Carlito"/>
              </a:rPr>
              <a:t>how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5" dirty="0">
                <a:latin typeface="Carlito"/>
                <a:cs typeface="Carlito"/>
              </a:rPr>
              <a:t>silicon </a:t>
            </a:r>
            <a:r>
              <a:rPr sz="3200" spc="-20" dirty="0">
                <a:latin typeface="Carlito"/>
                <a:cs typeface="Carlito"/>
              </a:rPr>
              <a:t>atom </a:t>
            </a:r>
            <a:r>
              <a:rPr sz="3200" spc="-5" dirty="0">
                <a:latin typeface="Carlito"/>
                <a:cs typeface="Carlito"/>
              </a:rPr>
              <a:t>positions  itself </a:t>
            </a:r>
            <a:r>
              <a:rPr sz="3200" dirty="0">
                <a:latin typeface="Carlito"/>
                <a:cs typeface="Carlito"/>
              </a:rPr>
              <a:t>with </a:t>
            </a:r>
            <a:r>
              <a:rPr sz="3200" spc="-25" dirty="0">
                <a:latin typeface="Carlito"/>
                <a:cs typeface="Carlito"/>
              </a:rPr>
              <a:t>four </a:t>
            </a:r>
            <a:r>
              <a:rPr sz="3200" spc="-5" dirty="0">
                <a:latin typeface="Carlito"/>
                <a:cs typeface="Carlito"/>
              </a:rPr>
              <a:t>adjacent silicon </a:t>
            </a:r>
            <a:r>
              <a:rPr sz="3200" spc="-10" dirty="0">
                <a:latin typeface="Carlito"/>
                <a:cs typeface="Carlito"/>
              </a:rPr>
              <a:t>atoms </a:t>
            </a:r>
            <a:r>
              <a:rPr sz="3200" spc="-20" dirty="0">
                <a:latin typeface="Carlito"/>
                <a:cs typeface="Carlito"/>
              </a:rPr>
              <a:t>to form 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silicon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b="1" spc="-10" dirty="0">
                <a:latin typeface="Carlito"/>
                <a:cs typeface="Carlito"/>
              </a:rPr>
              <a:t>crystal</a:t>
            </a:r>
            <a:r>
              <a:rPr sz="3200" spc="-10" dirty="0">
                <a:latin typeface="Carlito"/>
                <a:cs typeface="Carlito"/>
              </a:rPr>
              <a:t>.</a:t>
            </a:r>
            <a:endParaRPr sz="3200">
              <a:latin typeface="Carlito"/>
              <a:cs typeface="Carlito"/>
            </a:endParaRPr>
          </a:p>
          <a:p>
            <a:pPr marL="355600" marR="5715" indent="-343535" algn="just">
              <a:lnSpc>
                <a:spcPts val="3460"/>
              </a:lnSpc>
              <a:spcBef>
                <a:spcPts val="815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silicon (Si) </a:t>
            </a:r>
            <a:r>
              <a:rPr sz="3200" spc="-15" dirty="0">
                <a:latin typeface="Carlito"/>
                <a:cs typeface="Carlito"/>
              </a:rPr>
              <a:t>atom  </a:t>
            </a:r>
            <a:r>
              <a:rPr sz="3200" spc="-5" dirty="0">
                <a:latin typeface="Carlito"/>
                <a:cs typeface="Carlito"/>
              </a:rPr>
              <a:t>with </a:t>
            </a:r>
            <a:r>
              <a:rPr sz="3200" dirty="0">
                <a:latin typeface="Carlito"/>
                <a:cs typeface="Carlito"/>
              </a:rPr>
              <a:t>its </a:t>
            </a:r>
            <a:r>
              <a:rPr sz="3200" spc="-20" dirty="0">
                <a:latin typeface="Carlito"/>
                <a:cs typeface="Carlito"/>
              </a:rPr>
              <a:t>four </a:t>
            </a:r>
            <a:r>
              <a:rPr sz="3200" spc="-5" dirty="0">
                <a:latin typeface="Carlito"/>
                <a:cs typeface="Carlito"/>
              </a:rPr>
              <a:t>valence  </a:t>
            </a:r>
            <a:r>
              <a:rPr sz="3200" spc="-10" dirty="0">
                <a:latin typeface="Carlito"/>
                <a:cs typeface="Carlito"/>
              </a:rPr>
              <a:t>electrons shares </a:t>
            </a:r>
            <a:r>
              <a:rPr sz="3200" dirty="0">
                <a:latin typeface="Carlito"/>
                <a:cs typeface="Carlito"/>
              </a:rPr>
              <a:t>an </a:t>
            </a:r>
            <a:r>
              <a:rPr sz="3200" spc="-10" dirty="0">
                <a:latin typeface="Carlito"/>
                <a:cs typeface="Carlito"/>
              </a:rPr>
              <a:t>electron </a:t>
            </a:r>
            <a:r>
              <a:rPr sz="3200" dirty="0">
                <a:latin typeface="Carlito"/>
                <a:cs typeface="Carlito"/>
              </a:rPr>
              <a:t>with each of </a:t>
            </a:r>
            <a:r>
              <a:rPr sz="3200" spc="-5" dirty="0">
                <a:latin typeface="Carlito"/>
                <a:cs typeface="Carlito"/>
              </a:rPr>
              <a:t>its  </a:t>
            </a:r>
            <a:r>
              <a:rPr sz="3200" spc="-25" dirty="0">
                <a:latin typeface="Carlito"/>
                <a:cs typeface="Carlito"/>
              </a:rPr>
              <a:t>four</a:t>
            </a:r>
            <a:r>
              <a:rPr sz="320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neighbors.</a:t>
            </a:r>
            <a:endParaRPr sz="3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71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spc="-20" dirty="0">
                <a:latin typeface="Carlito"/>
                <a:cs typeface="Carlito"/>
              </a:rPr>
              <a:t>effectively creates </a:t>
            </a:r>
            <a:r>
              <a:rPr sz="3200" spc="-10" dirty="0">
                <a:latin typeface="Carlito"/>
                <a:cs typeface="Carlito"/>
              </a:rPr>
              <a:t>eight shared </a:t>
            </a:r>
            <a:r>
              <a:rPr sz="3200" spc="-5" dirty="0">
                <a:latin typeface="Carlito"/>
                <a:cs typeface="Carlito"/>
              </a:rPr>
              <a:t>valence  </a:t>
            </a:r>
            <a:r>
              <a:rPr sz="3200" spc="-10" dirty="0">
                <a:latin typeface="Carlito"/>
                <a:cs typeface="Carlito"/>
              </a:rPr>
              <a:t>electrons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dirty="0">
                <a:latin typeface="Carlito"/>
                <a:cs typeface="Carlito"/>
              </a:rPr>
              <a:t>each </a:t>
            </a:r>
            <a:r>
              <a:rPr sz="3200" spc="-15" dirty="0">
                <a:latin typeface="Carlito"/>
                <a:cs typeface="Carlito"/>
              </a:rPr>
              <a:t>atom </a:t>
            </a:r>
            <a:r>
              <a:rPr sz="3200" spc="5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produces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25" dirty="0">
                <a:latin typeface="Carlito"/>
                <a:cs typeface="Carlito"/>
              </a:rPr>
              <a:t>state 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chemical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35" dirty="0">
                <a:latin typeface="Carlito"/>
                <a:cs typeface="Carlito"/>
              </a:rPr>
              <a:t>stability.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6989" y="405511"/>
            <a:ext cx="55086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Covalent </a:t>
            </a:r>
            <a:r>
              <a:rPr sz="4400" dirty="0"/>
              <a:t>Bonds</a:t>
            </a:r>
            <a:r>
              <a:rPr sz="4400" spc="-60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8785"/>
            <a:ext cx="8073390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0" dirty="0">
                <a:latin typeface="Carlito"/>
                <a:cs typeface="Carlito"/>
              </a:rPr>
              <a:t>Also, </a:t>
            </a:r>
            <a:r>
              <a:rPr sz="3000" dirty="0">
                <a:latin typeface="Carlito"/>
                <a:cs typeface="Carlito"/>
              </a:rPr>
              <a:t>this </a:t>
            </a:r>
            <a:r>
              <a:rPr sz="3000" spc="-5" dirty="0">
                <a:latin typeface="Carlito"/>
                <a:cs typeface="Carlito"/>
              </a:rPr>
              <a:t>sharing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valence electrons produces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b="1" spc="-15" dirty="0">
                <a:latin typeface="Carlito"/>
                <a:cs typeface="Carlito"/>
              </a:rPr>
              <a:t>covalent </a:t>
            </a:r>
            <a:r>
              <a:rPr sz="3000" spc="-5" dirty="0">
                <a:latin typeface="Carlito"/>
                <a:cs typeface="Carlito"/>
              </a:rPr>
              <a:t>bonds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spc="-5" dirty="0">
                <a:latin typeface="Carlito"/>
                <a:cs typeface="Carlito"/>
              </a:rPr>
              <a:t>hold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atoms together;  </a:t>
            </a:r>
            <a:r>
              <a:rPr sz="3000" dirty="0">
                <a:latin typeface="Carlito"/>
                <a:cs typeface="Carlito"/>
              </a:rPr>
              <a:t>each </a:t>
            </a:r>
            <a:r>
              <a:rPr sz="3000" spc="-15" dirty="0">
                <a:latin typeface="Carlito"/>
                <a:cs typeface="Carlito"/>
              </a:rPr>
              <a:t>valence electron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20" dirty="0">
                <a:latin typeface="Carlito"/>
                <a:cs typeface="Carlito"/>
              </a:rPr>
              <a:t>attracted </a:t>
            </a:r>
            <a:r>
              <a:rPr sz="3000" spc="-10" dirty="0">
                <a:latin typeface="Carlito"/>
                <a:cs typeface="Carlito"/>
              </a:rPr>
              <a:t>equally by the  two </a:t>
            </a:r>
            <a:r>
              <a:rPr sz="3000" spc="-5" dirty="0">
                <a:latin typeface="Carlito"/>
                <a:cs typeface="Carlito"/>
              </a:rPr>
              <a:t>adjacent </a:t>
            </a:r>
            <a:r>
              <a:rPr sz="3000" spc="-15" dirty="0">
                <a:latin typeface="Carlito"/>
                <a:cs typeface="Carlito"/>
              </a:rPr>
              <a:t>atoms </a:t>
            </a:r>
            <a:r>
              <a:rPr sz="3000" dirty="0">
                <a:latin typeface="Carlito"/>
                <a:cs typeface="Carlito"/>
              </a:rPr>
              <a:t>which </a:t>
            </a:r>
            <a:r>
              <a:rPr sz="3000" spc="-10" dirty="0">
                <a:latin typeface="Carlito"/>
                <a:cs typeface="Carlito"/>
              </a:rPr>
              <a:t>share</a:t>
            </a:r>
            <a:r>
              <a:rPr sz="3000" spc="-6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it.</a:t>
            </a:r>
            <a:endParaRPr sz="3000">
              <a:latin typeface="Carlito"/>
              <a:cs typeface="Carlito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Covalent </a:t>
            </a:r>
            <a:r>
              <a:rPr sz="3000" spc="-5" dirty="0">
                <a:latin typeface="Carlito"/>
                <a:cs typeface="Carlito"/>
              </a:rPr>
              <a:t>bonding in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0" dirty="0">
                <a:latin typeface="Carlito"/>
                <a:cs typeface="Carlito"/>
              </a:rPr>
              <a:t>intrinsic silicon </a:t>
            </a:r>
            <a:r>
              <a:rPr sz="3000" spc="-15" dirty="0">
                <a:latin typeface="Carlito"/>
                <a:cs typeface="Carlito"/>
              </a:rPr>
              <a:t>crystal </a:t>
            </a:r>
            <a:r>
              <a:rPr sz="3000" spc="-5" dirty="0">
                <a:latin typeface="Carlito"/>
                <a:cs typeface="Carlito"/>
              </a:rPr>
              <a:t>is  shown in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Figure.</a:t>
            </a:r>
            <a:endParaRPr sz="300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dirty="0">
                <a:latin typeface="Carlito"/>
                <a:cs typeface="Carlito"/>
              </a:rPr>
              <a:t>An </a:t>
            </a:r>
            <a:r>
              <a:rPr sz="3000" b="1" spc="-5" dirty="0">
                <a:latin typeface="Carlito"/>
                <a:cs typeface="Carlito"/>
              </a:rPr>
              <a:t>intrinsic </a:t>
            </a:r>
            <a:r>
              <a:rPr sz="3000" spc="-15" dirty="0">
                <a:latin typeface="Carlito"/>
                <a:cs typeface="Carlito"/>
              </a:rPr>
              <a:t>crystal </a:t>
            </a:r>
            <a:r>
              <a:rPr sz="3000" spc="-5" dirty="0">
                <a:latin typeface="Carlito"/>
                <a:cs typeface="Carlito"/>
              </a:rPr>
              <a:t>is one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spc="-5" dirty="0">
                <a:latin typeface="Carlito"/>
                <a:cs typeface="Carlito"/>
              </a:rPr>
              <a:t>has no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impurities.</a:t>
            </a:r>
            <a:endParaRPr sz="3000">
              <a:latin typeface="Carlito"/>
              <a:cs typeface="Carlito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Covalent </a:t>
            </a:r>
            <a:r>
              <a:rPr sz="3000" spc="-5" dirty="0">
                <a:latin typeface="Carlito"/>
                <a:cs typeface="Carlito"/>
              </a:rPr>
              <a:t>bonding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5" dirty="0">
                <a:latin typeface="Carlito"/>
                <a:cs typeface="Carlito"/>
              </a:rPr>
              <a:t>germanium is similar  </a:t>
            </a:r>
            <a:r>
              <a:rPr sz="3000" spc="-10" dirty="0">
                <a:latin typeface="Carlito"/>
                <a:cs typeface="Carlito"/>
              </a:rPr>
              <a:t>because </a:t>
            </a:r>
            <a:r>
              <a:rPr sz="3000" spc="-5" dirty="0">
                <a:latin typeface="Carlito"/>
                <a:cs typeface="Carlito"/>
              </a:rPr>
              <a:t>it </a:t>
            </a:r>
            <a:r>
              <a:rPr sz="3000" dirty="0">
                <a:latin typeface="Carlito"/>
                <a:cs typeface="Carlito"/>
              </a:rPr>
              <a:t>also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spc="-20" dirty="0">
                <a:latin typeface="Carlito"/>
                <a:cs typeface="Carlito"/>
              </a:rPr>
              <a:t>four </a:t>
            </a:r>
            <a:r>
              <a:rPr sz="3000" spc="-10" dirty="0">
                <a:latin typeface="Carlito"/>
                <a:cs typeface="Carlito"/>
              </a:rPr>
              <a:t>valence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electrons.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6989" y="405511"/>
            <a:ext cx="55086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Covalent </a:t>
            </a:r>
            <a:r>
              <a:rPr sz="4400" dirty="0"/>
              <a:t>Bonds</a:t>
            </a:r>
            <a:r>
              <a:rPr sz="4400" spc="-60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987552" y="1219200"/>
            <a:ext cx="7242048" cy="5042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6989" y="405511"/>
            <a:ext cx="55086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Covalent </a:t>
            </a:r>
            <a:r>
              <a:rPr sz="4400" dirty="0"/>
              <a:t>Bonds</a:t>
            </a:r>
            <a:r>
              <a:rPr sz="4400" spc="-60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524000" y="1066800"/>
            <a:ext cx="5975604" cy="5228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1998" y="405511"/>
            <a:ext cx="30803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Energy</a:t>
            </a:r>
            <a:r>
              <a:rPr sz="4400" spc="-60" dirty="0"/>
              <a:t> </a:t>
            </a:r>
            <a:r>
              <a:rPr sz="4400" dirty="0"/>
              <a:t>Bands</a:t>
            </a:r>
            <a:endParaRPr sz="44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63065"/>
            <a:ext cx="8073390" cy="13982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5715" indent="-343535">
              <a:lnSpc>
                <a:spcPts val="3240"/>
              </a:lnSpc>
              <a:spcBef>
                <a:spcPts val="509"/>
              </a:spcBef>
              <a:buFont typeface="Arial"/>
              <a:buChar char="•"/>
              <a:tabLst>
                <a:tab pos="355600" algn="l"/>
                <a:tab pos="356235" algn="l"/>
                <a:tab pos="889000" algn="l"/>
                <a:tab pos="1620520" algn="l"/>
                <a:tab pos="2517140" algn="l"/>
                <a:tab pos="3954145" algn="l"/>
                <a:tab pos="4634230" algn="l"/>
                <a:tab pos="6225540" algn="l"/>
                <a:tab pos="6705600" algn="l"/>
                <a:tab pos="7251065" algn="l"/>
              </a:tabLst>
            </a:pPr>
            <a:r>
              <a:rPr sz="3000" dirty="0">
                <a:latin typeface="Carlito"/>
                <a:cs typeface="Carlito"/>
              </a:rPr>
              <a:t>As	</a:t>
            </a:r>
            <a:r>
              <a:rPr sz="3000" spc="-40" dirty="0">
                <a:latin typeface="Carlito"/>
                <a:cs typeface="Carlito"/>
              </a:rPr>
              <a:t>y</a:t>
            </a:r>
            <a:r>
              <a:rPr sz="3000" spc="-5" dirty="0">
                <a:latin typeface="Carlito"/>
                <a:cs typeface="Carlito"/>
              </a:rPr>
              <a:t>o</a:t>
            </a:r>
            <a:r>
              <a:rPr sz="3000" dirty="0">
                <a:latin typeface="Carlito"/>
                <a:cs typeface="Carlito"/>
              </a:rPr>
              <a:t>u	</a:t>
            </a:r>
            <a:r>
              <a:rPr sz="3000" spc="-5" dirty="0">
                <a:latin typeface="Carlito"/>
                <a:cs typeface="Carlito"/>
              </a:rPr>
              <a:t>h</a:t>
            </a:r>
            <a:r>
              <a:rPr sz="3000" spc="-55" dirty="0">
                <a:latin typeface="Carlito"/>
                <a:cs typeface="Carlito"/>
              </a:rPr>
              <a:t>a</a:t>
            </a:r>
            <a:r>
              <a:rPr sz="3000" spc="-25" dirty="0">
                <a:latin typeface="Carlito"/>
                <a:cs typeface="Carlito"/>
              </a:rPr>
              <a:t>v</a:t>
            </a:r>
            <a:r>
              <a:rPr sz="3000" dirty="0">
                <a:latin typeface="Carlito"/>
                <a:cs typeface="Carlito"/>
              </a:rPr>
              <a:t>e	l</a:t>
            </a:r>
            <a:r>
              <a:rPr sz="3000" spc="-15" dirty="0">
                <a:latin typeface="Carlito"/>
                <a:cs typeface="Carlito"/>
              </a:rPr>
              <a:t>e</a:t>
            </a:r>
            <a:r>
              <a:rPr sz="3000" dirty="0">
                <a:latin typeface="Carlito"/>
                <a:cs typeface="Carlito"/>
              </a:rPr>
              <a:t>arn</a:t>
            </a:r>
            <a:r>
              <a:rPr sz="3000" spc="-15" dirty="0">
                <a:latin typeface="Carlito"/>
                <a:cs typeface="Carlito"/>
              </a:rPr>
              <a:t>e</a:t>
            </a:r>
            <a:r>
              <a:rPr sz="3000" spc="-5" dirty="0">
                <a:latin typeface="Carlito"/>
                <a:cs typeface="Carlito"/>
              </a:rPr>
              <a:t>d</a:t>
            </a:r>
            <a:r>
              <a:rPr sz="3000" dirty="0">
                <a:latin typeface="Carlito"/>
                <a:cs typeface="Carlito"/>
              </a:rPr>
              <a:t>,	the	</a:t>
            </a:r>
            <a:r>
              <a:rPr sz="3000" spc="-20" dirty="0">
                <a:latin typeface="Carlito"/>
                <a:cs typeface="Carlito"/>
              </a:rPr>
              <a:t>e</a:t>
            </a:r>
            <a:r>
              <a:rPr sz="3000" dirty="0">
                <a:latin typeface="Carlito"/>
                <a:cs typeface="Carlito"/>
              </a:rPr>
              <a:t>l</a:t>
            </a:r>
            <a:r>
              <a:rPr sz="3000" spc="-15" dirty="0">
                <a:latin typeface="Carlito"/>
                <a:cs typeface="Carlito"/>
              </a:rPr>
              <a:t>e</a:t>
            </a:r>
            <a:r>
              <a:rPr sz="3000" dirty="0">
                <a:latin typeface="Carlito"/>
                <a:cs typeface="Carlito"/>
              </a:rPr>
              <a:t>ct</a:t>
            </a:r>
            <a:r>
              <a:rPr sz="3000" spc="-50" dirty="0">
                <a:latin typeface="Carlito"/>
                <a:cs typeface="Carlito"/>
              </a:rPr>
              <a:t>r</a:t>
            </a:r>
            <a:r>
              <a:rPr sz="3000" spc="-5" dirty="0">
                <a:latin typeface="Carlito"/>
                <a:cs typeface="Carlito"/>
              </a:rPr>
              <a:t>on</a:t>
            </a:r>
            <a:r>
              <a:rPr sz="3000" dirty="0">
                <a:latin typeface="Carlito"/>
                <a:cs typeface="Carlito"/>
              </a:rPr>
              <a:t>s	of	an	</a:t>
            </a:r>
            <a:r>
              <a:rPr sz="3000" spc="-35" dirty="0">
                <a:latin typeface="Carlito"/>
                <a:cs typeface="Carlito"/>
              </a:rPr>
              <a:t>a</a:t>
            </a:r>
            <a:r>
              <a:rPr sz="3000" spc="-25" dirty="0">
                <a:latin typeface="Carlito"/>
                <a:cs typeface="Carlito"/>
              </a:rPr>
              <a:t>t</a:t>
            </a:r>
            <a:r>
              <a:rPr sz="3000" spc="-10" dirty="0">
                <a:latin typeface="Carlito"/>
                <a:cs typeface="Carlito"/>
              </a:rPr>
              <a:t>o</a:t>
            </a:r>
            <a:r>
              <a:rPr sz="3000" dirty="0">
                <a:latin typeface="Carlito"/>
                <a:cs typeface="Carlito"/>
              </a:rPr>
              <a:t>m 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25" dirty="0">
                <a:latin typeface="Carlito"/>
                <a:cs typeface="Carlito"/>
              </a:rPr>
              <a:t>exist </a:t>
            </a:r>
            <a:r>
              <a:rPr sz="3000" spc="-5" dirty="0">
                <a:latin typeface="Carlito"/>
                <a:cs typeface="Carlito"/>
              </a:rPr>
              <a:t>only within </a:t>
            </a:r>
            <a:r>
              <a:rPr sz="3000" spc="-10" dirty="0">
                <a:latin typeface="Carlito"/>
                <a:cs typeface="Carlito"/>
              </a:rPr>
              <a:t>prescribed energy</a:t>
            </a:r>
            <a:r>
              <a:rPr sz="3000" spc="4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bands.</a:t>
            </a:r>
            <a:endParaRPr sz="30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  <a:tab pos="356235" algn="l"/>
                <a:tab pos="1227455" algn="l"/>
                <a:tab pos="2088514" algn="l"/>
                <a:tab pos="3347720" algn="l"/>
                <a:tab pos="4013835" algn="l"/>
                <a:tab pos="5347335" algn="l"/>
                <a:tab pos="7403465" algn="l"/>
                <a:tab pos="7877809" algn="l"/>
              </a:tabLst>
            </a:pPr>
            <a:r>
              <a:rPr sz="3000" spc="-50" dirty="0">
                <a:latin typeface="Carlito"/>
                <a:cs typeface="Carlito"/>
              </a:rPr>
              <a:t>E</a:t>
            </a:r>
            <a:r>
              <a:rPr sz="3000" dirty="0">
                <a:latin typeface="Carlito"/>
                <a:cs typeface="Carlito"/>
              </a:rPr>
              <a:t>ach	</a:t>
            </a:r>
            <a:r>
              <a:rPr sz="3000" spc="-5" dirty="0">
                <a:latin typeface="Carlito"/>
                <a:cs typeface="Carlito"/>
              </a:rPr>
              <a:t>she</a:t>
            </a:r>
            <a:r>
              <a:rPr sz="3000" spc="-15" dirty="0">
                <a:latin typeface="Carlito"/>
                <a:cs typeface="Carlito"/>
              </a:rPr>
              <a:t>l</a:t>
            </a:r>
            <a:r>
              <a:rPr sz="3000" dirty="0">
                <a:latin typeface="Carlito"/>
                <a:cs typeface="Carlito"/>
              </a:rPr>
              <a:t>l	a</a:t>
            </a:r>
            <a:r>
              <a:rPr sz="3000" spc="-50" dirty="0">
                <a:latin typeface="Carlito"/>
                <a:cs typeface="Carlito"/>
              </a:rPr>
              <a:t>r</a:t>
            </a:r>
            <a:r>
              <a:rPr sz="3000" spc="-5" dirty="0">
                <a:latin typeface="Carlito"/>
                <a:cs typeface="Carlito"/>
              </a:rPr>
              <a:t>oun</a:t>
            </a:r>
            <a:r>
              <a:rPr sz="3000" dirty="0">
                <a:latin typeface="Carlito"/>
                <a:cs typeface="Carlito"/>
              </a:rPr>
              <a:t>d	the	</a:t>
            </a:r>
            <a:r>
              <a:rPr sz="3000" spc="-5" dirty="0">
                <a:latin typeface="Carlito"/>
                <a:cs typeface="Carlito"/>
              </a:rPr>
              <a:t>n</a:t>
            </a:r>
            <a:r>
              <a:rPr sz="3000" spc="-20" dirty="0">
                <a:latin typeface="Carlito"/>
                <a:cs typeface="Carlito"/>
              </a:rPr>
              <a:t>u</a:t>
            </a:r>
            <a:r>
              <a:rPr sz="3000" dirty="0">
                <a:latin typeface="Carlito"/>
                <a:cs typeface="Carlito"/>
              </a:rPr>
              <a:t>cl</a:t>
            </a:r>
            <a:r>
              <a:rPr sz="3000" spc="-10" dirty="0">
                <a:latin typeface="Carlito"/>
                <a:cs typeface="Carlito"/>
              </a:rPr>
              <a:t>e</a:t>
            </a:r>
            <a:r>
              <a:rPr sz="3000" spc="-5" dirty="0">
                <a:latin typeface="Carlito"/>
                <a:cs typeface="Carlito"/>
              </a:rPr>
              <a:t>u</a:t>
            </a:r>
            <a:r>
              <a:rPr sz="3000" dirty="0">
                <a:latin typeface="Carlito"/>
                <a:cs typeface="Carlito"/>
              </a:rPr>
              <a:t>s	</a:t>
            </a:r>
            <a:r>
              <a:rPr sz="3000" spc="-25" dirty="0">
                <a:latin typeface="Carlito"/>
                <a:cs typeface="Carlito"/>
              </a:rPr>
              <a:t>c</a:t>
            </a:r>
            <a:r>
              <a:rPr sz="3000" spc="-5" dirty="0">
                <a:latin typeface="Carlito"/>
                <a:cs typeface="Carlito"/>
              </a:rPr>
              <a:t>or</a:t>
            </a:r>
            <a:r>
              <a:rPr sz="3000" spc="-40" dirty="0">
                <a:latin typeface="Carlito"/>
                <a:cs typeface="Carlito"/>
              </a:rPr>
              <a:t>r</a:t>
            </a:r>
            <a:r>
              <a:rPr sz="3000" dirty="0">
                <a:latin typeface="Carlito"/>
                <a:cs typeface="Carlito"/>
              </a:rPr>
              <a:t>e</a:t>
            </a:r>
            <a:r>
              <a:rPr sz="3000" spc="-15" dirty="0">
                <a:latin typeface="Carlito"/>
                <a:cs typeface="Carlito"/>
              </a:rPr>
              <a:t>s</a:t>
            </a:r>
            <a:r>
              <a:rPr sz="3000" spc="-5" dirty="0">
                <a:latin typeface="Carlito"/>
                <a:cs typeface="Carlito"/>
              </a:rPr>
              <a:t>pond</a:t>
            </a:r>
            <a:r>
              <a:rPr sz="3000" dirty="0">
                <a:latin typeface="Carlito"/>
                <a:cs typeface="Carlito"/>
              </a:rPr>
              <a:t>s	</a:t>
            </a:r>
            <a:r>
              <a:rPr sz="3000" spc="-25" dirty="0">
                <a:latin typeface="Carlito"/>
                <a:cs typeface="Carlito"/>
              </a:rPr>
              <a:t>t</a:t>
            </a:r>
            <a:r>
              <a:rPr sz="3000" dirty="0">
                <a:latin typeface="Carlito"/>
                <a:cs typeface="Carlito"/>
              </a:rPr>
              <a:t>o	a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2889630"/>
            <a:ext cx="1355725" cy="8947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3240"/>
              </a:lnSpc>
              <a:spcBef>
                <a:spcPts val="505"/>
              </a:spcBef>
            </a:pPr>
            <a:r>
              <a:rPr sz="3000" spc="-10" dirty="0">
                <a:latin typeface="Carlito"/>
                <a:cs typeface="Carlito"/>
              </a:rPr>
              <a:t>certain  </a:t>
            </a:r>
            <a:r>
              <a:rPr sz="3000" dirty="0">
                <a:latin typeface="Carlito"/>
                <a:cs typeface="Carlito"/>
              </a:rPr>
              <a:t>adjace</a:t>
            </a:r>
            <a:r>
              <a:rPr sz="3000" spc="-40" dirty="0">
                <a:latin typeface="Carlito"/>
                <a:cs typeface="Carlito"/>
              </a:rPr>
              <a:t>n</a:t>
            </a:r>
            <a:r>
              <a:rPr sz="3000" dirty="0">
                <a:latin typeface="Carlito"/>
                <a:cs typeface="Carlito"/>
              </a:rPr>
              <a:t>t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5454" y="2889630"/>
            <a:ext cx="6372225" cy="8947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65430" marR="5080" indent="-253365">
              <a:lnSpc>
                <a:spcPts val="3240"/>
              </a:lnSpc>
              <a:spcBef>
                <a:spcPts val="505"/>
              </a:spcBef>
              <a:tabLst>
                <a:tab pos="1350645" algn="l"/>
                <a:tab pos="1403985" algn="l"/>
                <a:tab pos="2054860" algn="l"/>
                <a:tab pos="2413000" algn="l"/>
                <a:tab pos="3117215" algn="l"/>
                <a:tab pos="3274060" algn="l"/>
                <a:tab pos="3792854" algn="l"/>
                <a:tab pos="4193540" algn="l"/>
                <a:tab pos="4759325" algn="l"/>
                <a:tab pos="5611495" algn="l"/>
                <a:tab pos="5958840" algn="l"/>
              </a:tabLst>
            </a:pPr>
            <a:r>
              <a:rPr sz="3000" spc="-20" dirty="0">
                <a:latin typeface="Carlito"/>
                <a:cs typeface="Carlito"/>
              </a:rPr>
              <a:t>e</a:t>
            </a:r>
            <a:r>
              <a:rPr sz="3000" spc="-5" dirty="0">
                <a:latin typeface="Carlito"/>
                <a:cs typeface="Carlito"/>
              </a:rPr>
              <a:t>n</a:t>
            </a:r>
            <a:r>
              <a:rPr sz="3000" spc="-15" dirty="0">
                <a:latin typeface="Carlito"/>
                <a:cs typeface="Carlito"/>
              </a:rPr>
              <a:t>e</a:t>
            </a:r>
            <a:r>
              <a:rPr sz="3000" spc="-40" dirty="0">
                <a:latin typeface="Carlito"/>
                <a:cs typeface="Carlito"/>
              </a:rPr>
              <a:t>r</a:t>
            </a:r>
            <a:r>
              <a:rPr sz="3000" dirty="0">
                <a:latin typeface="Carlito"/>
                <a:cs typeface="Carlito"/>
              </a:rPr>
              <a:t>gy	</a:t>
            </a:r>
            <a:r>
              <a:rPr sz="3000" spc="-5" dirty="0">
                <a:latin typeface="Carlito"/>
                <a:cs typeface="Carlito"/>
              </a:rPr>
              <a:t>b</a:t>
            </a:r>
            <a:r>
              <a:rPr sz="3000" spc="-15" dirty="0">
                <a:latin typeface="Carlito"/>
                <a:cs typeface="Carlito"/>
              </a:rPr>
              <a:t>a</a:t>
            </a:r>
            <a:r>
              <a:rPr sz="3000" spc="-5" dirty="0">
                <a:latin typeface="Carlito"/>
                <a:cs typeface="Carlito"/>
              </a:rPr>
              <a:t>n</a:t>
            </a:r>
            <a:r>
              <a:rPr sz="3000" dirty="0">
                <a:latin typeface="Carlito"/>
                <a:cs typeface="Carlito"/>
              </a:rPr>
              <a:t>d	and		</a:t>
            </a:r>
            <a:r>
              <a:rPr sz="3000" spc="-5" dirty="0">
                <a:latin typeface="Carlito"/>
                <a:cs typeface="Carlito"/>
              </a:rPr>
              <a:t>i</a:t>
            </a:r>
            <a:r>
              <a:rPr sz="3000" dirty="0">
                <a:latin typeface="Carlito"/>
                <a:cs typeface="Carlito"/>
              </a:rPr>
              <a:t>s	</a:t>
            </a:r>
            <a:r>
              <a:rPr sz="3000" spc="-5" dirty="0">
                <a:latin typeface="Carlito"/>
                <a:cs typeface="Carlito"/>
              </a:rPr>
              <a:t>sepa</a:t>
            </a:r>
            <a:r>
              <a:rPr sz="3000" spc="-70" dirty="0">
                <a:latin typeface="Carlito"/>
                <a:cs typeface="Carlito"/>
              </a:rPr>
              <a:t>r</a:t>
            </a:r>
            <a:r>
              <a:rPr sz="3000" spc="-35" dirty="0">
                <a:latin typeface="Carlito"/>
                <a:cs typeface="Carlito"/>
              </a:rPr>
              <a:t>at</a:t>
            </a:r>
            <a:r>
              <a:rPr sz="3000" dirty="0">
                <a:latin typeface="Carlito"/>
                <a:cs typeface="Carlito"/>
              </a:rPr>
              <a:t>ed	</a:t>
            </a:r>
            <a:r>
              <a:rPr sz="3000" spc="-5" dirty="0">
                <a:latin typeface="Carlito"/>
                <a:cs typeface="Carlito"/>
              </a:rPr>
              <a:t>f</a:t>
            </a:r>
            <a:r>
              <a:rPr sz="3000" spc="-55" dirty="0">
                <a:latin typeface="Carlito"/>
                <a:cs typeface="Carlito"/>
              </a:rPr>
              <a:t>r</a:t>
            </a:r>
            <a:r>
              <a:rPr sz="3000" spc="-5" dirty="0">
                <a:latin typeface="Carlito"/>
                <a:cs typeface="Carlito"/>
              </a:rPr>
              <a:t>om  she</a:t>
            </a:r>
            <a:r>
              <a:rPr sz="3000" spc="-15" dirty="0">
                <a:latin typeface="Carlito"/>
                <a:cs typeface="Carlito"/>
              </a:rPr>
              <a:t>l</a:t>
            </a:r>
            <a:r>
              <a:rPr sz="3000" dirty="0">
                <a:latin typeface="Carlito"/>
                <a:cs typeface="Carlito"/>
              </a:rPr>
              <a:t>ls		</a:t>
            </a:r>
            <a:r>
              <a:rPr sz="3000" spc="-20" dirty="0">
                <a:latin typeface="Carlito"/>
                <a:cs typeface="Carlito"/>
              </a:rPr>
              <a:t>b</a:t>
            </a:r>
            <a:r>
              <a:rPr sz="3000" dirty="0">
                <a:latin typeface="Carlito"/>
                <a:cs typeface="Carlito"/>
              </a:rPr>
              <a:t>y	</a:t>
            </a:r>
            <a:r>
              <a:rPr sz="3000" spc="-5" dirty="0">
                <a:latin typeface="Carlito"/>
                <a:cs typeface="Carlito"/>
              </a:rPr>
              <a:t>ban</a:t>
            </a:r>
            <a:r>
              <a:rPr sz="3000" dirty="0">
                <a:latin typeface="Carlito"/>
                <a:cs typeface="Carlito"/>
              </a:rPr>
              <a:t>d	</a:t>
            </a:r>
            <a:r>
              <a:rPr sz="3000" spc="-60" dirty="0">
                <a:latin typeface="Carlito"/>
                <a:cs typeface="Carlito"/>
              </a:rPr>
              <a:t>g</a:t>
            </a:r>
            <a:r>
              <a:rPr sz="3000" dirty="0">
                <a:latin typeface="Carlito"/>
                <a:cs typeface="Carlito"/>
              </a:rPr>
              <a:t>a</a:t>
            </a:r>
            <a:r>
              <a:rPr sz="3000" spc="-15" dirty="0">
                <a:latin typeface="Carlito"/>
                <a:cs typeface="Carlito"/>
              </a:rPr>
              <a:t>p</a:t>
            </a:r>
            <a:r>
              <a:rPr sz="3000" spc="-5" dirty="0">
                <a:latin typeface="Carlito"/>
                <a:cs typeface="Carlito"/>
              </a:rPr>
              <a:t>s</a:t>
            </a:r>
            <a:r>
              <a:rPr sz="3000" dirty="0">
                <a:latin typeface="Carlito"/>
                <a:cs typeface="Carlito"/>
              </a:rPr>
              <a:t>,	</a:t>
            </a:r>
            <a:r>
              <a:rPr sz="3000" spc="-20" dirty="0">
                <a:latin typeface="Carlito"/>
                <a:cs typeface="Carlito"/>
              </a:rPr>
              <a:t>i</a:t>
            </a:r>
            <a:r>
              <a:rPr sz="3000" dirty="0">
                <a:latin typeface="Carlito"/>
                <a:cs typeface="Carlito"/>
              </a:rPr>
              <a:t>n	which	</a:t>
            </a:r>
            <a:r>
              <a:rPr sz="3000" spc="-5" dirty="0">
                <a:latin typeface="Carlito"/>
                <a:cs typeface="Carlito"/>
              </a:rPr>
              <a:t>no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667125"/>
            <a:ext cx="8072755" cy="22663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algn="just">
              <a:lnSpc>
                <a:spcPct val="100000"/>
              </a:lnSpc>
              <a:spcBef>
                <a:spcPts val="459"/>
              </a:spcBef>
            </a:pPr>
            <a:r>
              <a:rPr sz="3000" spc="-10" dirty="0">
                <a:latin typeface="Carlito"/>
                <a:cs typeface="Carlito"/>
              </a:rPr>
              <a:t>electrons can</a:t>
            </a:r>
            <a:r>
              <a:rPr sz="3000" spc="-25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exist.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9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Figure </a:t>
            </a:r>
            <a:r>
              <a:rPr sz="3000" spc="-10" dirty="0">
                <a:latin typeface="Carlito"/>
                <a:cs typeface="Carlito"/>
              </a:rPr>
              <a:t>shows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0" dirty="0">
                <a:latin typeface="Carlito"/>
                <a:cs typeface="Carlito"/>
              </a:rPr>
              <a:t>energy </a:t>
            </a:r>
            <a:r>
              <a:rPr sz="3000" spc="-5" dirty="0">
                <a:latin typeface="Carlito"/>
                <a:cs typeface="Carlito"/>
              </a:rPr>
              <a:t>band </a:t>
            </a:r>
            <a:r>
              <a:rPr sz="3000" spc="-15" dirty="0">
                <a:latin typeface="Carlito"/>
                <a:cs typeface="Carlito"/>
              </a:rPr>
              <a:t>diagram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0" dirty="0">
                <a:latin typeface="Carlito"/>
                <a:cs typeface="Carlito"/>
              </a:rPr>
              <a:t>an  </a:t>
            </a:r>
            <a:r>
              <a:rPr sz="3000" spc="-25" dirty="0">
                <a:latin typeface="Carlito"/>
                <a:cs typeface="Carlito"/>
              </a:rPr>
              <a:t>unexcited </a:t>
            </a:r>
            <a:r>
              <a:rPr sz="3000" spc="-5" dirty="0">
                <a:latin typeface="Carlito"/>
                <a:cs typeface="Carlito"/>
              </a:rPr>
              <a:t>(no </a:t>
            </a:r>
            <a:r>
              <a:rPr sz="3000" spc="-15" dirty="0">
                <a:latin typeface="Carlito"/>
                <a:cs typeface="Carlito"/>
              </a:rPr>
              <a:t>external energy </a:t>
            </a:r>
            <a:r>
              <a:rPr sz="3000" spc="-5" dirty="0">
                <a:latin typeface="Carlito"/>
                <a:cs typeface="Carlito"/>
              </a:rPr>
              <a:t>such </a:t>
            </a:r>
            <a:r>
              <a:rPr sz="3000" spc="-10" dirty="0">
                <a:latin typeface="Carlito"/>
                <a:cs typeface="Carlito"/>
              </a:rPr>
              <a:t>as heat) </a:t>
            </a:r>
            <a:r>
              <a:rPr sz="3000" spc="-20" dirty="0">
                <a:latin typeface="Carlito"/>
                <a:cs typeface="Carlito"/>
              </a:rPr>
              <a:t>atom 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pure </a:t>
            </a:r>
            <a:r>
              <a:rPr sz="3000" spc="-10" dirty="0">
                <a:latin typeface="Carlito"/>
                <a:cs typeface="Carlito"/>
              </a:rPr>
              <a:t>silicon </a:t>
            </a:r>
            <a:r>
              <a:rPr sz="3000" spc="-15" dirty="0">
                <a:latin typeface="Carlito"/>
                <a:cs typeface="Carlito"/>
              </a:rPr>
              <a:t>crystal. </a:t>
            </a:r>
            <a:r>
              <a:rPr sz="3000" spc="-5" dirty="0">
                <a:latin typeface="Carlito"/>
                <a:cs typeface="Carlito"/>
              </a:rPr>
              <a:t>This </a:t>
            </a:r>
            <a:r>
              <a:rPr sz="3000" spc="-10" dirty="0">
                <a:latin typeface="Carlito"/>
                <a:cs typeface="Carlito"/>
              </a:rPr>
              <a:t>condition </a:t>
            </a:r>
            <a:r>
              <a:rPr sz="3000" spc="-15" dirty="0">
                <a:latin typeface="Carlito"/>
                <a:cs typeface="Carlito"/>
              </a:rPr>
              <a:t>occurs </a:t>
            </a:r>
            <a:r>
              <a:rPr sz="3000" i="1" spc="-10" dirty="0">
                <a:latin typeface="Carlito"/>
                <a:cs typeface="Carlito"/>
              </a:rPr>
              <a:t>only  </a:t>
            </a:r>
            <a:r>
              <a:rPr sz="3000" spc="-15" dirty="0">
                <a:latin typeface="Carlito"/>
                <a:cs typeface="Carlito"/>
              </a:rPr>
              <a:t>at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20" dirty="0">
                <a:latin typeface="Carlito"/>
                <a:cs typeface="Carlito"/>
              </a:rPr>
              <a:t>temperature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5" dirty="0">
                <a:latin typeface="Carlito"/>
                <a:cs typeface="Carlito"/>
              </a:rPr>
              <a:t>absolute </a:t>
            </a:r>
            <a:r>
              <a:rPr sz="3000" dirty="0">
                <a:latin typeface="Carlito"/>
                <a:cs typeface="Carlito"/>
              </a:rPr>
              <a:t>0</a:t>
            </a:r>
            <a:r>
              <a:rPr sz="3000" spc="-4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Kelvin.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726" y="0"/>
            <a:ext cx="782828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Energy </a:t>
            </a:r>
            <a:r>
              <a:rPr spc="-10" dirty="0"/>
              <a:t>band </a:t>
            </a:r>
            <a:r>
              <a:rPr spc="-20" dirty="0"/>
              <a:t>diagram </a:t>
            </a:r>
            <a:r>
              <a:rPr spc="-35" dirty="0"/>
              <a:t>for </a:t>
            </a:r>
            <a:r>
              <a:rPr spc="-5" dirty="0"/>
              <a:t>an </a:t>
            </a:r>
            <a:r>
              <a:rPr spc="-25" dirty="0"/>
              <a:t>unexcited  atom </a:t>
            </a:r>
            <a:r>
              <a:rPr spc="-10" dirty="0"/>
              <a:t>in </a:t>
            </a:r>
            <a:r>
              <a:rPr spc="-5" dirty="0"/>
              <a:t>a </a:t>
            </a:r>
            <a:r>
              <a:rPr spc="-20" dirty="0"/>
              <a:t>pure </a:t>
            </a:r>
            <a:r>
              <a:rPr spc="-10" dirty="0"/>
              <a:t>(intrinsic) </a:t>
            </a:r>
            <a:r>
              <a:rPr spc="-15" dirty="0"/>
              <a:t>silicon  crystal.</a:t>
            </a:r>
          </a:p>
        </p:txBody>
      </p:sp>
      <p:sp>
        <p:nvSpPr>
          <p:cNvPr id="3" name="object 3"/>
          <p:cNvSpPr/>
          <p:nvPr/>
        </p:nvSpPr>
        <p:spPr>
          <a:xfrm>
            <a:off x="2590800" y="1761744"/>
            <a:ext cx="4038600" cy="4486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8334" y="405511"/>
            <a:ext cx="72402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Conduction </a:t>
            </a:r>
            <a:r>
              <a:rPr sz="4400" spc="-15" dirty="0"/>
              <a:t>Electrons </a:t>
            </a:r>
            <a:r>
              <a:rPr sz="4400" dirty="0"/>
              <a:t>and</a:t>
            </a:r>
            <a:r>
              <a:rPr sz="4400" spc="20" dirty="0"/>
              <a:t> </a:t>
            </a:r>
            <a:r>
              <a:rPr sz="4400" spc="-5" dirty="0"/>
              <a:t>Holes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156461"/>
            <a:ext cx="807402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An </a:t>
            </a:r>
            <a:r>
              <a:rPr sz="2400" spc="-5" dirty="0">
                <a:latin typeface="Carlito"/>
                <a:cs typeface="Carlito"/>
              </a:rPr>
              <a:t>intrinsic </a:t>
            </a:r>
            <a:r>
              <a:rPr sz="2400" spc="-10" dirty="0">
                <a:latin typeface="Carlito"/>
                <a:cs typeface="Carlito"/>
              </a:rPr>
              <a:t>(pure) silicon crystal </a:t>
            </a:r>
            <a:r>
              <a:rPr sz="2400" spc="-20" dirty="0">
                <a:latin typeface="Carlito"/>
                <a:cs typeface="Carlito"/>
              </a:rPr>
              <a:t>at </a:t>
            </a:r>
            <a:r>
              <a:rPr sz="2400" spc="-15" dirty="0">
                <a:latin typeface="Carlito"/>
                <a:cs typeface="Carlito"/>
              </a:rPr>
              <a:t>room temperature </a:t>
            </a:r>
            <a:r>
              <a:rPr sz="2400" spc="-5" dirty="0">
                <a:latin typeface="Carlito"/>
                <a:cs typeface="Carlito"/>
              </a:rPr>
              <a:t>has  </a:t>
            </a:r>
            <a:r>
              <a:rPr sz="2400" spc="-10" dirty="0">
                <a:latin typeface="Carlito"/>
                <a:cs typeface="Carlito"/>
              </a:rPr>
              <a:t>sufficient </a:t>
            </a:r>
            <a:r>
              <a:rPr sz="2400" spc="-5" dirty="0">
                <a:latin typeface="Carlito"/>
                <a:cs typeface="Carlito"/>
              </a:rPr>
              <a:t>heat (thermal) energy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some </a:t>
            </a:r>
            <a:r>
              <a:rPr sz="2400" spc="-10" dirty="0">
                <a:latin typeface="Carlito"/>
                <a:cs typeface="Carlito"/>
              </a:rPr>
              <a:t>valence </a:t>
            </a:r>
            <a:r>
              <a:rPr sz="2400" spc="-5" dirty="0">
                <a:latin typeface="Carlito"/>
                <a:cs typeface="Carlito"/>
              </a:rPr>
              <a:t>electrons </a:t>
            </a:r>
            <a:r>
              <a:rPr sz="2400" spc="-40" dirty="0">
                <a:latin typeface="Carlito"/>
                <a:cs typeface="Carlito"/>
              </a:rPr>
              <a:t>to  </a:t>
            </a:r>
            <a:r>
              <a:rPr sz="2400" spc="-5" dirty="0">
                <a:latin typeface="Carlito"/>
                <a:cs typeface="Carlito"/>
              </a:rPr>
              <a:t>jump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5" dirty="0">
                <a:latin typeface="Carlito"/>
                <a:cs typeface="Carlito"/>
              </a:rPr>
              <a:t>gap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valence </a:t>
            </a:r>
            <a:r>
              <a:rPr sz="2400" spc="-5" dirty="0">
                <a:latin typeface="Carlito"/>
                <a:cs typeface="Carlito"/>
              </a:rPr>
              <a:t>band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conduction  </a:t>
            </a:r>
            <a:r>
              <a:rPr sz="2400" spc="-5" dirty="0">
                <a:latin typeface="Carlito"/>
                <a:cs typeface="Carlito"/>
              </a:rPr>
              <a:t>band, becoming </a:t>
            </a:r>
            <a:r>
              <a:rPr sz="2400" spc="-10" dirty="0">
                <a:latin typeface="Carlito"/>
                <a:cs typeface="Carlito"/>
              </a:rPr>
              <a:t>free </a:t>
            </a:r>
            <a:r>
              <a:rPr sz="2400" spc="-5" dirty="0">
                <a:latin typeface="Carlito"/>
                <a:cs typeface="Carlito"/>
              </a:rPr>
              <a:t>electrons. </a:t>
            </a:r>
            <a:r>
              <a:rPr sz="2400" spc="-10" dirty="0">
                <a:latin typeface="Carlito"/>
                <a:cs typeface="Carlito"/>
              </a:rPr>
              <a:t>Free electrons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called  </a:t>
            </a:r>
            <a:r>
              <a:rPr sz="2400" b="1" spc="-5" dirty="0">
                <a:latin typeface="Carlito"/>
                <a:cs typeface="Carlito"/>
              </a:rPr>
              <a:t>conduction electrons. </a:t>
            </a:r>
            <a:r>
              <a:rPr sz="2400" spc="-5" dirty="0">
                <a:latin typeface="Carlito"/>
                <a:cs typeface="Carlito"/>
              </a:rPr>
              <a:t>This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illustrated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10" dirty="0">
                <a:latin typeface="Carlito"/>
                <a:cs typeface="Carlito"/>
              </a:rPr>
              <a:t>energy </a:t>
            </a:r>
            <a:r>
              <a:rPr sz="2400" spc="-15" dirty="0">
                <a:latin typeface="Carlito"/>
                <a:cs typeface="Carlito"/>
              </a:rPr>
              <a:t>diagram 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Figure </a:t>
            </a:r>
            <a:r>
              <a:rPr sz="2400" spc="-5" dirty="0">
                <a:latin typeface="Carlito"/>
                <a:cs typeface="Carlito"/>
              </a:rPr>
              <a:t>(a) </a:t>
            </a:r>
            <a:r>
              <a:rPr sz="2400" dirty="0">
                <a:latin typeface="Carlito"/>
                <a:cs typeface="Carlito"/>
              </a:rPr>
              <a:t>and in the </a:t>
            </a:r>
            <a:r>
              <a:rPr sz="2400" spc="-5" dirty="0">
                <a:latin typeface="Carlito"/>
                <a:cs typeface="Carlito"/>
              </a:rPr>
              <a:t>bonding </a:t>
            </a:r>
            <a:r>
              <a:rPr sz="2400" spc="-10" dirty="0">
                <a:latin typeface="Carlito"/>
                <a:cs typeface="Carlito"/>
              </a:rPr>
              <a:t>diagram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Figure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(b).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3429000"/>
            <a:ext cx="6015228" cy="2910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165" marR="5080" indent="-24403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Conduction </a:t>
            </a:r>
            <a:r>
              <a:rPr spc="-15" dirty="0"/>
              <a:t>Electrons </a:t>
            </a:r>
            <a:r>
              <a:rPr spc="-5" dirty="0"/>
              <a:t>and </a:t>
            </a:r>
            <a:r>
              <a:rPr spc="-10" dirty="0"/>
              <a:t>Holes  </a:t>
            </a:r>
            <a:r>
              <a:rPr spc="-15" dirty="0"/>
              <a:t>(Contd.)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5749"/>
            <a:ext cx="8074025" cy="41167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indent="-342900">
              <a:lnSpc>
                <a:spcPts val="2375"/>
              </a:lnSpc>
              <a:spcBef>
                <a:spcPts val="95"/>
              </a:spcBef>
              <a:buFont typeface="Arial"/>
              <a:buChar char="•"/>
              <a:tabLst>
                <a:tab pos="342900" algn="l"/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When an </a:t>
            </a:r>
            <a:r>
              <a:rPr sz="2200" spc="-10" dirty="0">
                <a:latin typeface="Carlito"/>
                <a:cs typeface="Carlito"/>
              </a:rPr>
              <a:t>electron jumps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conduction band,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5" dirty="0">
                <a:latin typeface="Carlito"/>
                <a:cs typeface="Carlito"/>
              </a:rPr>
              <a:t>vacancy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left</a:t>
            </a:r>
            <a:r>
              <a:rPr sz="2200" spc="415" dirty="0">
                <a:latin typeface="Carlito"/>
                <a:cs typeface="Carlito"/>
              </a:rPr>
              <a:t> </a:t>
            </a:r>
            <a:r>
              <a:rPr sz="2200" spc="5" dirty="0">
                <a:latin typeface="Carlito"/>
                <a:cs typeface="Carlito"/>
              </a:rPr>
              <a:t>in</a:t>
            </a:r>
            <a:endParaRPr sz="2200">
              <a:latin typeface="Carlito"/>
              <a:cs typeface="Carlito"/>
            </a:endParaRPr>
          </a:p>
          <a:p>
            <a:pPr marR="52705" algn="ctr">
              <a:lnSpc>
                <a:spcPts val="2375"/>
              </a:lnSpc>
            </a:pP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valence </a:t>
            </a:r>
            <a:r>
              <a:rPr sz="2200" spc="-5" dirty="0">
                <a:latin typeface="Carlito"/>
                <a:cs typeface="Carlito"/>
              </a:rPr>
              <a:t>band within the </a:t>
            </a:r>
            <a:r>
              <a:rPr sz="2200" spc="-10" dirty="0">
                <a:latin typeface="Carlito"/>
                <a:cs typeface="Carlito"/>
              </a:rPr>
              <a:t>crystal. </a:t>
            </a:r>
            <a:r>
              <a:rPr sz="2200" spc="-5" dirty="0">
                <a:latin typeface="Carlito"/>
                <a:cs typeface="Carlito"/>
              </a:rPr>
              <a:t>This </a:t>
            </a:r>
            <a:r>
              <a:rPr sz="2200" spc="-10" dirty="0">
                <a:latin typeface="Carlito"/>
                <a:cs typeface="Carlito"/>
              </a:rPr>
              <a:t>vacancy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called 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b="1" spc="-5" dirty="0">
                <a:latin typeface="Carlito"/>
                <a:cs typeface="Carlito"/>
              </a:rPr>
              <a:t>hole</a:t>
            </a:r>
            <a:r>
              <a:rPr sz="2200" spc="-5" dirty="0">
                <a:latin typeface="Carlito"/>
                <a:cs typeface="Carlito"/>
              </a:rPr>
              <a:t>.</a:t>
            </a:r>
            <a:endParaRPr sz="2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For </a:t>
            </a:r>
            <a:r>
              <a:rPr sz="2200" spc="-10" dirty="0">
                <a:latin typeface="Carlito"/>
                <a:cs typeface="Carlito"/>
              </a:rPr>
              <a:t>every electron raised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conduction band by external  </a:t>
            </a:r>
            <a:r>
              <a:rPr sz="2200" spc="-30" dirty="0">
                <a:latin typeface="Carlito"/>
                <a:cs typeface="Carlito"/>
              </a:rPr>
              <a:t>energy, </a:t>
            </a:r>
            <a:r>
              <a:rPr sz="2200" spc="-10" dirty="0">
                <a:latin typeface="Carlito"/>
                <a:cs typeface="Carlito"/>
              </a:rPr>
              <a:t>there </a:t>
            </a:r>
            <a:r>
              <a:rPr sz="2200" spc="-5" dirty="0">
                <a:latin typeface="Carlito"/>
                <a:cs typeface="Carlito"/>
              </a:rPr>
              <a:t>is one </a:t>
            </a:r>
            <a:r>
              <a:rPr sz="2200" spc="-10" dirty="0">
                <a:latin typeface="Carlito"/>
                <a:cs typeface="Carlito"/>
              </a:rPr>
              <a:t>hole left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0" dirty="0">
                <a:latin typeface="Carlito"/>
                <a:cs typeface="Carlito"/>
              </a:rPr>
              <a:t>valence band, creating what </a:t>
            </a:r>
            <a:r>
              <a:rPr sz="2200" spc="-20" dirty="0">
                <a:latin typeface="Carlito"/>
                <a:cs typeface="Carlito"/>
              </a:rPr>
              <a:t>is  </a:t>
            </a:r>
            <a:r>
              <a:rPr sz="2200" spc="-10" dirty="0">
                <a:latin typeface="Carlito"/>
                <a:cs typeface="Carlito"/>
              </a:rPr>
              <a:t>called </a:t>
            </a:r>
            <a:r>
              <a:rPr sz="2200" spc="-5" dirty="0">
                <a:latin typeface="Carlito"/>
                <a:cs typeface="Carlito"/>
              </a:rPr>
              <a:t>an </a:t>
            </a:r>
            <a:r>
              <a:rPr sz="2200" b="1" spc="-10" dirty="0">
                <a:latin typeface="Carlito"/>
                <a:cs typeface="Carlito"/>
              </a:rPr>
              <a:t>electron-hole</a:t>
            </a:r>
            <a:r>
              <a:rPr sz="2200" b="1" spc="55" dirty="0">
                <a:latin typeface="Carlito"/>
                <a:cs typeface="Carlito"/>
              </a:rPr>
              <a:t> </a:t>
            </a:r>
            <a:r>
              <a:rPr sz="2200" b="1" spc="-45" dirty="0">
                <a:latin typeface="Carlito"/>
                <a:cs typeface="Carlito"/>
              </a:rPr>
              <a:t>pair.</a:t>
            </a:r>
            <a:endParaRPr sz="2200">
              <a:latin typeface="Carlito"/>
              <a:cs typeface="Carlito"/>
            </a:endParaRPr>
          </a:p>
          <a:p>
            <a:pPr marL="355600" indent="-343535" algn="just">
              <a:lnSpc>
                <a:spcPts val="2375"/>
              </a:lnSpc>
              <a:buFont typeface="Arial"/>
              <a:buChar char="•"/>
              <a:tabLst>
                <a:tab pos="356235" algn="l"/>
              </a:tabLst>
            </a:pPr>
            <a:r>
              <a:rPr sz="2200" b="1" spc="-10" dirty="0">
                <a:latin typeface="Carlito"/>
                <a:cs typeface="Carlito"/>
              </a:rPr>
              <a:t>Recombination </a:t>
            </a:r>
            <a:r>
              <a:rPr sz="2200" spc="-15" dirty="0">
                <a:latin typeface="Carlito"/>
                <a:cs typeface="Carlito"/>
              </a:rPr>
              <a:t>occurs </a:t>
            </a:r>
            <a:r>
              <a:rPr sz="2200" spc="-5" dirty="0">
                <a:latin typeface="Carlito"/>
                <a:cs typeface="Carlito"/>
              </a:rPr>
              <a:t>when a </a:t>
            </a:r>
            <a:r>
              <a:rPr sz="2200" spc="-10" dirty="0">
                <a:latin typeface="Carlito"/>
                <a:cs typeface="Carlito"/>
              </a:rPr>
              <a:t>conduction-band electron</a:t>
            </a:r>
            <a:r>
              <a:rPr sz="2200" spc="19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loses</a:t>
            </a:r>
            <a:endParaRPr sz="2200">
              <a:latin typeface="Carlito"/>
              <a:cs typeface="Carlito"/>
            </a:endParaRPr>
          </a:p>
          <a:p>
            <a:pPr marL="355600" algn="just">
              <a:lnSpc>
                <a:spcPts val="2375"/>
              </a:lnSpc>
            </a:pPr>
            <a:r>
              <a:rPr sz="2200" spc="-10" dirty="0">
                <a:latin typeface="Carlito"/>
                <a:cs typeface="Carlito"/>
              </a:rPr>
              <a:t>energy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falls </a:t>
            </a:r>
            <a:r>
              <a:rPr sz="2200" spc="-5" dirty="0">
                <a:latin typeface="Carlito"/>
                <a:cs typeface="Carlito"/>
              </a:rPr>
              <a:t>back </a:t>
            </a:r>
            <a:r>
              <a:rPr sz="2200" spc="-20" dirty="0">
                <a:latin typeface="Carlito"/>
                <a:cs typeface="Carlito"/>
              </a:rPr>
              <a:t>into </a:t>
            </a:r>
            <a:r>
              <a:rPr sz="2200" spc="-5" dirty="0">
                <a:latin typeface="Carlito"/>
                <a:cs typeface="Carlito"/>
              </a:rPr>
              <a:t>a hole in the </a:t>
            </a:r>
            <a:r>
              <a:rPr sz="2200" spc="-10" dirty="0">
                <a:latin typeface="Carlito"/>
                <a:cs typeface="Carlito"/>
              </a:rPr>
              <a:t>valence</a:t>
            </a:r>
            <a:r>
              <a:rPr sz="2200" spc="7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band.</a:t>
            </a:r>
            <a:endParaRPr sz="2200">
              <a:latin typeface="Carlito"/>
              <a:cs typeface="Carlito"/>
            </a:endParaRPr>
          </a:p>
          <a:p>
            <a:pPr marL="355600" marR="5080" indent="-343535" algn="just">
              <a:lnSpc>
                <a:spcPts val="2110"/>
              </a:lnSpc>
              <a:spcBef>
                <a:spcPts val="51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0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summarize,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piece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intrinsic </a:t>
            </a:r>
            <a:r>
              <a:rPr sz="2200" spc="-10" dirty="0">
                <a:latin typeface="Carlito"/>
                <a:cs typeface="Carlito"/>
              </a:rPr>
              <a:t>silicon </a:t>
            </a:r>
            <a:r>
              <a:rPr sz="2200" spc="-15" dirty="0">
                <a:latin typeface="Carlito"/>
                <a:cs typeface="Carlito"/>
              </a:rPr>
              <a:t>at room temperature </a:t>
            </a:r>
            <a:r>
              <a:rPr sz="2200" dirty="0">
                <a:latin typeface="Carlito"/>
                <a:cs typeface="Carlito"/>
              </a:rPr>
              <a:t>has,  </a:t>
            </a:r>
            <a:r>
              <a:rPr sz="2200" spc="-15" dirty="0">
                <a:latin typeface="Carlito"/>
                <a:cs typeface="Carlito"/>
              </a:rPr>
              <a:t>at any instant, </a:t>
            </a:r>
            <a:r>
              <a:rPr sz="2200" spc="-5" dirty="0">
                <a:latin typeface="Carlito"/>
                <a:cs typeface="Carlito"/>
              </a:rPr>
              <a:t>a number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conduction-band (free) electrons that  are </a:t>
            </a:r>
            <a:r>
              <a:rPr sz="2200" spc="-15" dirty="0">
                <a:latin typeface="Carlito"/>
                <a:cs typeface="Carlito"/>
              </a:rPr>
              <a:t>unattached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any atom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are </a:t>
            </a:r>
            <a:r>
              <a:rPr sz="2200" spc="-5" dirty="0">
                <a:latin typeface="Carlito"/>
                <a:cs typeface="Carlito"/>
              </a:rPr>
              <a:t>essentially </a:t>
            </a:r>
            <a:r>
              <a:rPr sz="2200" spc="-10" dirty="0">
                <a:latin typeface="Carlito"/>
                <a:cs typeface="Carlito"/>
              </a:rPr>
              <a:t>drifting randomly  throughout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material.</a:t>
            </a:r>
            <a:endParaRPr sz="2200">
              <a:latin typeface="Carlito"/>
              <a:cs typeface="Carlito"/>
            </a:endParaRPr>
          </a:p>
          <a:p>
            <a:pPr marL="355600" marR="6985" indent="-343535" algn="just">
              <a:lnSpc>
                <a:spcPct val="80000"/>
              </a:lnSpc>
              <a:spcBef>
                <a:spcPts val="55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There </a:t>
            </a:r>
            <a:r>
              <a:rPr sz="2200" spc="-5" dirty="0">
                <a:latin typeface="Carlito"/>
                <a:cs typeface="Carlito"/>
              </a:rPr>
              <a:t>is also </a:t>
            </a:r>
            <a:r>
              <a:rPr sz="2200" dirty="0">
                <a:latin typeface="Carlito"/>
                <a:cs typeface="Carlito"/>
              </a:rPr>
              <a:t>an </a:t>
            </a:r>
            <a:r>
              <a:rPr sz="2200" spc="-5" dirty="0">
                <a:latin typeface="Carlito"/>
                <a:cs typeface="Carlito"/>
              </a:rPr>
              <a:t>equal </a:t>
            </a:r>
            <a:r>
              <a:rPr sz="2200" spc="-10" dirty="0">
                <a:latin typeface="Carlito"/>
                <a:cs typeface="Carlito"/>
              </a:rPr>
              <a:t>number </a:t>
            </a:r>
            <a:r>
              <a:rPr sz="2200" spc="-5" dirty="0">
                <a:latin typeface="Carlito"/>
                <a:cs typeface="Carlito"/>
              </a:rPr>
              <a:t>of holes in the </a:t>
            </a:r>
            <a:r>
              <a:rPr sz="2200" spc="-10" dirty="0">
                <a:latin typeface="Carlito"/>
                <a:cs typeface="Carlito"/>
              </a:rPr>
              <a:t>valence </a:t>
            </a:r>
            <a:r>
              <a:rPr sz="2200" spc="-5" dirty="0">
                <a:latin typeface="Carlito"/>
                <a:cs typeface="Carlito"/>
              </a:rPr>
              <a:t>band </a:t>
            </a:r>
            <a:r>
              <a:rPr sz="2200" spc="-15" dirty="0">
                <a:latin typeface="Carlito"/>
                <a:cs typeface="Carlito"/>
              </a:rPr>
              <a:t>created  </a:t>
            </a:r>
            <a:r>
              <a:rPr sz="2200" spc="-5" dirty="0">
                <a:latin typeface="Carlito"/>
                <a:cs typeface="Carlito"/>
              </a:rPr>
              <a:t>when these </a:t>
            </a:r>
            <a:r>
              <a:rPr sz="2200" spc="-10" dirty="0">
                <a:latin typeface="Carlito"/>
                <a:cs typeface="Carlito"/>
              </a:rPr>
              <a:t>electrons jump </a:t>
            </a:r>
            <a:r>
              <a:rPr sz="2200" spc="-20" dirty="0">
                <a:latin typeface="Carlito"/>
                <a:cs typeface="Carlito"/>
              </a:rPr>
              <a:t>into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conduction </a:t>
            </a:r>
            <a:r>
              <a:rPr sz="2200" spc="-5" dirty="0">
                <a:latin typeface="Carlito"/>
                <a:cs typeface="Carlito"/>
              </a:rPr>
              <a:t>band. </a:t>
            </a:r>
            <a:r>
              <a:rPr sz="2200" spc="-10" dirty="0">
                <a:latin typeface="Carlito"/>
                <a:cs typeface="Carlito"/>
              </a:rPr>
              <a:t>This </a:t>
            </a:r>
            <a:r>
              <a:rPr sz="2200" spc="-5" dirty="0">
                <a:latin typeface="Carlito"/>
                <a:cs typeface="Carlito"/>
              </a:rPr>
              <a:t>is  </a:t>
            </a:r>
            <a:r>
              <a:rPr sz="2200" spc="-15" dirty="0">
                <a:latin typeface="Carlito"/>
                <a:cs typeface="Carlito"/>
              </a:rPr>
              <a:t>illustrated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5" dirty="0">
                <a:latin typeface="Carlito"/>
                <a:cs typeface="Carlito"/>
              </a:rPr>
              <a:t>next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Figure.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4627" y="1360932"/>
            <a:ext cx="7062216" cy="4995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98165" marR="5080" indent="-24403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Conduction </a:t>
            </a:r>
            <a:r>
              <a:rPr spc="-15" dirty="0"/>
              <a:t>Electrons </a:t>
            </a:r>
            <a:r>
              <a:rPr spc="-5" dirty="0"/>
              <a:t>and </a:t>
            </a:r>
            <a:r>
              <a:rPr spc="-10" dirty="0"/>
              <a:t>Holes  </a:t>
            </a:r>
            <a:r>
              <a:rPr spc="-15" dirty="0"/>
              <a:t>(Contd.)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0622" y="405511"/>
            <a:ext cx="37592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Electron</a:t>
            </a:r>
            <a:r>
              <a:rPr sz="4400" spc="-55" dirty="0"/>
              <a:t> </a:t>
            </a:r>
            <a:r>
              <a:rPr sz="4400" spc="-15" dirty="0"/>
              <a:t>Current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10309"/>
            <a:ext cx="8074025" cy="3439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5" dirty="0">
                <a:latin typeface="Carlito"/>
                <a:cs typeface="Carlito"/>
              </a:rPr>
              <a:t>When a </a:t>
            </a:r>
            <a:r>
              <a:rPr sz="2800" spc="-15" dirty="0">
                <a:latin typeface="Carlito"/>
                <a:cs typeface="Carlito"/>
              </a:rPr>
              <a:t>voltage </a:t>
            </a:r>
            <a:r>
              <a:rPr sz="2800" spc="-10" dirty="0">
                <a:latin typeface="Carlito"/>
                <a:cs typeface="Carlito"/>
              </a:rPr>
              <a:t>is </a:t>
            </a:r>
            <a:r>
              <a:rPr sz="2800" spc="-5" dirty="0">
                <a:latin typeface="Carlito"/>
                <a:cs typeface="Carlito"/>
              </a:rPr>
              <a:t>applied </a:t>
            </a:r>
            <a:r>
              <a:rPr sz="2800" spc="-10" dirty="0">
                <a:latin typeface="Carlito"/>
                <a:cs typeface="Carlito"/>
              </a:rPr>
              <a:t>across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piece </a:t>
            </a:r>
            <a:r>
              <a:rPr sz="2800" spc="-5" dirty="0">
                <a:latin typeface="Carlito"/>
                <a:cs typeface="Carlito"/>
              </a:rPr>
              <a:t>of intrinsic  </a:t>
            </a:r>
            <a:r>
              <a:rPr sz="2800" spc="-10" dirty="0">
                <a:latin typeface="Carlito"/>
                <a:cs typeface="Carlito"/>
              </a:rPr>
              <a:t>silicon, </a:t>
            </a:r>
            <a:r>
              <a:rPr sz="2800" spc="-5" dirty="0">
                <a:latin typeface="Carlito"/>
                <a:cs typeface="Carlito"/>
              </a:rPr>
              <a:t>as </a:t>
            </a:r>
            <a:r>
              <a:rPr sz="2800" spc="-10" dirty="0">
                <a:latin typeface="Carlito"/>
                <a:cs typeface="Carlito"/>
              </a:rPr>
              <a:t>shown </a:t>
            </a:r>
            <a:r>
              <a:rPr sz="2800" dirty="0">
                <a:latin typeface="Carlito"/>
                <a:cs typeface="Carlito"/>
              </a:rPr>
              <a:t>in </a:t>
            </a:r>
            <a:r>
              <a:rPr sz="2800" spc="-15" dirty="0">
                <a:latin typeface="Carlito"/>
                <a:cs typeface="Carlito"/>
              </a:rPr>
              <a:t>Figure, </a:t>
            </a:r>
            <a:r>
              <a:rPr sz="2800" spc="-5" dirty="0">
                <a:latin typeface="Carlito"/>
                <a:cs typeface="Carlito"/>
              </a:rPr>
              <a:t>the thermally </a:t>
            </a:r>
            <a:r>
              <a:rPr sz="2800" spc="-20" dirty="0">
                <a:latin typeface="Carlito"/>
                <a:cs typeface="Carlito"/>
              </a:rPr>
              <a:t>generated  </a:t>
            </a:r>
            <a:r>
              <a:rPr sz="2800" spc="-15" dirty="0">
                <a:latin typeface="Carlito"/>
                <a:cs typeface="Carlito"/>
              </a:rPr>
              <a:t>free </a:t>
            </a:r>
            <a:r>
              <a:rPr sz="2800" spc="-10" dirty="0">
                <a:latin typeface="Carlito"/>
                <a:cs typeface="Carlito"/>
              </a:rPr>
              <a:t>electrons </a:t>
            </a:r>
            <a:r>
              <a:rPr sz="2800" dirty="0">
                <a:latin typeface="Carlito"/>
                <a:cs typeface="Carlito"/>
              </a:rPr>
              <a:t>in </a:t>
            </a:r>
            <a:r>
              <a:rPr sz="2800" spc="-5" dirty="0">
                <a:latin typeface="Carlito"/>
                <a:cs typeface="Carlito"/>
              </a:rPr>
              <a:t>the conduction band, which </a:t>
            </a:r>
            <a:r>
              <a:rPr sz="2800" spc="-20" dirty="0">
                <a:latin typeface="Carlito"/>
                <a:cs typeface="Carlito"/>
              </a:rPr>
              <a:t>are </a:t>
            </a:r>
            <a:r>
              <a:rPr sz="2800" spc="-15" dirty="0">
                <a:latin typeface="Carlito"/>
                <a:cs typeface="Carlito"/>
              </a:rPr>
              <a:t>free  to move </a:t>
            </a:r>
            <a:r>
              <a:rPr sz="2800" spc="-10" dirty="0">
                <a:latin typeface="Carlito"/>
                <a:cs typeface="Carlito"/>
              </a:rPr>
              <a:t>randomly </a:t>
            </a:r>
            <a:r>
              <a:rPr sz="2800" dirty="0">
                <a:latin typeface="Carlito"/>
                <a:cs typeface="Carlito"/>
              </a:rPr>
              <a:t>in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crystal </a:t>
            </a:r>
            <a:r>
              <a:rPr sz="2800" spc="-10" dirty="0">
                <a:latin typeface="Carlito"/>
                <a:cs typeface="Carlito"/>
              </a:rPr>
              <a:t>structure,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now  </a:t>
            </a:r>
            <a:r>
              <a:rPr sz="2800" spc="-5" dirty="0">
                <a:latin typeface="Carlito"/>
                <a:cs typeface="Carlito"/>
              </a:rPr>
              <a:t>easily </a:t>
            </a:r>
            <a:r>
              <a:rPr sz="2800" spc="-20" dirty="0">
                <a:latin typeface="Carlito"/>
                <a:cs typeface="Carlito"/>
              </a:rPr>
              <a:t>attracted </a:t>
            </a:r>
            <a:r>
              <a:rPr sz="2800" spc="-25" dirty="0">
                <a:latin typeface="Carlito"/>
                <a:cs typeface="Carlito"/>
              </a:rPr>
              <a:t>toward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positive </a:t>
            </a:r>
            <a:r>
              <a:rPr sz="2800" spc="-5" dirty="0">
                <a:latin typeface="Carlito"/>
                <a:cs typeface="Carlito"/>
              </a:rPr>
              <a:t>end. </a:t>
            </a:r>
            <a:r>
              <a:rPr sz="2800" spc="-10" dirty="0">
                <a:latin typeface="Carlito"/>
                <a:cs typeface="Carlito"/>
              </a:rPr>
              <a:t>This  </a:t>
            </a:r>
            <a:r>
              <a:rPr sz="2800" spc="-15" dirty="0">
                <a:latin typeface="Carlito"/>
                <a:cs typeface="Carlito"/>
              </a:rPr>
              <a:t>movement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5" dirty="0">
                <a:latin typeface="Carlito"/>
                <a:cs typeface="Carlito"/>
              </a:rPr>
              <a:t>free </a:t>
            </a:r>
            <a:r>
              <a:rPr sz="2800" spc="-10" dirty="0">
                <a:latin typeface="Carlito"/>
                <a:cs typeface="Carlito"/>
              </a:rPr>
              <a:t>electrons </a:t>
            </a:r>
            <a:r>
              <a:rPr sz="2800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5" dirty="0">
                <a:latin typeface="Carlito"/>
                <a:cs typeface="Carlito"/>
              </a:rPr>
              <a:t>type of </a:t>
            </a:r>
            <a:r>
              <a:rPr sz="2800" b="1" spc="-15" dirty="0">
                <a:latin typeface="Carlito"/>
                <a:cs typeface="Carlito"/>
              </a:rPr>
              <a:t>current </a:t>
            </a:r>
            <a:r>
              <a:rPr sz="2800" spc="-15" dirty="0">
                <a:latin typeface="Carlito"/>
                <a:cs typeface="Carlito"/>
              </a:rPr>
              <a:t>in </a:t>
            </a:r>
            <a:r>
              <a:rPr sz="2800" spc="60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semiconductive material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i="1" spc="-5" dirty="0">
                <a:latin typeface="Carlito"/>
                <a:cs typeface="Carlito"/>
              </a:rPr>
              <a:t>electron  current.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89276" y="4832603"/>
            <a:ext cx="4267200" cy="1524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5150" y="34239"/>
            <a:ext cx="2933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Hole</a:t>
            </a:r>
            <a:r>
              <a:rPr sz="4400" spc="-65" dirty="0"/>
              <a:t> </a:t>
            </a:r>
            <a:r>
              <a:rPr sz="4400" spc="-15" dirty="0"/>
              <a:t>Current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778509"/>
            <a:ext cx="8072755" cy="307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Another type of </a:t>
            </a:r>
            <a:r>
              <a:rPr sz="2000" spc="-10" dirty="0">
                <a:latin typeface="Carlito"/>
                <a:cs typeface="Carlito"/>
              </a:rPr>
              <a:t>current occurs </a:t>
            </a:r>
            <a:r>
              <a:rPr sz="2000" spc="-5" dirty="0">
                <a:latin typeface="Carlito"/>
                <a:cs typeface="Carlito"/>
              </a:rPr>
              <a:t>in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valence band, </a:t>
            </a:r>
            <a:r>
              <a:rPr sz="2000" spc="-10" dirty="0">
                <a:latin typeface="Carlito"/>
                <a:cs typeface="Carlito"/>
              </a:rPr>
              <a:t>where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holes  </a:t>
            </a:r>
            <a:r>
              <a:rPr sz="2000" spc="-10" dirty="0">
                <a:latin typeface="Carlito"/>
                <a:cs typeface="Carlito"/>
              </a:rPr>
              <a:t>created </a:t>
            </a:r>
            <a:r>
              <a:rPr sz="2000" spc="-5" dirty="0">
                <a:latin typeface="Carlito"/>
                <a:cs typeface="Carlito"/>
              </a:rPr>
              <a:t>by the </a:t>
            </a:r>
            <a:r>
              <a:rPr sz="2000" spc="-10" dirty="0">
                <a:latin typeface="Carlito"/>
                <a:cs typeface="Carlito"/>
              </a:rPr>
              <a:t>free </a:t>
            </a:r>
            <a:r>
              <a:rPr sz="2000" spc="-5" dirty="0">
                <a:latin typeface="Carlito"/>
                <a:cs typeface="Carlito"/>
              </a:rPr>
              <a:t>electrons </a:t>
            </a:r>
            <a:r>
              <a:rPr sz="2000" spc="-15" dirty="0">
                <a:latin typeface="Carlito"/>
                <a:cs typeface="Carlito"/>
              </a:rPr>
              <a:t>exist. </a:t>
            </a:r>
            <a:r>
              <a:rPr sz="2000" spc="-5" dirty="0">
                <a:latin typeface="Carlito"/>
                <a:cs typeface="Carlito"/>
              </a:rPr>
              <a:t>Electrons remaining in the </a:t>
            </a:r>
            <a:r>
              <a:rPr sz="2000" spc="-10" dirty="0">
                <a:latin typeface="Carlito"/>
                <a:cs typeface="Carlito"/>
              </a:rPr>
              <a:t>valence  </a:t>
            </a:r>
            <a:r>
              <a:rPr sz="2000" dirty="0">
                <a:latin typeface="Carlito"/>
                <a:cs typeface="Carlito"/>
              </a:rPr>
              <a:t>band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still </a:t>
            </a:r>
            <a:r>
              <a:rPr sz="2000" spc="-10" dirty="0">
                <a:latin typeface="Carlito"/>
                <a:cs typeface="Carlito"/>
              </a:rPr>
              <a:t>attached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their </a:t>
            </a:r>
            <a:r>
              <a:rPr sz="2000" spc="-10" dirty="0">
                <a:latin typeface="Carlito"/>
                <a:cs typeface="Carlito"/>
              </a:rPr>
              <a:t>atoms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15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not </a:t>
            </a:r>
            <a:r>
              <a:rPr sz="2000" spc="-10" dirty="0">
                <a:latin typeface="Carlito"/>
                <a:cs typeface="Carlito"/>
              </a:rPr>
              <a:t>free </a:t>
            </a:r>
            <a:r>
              <a:rPr sz="2000" spc="-15" dirty="0">
                <a:latin typeface="Carlito"/>
                <a:cs typeface="Carlito"/>
              </a:rPr>
              <a:t>to move </a:t>
            </a:r>
            <a:r>
              <a:rPr sz="2000" spc="-10" dirty="0">
                <a:latin typeface="Carlito"/>
                <a:cs typeface="Carlito"/>
              </a:rPr>
              <a:t>randomly  </a:t>
            </a:r>
            <a:r>
              <a:rPr sz="2000" spc="-5" dirty="0">
                <a:latin typeface="Carlito"/>
                <a:cs typeface="Carlito"/>
              </a:rPr>
              <a:t>in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crystal </a:t>
            </a:r>
            <a:r>
              <a:rPr sz="2000" spc="-5" dirty="0">
                <a:latin typeface="Carlito"/>
                <a:cs typeface="Carlito"/>
              </a:rPr>
              <a:t>structure </a:t>
            </a:r>
            <a:r>
              <a:rPr sz="2000" dirty="0">
                <a:latin typeface="Carlito"/>
                <a:cs typeface="Carlito"/>
              </a:rPr>
              <a:t>as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free </a:t>
            </a:r>
            <a:r>
              <a:rPr sz="2000" spc="-5" dirty="0">
                <a:latin typeface="Carlito"/>
                <a:cs typeface="Carlito"/>
              </a:rPr>
              <a:t>electrons. </a:t>
            </a:r>
            <a:r>
              <a:rPr sz="2000" spc="-35" dirty="0">
                <a:latin typeface="Carlito"/>
                <a:cs typeface="Carlito"/>
              </a:rPr>
              <a:t>However,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valence  electron can </a:t>
            </a:r>
            <a:r>
              <a:rPr sz="2000" spc="-15" dirty="0">
                <a:latin typeface="Carlito"/>
                <a:cs typeface="Carlito"/>
              </a:rPr>
              <a:t>move </a:t>
            </a:r>
            <a:r>
              <a:rPr sz="2000" spc="-10" dirty="0">
                <a:latin typeface="Carlito"/>
                <a:cs typeface="Carlito"/>
              </a:rPr>
              <a:t>into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nearby hole with little change in </a:t>
            </a:r>
            <a:r>
              <a:rPr sz="2000" dirty="0">
                <a:latin typeface="Carlito"/>
                <a:cs typeface="Carlito"/>
              </a:rPr>
              <a:t>its </a:t>
            </a:r>
            <a:r>
              <a:rPr sz="2000" spc="-5" dirty="0">
                <a:latin typeface="Carlito"/>
                <a:cs typeface="Carlito"/>
              </a:rPr>
              <a:t>energy </a:t>
            </a:r>
            <a:r>
              <a:rPr sz="2000" spc="-10" dirty="0">
                <a:latin typeface="Carlito"/>
                <a:cs typeface="Carlito"/>
              </a:rPr>
              <a:t>level,  </a:t>
            </a:r>
            <a:r>
              <a:rPr sz="2000" dirty="0">
                <a:latin typeface="Carlito"/>
                <a:cs typeface="Carlito"/>
              </a:rPr>
              <a:t>thus </a:t>
            </a:r>
            <a:r>
              <a:rPr sz="2000" spc="-10" dirty="0">
                <a:latin typeface="Carlito"/>
                <a:cs typeface="Carlito"/>
              </a:rPr>
              <a:t>leaving </a:t>
            </a:r>
            <a:r>
              <a:rPr sz="2000" dirty="0">
                <a:latin typeface="Carlito"/>
                <a:cs typeface="Carlito"/>
              </a:rPr>
              <a:t>another </a:t>
            </a:r>
            <a:r>
              <a:rPr sz="2000" spc="-5" dirty="0">
                <a:latin typeface="Carlito"/>
                <a:cs typeface="Carlito"/>
              </a:rPr>
              <a:t>hole </a:t>
            </a:r>
            <a:r>
              <a:rPr sz="2000" spc="-10" dirty="0">
                <a:latin typeface="Carlito"/>
                <a:cs typeface="Carlito"/>
              </a:rPr>
              <a:t>where </a:t>
            </a:r>
            <a:r>
              <a:rPr sz="2000" spc="-5" dirty="0">
                <a:latin typeface="Carlito"/>
                <a:cs typeface="Carlito"/>
              </a:rPr>
              <a:t>it came </a:t>
            </a:r>
            <a:r>
              <a:rPr sz="2000" spc="-10" dirty="0">
                <a:latin typeface="Carlito"/>
                <a:cs typeface="Carlito"/>
              </a:rPr>
              <a:t>from. </a:t>
            </a:r>
            <a:r>
              <a:rPr sz="2000" spc="-15" dirty="0">
                <a:latin typeface="Carlito"/>
                <a:cs typeface="Carlito"/>
              </a:rPr>
              <a:t>Effectively </a:t>
            </a:r>
            <a:r>
              <a:rPr sz="2000" spc="-5" dirty="0">
                <a:latin typeface="Carlito"/>
                <a:cs typeface="Carlito"/>
              </a:rPr>
              <a:t>the hole has  </a:t>
            </a:r>
            <a:r>
              <a:rPr sz="2000" spc="-10" dirty="0">
                <a:latin typeface="Carlito"/>
                <a:cs typeface="Carlito"/>
              </a:rPr>
              <a:t>moved </a:t>
            </a:r>
            <a:r>
              <a:rPr sz="2000" spc="-15" dirty="0">
                <a:latin typeface="Carlito"/>
                <a:cs typeface="Carlito"/>
              </a:rPr>
              <a:t>from </a:t>
            </a:r>
            <a:r>
              <a:rPr sz="2000" spc="-5" dirty="0">
                <a:latin typeface="Carlito"/>
                <a:cs typeface="Carlito"/>
              </a:rPr>
              <a:t>one place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another </a:t>
            </a:r>
            <a:r>
              <a:rPr sz="2000" spc="-5" dirty="0">
                <a:latin typeface="Carlito"/>
                <a:cs typeface="Carlito"/>
              </a:rPr>
              <a:t>in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crystal </a:t>
            </a:r>
            <a:r>
              <a:rPr sz="2000" spc="-5" dirty="0">
                <a:latin typeface="Carlito"/>
                <a:cs typeface="Carlito"/>
              </a:rPr>
              <a:t>structure, </a:t>
            </a:r>
            <a:r>
              <a:rPr sz="2000" dirty="0">
                <a:latin typeface="Carlito"/>
                <a:cs typeface="Carlito"/>
              </a:rPr>
              <a:t>as </a:t>
            </a:r>
            <a:r>
              <a:rPr sz="2000" spc="-10" dirty="0">
                <a:latin typeface="Carlito"/>
                <a:cs typeface="Carlito"/>
              </a:rPr>
              <a:t>illustrated </a:t>
            </a:r>
            <a:r>
              <a:rPr sz="2000" spc="-5" dirty="0">
                <a:latin typeface="Carlito"/>
                <a:cs typeface="Carlito"/>
              </a:rPr>
              <a:t>in  Figure. </a:t>
            </a:r>
            <a:r>
              <a:rPr sz="2000" dirty="0">
                <a:latin typeface="Carlito"/>
                <a:cs typeface="Carlito"/>
              </a:rPr>
              <a:t>Although </a:t>
            </a:r>
            <a:r>
              <a:rPr sz="2000" spc="-10" dirty="0">
                <a:latin typeface="Carlito"/>
                <a:cs typeface="Carlito"/>
              </a:rPr>
              <a:t>current </a:t>
            </a:r>
            <a:r>
              <a:rPr sz="2000" spc="-5" dirty="0">
                <a:latin typeface="Carlito"/>
                <a:cs typeface="Carlito"/>
              </a:rPr>
              <a:t>in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valence </a:t>
            </a:r>
            <a:r>
              <a:rPr sz="2000" dirty="0">
                <a:latin typeface="Carlito"/>
                <a:cs typeface="Carlito"/>
              </a:rPr>
              <a:t>band </a:t>
            </a:r>
            <a:r>
              <a:rPr sz="2000" spc="-5" dirty="0">
                <a:latin typeface="Carlito"/>
                <a:cs typeface="Carlito"/>
              </a:rPr>
              <a:t>is </a:t>
            </a:r>
            <a:r>
              <a:rPr sz="2000" spc="-10" dirty="0">
                <a:latin typeface="Carlito"/>
                <a:cs typeface="Carlito"/>
              </a:rPr>
              <a:t>produced </a:t>
            </a:r>
            <a:r>
              <a:rPr sz="2000" spc="-15" dirty="0">
                <a:latin typeface="Carlito"/>
                <a:cs typeface="Carlito"/>
              </a:rPr>
              <a:t>by </a:t>
            </a:r>
            <a:r>
              <a:rPr sz="2000" spc="-5" dirty="0">
                <a:latin typeface="Carlito"/>
                <a:cs typeface="Carlito"/>
              </a:rPr>
              <a:t>valence  electrons, it is called </a:t>
            </a:r>
            <a:r>
              <a:rPr sz="2000" i="1" spc="-5" dirty="0">
                <a:latin typeface="Carlito"/>
                <a:cs typeface="Carlito"/>
              </a:rPr>
              <a:t>hole current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distinguish it </a:t>
            </a:r>
            <a:r>
              <a:rPr sz="2000" spc="-15" dirty="0">
                <a:latin typeface="Carlito"/>
                <a:cs typeface="Carlito"/>
              </a:rPr>
              <a:t>from </a:t>
            </a:r>
            <a:r>
              <a:rPr sz="2000" spc="-10" dirty="0">
                <a:latin typeface="Carlito"/>
                <a:cs typeface="Carlito"/>
              </a:rPr>
              <a:t>electron current </a:t>
            </a:r>
            <a:r>
              <a:rPr sz="2000" spc="-5" dirty="0">
                <a:latin typeface="Carlito"/>
                <a:cs typeface="Carlito"/>
              </a:rPr>
              <a:t>in  </a:t>
            </a:r>
            <a:r>
              <a:rPr sz="2000" dirty="0">
                <a:latin typeface="Carlito"/>
                <a:cs typeface="Carlito"/>
              </a:rPr>
              <a:t>the conduction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band.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8400" y="3863340"/>
            <a:ext cx="4267200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9802" y="405511"/>
            <a:ext cx="16446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Doping</a:t>
            </a:r>
            <a:endParaRPr sz="440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50863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  <a:tab pos="1571625" algn="l"/>
                <a:tab pos="4537710" algn="l"/>
              </a:tabLst>
            </a:pPr>
            <a:r>
              <a:rPr sz="3200" spc="-5" dirty="0">
                <a:latin typeface="Carlito"/>
                <a:cs typeface="Carlito"/>
              </a:rPr>
              <a:t>Sinc</a:t>
            </a:r>
            <a:r>
              <a:rPr sz="3200" dirty="0">
                <a:latin typeface="Carlito"/>
                <a:cs typeface="Carlito"/>
              </a:rPr>
              <a:t>e	</a:t>
            </a:r>
            <a:r>
              <a:rPr sz="3200" spc="-5" dirty="0">
                <a:latin typeface="Carlito"/>
                <a:cs typeface="Carlito"/>
              </a:rPr>
              <a:t>semi</a:t>
            </a:r>
            <a:r>
              <a:rPr sz="3200" spc="-30" dirty="0">
                <a:latin typeface="Carlito"/>
                <a:cs typeface="Carlito"/>
              </a:rPr>
              <a:t>c</a:t>
            </a:r>
            <a:r>
              <a:rPr sz="3200" spc="-5" dirty="0">
                <a:latin typeface="Carlito"/>
                <a:cs typeface="Carlito"/>
              </a:rPr>
              <a:t>onduc</a:t>
            </a:r>
            <a:r>
              <a:rPr sz="3200" spc="-55" dirty="0">
                <a:latin typeface="Carlito"/>
                <a:cs typeface="Carlito"/>
              </a:rPr>
              <a:t>t</a:t>
            </a:r>
            <a:r>
              <a:rPr sz="3200" spc="-5" dirty="0">
                <a:latin typeface="Carlito"/>
                <a:cs typeface="Carlito"/>
              </a:rPr>
              <a:t>o</a:t>
            </a:r>
            <a:r>
              <a:rPr sz="3200" spc="-65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s	a</a:t>
            </a:r>
            <a:r>
              <a:rPr sz="3200" spc="-40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e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84572" y="2095626"/>
            <a:ext cx="20485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rlito"/>
                <a:cs typeface="Carlito"/>
              </a:rPr>
              <a:t>conductivity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4361" y="1607261"/>
            <a:ext cx="2664460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1852930" algn="l"/>
              </a:tabLst>
            </a:pPr>
            <a:r>
              <a:rPr sz="3200" spc="-25" dirty="0">
                <a:latin typeface="Carlito"/>
                <a:cs typeface="Carlito"/>
              </a:rPr>
              <a:t>g</a:t>
            </a:r>
            <a:r>
              <a:rPr sz="3200" dirty="0">
                <a:latin typeface="Carlito"/>
                <a:cs typeface="Carlito"/>
              </a:rPr>
              <a:t>e</a:t>
            </a:r>
            <a:r>
              <a:rPr sz="3200" spc="-15" dirty="0">
                <a:latin typeface="Carlito"/>
                <a:cs typeface="Carlito"/>
              </a:rPr>
              <a:t>n</a:t>
            </a:r>
            <a:r>
              <a:rPr sz="3200" dirty="0">
                <a:latin typeface="Carlito"/>
                <a:cs typeface="Carlito"/>
              </a:rPr>
              <a:t>e</a:t>
            </a:r>
            <a:r>
              <a:rPr sz="3200" spc="-65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al</a:t>
            </a:r>
            <a:r>
              <a:rPr sz="3200" spc="-10" dirty="0">
                <a:latin typeface="Carlito"/>
                <a:cs typeface="Carlito"/>
              </a:rPr>
              <a:t>l</a:t>
            </a:r>
            <a:r>
              <a:rPr sz="3200" dirty="0">
                <a:latin typeface="Carlito"/>
                <a:cs typeface="Carlito"/>
              </a:rPr>
              <a:t>y	</a:t>
            </a:r>
            <a:r>
              <a:rPr sz="3200" spc="-5" dirty="0">
                <a:latin typeface="Carlito"/>
                <a:cs typeface="Carlito"/>
              </a:rPr>
              <a:t>p</a:t>
            </a:r>
            <a:r>
              <a:rPr sz="3200" spc="5" dirty="0">
                <a:latin typeface="Carlito"/>
                <a:cs typeface="Carlito"/>
              </a:rPr>
              <a:t>o</a:t>
            </a:r>
            <a:r>
              <a:rPr sz="3200" spc="-5" dirty="0">
                <a:latin typeface="Carlito"/>
                <a:cs typeface="Carlito"/>
              </a:rPr>
              <a:t>or</a:t>
            </a:r>
            <a:endParaRPr sz="3200">
              <a:latin typeface="Carlito"/>
              <a:cs typeface="Carlito"/>
            </a:endParaRPr>
          </a:p>
          <a:p>
            <a:pPr marR="6350" algn="r">
              <a:lnSpc>
                <a:spcPct val="100000"/>
              </a:lnSpc>
              <a:spcBef>
                <a:spcPts val="5"/>
              </a:spcBef>
              <a:tabLst>
                <a:tab pos="1066800" algn="l"/>
              </a:tabLst>
            </a:pPr>
            <a:r>
              <a:rPr sz="3200" spc="-25" dirty="0">
                <a:latin typeface="Carlito"/>
                <a:cs typeface="Carlito"/>
              </a:rPr>
              <a:t>c</a:t>
            </a:r>
            <a:r>
              <a:rPr sz="3200" dirty="0">
                <a:latin typeface="Carlito"/>
                <a:cs typeface="Carlito"/>
              </a:rPr>
              <a:t>an	</a:t>
            </a:r>
            <a:r>
              <a:rPr sz="3200" spc="-5" dirty="0">
                <a:latin typeface="Carlito"/>
                <a:cs typeface="Carlito"/>
              </a:rPr>
              <a:t>be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144" y="2095626"/>
            <a:ext cx="373189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2131060" algn="l"/>
                <a:tab pos="2440305" algn="l"/>
              </a:tabLst>
            </a:pPr>
            <a:r>
              <a:rPr sz="3200" spc="-15" dirty="0">
                <a:latin typeface="Carlito"/>
                <a:cs typeface="Carlito"/>
              </a:rPr>
              <a:t>conductors,		</a:t>
            </a:r>
            <a:r>
              <a:rPr sz="3200" dirty="0">
                <a:latin typeface="Carlito"/>
                <a:cs typeface="Carlito"/>
              </a:rPr>
              <a:t>their  </a:t>
            </a:r>
            <a:r>
              <a:rPr sz="3200" spc="-5" dirty="0">
                <a:latin typeface="Carlito"/>
                <a:cs typeface="Carlito"/>
              </a:rPr>
              <a:t>d</a:t>
            </a:r>
            <a:r>
              <a:rPr sz="3200" spc="-70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a</a:t>
            </a:r>
            <a:r>
              <a:rPr sz="3200" spc="-40" dirty="0">
                <a:latin typeface="Carlito"/>
                <a:cs typeface="Carlito"/>
              </a:rPr>
              <a:t>s</a:t>
            </a:r>
            <a:r>
              <a:rPr sz="3200" dirty="0">
                <a:latin typeface="Carlito"/>
                <a:cs typeface="Carlito"/>
              </a:rPr>
              <a:t>t</a:t>
            </a:r>
            <a:r>
              <a:rPr sz="3200" spc="-10" dirty="0">
                <a:latin typeface="Carlito"/>
                <a:cs typeface="Carlito"/>
              </a:rPr>
              <a:t>i</a:t>
            </a:r>
            <a:r>
              <a:rPr sz="3200" spc="-25" dirty="0">
                <a:latin typeface="Carlito"/>
                <a:cs typeface="Carlito"/>
              </a:rPr>
              <a:t>c</a:t>
            </a:r>
            <a:r>
              <a:rPr sz="3200" dirty="0">
                <a:latin typeface="Carlito"/>
                <a:cs typeface="Carlito"/>
              </a:rPr>
              <a:t>al</a:t>
            </a:r>
            <a:r>
              <a:rPr sz="3200" spc="10" dirty="0">
                <a:latin typeface="Carlito"/>
                <a:cs typeface="Carlito"/>
              </a:rPr>
              <a:t>l</a:t>
            </a:r>
            <a:r>
              <a:rPr sz="3200" dirty="0">
                <a:latin typeface="Carlito"/>
                <a:cs typeface="Carlito"/>
              </a:rPr>
              <a:t>y	inc</a:t>
            </a:r>
            <a:r>
              <a:rPr sz="3200" spc="-45" dirty="0">
                <a:latin typeface="Carlito"/>
                <a:cs typeface="Carlito"/>
              </a:rPr>
              <a:t>r</a:t>
            </a:r>
            <a:r>
              <a:rPr sz="3200" spc="-15" dirty="0">
                <a:latin typeface="Carlito"/>
                <a:cs typeface="Carlito"/>
              </a:rPr>
              <a:t>e</a:t>
            </a:r>
            <a:r>
              <a:rPr sz="3200" dirty="0">
                <a:latin typeface="Carlito"/>
                <a:cs typeface="Carlito"/>
              </a:rPr>
              <a:t>ased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40248" y="2583307"/>
            <a:ext cx="35687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6140" algn="l"/>
                <a:tab pos="1873250" algn="l"/>
              </a:tabLst>
            </a:pPr>
            <a:r>
              <a:rPr sz="3200" spc="-5" dirty="0">
                <a:latin typeface="Carlito"/>
                <a:cs typeface="Carlito"/>
              </a:rPr>
              <a:t>by	</a:t>
            </a:r>
            <a:r>
              <a:rPr sz="3200" dirty="0">
                <a:latin typeface="Carlito"/>
                <a:cs typeface="Carlito"/>
              </a:rPr>
              <a:t>the	</a:t>
            </a:r>
            <a:r>
              <a:rPr sz="3200" spc="-15" dirty="0">
                <a:latin typeface="Carlito"/>
                <a:cs typeface="Carlito"/>
              </a:rPr>
              <a:t>controlled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144" y="3070682"/>
            <a:ext cx="7731759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1570355" algn="l"/>
                <a:tab pos="2089785" algn="l"/>
                <a:tab pos="2763520" algn="l"/>
                <a:tab pos="3944620" algn="l"/>
                <a:tab pos="4403725" algn="l"/>
                <a:tab pos="4472305" algn="l"/>
                <a:tab pos="5207000" algn="l"/>
                <a:tab pos="5231765" algn="l"/>
                <a:tab pos="6702425" algn="l"/>
                <a:tab pos="6751320" algn="l"/>
              </a:tabLst>
            </a:pPr>
            <a:r>
              <a:rPr sz="3200" dirty="0">
                <a:latin typeface="Carlito"/>
                <a:cs typeface="Carlito"/>
              </a:rPr>
              <a:t>addition	of	i</a:t>
            </a:r>
            <a:r>
              <a:rPr sz="3200" spc="-10" dirty="0">
                <a:latin typeface="Carlito"/>
                <a:cs typeface="Carlito"/>
              </a:rPr>
              <a:t>m</a:t>
            </a:r>
            <a:r>
              <a:rPr sz="3200" spc="-5" dirty="0">
                <a:latin typeface="Carlito"/>
                <a:cs typeface="Carlito"/>
              </a:rPr>
              <a:t>pu</a:t>
            </a:r>
            <a:r>
              <a:rPr sz="3200" spc="5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i</a:t>
            </a:r>
            <a:r>
              <a:rPr sz="3200" spc="-15" dirty="0">
                <a:latin typeface="Carlito"/>
                <a:cs typeface="Carlito"/>
              </a:rPr>
              <a:t>t</a:t>
            </a:r>
            <a:r>
              <a:rPr sz="3200" dirty="0">
                <a:latin typeface="Carlito"/>
                <a:cs typeface="Carlito"/>
              </a:rPr>
              <a:t>ies	</a:t>
            </a:r>
            <a:r>
              <a:rPr sz="3200" spc="-45" dirty="0">
                <a:latin typeface="Carlito"/>
                <a:cs typeface="Carlito"/>
              </a:rPr>
              <a:t>t</a:t>
            </a:r>
            <a:r>
              <a:rPr sz="3200" dirty="0">
                <a:latin typeface="Carlito"/>
                <a:cs typeface="Carlito"/>
              </a:rPr>
              <a:t>o		the	i</a:t>
            </a:r>
            <a:r>
              <a:rPr sz="3200" spc="-35" dirty="0">
                <a:latin typeface="Carlito"/>
                <a:cs typeface="Carlito"/>
              </a:rPr>
              <a:t>n</a:t>
            </a:r>
            <a:r>
              <a:rPr sz="3200" dirty="0">
                <a:latin typeface="Carlito"/>
                <a:cs typeface="Carlito"/>
              </a:rPr>
              <a:t>trinsic	</a:t>
            </a:r>
            <a:r>
              <a:rPr sz="3200" spc="-5" dirty="0">
                <a:latin typeface="Carlito"/>
                <a:cs typeface="Carlito"/>
              </a:rPr>
              <a:t>(pu</a:t>
            </a:r>
            <a:r>
              <a:rPr sz="3200" spc="-35" dirty="0">
                <a:latin typeface="Carlito"/>
                <a:cs typeface="Carlito"/>
              </a:rPr>
              <a:t>r</a:t>
            </a:r>
            <a:r>
              <a:rPr sz="3200" spc="-15" dirty="0">
                <a:latin typeface="Carlito"/>
                <a:cs typeface="Carlito"/>
              </a:rPr>
              <a:t>e</a:t>
            </a:r>
            <a:r>
              <a:rPr sz="3200" dirty="0">
                <a:latin typeface="Carlito"/>
                <a:cs typeface="Carlito"/>
              </a:rPr>
              <a:t>)  </a:t>
            </a:r>
            <a:r>
              <a:rPr sz="3200" spc="-5" dirty="0">
                <a:latin typeface="Carlito"/>
                <a:cs typeface="Carlito"/>
              </a:rPr>
              <a:t>sem</a:t>
            </a:r>
            <a:r>
              <a:rPr sz="3200" spc="-15" dirty="0">
                <a:latin typeface="Carlito"/>
                <a:cs typeface="Carlito"/>
              </a:rPr>
              <a:t>i</a:t>
            </a:r>
            <a:r>
              <a:rPr sz="3200" spc="-25" dirty="0">
                <a:latin typeface="Carlito"/>
                <a:cs typeface="Carlito"/>
              </a:rPr>
              <a:t>c</a:t>
            </a:r>
            <a:r>
              <a:rPr sz="3200" spc="-5" dirty="0">
                <a:latin typeface="Carlito"/>
                <a:cs typeface="Carlito"/>
              </a:rPr>
              <a:t>onducti</a:t>
            </a:r>
            <a:r>
              <a:rPr sz="3200" spc="-35" dirty="0">
                <a:latin typeface="Carlito"/>
                <a:cs typeface="Carlito"/>
              </a:rPr>
              <a:t>v</a:t>
            </a:r>
            <a:r>
              <a:rPr sz="3200" dirty="0">
                <a:latin typeface="Carlito"/>
                <a:cs typeface="Carlito"/>
              </a:rPr>
              <a:t>e	m</a:t>
            </a:r>
            <a:r>
              <a:rPr sz="3200" spc="-30" dirty="0">
                <a:latin typeface="Carlito"/>
                <a:cs typeface="Carlito"/>
              </a:rPr>
              <a:t>a</a:t>
            </a:r>
            <a:r>
              <a:rPr sz="3200" spc="-45" dirty="0">
                <a:latin typeface="Carlito"/>
                <a:cs typeface="Carlito"/>
              </a:rPr>
              <a:t>t</a:t>
            </a:r>
            <a:r>
              <a:rPr sz="3200" dirty="0">
                <a:latin typeface="Carlito"/>
                <a:cs typeface="Carlito"/>
              </a:rPr>
              <a:t>erial.	</a:t>
            </a:r>
            <a:r>
              <a:rPr sz="3200" spc="-5" dirty="0">
                <a:latin typeface="Carlito"/>
                <a:cs typeface="Carlito"/>
              </a:rPr>
              <a:t>Thi</a:t>
            </a:r>
            <a:r>
              <a:rPr sz="3200" dirty="0">
                <a:latin typeface="Carlito"/>
                <a:cs typeface="Carlito"/>
              </a:rPr>
              <a:t>s		</a:t>
            </a:r>
            <a:r>
              <a:rPr sz="3200" spc="-5" dirty="0">
                <a:latin typeface="Carlito"/>
                <a:cs typeface="Carlito"/>
              </a:rPr>
              <a:t>p</a:t>
            </a:r>
            <a:r>
              <a:rPr sz="3200" spc="-55" dirty="0">
                <a:latin typeface="Carlito"/>
                <a:cs typeface="Carlito"/>
              </a:rPr>
              <a:t>r</a:t>
            </a:r>
            <a:r>
              <a:rPr sz="3200" spc="-5" dirty="0">
                <a:latin typeface="Carlito"/>
                <a:cs typeface="Carlito"/>
              </a:rPr>
              <a:t>ocess</a:t>
            </a:r>
            <a:r>
              <a:rPr sz="3200" dirty="0">
                <a:latin typeface="Carlito"/>
                <a:cs typeface="Carlito"/>
              </a:rPr>
              <a:t>,		</a:t>
            </a:r>
            <a:r>
              <a:rPr sz="3200" spc="-25" dirty="0">
                <a:latin typeface="Carlito"/>
                <a:cs typeface="Carlito"/>
              </a:rPr>
              <a:t>c</a:t>
            </a:r>
            <a:r>
              <a:rPr sz="3200" dirty="0">
                <a:latin typeface="Carlito"/>
                <a:cs typeface="Carlito"/>
              </a:rPr>
              <a:t>alled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9144" y="4046601"/>
            <a:ext cx="410654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574800" algn="l"/>
                <a:tab pos="1666239" algn="l"/>
                <a:tab pos="3405504" algn="l"/>
                <a:tab pos="3736340" algn="l"/>
              </a:tabLst>
            </a:pPr>
            <a:r>
              <a:rPr sz="3200" b="1" spc="-5" dirty="0">
                <a:latin typeface="Carlito"/>
                <a:cs typeface="Carlito"/>
              </a:rPr>
              <a:t>doping</a:t>
            </a:r>
            <a:r>
              <a:rPr sz="3200" spc="-5" dirty="0">
                <a:latin typeface="Carlito"/>
                <a:cs typeface="Carlito"/>
              </a:rPr>
              <a:t>,	increases	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30" dirty="0">
                <a:latin typeface="Carlito"/>
                <a:cs typeface="Carlito"/>
              </a:rPr>
              <a:t>c</a:t>
            </a:r>
            <a:r>
              <a:rPr sz="3200" dirty="0">
                <a:latin typeface="Carlito"/>
                <a:cs typeface="Carlito"/>
              </a:rPr>
              <a:t>arr</a:t>
            </a:r>
            <a:r>
              <a:rPr sz="3200" spc="-15" dirty="0">
                <a:latin typeface="Carlito"/>
                <a:cs typeface="Carlito"/>
              </a:rPr>
              <a:t>i</a:t>
            </a:r>
            <a:r>
              <a:rPr sz="3200" dirty="0">
                <a:latin typeface="Carlito"/>
                <a:cs typeface="Carlito"/>
              </a:rPr>
              <a:t>e</a:t>
            </a:r>
            <a:r>
              <a:rPr sz="3200" spc="-65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s		</a:t>
            </a:r>
            <a:r>
              <a:rPr sz="3200" spc="-5" dirty="0">
                <a:latin typeface="Carlito"/>
                <a:cs typeface="Carlito"/>
              </a:rPr>
              <a:t>(elec</a:t>
            </a:r>
            <a:r>
              <a:rPr sz="3200" spc="-15" dirty="0">
                <a:latin typeface="Carlito"/>
                <a:cs typeface="Carlito"/>
              </a:rPr>
              <a:t>t</a:t>
            </a:r>
            <a:r>
              <a:rPr sz="3200" spc="-65" dirty="0">
                <a:latin typeface="Carlito"/>
                <a:cs typeface="Carlito"/>
              </a:rPr>
              <a:t>r</a:t>
            </a:r>
            <a:r>
              <a:rPr sz="3200" spc="-5" dirty="0">
                <a:latin typeface="Carlito"/>
                <a:cs typeface="Carlito"/>
              </a:rPr>
              <a:t>on</a:t>
            </a:r>
            <a:r>
              <a:rPr sz="3200" dirty="0">
                <a:latin typeface="Carlito"/>
                <a:cs typeface="Carlito"/>
              </a:rPr>
              <a:t>s		or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4069" y="4046601"/>
            <a:ext cx="348424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marR="5080" indent="-254635">
              <a:lnSpc>
                <a:spcPct val="100000"/>
              </a:lnSpc>
              <a:spcBef>
                <a:spcPts val="100"/>
              </a:spcBef>
              <a:tabLst>
                <a:tab pos="1620520" algn="l"/>
                <a:tab pos="1797050" algn="l"/>
                <a:tab pos="2258060" algn="l"/>
                <a:tab pos="2832100" algn="l"/>
              </a:tabLst>
            </a:pPr>
            <a:r>
              <a:rPr sz="3200" spc="-5" dirty="0">
                <a:latin typeface="Carlito"/>
                <a:cs typeface="Carlito"/>
              </a:rPr>
              <a:t>numbe</a:t>
            </a:r>
            <a:r>
              <a:rPr sz="3200" dirty="0">
                <a:latin typeface="Carlito"/>
                <a:cs typeface="Carlito"/>
              </a:rPr>
              <a:t>r	of	cur</a:t>
            </a:r>
            <a:r>
              <a:rPr sz="3200" spc="-55" dirty="0">
                <a:latin typeface="Carlito"/>
                <a:cs typeface="Carlito"/>
              </a:rPr>
              <a:t>r</a:t>
            </a:r>
            <a:r>
              <a:rPr sz="3200" dirty="0">
                <a:latin typeface="Carlito"/>
                <a:cs typeface="Carlito"/>
              </a:rPr>
              <a:t>e</a:t>
            </a:r>
            <a:r>
              <a:rPr sz="3200" spc="-25" dirty="0">
                <a:latin typeface="Carlito"/>
                <a:cs typeface="Carlito"/>
              </a:rPr>
              <a:t>n</a:t>
            </a:r>
            <a:r>
              <a:rPr sz="3200" dirty="0">
                <a:latin typeface="Carlito"/>
                <a:cs typeface="Carlito"/>
              </a:rPr>
              <a:t>t  </a:t>
            </a:r>
            <a:r>
              <a:rPr sz="3200" spc="-5" dirty="0">
                <a:latin typeface="Carlito"/>
                <a:cs typeface="Carlito"/>
              </a:rPr>
              <a:t>hole</a:t>
            </a:r>
            <a:r>
              <a:rPr sz="3200" spc="-15" dirty="0">
                <a:latin typeface="Carlito"/>
                <a:cs typeface="Carlito"/>
              </a:rPr>
              <a:t>s</a:t>
            </a:r>
            <a:r>
              <a:rPr sz="3200" spc="20" dirty="0">
                <a:latin typeface="Carlito"/>
                <a:cs typeface="Carlito"/>
              </a:rPr>
              <a:t>)</a:t>
            </a:r>
            <a:r>
              <a:rPr sz="3200" dirty="0">
                <a:latin typeface="Carlito"/>
                <a:cs typeface="Carlito"/>
              </a:rPr>
              <a:t>.		</a:t>
            </a:r>
            <a:r>
              <a:rPr sz="3200" spc="-5" dirty="0">
                <a:latin typeface="Carlito"/>
                <a:cs typeface="Carlito"/>
              </a:rPr>
              <a:t>Th</a:t>
            </a:r>
            <a:r>
              <a:rPr sz="3200" dirty="0">
                <a:latin typeface="Carlito"/>
                <a:cs typeface="Carlito"/>
              </a:rPr>
              <a:t>e	t</a:t>
            </a:r>
            <a:r>
              <a:rPr sz="3200" spc="-35" dirty="0">
                <a:latin typeface="Carlito"/>
                <a:cs typeface="Carlito"/>
              </a:rPr>
              <a:t>w</a:t>
            </a:r>
            <a:r>
              <a:rPr sz="3200" dirty="0">
                <a:latin typeface="Carlito"/>
                <a:cs typeface="Carlito"/>
              </a:rPr>
              <a:t>o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9144" y="5022341"/>
            <a:ext cx="76828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5" dirty="0">
                <a:latin typeface="Carlito"/>
                <a:cs typeface="Carlito"/>
              </a:rPr>
              <a:t>categories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5" dirty="0">
                <a:latin typeface="Carlito"/>
                <a:cs typeface="Carlito"/>
              </a:rPr>
              <a:t>impurities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i="1" dirty="0">
                <a:latin typeface="Carlito"/>
                <a:cs typeface="Carlito"/>
              </a:rPr>
              <a:t>n</a:t>
            </a:r>
            <a:r>
              <a:rPr sz="3200" dirty="0">
                <a:latin typeface="Carlito"/>
                <a:cs typeface="Carlito"/>
              </a:rPr>
              <a:t>-type and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i="1" spc="-5" dirty="0">
                <a:latin typeface="Carlito"/>
                <a:cs typeface="Carlito"/>
              </a:rPr>
              <a:t>p</a:t>
            </a:r>
            <a:r>
              <a:rPr sz="3200" spc="-5" dirty="0">
                <a:latin typeface="Carlito"/>
                <a:cs typeface="Carlito"/>
              </a:rPr>
              <a:t>-type.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0057" y="405511"/>
            <a:ext cx="51809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N-Type</a:t>
            </a:r>
            <a:r>
              <a:rPr sz="4400" spc="-75" dirty="0"/>
              <a:t> </a:t>
            </a:r>
            <a:r>
              <a:rPr sz="4400" spc="-10" dirty="0"/>
              <a:t>Semiconductor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61845"/>
            <a:ext cx="8074025" cy="392874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585"/>
              </a:spcBef>
              <a:buFont typeface="Arial"/>
              <a:buChar char="•"/>
              <a:tabLst>
                <a:tab pos="356235" algn="l"/>
              </a:tabLst>
            </a:pPr>
            <a:r>
              <a:rPr sz="2000" spc="-9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increase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number of conduction-band electrons in intrinsic silicon,  </a:t>
            </a:r>
            <a:r>
              <a:rPr sz="2000" b="1" spc="-10" dirty="0">
                <a:latin typeface="Carlito"/>
                <a:cs typeface="Carlito"/>
              </a:rPr>
              <a:t>pentavalent </a:t>
            </a:r>
            <a:r>
              <a:rPr sz="2000" spc="-5" dirty="0">
                <a:latin typeface="Carlito"/>
                <a:cs typeface="Carlito"/>
              </a:rPr>
              <a:t>impurity </a:t>
            </a:r>
            <a:r>
              <a:rPr sz="2000" spc="-10" dirty="0">
                <a:latin typeface="Carlito"/>
                <a:cs typeface="Carlito"/>
              </a:rPr>
              <a:t>atoms are </a:t>
            </a:r>
            <a:r>
              <a:rPr sz="2000" spc="-5" dirty="0">
                <a:latin typeface="Carlito"/>
                <a:cs typeface="Carlito"/>
              </a:rPr>
              <a:t>added. </a:t>
            </a:r>
            <a:r>
              <a:rPr sz="2000" spc="-10" dirty="0">
                <a:latin typeface="Carlito"/>
                <a:cs typeface="Carlito"/>
              </a:rPr>
              <a:t>These are atoms </a:t>
            </a:r>
            <a:r>
              <a:rPr sz="2000" dirty="0">
                <a:latin typeface="Carlito"/>
                <a:cs typeface="Carlito"/>
              </a:rPr>
              <a:t>with </a:t>
            </a:r>
            <a:r>
              <a:rPr sz="2000" spc="-10" dirty="0">
                <a:latin typeface="Carlito"/>
                <a:cs typeface="Carlito"/>
              </a:rPr>
              <a:t>five </a:t>
            </a:r>
            <a:r>
              <a:rPr sz="2000" spc="-5" dirty="0">
                <a:latin typeface="Carlito"/>
                <a:cs typeface="Carlito"/>
              </a:rPr>
              <a:t>valence  electrons such </a:t>
            </a:r>
            <a:r>
              <a:rPr sz="2000" dirty="0">
                <a:latin typeface="Carlito"/>
                <a:cs typeface="Carlito"/>
              </a:rPr>
              <a:t>as </a:t>
            </a:r>
            <a:r>
              <a:rPr sz="2000" spc="-10" dirty="0">
                <a:latin typeface="Carlito"/>
                <a:cs typeface="Carlito"/>
              </a:rPr>
              <a:t>arsenic </a:t>
            </a:r>
            <a:r>
              <a:rPr sz="2000" dirty="0">
                <a:latin typeface="Carlito"/>
                <a:cs typeface="Carlito"/>
              </a:rPr>
              <a:t>(As), </a:t>
            </a:r>
            <a:r>
              <a:rPr sz="2000" spc="-5" dirty="0">
                <a:latin typeface="Carlito"/>
                <a:cs typeface="Carlito"/>
              </a:rPr>
              <a:t>phosphorus (P), bismuth (Bi), and </a:t>
            </a:r>
            <a:r>
              <a:rPr sz="2000" spc="-10" dirty="0">
                <a:latin typeface="Carlito"/>
                <a:cs typeface="Carlito"/>
              </a:rPr>
              <a:t>antimony  </a:t>
            </a:r>
            <a:r>
              <a:rPr sz="2000" dirty="0">
                <a:latin typeface="Carlito"/>
                <a:cs typeface="Carlito"/>
              </a:rPr>
              <a:t>(Sb).</a:t>
            </a:r>
            <a:endParaRPr sz="2000">
              <a:latin typeface="Carlito"/>
              <a:cs typeface="Carlito"/>
            </a:endParaRPr>
          </a:p>
          <a:p>
            <a:pPr marL="355600" marR="5715" indent="-343535" algn="just">
              <a:lnSpc>
                <a:spcPts val="1920"/>
              </a:lnSpc>
              <a:spcBef>
                <a:spcPts val="459"/>
              </a:spcBef>
              <a:buFont typeface="Arial"/>
              <a:buChar char="•"/>
              <a:tabLst>
                <a:tab pos="356235" algn="l"/>
              </a:tabLst>
            </a:pPr>
            <a:r>
              <a:rPr sz="2000" dirty="0">
                <a:latin typeface="Carlito"/>
                <a:cs typeface="Carlito"/>
              </a:rPr>
              <a:t>As </a:t>
            </a:r>
            <a:r>
              <a:rPr sz="2000" spc="-10" dirty="0">
                <a:latin typeface="Carlito"/>
                <a:cs typeface="Carlito"/>
              </a:rPr>
              <a:t>illustrated </a:t>
            </a:r>
            <a:r>
              <a:rPr sz="2000" dirty="0">
                <a:latin typeface="Carlito"/>
                <a:cs typeface="Carlito"/>
              </a:rPr>
              <a:t>in </a:t>
            </a:r>
            <a:r>
              <a:rPr sz="2000" spc="-10" dirty="0">
                <a:latin typeface="Carlito"/>
                <a:cs typeface="Carlito"/>
              </a:rPr>
              <a:t>Figure, </a:t>
            </a:r>
            <a:r>
              <a:rPr sz="2000" dirty="0">
                <a:latin typeface="Carlito"/>
                <a:cs typeface="Carlito"/>
              </a:rPr>
              <a:t>each </a:t>
            </a:r>
            <a:r>
              <a:rPr sz="2000" spc="-15" dirty="0">
                <a:latin typeface="Carlito"/>
                <a:cs typeface="Carlito"/>
              </a:rPr>
              <a:t>pentavalent </a:t>
            </a:r>
            <a:r>
              <a:rPr sz="2000" spc="-10" dirty="0">
                <a:latin typeface="Carlito"/>
                <a:cs typeface="Carlito"/>
              </a:rPr>
              <a:t>atom </a:t>
            </a:r>
            <a:r>
              <a:rPr sz="2000" spc="-25" dirty="0">
                <a:latin typeface="Carlito"/>
                <a:cs typeface="Carlito"/>
              </a:rPr>
              <a:t>(antimony, </a:t>
            </a:r>
            <a:r>
              <a:rPr sz="2000" spc="-5" dirty="0">
                <a:latin typeface="Carlito"/>
                <a:cs typeface="Carlito"/>
              </a:rPr>
              <a:t>in this case)  </a:t>
            </a:r>
            <a:r>
              <a:rPr sz="2000" spc="-15" dirty="0">
                <a:latin typeface="Carlito"/>
                <a:cs typeface="Carlito"/>
              </a:rPr>
              <a:t>forms </a:t>
            </a:r>
            <a:r>
              <a:rPr sz="2000" spc="-10" dirty="0">
                <a:latin typeface="Carlito"/>
                <a:cs typeface="Carlito"/>
              </a:rPr>
              <a:t>covalent </a:t>
            </a:r>
            <a:r>
              <a:rPr sz="2000" dirty="0">
                <a:latin typeface="Carlito"/>
                <a:cs typeface="Carlito"/>
              </a:rPr>
              <a:t>bonds </a:t>
            </a:r>
            <a:r>
              <a:rPr sz="2000" spc="-5" dirty="0">
                <a:latin typeface="Carlito"/>
                <a:cs typeface="Carlito"/>
              </a:rPr>
              <a:t>with </a:t>
            </a:r>
            <a:r>
              <a:rPr sz="2000" spc="-15" dirty="0">
                <a:latin typeface="Carlito"/>
                <a:cs typeface="Carlito"/>
              </a:rPr>
              <a:t>four </a:t>
            </a:r>
            <a:r>
              <a:rPr sz="2000" spc="-5" dirty="0">
                <a:latin typeface="Carlito"/>
                <a:cs typeface="Carlito"/>
              </a:rPr>
              <a:t>adjacent silicon</a:t>
            </a:r>
            <a:r>
              <a:rPr sz="2000" spc="2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atoms.</a:t>
            </a:r>
            <a:endParaRPr sz="2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500"/>
              </a:spcBef>
              <a:buFont typeface="Arial"/>
              <a:buChar char="•"/>
              <a:tabLst>
                <a:tab pos="356235" algn="l"/>
              </a:tabLst>
            </a:pPr>
            <a:r>
              <a:rPr sz="2000" spc="-10" dirty="0">
                <a:latin typeface="Carlito"/>
                <a:cs typeface="Carlito"/>
              </a:rPr>
              <a:t>Four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antimony </a:t>
            </a:r>
            <a:r>
              <a:rPr sz="2000" spc="-30" dirty="0">
                <a:latin typeface="Carlito"/>
                <a:cs typeface="Carlito"/>
              </a:rPr>
              <a:t>atom’s </a:t>
            </a:r>
            <a:r>
              <a:rPr sz="2000" spc="-5" dirty="0">
                <a:latin typeface="Carlito"/>
                <a:cs typeface="Carlito"/>
              </a:rPr>
              <a:t>valence electrons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used </a:t>
            </a:r>
            <a:r>
              <a:rPr sz="2000" spc="-15" dirty="0">
                <a:latin typeface="Carlito"/>
                <a:cs typeface="Carlito"/>
              </a:rPr>
              <a:t>to form </a:t>
            </a:r>
            <a:r>
              <a:rPr sz="2000" spc="-10" dirty="0">
                <a:latin typeface="Carlito"/>
                <a:cs typeface="Carlito"/>
              </a:rPr>
              <a:t>the  covalent bonds </a:t>
            </a:r>
            <a:r>
              <a:rPr sz="2000" dirty="0">
                <a:latin typeface="Carlito"/>
                <a:cs typeface="Carlito"/>
              </a:rPr>
              <a:t>with </a:t>
            </a:r>
            <a:r>
              <a:rPr sz="2000" spc="-5" dirty="0">
                <a:latin typeface="Carlito"/>
                <a:cs typeface="Carlito"/>
              </a:rPr>
              <a:t>silicon </a:t>
            </a:r>
            <a:r>
              <a:rPr sz="2000" spc="-10" dirty="0">
                <a:latin typeface="Carlito"/>
                <a:cs typeface="Carlito"/>
              </a:rPr>
              <a:t>atoms, </a:t>
            </a:r>
            <a:r>
              <a:rPr sz="2000" spc="-5" dirty="0">
                <a:latin typeface="Carlito"/>
                <a:cs typeface="Carlito"/>
              </a:rPr>
              <a:t>leaving one </a:t>
            </a:r>
            <a:r>
              <a:rPr sz="2000" spc="-20" dirty="0">
                <a:latin typeface="Carlito"/>
                <a:cs typeface="Carlito"/>
              </a:rPr>
              <a:t>extra </a:t>
            </a:r>
            <a:r>
              <a:rPr sz="2000" spc="-5" dirty="0">
                <a:latin typeface="Carlito"/>
                <a:cs typeface="Carlito"/>
              </a:rPr>
              <a:t>electron. This </a:t>
            </a:r>
            <a:r>
              <a:rPr sz="2000" spc="-15" dirty="0">
                <a:latin typeface="Carlito"/>
                <a:cs typeface="Carlito"/>
              </a:rPr>
              <a:t>extra  </a:t>
            </a:r>
            <a:r>
              <a:rPr sz="2000" spc="-5" dirty="0">
                <a:latin typeface="Carlito"/>
                <a:cs typeface="Carlito"/>
              </a:rPr>
              <a:t>electron </a:t>
            </a:r>
            <a:r>
              <a:rPr sz="2000" spc="-10" dirty="0">
                <a:latin typeface="Carlito"/>
                <a:cs typeface="Carlito"/>
              </a:rPr>
              <a:t>becomes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conduction </a:t>
            </a:r>
            <a:r>
              <a:rPr sz="2000" spc="-10" dirty="0">
                <a:latin typeface="Carlito"/>
                <a:cs typeface="Carlito"/>
              </a:rPr>
              <a:t>electron </a:t>
            </a:r>
            <a:r>
              <a:rPr sz="2000" spc="-5" dirty="0">
                <a:latin typeface="Carlito"/>
                <a:cs typeface="Carlito"/>
              </a:rPr>
              <a:t>because it is not </a:t>
            </a:r>
            <a:r>
              <a:rPr sz="2000" spc="-15" dirty="0">
                <a:latin typeface="Carlito"/>
                <a:cs typeface="Carlito"/>
              </a:rPr>
              <a:t>involved </a:t>
            </a:r>
            <a:r>
              <a:rPr sz="2000" spc="-5" dirty="0">
                <a:latin typeface="Carlito"/>
                <a:cs typeface="Carlito"/>
              </a:rPr>
              <a:t>in  bonding. Because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5" dirty="0">
                <a:latin typeface="Carlito"/>
                <a:cs typeface="Carlito"/>
              </a:rPr>
              <a:t>pentavalent atom </a:t>
            </a:r>
            <a:r>
              <a:rPr sz="2000" spc="-5" dirty="0">
                <a:latin typeface="Carlito"/>
                <a:cs typeface="Carlito"/>
              </a:rPr>
              <a:t>gives </a:t>
            </a:r>
            <a:r>
              <a:rPr sz="2000" dirty="0">
                <a:latin typeface="Carlito"/>
                <a:cs typeface="Carlito"/>
              </a:rPr>
              <a:t>up an </a:t>
            </a:r>
            <a:r>
              <a:rPr sz="2000" spc="-10" dirty="0">
                <a:latin typeface="Carlito"/>
                <a:cs typeface="Carlito"/>
              </a:rPr>
              <a:t>electron, </a:t>
            </a:r>
            <a:r>
              <a:rPr sz="2000" spc="-5" dirty="0">
                <a:latin typeface="Carlito"/>
                <a:cs typeface="Carlito"/>
              </a:rPr>
              <a:t>it is </a:t>
            </a:r>
            <a:r>
              <a:rPr sz="2000" spc="-10" dirty="0">
                <a:latin typeface="Carlito"/>
                <a:cs typeface="Carlito"/>
              </a:rPr>
              <a:t>often  </a:t>
            </a:r>
            <a:r>
              <a:rPr sz="2000" spc="-5" dirty="0">
                <a:latin typeface="Carlito"/>
                <a:cs typeface="Carlito"/>
              </a:rPr>
              <a:t>called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i="1" spc="-5" dirty="0">
                <a:latin typeface="Carlito"/>
                <a:cs typeface="Carlito"/>
              </a:rPr>
              <a:t>donor</a:t>
            </a:r>
            <a:r>
              <a:rPr sz="2000" i="1" spc="-25" dirty="0">
                <a:latin typeface="Carlito"/>
                <a:cs typeface="Carlito"/>
              </a:rPr>
              <a:t> </a:t>
            </a:r>
            <a:r>
              <a:rPr sz="2000" i="1" spc="-5" dirty="0">
                <a:latin typeface="Carlito"/>
                <a:cs typeface="Carlito"/>
              </a:rPr>
              <a:t>atom.</a:t>
            </a:r>
            <a:endParaRPr sz="2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480"/>
              </a:spcBef>
              <a:buFont typeface="Arial"/>
              <a:buChar char="•"/>
              <a:tabLst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The number </a:t>
            </a:r>
            <a:r>
              <a:rPr sz="2000" spc="-10" dirty="0">
                <a:latin typeface="Carlito"/>
                <a:cs typeface="Carlito"/>
              </a:rPr>
              <a:t>of </a:t>
            </a:r>
            <a:r>
              <a:rPr sz="2000" spc="-5" dirty="0">
                <a:latin typeface="Carlito"/>
                <a:cs typeface="Carlito"/>
              </a:rPr>
              <a:t>conduction electrons can </a:t>
            </a:r>
            <a:r>
              <a:rPr sz="2000" dirty="0">
                <a:latin typeface="Carlito"/>
                <a:cs typeface="Carlito"/>
              </a:rPr>
              <a:t>be </a:t>
            </a:r>
            <a:r>
              <a:rPr sz="2000" spc="-10" dirty="0">
                <a:latin typeface="Carlito"/>
                <a:cs typeface="Carlito"/>
              </a:rPr>
              <a:t>carefully controlled </a:t>
            </a:r>
            <a:r>
              <a:rPr sz="2000" spc="-5" dirty="0">
                <a:latin typeface="Carlito"/>
                <a:cs typeface="Carlito"/>
              </a:rPr>
              <a:t>by </a:t>
            </a:r>
            <a:r>
              <a:rPr sz="2000" spc="-10" dirty="0">
                <a:latin typeface="Carlito"/>
                <a:cs typeface="Carlito"/>
              </a:rPr>
              <a:t>the  </a:t>
            </a:r>
            <a:r>
              <a:rPr sz="2000" dirty="0">
                <a:latin typeface="Carlito"/>
                <a:cs typeface="Carlito"/>
              </a:rPr>
              <a:t>number </a:t>
            </a:r>
            <a:r>
              <a:rPr sz="2000" spc="-5" dirty="0">
                <a:latin typeface="Carlito"/>
                <a:cs typeface="Carlito"/>
              </a:rPr>
              <a:t>of impurity </a:t>
            </a:r>
            <a:r>
              <a:rPr sz="2000" spc="-10" dirty="0">
                <a:latin typeface="Carlito"/>
                <a:cs typeface="Carlito"/>
              </a:rPr>
              <a:t>atoms </a:t>
            </a:r>
            <a:r>
              <a:rPr sz="2000" dirty="0">
                <a:latin typeface="Carlito"/>
                <a:cs typeface="Carlito"/>
              </a:rPr>
              <a:t>added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silicon.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conduction electron  </a:t>
            </a:r>
            <a:r>
              <a:rPr sz="2000" spc="-10" dirty="0">
                <a:latin typeface="Carlito"/>
                <a:cs typeface="Carlito"/>
              </a:rPr>
              <a:t>created </a:t>
            </a:r>
            <a:r>
              <a:rPr sz="2000" spc="-5" dirty="0">
                <a:latin typeface="Carlito"/>
                <a:cs typeface="Carlito"/>
              </a:rPr>
              <a:t>by </a:t>
            </a:r>
            <a:r>
              <a:rPr sz="2000" dirty="0">
                <a:latin typeface="Carlito"/>
                <a:cs typeface="Carlito"/>
              </a:rPr>
              <a:t>this </a:t>
            </a:r>
            <a:r>
              <a:rPr sz="2000" spc="-5" dirty="0">
                <a:latin typeface="Carlito"/>
                <a:cs typeface="Carlito"/>
              </a:rPr>
              <a:t>doping </a:t>
            </a:r>
            <a:r>
              <a:rPr sz="2000" spc="-10" dirty="0">
                <a:latin typeface="Carlito"/>
                <a:cs typeface="Carlito"/>
              </a:rPr>
              <a:t>process </a:t>
            </a:r>
            <a:r>
              <a:rPr sz="2000" spc="-5" dirty="0">
                <a:latin typeface="Carlito"/>
                <a:cs typeface="Carlito"/>
              </a:rPr>
              <a:t>does not </a:t>
            </a:r>
            <a:r>
              <a:rPr sz="2000" spc="-15" dirty="0">
                <a:latin typeface="Carlito"/>
                <a:cs typeface="Carlito"/>
              </a:rPr>
              <a:t>leave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hole in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valence band  because it is in </a:t>
            </a:r>
            <a:r>
              <a:rPr sz="2000" spc="-15" dirty="0">
                <a:latin typeface="Carlito"/>
                <a:cs typeface="Carlito"/>
              </a:rPr>
              <a:t>excess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 number </a:t>
            </a:r>
            <a:r>
              <a:rPr sz="2000" spc="-10" dirty="0">
                <a:latin typeface="Carlito"/>
                <a:cs typeface="Carlito"/>
              </a:rPr>
              <a:t>required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10" dirty="0">
                <a:latin typeface="Carlito"/>
                <a:cs typeface="Carlito"/>
              </a:rPr>
              <a:t>fill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valence</a:t>
            </a:r>
            <a:r>
              <a:rPr sz="2000" spc="114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band.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7102" y="405511"/>
            <a:ext cx="71450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N-Type </a:t>
            </a:r>
            <a:r>
              <a:rPr sz="4400" spc="-10" dirty="0"/>
              <a:t>Semiconductor</a:t>
            </a:r>
            <a:r>
              <a:rPr sz="4400" spc="-25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802892" y="1143000"/>
            <a:ext cx="6003035" cy="52136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7102" y="405511"/>
            <a:ext cx="71450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N-Type </a:t>
            </a:r>
            <a:r>
              <a:rPr sz="4400" spc="-10" dirty="0"/>
              <a:t>Semiconductor</a:t>
            </a:r>
            <a:r>
              <a:rPr sz="4400" spc="-25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7461"/>
            <a:ext cx="8074025" cy="405892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6235" algn="l"/>
              </a:tabLst>
            </a:pPr>
            <a:r>
              <a:rPr sz="2700" b="1" i="1" spc="-5" dirty="0">
                <a:latin typeface="Carlito"/>
                <a:cs typeface="Carlito"/>
              </a:rPr>
              <a:t>Majority </a:t>
            </a:r>
            <a:r>
              <a:rPr sz="2700" b="1" i="1" dirty="0">
                <a:latin typeface="Carlito"/>
                <a:cs typeface="Carlito"/>
              </a:rPr>
              <a:t>and </a:t>
            </a:r>
            <a:r>
              <a:rPr sz="2700" b="1" i="1" spc="-5" dirty="0">
                <a:latin typeface="Carlito"/>
                <a:cs typeface="Carlito"/>
              </a:rPr>
              <a:t>Minority </a:t>
            </a:r>
            <a:r>
              <a:rPr sz="2700" b="1" i="1" dirty="0">
                <a:latin typeface="Carlito"/>
                <a:cs typeface="Carlito"/>
              </a:rPr>
              <a:t>Carriers </a:t>
            </a:r>
            <a:r>
              <a:rPr sz="2700" spc="-5" dirty="0">
                <a:latin typeface="Carlito"/>
                <a:cs typeface="Carlito"/>
              </a:rPr>
              <a:t>Since </a:t>
            </a:r>
            <a:r>
              <a:rPr sz="2700" spc="-10" dirty="0">
                <a:latin typeface="Carlito"/>
                <a:cs typeface="Carlito"/>
              </a:rPr>
              <a:t>most </a:t>
            </a:r>
            <a:r>
              <a:rPr sz="2700" dirty="0">
                <a:latin typeface="Carlito"/>
                <a:cs typeface="Carlito"/>
              </a:rPr>
              <a:t>of </a:t>
            </a:r>
            <a:r>
              <a:rPr sz="2700" spc="-10" dirty="0">
                <a:latin typeface="Carlito"/>
                <a:cs typeface="Carlito"/>
              </a:rPr>
              <a:t>the  </a:t>
            </a:r>
            <a:r>
              <a:rPr sz="2700" spc="-15" dirty="0">
                <a:latin typeface="Carlito"/>
                <a:cs typeface="Carlito"/>
              </a:rPr>
              <a:t>current carriers </a:t>
            </a:r>
            <a:r>
              <a:rPr sz="2700" spc="-20" dirty="0">
                <a:latin typeface="Carlito"/>
                <a:cs typeface="Carlito"/>
              </a:rPr>
              <a:t>are </a:t>
            </a:r>
            <a:r>
              <a:rPr sz="2700" spc="-10" dirty="0">
                <a:latin typeface="Carlito"/>
                <a:cs typeface="Carlito"/>
              </a:rPr>
              <a:t>electrons, silicon (or </a:t>
            </a:r>
            <a:r>
              <a:rPr sz="2700" spc="-5" dirty="0">
                <a:latin typeface="Carlito"/>
                <a:cs typeface="Carlito"/>
              </a:rPr>
              <a:t>germanium)  </a:t>
            </a:r>
            <a:r>
              <a:rPr sz="2700" spc="-10" dirty="0">
                <a:latin typeface="Carlito"/>
                <a:cs typeface="Carlito"/>
              </a:rPr>
              <a:t>doped </a:t>
            </a:r>
            <a:r>
              <a:rPr sz="2700" spc="-5" dirty="0">
                <a:latin typeface="Carlito"/>
                <a:cs typeface="Carlito"/>
              </a:rPr>
              <a:t>with </a:t>
            </a:r>
            <a:r>
              <a:rPr sz="2700" spc="-20" dirty="0">
                <a:latin typeface="Carlito"/>
                <a:cs typeface="Carlito"/>
              </a:rPr>
              <a:t>pentavalent atoms </a:t>
            </a:r>
            <a:r>
              <a:rPr sz="2700" dirty="0">
                <a:latin typeface="Carlito"/>
                <a:cs typeface="Carlito"/>
              </a:rPr>
              <a:t>is an </a:t>
            </a:r>
            <a:r>
              <a:rPr sz="2700" i="1" spc="-10" dirty="0">
                <a:latin typeface="Carlito"/>
                <a:cs typeface="Carlito"/>
              </a:rPr>
              <a:t>n</a:t>
            </a:r>
            <a:r>
              <a:rPr sz="2700" spc="-10" dirty="0">
                <a:latin typeface="Carlito"/>
                <a:cs typeface="Carlito"/>
              </a:rPr>
              <a:t>-type  semiconductor (the </a:t>
            </a:r>
            <a:r>
              <a:rPr sz="2700" i="1" dirty="0">
                <a:latin typeface="Carlito"/>
                <a:cs typeface="Carlito"/>
              </a:rPr>
              <a:t>n </a:t>
            </a:r>
            <a:r>
              <a:rPr sz="2700" spc="-20" dirty="0">
                <a:latin typeface="Carlito"/>
                <a:cs typeface="Carlito"/>
              </a:rPr>
              <a:t>stands </a:t>
            </a:r>
            <a:r>
              <a:rPr sz="2700" spc="-25" dirty="0">
                <a:latin typeface="Carlito"/>
                <a:cs typeface="Carlito"/>
              </a:rPr>
              <a:t>for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20" dirty="0">
                <a:latin typeface="Carlito"/>
                <a:cs typeface="Carlito"/>
              </a:rPr>
              <a:t>negative </a:t>
            </a:r>
            <a:r>
              <a:rPr sz="2700" spc="-15" dirty="0">
                <a:latin typeface="Carlito"/>
                <a:cs typeface="Carlito"/>
              </a:rPr>
              <a:t>charge </a:t>
            </a:r>
            <a:r>
              <a:rPr sz="2700" spc="-10" dirty="0">
                <a:latin typeface="Carlito"/>
                <a:cs typeface="Carlito"/>
              </a:rPr>
              <a:t>on  </a:t>
            </a:r>
            <a:r>
              <a:rPr sz="2700" dirty="0">
                <a:latin typeface="Carlito"/>
                <a:cs typeface="Carlito"/>
              </a:rPr>
              <a:t>an </a:t>
            </a:r>
            <a:r>
              <a:rPr sz="2700" spc="-10" dirty="0">
                <a:latin typeface="Carlito"/>
                <a:cs typeface="Carlito"/>
              </a:rPr>
              <a:t>electron). </a:t>
            </a:r>
            <a:r>
              <a:rPr sz="2700" spc="-5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electrons </a:t>
            </a:r>
            <a:r>
              <a:rPr sz="2700" spc="-20" dirty="0">
                <a:latin typeface="Carlito"/>
                <a:cs typeface="Carlito"/>
              </a:rPr>
              <a:t>are </a:t>
            </a:r>
            <a:r>
              <a:rPr sz="2700" spc="-10" dirty="0">
                <a:latin typeface="Carlito"/>
                <a:cs typeface="Carlito"/>
              </a:rPr>
              <a:t>called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b="1" spc="-5" dirty="0">
                <a:latin typeface="Carlito"/>
                <a:cs typeface="Carlito"/>
              </a:rPr>
              <a:t>majority  </a:t>
            </a:r>
            <a:r>
              <a:rPr sz="2700" b="1" spc="-10" dirty="0">
                <a:latin typeface="Carlito"/>
                <a:cs typeface="Carlito"/>
              </a:rPr>
              <a:t>carriers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i="1" spc="-5" dirty="0">
                <a:latin typeface="Carlito"/>
                <a:cs typeface="Carlito"/>
              </a:rPr>
              <a:t>n</a:t>
            </a:r>
            <a:r>
              <a:rPr sz="2700" spc="-5" dirty="0">
                <a:latin typeface="Carlito"/>
                <a:cs typeface="Carlito"/>
              </a:rPr>
              <a:t>-type </a:t>
            </a:r>
            <a:r>
              <a:rPr sz="2700" spc="-10" dirty="0">
                <a:latin typeface="Carlito"/>
                <a:cs typeface="Carlito"/>
              </a:rPr>
              <a:t>material. </a:t>
            </a:r>
            <a:r>
              <a:rPr sz="2700" spc="-5" dirty="0">
                <a:latin typeface="Carlito"/>
                <a:cs typeface="Carlito"/>
              </a:rPr>
              <a:t>Although </a:t>
            </a:r>
            <a:r>
              <a:rPr sz="2700" dirty="0">
                <a:latin typeface="Carlito"/>
                <a:cs typeface="Carlito"/>
              </a:rPr>
              <a:t>the majority of  </a:t>
            </a:r>
            <a:r>
              <a:rPr sz="2700" spc="-15" dirty="0">
                <a:latin typeface="Carlito"/>
                <a:cs typeface="Carlito"/>
              </a:rPr>
              <a:t>current carriers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i="1" dirty="0">
                <a:latin typeface="Carlito"/>
                <a:cs typeface="Carlito"/>
              </a:rPr>
              <a:t>n</a:t>
            </a:r>
            <a:r>
              <a:rPr sz="2700" dirty="0">
                <a:latin typeface="Carlito"/>
                <a:cs typeface="Carlito"/>
              </a:rPr>
              <a:t>-type </a:t>
            </a:r>
            <a:r>
              <a:rPr sz="2700" spc="-10" dirty="0">
                <a:latin typeface="Carlito"/>
                <a:cs typeface="Carlito"/>
              </a:rPr>
              <a:t>material </a:t>
            </a:r>
            <a:r>
              <a:rPr sz="2700" spc="-15" dirty="0">
                <a:latin typeface="Carlito"/>
                <a:cs typeface="Carlito"/>
              </a:rPr>
              <a:t>are </a:t>
            </a:r>
            <a:r>
              <a:rPr sz="2700" spc="-10" dirty="0">
                <a:latin typeface="Carlito"/>
                <a:cs typeface="Carlito"/>
              </a:rPr>
              <a:t>electrons, </a:t>
            </a:r>
            <a:r>
              <a:rPr sz="2700" spc="-15" dirty="0">
                <a:latin typeface="Carlito"/>
                <a:cs typeface="Carlito"/>
              </a:rPr>
              <a:t>there  are </a:t>
            </a:r>
            <a:r>
              <a:rPr sz="2700" dirty="0">
                <a:latin typeface="Carlito"/>
                <a:cs typeface="Carlito"/>
              </a:rPr>
              <a:t>also a </a:t>
            </a:r>
            <a:r>
              <a:rPr sz="2700" spc="-30" dirty="0">
                <a:latin typeface="Carlito"/>
                <a:cs typeface="Carlito"/>
              </a:rPr>
              <a:t>few </a:t>
            </a:r>
            <a:r>
              <a:rPr sz="2700" spc="-5" dirty="0">
                <a:latin typeface="Carlito"/>
                <a:cs typeface="Carlito"/>
              </a:rPr>
              <a:t>holes </a:t>
            </a:r>
            <a:r>
              <a:rPr sz="2700" spc="-10" dirty="0">
                <a:latin typeface="Carlito"/>
                <a:cs typeface="Carlito"/>
              </a:rPr>
              <a:t>that </a:t>
            </a:r>
            <a:r>
              <a:rPr sz="2700" spc="-15" dirty="0">
                <a:latin typeface="Carlito"/>
                <a:cs typeface="Carlito"/>
              </a:rPr>
              <a:t>are </a:t>
            </a:r>
            <a:r>
              <a:rPr sz="2700" spc="-20" dirty="0">
                <a:latin typeface="Carlito"/>
                <a:cs typeface="Carlito"/>
              </a:rPr>
              <a:t>created </a:t>
            </a:r>
            <a:r>
              <a:rPr sz="2700" spc="-10" dirty="0">
                <a:latin typeface="Carlito"/>
                <a:cs typeface="Carlito"/>
              </a:rPr>
              <a:t>when electron-  </a:t>
            </a:r>
            <a:r>
              <a:rPr sz="2700" spc="-5" dirty="0">
                <a:latin typeface="Carlito"/>
                <a:cs typeface="Carlito"/>
              </a:rPr>
              <a:t>hole </a:t>
            </a:r>
            <a:r>
              <a:rPr sz="2700" spc="-15" dirty="0">
                <a:latin typeface="Carlito"/>
                <a:cs typeface="Carlito"/>
              </a:rPr>
              <a:t>pairs are </a:t>
            </a:r>
            <a:r>
              <a:rPr sz="2700" spc="-10" dirty="0">
                <a:latin typeface="Carlito"/>
                <a:cs typeface="Carlito"/>
              </a:rPr>
              <a:t>thermally </a:t>
            </a:r>
            <a:r>
              <a:rPr sz="2700" spc="-20" dirty="0">
                <a:latin typeface="Carlito"/>
                <a:cs typeface="Carlito"/>
              </a:rPr>
              <a:t>generated. </a:t>
            </a:r>
            <a:r>
              <a:rPr sz="2700" spc="-5" dirty="0">
                <a:latin typeface="Carlito"/>
                <a:cs typeface="Carlito"/>
              </a:rPr>
              <a:t>These holes </a:t>
            </a:r>
            <a:r>
              <a:rPr sz="2700" spc="-15" dirty="0">
                <a:latin typeface="Carlito"/>
                <a:cs typeface="Carlito"/>
              </a:rPr>
              <a:t>are </a:t>
            </a:r>
            <a:r>
              <a:rPr sz="2700" i="1" spc="-5" dirty="0">
                <a:latin typeface="Carlito"/>
                <a:cs typeface="Carlito"/>
              </a:rPr>
              <a:t>not  </a:t>
            </a:r>
            <a:r>
              <a:rPr sz="2700" spc="-15" dirty="0">
                <a:latin typeface="Carlito"/>
                <a:cs typeface="Carlito"/>
              </a:rPr>
              <a:t>produced </a:t>
            </a:r>
            <a:r>
              <a:rPr sz="2700" spc="-10" dirty="0">
                <a:latin typeface="Carlito"/>
                <a:cs typeface="Carlito"/>
              </a:rPr>
              <a:t>by </a:t>
            </a:r>
            <a:r>
              <a:rPr sz="2700" dirty="0">
                <a:latin typeface="Carlito"/>
                <a:cs typeface="Carlito"/>
              </a:rPr>
              <a:t>the </a:t>
            </a:r>
            <a:r>
              <a:rPr sz="2700" spc="-10" dirty="0">
                <a:latin typeface="Carlito"/>
                <a:cs typeface="Carlito"/>
              </a:rPr>
              <a:t>addition </a:t>
            </a:r>
            <a:r>
              <a:rPr sz="2700" dirty="0">
                <a:latin typeface="Carlito"/>
                <a:cs typeface="Carlito"/>
              </a:rPr>
              <a:t>of </a:t>
            </a:r>
            <a:r>
              <a:rPr sz="2700" spc="-10" dirty="0">
                <a:latin typeface="Carlito"/>
                <a:cs typeface="Carlito"/>
              </a:rPr>
              <a:t>the </a:t>
            </a:r>
            <a:r>
              <a:rPr sz="2700" spc="-20" dirty="0">
                <a:latin typeface="Carlito"/>
                <a:cs typeface="Carlito"/>
              </a:rPr>
              <a:t>pentavalent </a:t>
            </a:r>
            <a:r>
              <a:rPr sz="2700" spc="-5" dirty="0">
                <a:latin typeface="Carlito"/>
                <a:cs typeface="Carlito"/>
              </a:rPr>
              <a:t>impurity  </a:t>
            </a:r>
            <a:r>
              <a:rPr sz="2700" spc="-15" dirty="0">
                <a:latin typeface="Carlito"/>
                <a:cs typeface="Carlito"/>
              </a:rPr>
              <a:t>atoms. </a:t>
            </a:r>
            <a:r>
              <a:rPr sz="2700" spc="-5" dirty="0">
                <a:latin typeface="Carlito"/>
                <a:cs typeface="Carlito"/>
              </a:rPr>
              <a:t>Holes in an </a:t>
            </a:r>
            <a:r>
              <a:rPr sz="2700" i="1" spc="-5" dirty="0">
                <a:latin typeface="Carlito"/>
                <a:cs typeface="Carlito"/>
              </a:rPr>
              <a:t>n</a:t>
            </a:r>
            <a:r>
              <a:rPr sz="2700" spc="-5" dirty="0">
                <a:latin typeface="Carlito"/>
                <a:cs typeface="Carlito"/>
              </a:rPr>
              <a:t>-type </a:t>
            </a:r>
            <a:r>
              <a:rPr sz="2700" spc="-10" dirty="0">
                <a:latin typeface="Carlito"/>
                <a:cs typeface="Carlito"/>
              </a:rPr>
              <a:t>material </a:t>
            </a:r>
            <a:r>
              <a:rPr sz="2700" spc="-15" dirty="0">
                <a:latin typeface="Carlito"/>
                <a:cs typeface="Carlito"/>
              </a:rPr>
              <a:t>are </a:t>
            </a:r>
            <a:r>
              <a:rPr sz="2700" spc="-10" dirty="0">
                <a:latin typeface="Carlito"/>
                <a:cs typeface="Carlito"/>
              </a:rPr>
              <a:t>called </a:t>
            </a:r>
            <a:r>
              <a:rPr sz="2700" b="1" spc="-5" dirty="0">
                <a:latin typeface="Carlito"/>
                <a:cs typeface="Carlito"/>
              </a:rPr>
              <a:t>minority  </a:t>
            </a:r>
            <a:r>
              <a:rPr sz="2700" b="1" spc="-10" dirty="0">
                <a:latin typeface="Carlito"/>
                <a:cs typeface="Carlito"/>
              </a:rPr>
              <a:t>carriers.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5108" y="405511"/>
            <a:ext cx="51111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P-Type</a:t>
            </a:r>
            <a:r>
              <a:rPr sz="4400" spc="-55" dirty="0"/>
              <a:t> </a:t>
            </a:r>
            <a:r>
              <a:rPr sz="4400" spc="-10" dirty="0"/>
              <a:t>Semiconductor</a:t>
            </a:r>
            <a:endParaRPr sz="44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5749"/>
            <a:ext cx="17399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  <a:tab pos="782320" algn="l"/>
              </a:tabLst>
            </a:pPr>
            <a:r>
              <a:rPr sz="2200" spc="-100" dirty="0">
                <a:latin typeface="Carlito"/>
                <a:cs typeface="Carlito"/>
              </a:rPr>
              <a:t>To	</a:t>
            </a:r>
            <a:r>
              <a:rPr sz="2200" spc="-10" dirty="0">
                <a:latin typeface="Carlito"/>
                <a:cs typeface="Carlito"/>
              </a:rPr>
              <a:t>increase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17191" y="1555749"/>
            <a:ext cx="61906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8165" algn="l"/>
                <a:tab pos="1626235" algn="l"/>
                <a:tab pos="2027555" algn="l"/>
                <a:tab pos="2801620" algn="l"/>
                <a:tab pos="3180715" algn="l"/>
                <a:tab pos="4248150" algn="l"/>
                <a:tab pos="5193030" algn="l"/>
              </a:tabLst>
            </a:pPr>
            <a:r>
              <a:rPr sz="2200" spc="-5" dirty="0">
                <a:latin typeface="Carlito"/>
                <a:cs typeface="Carlito"/>
              </a:rPr>
              <a:t>the	number	</a:t>
            </a:r>
            <a:r>
              <a:rPr sz="2200" dirty="0">
                <a:latin typeface="Carlito"/>
                <a:cs typeface="Carlito"/>
              </a:rPr>
              <a:t>of	</a:t>
            </a:r>
            <a:r>
              <a:rPr sz="2200" spc="-10" dirty="0">
                <a:latin typeface="Carlito"/>
                <a:cs typeface="Carlito"/>
              </a:rPr>
              <a:t>holes	</a:t>
            </a:r>
            <a:r>
              <a:rPr sz="2200" spc="-5" dirty="0">
                <a:latin typeface="Carlito"/>
                <a:cs typeface="Carlito"/>
              </a:rPr>
              <a:t>in	intrinsic	</a:t>
            </a:r>
            <a:r>
              <a:rPr sz="2200" spc="-15" dirty="0">
                <a:latin typeface="Carlito"/>
                <a:cs typeface="Carlito"/>
              </a:rPr>
              <a:t>silicon,	</a:t>
            </a:r>
            <a:r>
              <a:rPr sz="2200" b="1" spc="-10" dirty="0">
                <a:latin typeface="Carlito"/>
                <a:cs typeface="Carlito"/>
              </a:rPr>
              <a:t>trivalent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algn="just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impurity </a:t>
            </a:r>
            <a:r>
              <a:rPr spc="-15" dirty="0"/>
              <a:t>atoms </a:t>
            </a:r>
            <a:r>
              <a:rPr spc="-10" dirty="0"/>
              <a:t>are</a:t>
            </a:r>
            <a:r>
              <a:rPr spc="40" dirty="0"/>
              <a:t> </a:t>
            </a:r>
            <a:r>
              <a:rPr spc="-5" dirty="0"/>
              <a:t>added.</a:t>
            </a:r>
          </a:p>
          <a:p>
            <a:pPr marL="355600" marR="6985" indent="-343535" algn="just">
              <a:lnSpc>
                <a:spcPct val="80000"/>
              </a:lnSpc>
              <a:spcBef>
                <a:spcPts val="535"/>
              </a:spcBef>
              <a:buFont typeface="Arial"/>
              <a:buChar char="•"/>
              <a:tabLst>
                <a:tab pos="356235" algn="l"/>
              </a:tabLst>
            </a:pPr>
            <a:r>
              <a:rPr spc="-5" dirty="0"/>
              <a:t>These </a:t>
            </a:r>
            <a:r>
              <a:rPr spc="-10" dirty="0"/>
              <a:t>are atoms </a:t>
            </a:r>
            <a:r>
              <a:rPr spc="-5" dirty="0"/>
              <a:t>with </a:t>
            </a:r>
            <a:r>
              <a:rPr spc="-10" dirty="0"/>
              <a:t>three valence electrons such </a:t>
            </a:r>
            <a:r>
              <a:rPr spc="-5" dirty="0"/>
              <a:t>as </a:t>
            </a:r>
            <a:r>
              <a:rPr spc="-10" dirty="0"/>
              <a:t>boron (B),  </a:t>
            </a:r>
            <a:r>
              <a:rPr spc="-5" dirty="0"/>
              <a:t>indium </a:t>
            </a:r>
            <a:r>
              <a:rPr spc="-10" dirty="0"/>
              <a:t>(In), </a:t>
            </a:r>
            <a:r>
              <a:rPr spc="-5" dirty="0"/>
              <a:t>and </a:t>
            </a:r>
            <a:r>
              <a:rPr spc="-10" dirty="0"/>
              <a:t>gallium (Ga).</a:t>
            </a:r>
          </a:p>
          <a:p>
            <a:pPr marL="355600" marR="5715" indent="-343535" algn="just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356235" algn="l"/>
              </a:tabLst>
            </a:pPr>
            <a:r>
              <a:rPr spc="-5" dirty="0"/>
              <a:t>As </a:t>
            </a:r>
            <a:r>
              <a:rPr spc="-15" dirty="0"/>
              <a:t>illustrated </a:t>
            </a:r>
            <a:r>
              <a:rPr spc="-5" dirty="0"/>
              <a:t>in </a:t>
            </a:r>
            <a:r>
              <a:rPr spc="-10" dirty="0"/>
              <a:t>Figure, </a:t>
            </a:r>
            <a:r>
              <a:rPr spc="-5" dirty="0"/>
              <a:t>each </a:t>
            </a:r>
            <a:r>
              <a:rPr spc="-15" dirty="0"/>
              <a:t>trivalent atom </a:t>
            </a:r>
            <a:r>
              <a:rPr spc="-10" dirty="0"/>
              <a:t>(boron, </a:t>
            </a:r>
            <a:r>
              <a:rPr spc="-5" dirty="0"/>
              <a:t>in this case)  </a:t>
            </a:r>
            <a:r>
              <a:rPr spc="-15" dirty="0"/>
              <a:t>forms covalent </a:t>
            </a:r>
            <a:r>
              <a:rPr spc="-10" dirty="0"/>
              <a:t>bonds </a:t>
            </a:r>
            <a:r>
              <a:rPr spc="-5" dirty="0"/>
              <a:t>with </a:t>
            </a:r>
            <a:r>
              <a:rPr spc="-20" dirty="0"/>
              <a:t>four </a:t>
            </a:r>
            <a:r>
              <a:rPr spc="-10" dirty="0"/>
              <a:t>adjacent silicon</a:t>
            </a:r>
            <a:r>
              <a:rPr spc="100" dirty="0"/>
              <a:t> </a:t>
            </a:r>
            <a:r>
              <a:rPr spc="-10" dirty="0"/>
              <a:t>atoms.</a:t>
            </a:r>
          </a:p>
          <a:p>
            <a:pPr marL="355600" marR="6985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pc="-5" dirty="0"/>
              <a:t>All </a:t>
            </a:r>
            <a:r>
              <a:rPr spc="-10" dirty="0"/>
              <a:t>three </a:t>
            </a:r>
            <a:r>
              <a:rPr spc="-5" dirty="0"/>
              <a:t>of the </a:t>
            </a:r>
            <a:r>
              <a:rPr spc="-15" dirty="0"/>
              <a:t>boron </a:t>
            </a:r>
            <a:r>
              <a:rPr spc="-35" dirty="0"/>
              <a:t>atom’s </a:t>
            </a:r>
            <a:r>
              <a:rPr spc="-10" dirty="0"/>
              <a:t>valence electrons </a:t>
            </a:r>
            <a:r>
              <a:rPr spc="-15" dirty="0"/>
              <a:t>are </a:t>
            </a:r>
            <a:r>
              <a:rPr spc="-5" dirty="0"/>
              <a:t>used in the  </a:t>
            </a:r>
            <a:r>
              <a:rPr spc="-15" dirty="0"/>
              <a:t>covalent </a:t>
            </a:r>
            <a:r>
              <a:rPr spc="-5" dirty="0"/>
              <a:t>bonds; and, </a:t>
            </a:r>
            <a:r>
              <a:rPr spc="-10" dirty="0"/>
              <a:t>since </a:t>
            </a:r>
            <a:r>
              <a:rPr spc="-20" dirty="0"/>
              <a:t>four </a:t>
            </a:r>
            <a:r>
              <a:rPr spc="-10" dirty="0"/>
              <a:t>electrons are required, </a:t>
            </a:r>
            <a:r>
              <a:rPr spc="-5" dirty="0"/>
              <a:t>a </a:t>
            </a:r>
            <a:r>
              <a:rPr spc="-10" dirty="0"/>
              <a:t>hole  results </a:t>
            </a:r>
            <a:r>
              <a:rPr spc="-5" dirty="0"/>
              <a:t>when each </a:t>
            </a:r>
            <a:r>
              <a:rPr spc="-10" dirty="0"/>
              <a:t>trivalent </a:t>
            </a:r>
            <a:r>
              <a:rPr spc="-15" dirty="0"/>
              <a:t>atom </a:t>
            </a:r>
            <a:r>
              <a:rPr spc="-5" dirty="0"/>
              <a:t>is</a:t>
            </a:r>
            <a:r>
              <a:rPr spc="55" dirty="0"/>
              <a:t> </a:t>
            </a:r>
            <a:r>
              <a:rPr spc="-5" dirty="0"/>
              <a:t>added.</a:t>
            </a:r>
          </a:p>
          <a:p>
            <a:pPr marL="355600" marR="5080" indent="-343535" algn="just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356235" algn="l"/>
              </a:tabLst>
            </a:pPr>
            <a:r>
              <a:rPr spc="-5" dirty="0"/>
              <a:t>Because the </a:t>
            </a:r>
            <a:r>
              <a:rPr spc="-10" dirty="0"/>
              <a:t>trivalent </a:t>
            </a:r>
            <a:r>
              <a:rPr spc="-15" dirty="0"/>
              <a:t>atom can </a:t>
            </a:r>
            <a:r>
              <a:rPr spc="-25" dirty="0"/>
              <a:t>take </a:t>
            </a:r>
            <a:r>
              <a:rPr spc="-5" dirty="0"/>
              <a:t>an </a:t>
            </a:r>
            <a:r>
              <a:rPr spc="-10" dirty="0"/>
              <a:t>electron, </a:t>
            </a:r>
            <a:r>
              <a:rPr spc="-5" dirty="0"/>
              <a:t>it is </a:t>
            </a:r>
            <a:r>
              <a:rPr spc="-10" dirty="0"/>
              <a:t>often </a:t>
            </a:r>
            <a:r>
              <a:rPr spc="-20" dirty="0"/>
              <a:t>referred  to </a:t>
            </a:r>
            <a:r>
              <a:rPr spc="-5" dirty="0"/>
              <a:t>as an </a:t>
            </a:r>
            <a:r>
              <a:rPr i="1" spc="-15" dirty="0">
                <a:latin typeface="Carlito"/>
                <a:cs typeface="Carlito"/>
              </a:rPr>
              <a:t>acceptor </a:t>
            </a:r>
            <a:r>
              <a:rPr i="1" spc="-10" dirty="0">
                <a:latin typeface="Carlito"/>
                <a:cs typeface="Carlito"/>
              </a:rPr>
              <a:t>atom. </a:t>
            </a:r>
            <a:r>
              <a:rPr spc="-5" dirty="0"/>
              <a:t>The number </a:t>
            </a:r>
            <a:r>
              <a:rPr dirty="0"/>
              <a:t>of </a:t>
            </a:r>
            <a:r>
              <a:rPr spc="-10" dirty="0"/>
              <a:t>holes can </a:t>
            </a:r>
            <a:r>
              <a:rPr spc="-5" dirty="0"/>
              <a:t>be </a:t>
            </a:r>
            <a:r>
              <a:rPr spc="-15" dirty="0"/>
              <a:t>carefully  controlled </a:t>
            </a:r>
            <a:r>
              <a:rPr spc="-5" dirty="0"/>
              <a:t>by the number of </a:t>
            </a:r>
            <a:r>
              <a:rPr spc="-10" dirty="0"/>
              <a:t>trivalent </a:t>
            </a:r>
            <a:r>
              <a:rPr spc="-5" dirty="0"/>
              <a:t>impurity </a:t>
            </a:r>
            <a:r>
              <a:rPr spc="-10" dirty="0"/>
              <a:t>atoms </a:t>
            </a:r>
            <a:r>
              <a:rPr spc="-5" dirty="0"/>
              <a:t>added </a:t>
            </a:r>
            <a:r>
              <a:rPr spc="-20" dirty="0"/>
              <a:t>to </a:t>
            </a:r>
            <a:r>
              <a:rPr spc="-5" dirty="0"/>
              <a:t>the  </a:t>
            </a:r>
            <a:r>
              <a:rPr spc="-10" dirty="0"/>
              <a:t>silicon.</a:t>
            </a:r>
          </a:p>
          <a:p>
            <a:pPr marL="355600" marR="6985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pc="-5" dirty="0"/>
              <a:t>A </a:t>
            </a:r>
            <a:r>
              <a:rPr spc="-10" dirty="0"/>
              <a:t>hole </a:t>
            </a:r>
            <a:r>
              <a:rPr spc="-15" dirty="0"/>
              <a:t>created </a:t>
            </a:r>
            <a:r>
              <a:rPr spc="-5" dirty="0"/>
              <a:t>by this doping </a:t>
            </a:r>
            <a:r>
              <a:rPr spc="-10" dirty="0"/>
              <a:t>process </a:t>
            </a:r>
            <a:r>
              <a:rPr spc="-5" dirty="0"/>
              <a:t>is </a:t>
            </a:r>
            <a:r>
              <a:rPr i="1" spc="-10" dirty="0">
                <a:latin typeface="Carlito"/>
                <a:cs typeface="Carlito"/>
              </a:rPr>
              <a:t>not </a:t>
            </a:r>
            <a:r>
              <a:rPr spc="-5" dirty="0"/>
              <a:t>accompanied </a:t>
            </a:r>
            <a:r>
              <a:rPr spc="-10" dirty="0"/>
              <a:t>by </a:t>
            </a:r>
            <a:r>
              <a:rPr spc="-5" dirty="0"/>
              <a:t>a  </a:t>
            </a:r>
            <a:r>
              <a:rPr spc="-10" dirty="0"/>
              <a:t>conduction (free)</a:t>
            </a:r>
            <a:r>
              <a:rPr spc="10" dirty="0"/>
              <a:t> </a:t>
            </a:r>
            <a:r>
              <a:rPr spc="-10" dirty="0"/>
              <a:t>electron.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678" y="405511"/>
            <a:ext cx="70732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P-Type </a:t>
            </a:r>
            <a:r>
              <a:rPr sz="4400" spc="-10" dirty="0"/>
              <a:t>Semiconductor</a:t>
            </a:r>
            <a:r>
              <a:rPr sz="4400" spc="-20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057400" y="1170432"/>
            <a:ext cx="5486400" cy="5154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3678" y="405511"/>
            <a:ext cx="70732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5" dirty="0"/>
              <a:t>P-Type </a:t>
            </a:r>
            <a:r>
              <a:rPr sz="4400" spc="-10" dirty="0"/>
              <a:t>Semiconductor</a:t>
            </a:r>
            <a:r>
              <a:rPr sz="4400" spc="-20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5081"/>
            <a:ext cx="8073390" cy="39884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5600" marR="5715" indent="-343535" algn="just">
              <a:lnSpc>
                <a:spcPct val="80000"/>
              </a:lnSpc>
              <a:spcBef>
                <a:spcPts val="695"/>
              </a:spcBef>
              <a:buFont typeface="Arial"/>
              <a:buChar char="•"/>
              <a:tabLst>
                <a:tab pos="356235" algn="l"/>
              </a:tabLst>
            </a:pPr>
            <a:r>
              <a:rPr sz="2500" b="1" i="1" spc="-5" dirty="0">
                <a:latin typeface="Carlito"/>
                <a:cs typeface="Carlito"/>
              </a:rPr>
              <a:t>Majority and </a:t>
            </a:r>
            <a:r>
              <a:rPr sz="2500" b="1" i="1" spc="-10" dirty="0">
                <a:latin typeface="Carlito"/>
                <a:cs typeface="Carlito"/>
              </a:rPr>
              <a:t>Minority </a:t>
            </a:r>
            <a:r>
              <a:rPr sz="2500" b="1" i="1" spc="-5" dirty="0">
                <a:latin typeface="Carlito"/>
                <a:cs typeface="Carlito"/>
              </a:rPr>
              <a:t>Carriers </a:t>
            </a:r>
            <a:r>
              <a:rPr sz="2500" spc="-5" dirty="0">
                <a:latin typeface="Carlito"/>
                <a:cs typeface="Carlito"/>
              </a:rPr>
              <a:t>Since </a:t>
            </a:r>
            <a:r>
              <a:rPr sz="2500" spc="-10" dirty="0">
                <a:latin typeface="Carlito"/>
                <a:cs typeface="Carlito"/>
              </a:rPr>
              <a:t>most </a:t>
            </a:r>
            <a:r>
              <a:rPr sz="2500" spc="-5" dirty="0">
                <a:latin typeface="Carlito"/>
                <a:cs typeface="Carlito"/>
              </a:rPr>
              <a:t>of the </a:t>
            </a:r>
            <a:r>
              <a:rPr sz="2500" spc="-10" dirty="0">
                <a:latin typeface="Carlito"/>
                <a:cs typeface="Carlito"/>
              </a:rPr>
              <a:t>current  carriers are </a:t>
            </a:r>
            <a:r>
              <a:rPr sz="2500" spc="-5" dirty="0">
                <a:latin typeface="Carlito"/>
                <a:cs typeface="Carlito"/>
              </a:rPr>
              <a:t>holes, </a:t>
            </a:r>
            <a:r>
              <a:rPr sz="2500" spc="-10" dirty="0">
                <a:latin typeface="Carlito"/>
                <a:cs typeface="Carlito"/>
              </a:rPr>
              <a:t>silicon </a:t>
            </a:r>
            <a:r>
              <a:rPr sz="2500" spc="-5" dirty="0">
                <a:latin typeface="Carlito"/>
                <a:cs typeface="Carlito"/>
              </a:rPr>
              <a:t>(or germanium) doped with  </a:t>
            </a:r>
            <a:r>
              <a:rPr sz="2500" spc="-10" dirty="0">
                <a:latin typeface="Carlito"/>
                <a:cs typeface="Carlito"/>
              </a:rPr>
              <a:t>trivalent </a:t>
            </a:r>
            <a:r>
              <a:rPr sz="2500" spc="-15" dirty="0">
                <a:latin typeface="Carlito"/>
                <a:cs typeface="Carlito"/>
              </a:rPr>
              <a:t>atoms </a:t>
            </a:r>
            <a:r>
              <a:rPr sz="2500" spc="-5" dirty="0">
                <a:latin typeface="Carlito"/>
                <a:cs typeface="Carlito"/>
              </a:rPr>
              <a:t>is called a </a:t>
            </a:r>
            <a:r>
              <a:rPr sz="2500" i="1" spc="-5" dirty="0">
                <a:latin typeface="Carlito"/>
                <a:cs typeface="Carlito"/>
              </a:rPr>
              <a:t>p</a:t>
            </a:r>
            <a:r>
              <a:rPr sz="2500" spc="-5" dirty="0">
                <a:latin typeface="Carlito"/>
                <a:cs typeface="Carlito"/>
              </a:rPr>
              <a:t>-type </a:t>
            </a:r>
            <a:r>
              <a:rPr sz="2500" spc="-25" dirty="0">
                <a:latin typeface="Carlito"/>
                <a:cs typeface="Carlito"/>
              </a:rPr>
              <a:t>semiconductor. </a:t>
            </a:r>
            <a:r>
              <a:rPr sz="2500" spc="-10" dirty="0">
                <a:latin typeface="Carlito"/>
                <a:cs typeface="Carlito"/>
              </a:rPr>
              <a:t>The holes  </a:t>
            </a:r>
            <a:r>
              <a:rPr sz="2500" spc="-15" dirty="0">
                <a:latin typeface="Carlito"/>
                <a:cs typeface="Carlito"/>
              </a:rPr>
              <a:t>are </a:t>
            </a:r>
            <a:r>
              <a:rPr sz="2500" spc="-5" dirty="0">
                <a:latin typeface="Carlito"/>
                <a:cs typeface="Carlito"/>
              </a:rPr>
              <a:t>the majority </a:t>
            </a:r>
            <a:r>
              <a:rPr sz="2500" spc="-10" dirty="0">
                <a:latin typeface="Carlito"/>
                <a:cs typeface="Carlito"/>
              </a:rPr>
              <a:t>carriers </a:t>
            </a:r>
            <a:r>
              <a:rPr sz="2500" spc="-5" dirty="0">
                <a:latin typeface="Carlito"/>
                <a:cs typeface="Carlito"/>
              </a:rPr>
              <a:t>in </a:t>
            </a:r>
            <a:r>
              <a:rPr sz="2500" i="1" spc="-5" dirty="0">
                <a:latin typeface="Carlito"/>
                <a:cs typeface="Carlito"/>
              </a:rPr>
              <a:t>p</a:t>
            </a:r>
            <a:r>
              <a:rPr sz="2500" spc="-5" dirty="0">
                <a:latin typeface="Carlito"/>
                <a:cs typeface="Carlito"/>
              </a:rPr>
              <a:t>-type</a:t>
            </a:r>
            <a:r>
              <a:rPr sz="2500" spc="75" dirty="0">
                <a:latin typeface="Carlito"/>
                <a:cs typeface="Carlito"/>
              </a:rPr>
              <a:t> </a:t>
            </a:r>
            <a:r>
              <a:rPr sz="2500" spc="-5" dirty="0">
                <a:latin typeface="Carlito"/>
                <a:cs typeface="Carlito"/>
              </a:rPr>
              <a:t>material.</a:t>
            </a:r>
            <a:endParaRPr sz="25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60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5" dirty="0">
                <a:latin typeface="Carlito"/>
                <a:cs typeface="Carlito"/>
              </a:rPr>
              <a:t>Although </a:t>
            </a:r>
            <a:r>
              <a:rPr sz="2500" dirty="0">
                <a:latin typeface="Carlito"/>
                <a:cs typeface="Carlito"/>
              </a:rPr>
              <a:t>the </a:t>
            </a:r>
            <a:r>
              <a:rPr sz="2500" spc="-5" dirty="0">
                <a:latin typeface="Carlito"/>
                <a:cs typeface="Carlito"/>
              </a:rPr>
              <a:t>majority of </a:t>
            </a:r>
            <a:r>
              <a:rPr sz="2500" spc="-10" dirty="0">
                <a:latin typeface="Carlito"/>
                <a:cs typeface="Carlito"/>
              </a:rPr>
              <a:t>current carriers </a:t>
            </a:r>
            <a:r>
              <a:rPr sz="2500" spc="-5" dirty="0">
                <a:latin typeface="Carlito"/>
                <a:cs typeface="Carlito"/>
              </a:rPr>
              <a:t>in </a:t>
            </a:r>
            <a:r>
              <a:rPr sz="2500" i="1" spc="-5" dirty="0">
                <a:latin typeface="Carlito"/>
                <a:cs typeface="Carlito"/>
              </a:rPr>
              <a:t>p</a:t>
            </a:r>
            <a:r>
              <a:rPr sz="2500" spc="-5" dirty="0">
                <a:latin typeface="Carlito"/>
                <a:cs typeface="Carlito"/>
              </a:rPr>
              <a:t>-type </a:t>
            </a:r>
            <a:r>
              <a:rPr sz="2500" spc="-10" dirty="0">
                <a:latin typeface="Carlito"/>
                <a:cs typeface="Carlito"/>
              </a:rPr>
              <a:t>material  </a:t>
            </a:r>
            <a:r>
              <a:rPr sz="2500" spc="-15" dirty="0">
                <a:latin typeface="Carlito"/>
                <a:cs typeface="Carlito"/>
              </a:rPr>
              <a:t>are </a:t>
            </a:r>
            <a:r>
              <a:rPr sz="2500" spc="-5" dirty="0">
                <a:latin typeface="Carlito"/>
                <a:cs typeface="Carlito"/>
              </a:rPr>
              <a:t>holes, </a:t>
            </a:r>
            <a:r>
              <a:rPr sz="2500" spc="-10" dirty="0">
                <a:latin typeface="Carlito"/>
                <a:cs typeface="Carlito"/>
              </a:rPr>
              <a:t>there </a:t>
            </a:r>
            <a:r>
              <a:rPr sz="2500" spc="-15" dirty="0">
                <a:latin typeface="Carlito"/>
                <a:cs typeface="Carlito"/>
              </a:rPr>
              <a:t>are </a:t>
            </a:r>
            <a:r>
              <a:rPr sz="2500" dirty="0">
                <a:latin typeface="Carlito"/>
                <a:cs typeface="Carlito"/>
              </a:rPr>
              <a:t>also </a:t>
            </a:r>
            <a:r>
              <a:rPr sz="2500" spc="-5" dirty="0">
                <a:latin typeface="Carlito"/>
                <a:cs typeface="Carlito"/>
              </a:rPr>
              <a:t>a </a:t>
            </a:r>
            <a:r>
              <a:rPr sz="2500" spc="-30" dirty="0">
                <a:latin typeface="Carlito"/>
                <a:cs typeface="Carlito"/>
              </a:rPr>
              <a:t>few </a:t>
            </a:r>
            <a:r>
              <a:rPr sz="2500" spc="-5" dirty="0">
                <a:latin typeface="Carlito"/>
                <a:cs typeface="Carlito"/>
              </a:rPr>
              <a:t>conduction-band electrons  </a:t>
            </a:r>
            <a:r>
              <a:rPr sz="2500" spc="-10" dirty="0">
                <a:latin typeface="Carlito"/>
                <a:cs typeface="Carlito"/>
              </a:rPr>
              <a:t>that </a:t>
            </a:r>
            <a:r>
              <a:rPr sz="2500" spc="-15" dirty="0">
                <a:latin typeface="Carlito"/>
                <a:cs typeface="Carlito"/>
              </a:rPr>
              <a:t>are </a:t>
            </a:r>
            <a:r>
              <a:rPr sz="2500" spc="-10" dirty="0">
                <a:latin typeface="Carlito"/>
                <a:cs typeface="Carlito"/>
              </a:rPr>
              <a:t>created </a:t>
            </a:r>
            <a:r>
              <a:rPr sz="2500" dirty="0">
                <a:latin typeface="Carlito"/>
                <a:cs typeface="Carlito"/>
              </a:rPr>
              <a:t>when </a:t>
            </a:r>
            <a:r>
              <a:rPr sz="2500" spc="-5" dirty="0">
                <a:latin typeface="Carlito"/>
                <a:cs typeface="Carlito"/>
              </a:rPr>
              <a:t>electron-hole </a:t>
            </a:r>
            <a:r>
              <a:rPr sz="2500" spc="-15" dirty="0">
                <a:latin typeface="Carlito"/>
                <a:cs typeface="Carlito"/>
              </a:rPr>
              <a:t>pairs are </a:t>
            </a:r>
            <a:r>
              <a:rPr sz="2500" dirty="0">
                <a:latin typeface="Carlito"/>
                <a:cs typeface="Carlito"/>
              </a:rPr>
              <a:t>thermally  </a:t>
            </a:r>
            <a:r>
              <a:rPr sz="2500" spc="-15" dirty="0">
                <a:latin typeface="Carlito"/>
                <a:cs typeface="Carlito"/>
              </a:rPr>
              <a:t>generated.</a:t>
            </a:r>
            <a:endParaRPr sz="2500">
              <a:latin typeface="Carlito"/>
              <a:cs typeface="Carlito"/>
            </a:endParaRPr>
          </a:p>
          <a:p>
            <a:pPr marL="355600" marR="6350" indent="-343535" algn="just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10" dirty="0">
                <a:latin typeface="Carlito"/>
                <a:cs typeface="Carlito"/>
              </a:rPr>
              <a:t>These </a:t>
            </a:r>
            <a:r>
              <a:rPr sz="2500" spc="-5" dirty="0">
                <a:latin typeface="Carlito"/>
                <a:cs typeface="Carlito"/>
              </a:rPr>
              <a:t>conduction-band electrons </a:t>
            </a:r>
            <a:r>
              <a:rPr sz="2500" spc="-15" dirty="0">
                <a:latin typeface="Carlito"/>
                <a:cs typeface="Carlito"/>
              </a:rPr>
              <a:t>are </a:t>
            </a:r>
            <a:r>
              <a:rPr sz="2500" i="1" spc="-10" dirty="0">
                <a:latin typeface="Carlito"/>
                <a:cs typeface="Carlito"/>
              </a:rPr>
              <a:t>not </a:t>
            </a:r>
            <a:r>
              <a:rPr sz="2500" spc="-15" dirty="0">
                <a:latin typeface="Carlito"/>
                <a:cs typeface="Carlito"/>
              </a:rPr>
              <a:t>produced </a:t>
            </a:r>
            <a:r>
              <a:rPr sz="2500" spc="-5" dirty="0">
                <a:latin typeface="Carlito"/>
                <a:cs typeface="Carlito"/>
              </a:rPr>
              <a:t>by the  addition of the </a:t>
            </a:r>
            <a:r>
              <a:rPr sz="2500" spc="-10" dirty="0">
                <a:latin typeface="Carlito"/>
                <a:cs typeface="Carlito"/>
              </a:rPr>
              <a:t>trivalent </a:t>
            </a:r>
            <a:r>
              <a:rPr sz="2500" spc="-5" dirty="0">
                <a:latin typeface="Carlito"/>
                <a:cs typeface="Carlito"/>
              </a:rPr>
              <a:t>impurity</a:t>
            </a:r>
            <a:r>
              <a:rPr sz="2500" spc="25" dirty="0">
                <a:latin typeface="Carlito"/>
                <a:cs typeface="Carlito"/>
              </a:rPr>
              <a:t> </a:t>
            </a:r>
            <a:r>
              <a:rPr sz="2500" spc="-15" dirty="0">
                <a:latin typeface="Carlito"/>
                <a:cs typeface="Carlito"/>
              </a:rPr>
              <a:t>atoms.</a:t>
            </a:r>
            <a:endParaRPr sz="2500">
              <a:latin typeface="Carlito"/>
              <a:cs typeface="Carlito"/>
            </a:endParaRPr>
          </a:p>
          <a:p>
            <a:pPr marL="355600" marR="6350" indent="-343535" algn="just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5" dirty="0">
                <a:latin typeface="Carlito"/>
                <a:cs typeface="Carlito"/>
              </a:rPr>
              <a:t>Conduction-band electrons in </a:t>
            </a:r>
            <a:r>
              <a:rPr sz="2500" i="1" spc="-5" dirty="0">
                <a:latin typeface="Carlito"/>
                <a:cs typeface="Carlito"/>
              </a:rPr>
              <a:t>p</a:t>
            </a:r>
            <a:r>
              <a:rPr sz="2500" spc="-5" dirty="0">
                <a:latin typeface="Carlito"/>
                <a:cs typeface="Carlito"/>
              </a:rPr>
              <a:t>-type </a:t>
            </a:r>
            <a:r>
              <a:rPr sz="2500" spc="-10" dirty="0">
                <a:latin typeface="Carlito"/>
                <a:cs typeface="Carlito"/>
              </a:rPr>
              <a:t>material </a:t>
            </a:r>
            <a:r>
              <a:rPr sz="2500" spc="-15" dirty="0">
                <a:latin typeface="Carlito"/>
                <a:cs typeface="Carlito"/>
              </a:rPr>
              <a:t>are  </a:t>
            </a:r>
            <a:r>
              <a:rPr sz="2500" dirty="0">
                <a:latin typeface="Carlito"/>
                <a:cs typeface="Carlito"/>
              </a:rPr>
              <a:t>the  </a:t>
            </a:r>
            <a:r>
              <a:rPr sz="2500" spc="-5" dirty="0">
                <a:latin typeface="Carlito"/>
                <a:cs typeface="Carlito"/>
              </a:rPr>
              <a:t>minority</a:t>
            </a:r>
            <a:r>
              <a:rPr sz="2500" spc="1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carriers.</a:t>
            </a:r>
            <a:endParaRPr sz="2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1770" y="405511"/>
            <a:ext cx="36810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</a:t>
            </a:r>
            <a:r>
              <a:rPr sz="4400" dirty="0"/>
              <a:t>PN</a:t>
            </a:r>
            <a:r>
              <a:rPr sz="4400" spc="-70" dirty="0"/>
              <a:t> </a:t>
            </a:r>
            <a:r>
              <a:rPr sz="4400" dirty="0"/>
              <a:t>Junction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46149"/>
            <a:ext cx="8073390" cy="532320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5715" indent="-343535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i="1" spc="-5" dirty="0">
                <a:latin typeface="Carlito"/>
                <a:cs typeface="Carlito"/>
              </a:rPr>
              <a:t>p</a:t>
            </a:r>
            <a:r>
              <a:rPr sz="2200" spc="-5" dirty="0">
                <a:latin typeface="Carlito"/>
                <a:cs typeface="Carlito"/>
              </a:rPr>
              <a:t>-type </a:t>
            </a:r>
            <a:r>
              <a:rPr sz="2200" spc="-10" dirty="0">
                <a:latin typeface="Carlito"/>
                <a:cs typeface="Carlito"/>
              </a:rPr>
              <a:t>material consists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silicon </a:t>
            </a:r>
            <a:r>
              <a:rPr sz="2200" spc="-15" dirty="0">
                <a:latin typeface="Carlito"/>
                <a:cs typeface="Carlito"/>
              </a:rPr>
              <a:t>atoms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trivalent </a:t>
            </a:r>
            <a:r>
              <a:rPr sz="2200" spc="-5" dirty="0">
                <a:latin typeface="Carlito"/>
                <a:cs typeface="Carlito"/>
              </a:rPr>
              <a:t>impurity  </a:t>
            </a:r>
            <a:r>
              <a:rPr sz="2200" spc="-15" dirty="0">
                <a:latin typeface="Carlito"/>
                <a:cs typeface="Carlito"/>
              </a:rPr>
              <a:t>atoms </a:t>
            </a:r>
            <a:r>
              <a:rPr sz="2200" spc="-10" dirty="0">
                <a:latin typeface="Carlito"/>
                <a:cs typeface="Carlito"/>
              </a:rPr>
              <a:t>such </a:t>
            </a:r>
            <a:r>
              <a:rPr sz="2200" spc="-5" dirty="0">
                <a:latin typeface="Carlito"/>
                <a:cs typeface="Carlito"/>
              </a:rPr>
              <a:t>as </a:t>
            </a:r>
            <a:r>
              <a:rPr sz="2200" spc="-10" dirty="0">
                <a:latin typeface="Carlito"/>
                <a:cs typeface="Carlito"/>
              </a:rPr>
              <a:t>boron. The boron </a:t>
            </a:r>
            <a:r>
              <a:rPr sz="2200" spc="-15" dirty="0">
                <a:latin typeface="Carlito"/>
                <a:cs typeface="Carlito"/>
              </a:rPr>
              <a:t>atom </a:t>
            </a:r>
            <a:r>
              <a:rPr sz="2200" spc="-5" dirty="0">
                <a:latin typeface="Carlito"/>
                <a:cs typeface="Carlito"/>
              </a:rPr>
              <a:t>adds a </a:t>
            </a:r>
            <a:r>
              <a:rPr sz="2200" spc="-10" dirty="0">
                <a:latin typeface="Carlito"/>
                <a:cs typeface="Carlito"/>
              </a:rPr>
              <a:t>hole </a:t>
            </a:r>
            <a:r>
              <a:rPr sz="2200" spc="-5" dirty="0">
                <a:latin typeface="Carlito"/>
                <a:cs typeface="Carlito"/>
              </a:rPr>
              <a:t>when it </a:t>
            </a:r>
            <a:r>
              <a:rPr sz="2200" spc="-10" dirty="0">
                <a:latin typeface="Carlito"/>
                <a:cs typeface="Carlito"/>
              </a:rPr>
              <a:t>bonds  </a:t>
            </a:r>
            <a:r>
              <a:rPr sz="2200" spc="-5" dirty="0">
                <a:latin typeface="Carlito"/>
                <a:cs typeface="Carlito"/>
              </a:rPr>
              <a:t>with the </a:t>
            </a:r>
            <a:r>
              <a:rPr sz="2200" spc="-10" dirty="0">
                <a:latin typeface="Carlito"/>
                <a:cs typeface="Carlito"/>
              </a:rPr>
              <a:t>silicon atoms. </a:t>
            </a:r>
            <a:r>
              <a:rPr sz="2200" spc="-35" dirty="0">
                <a:latin typeface="Carlito"/>
                <a:cs typeface="Carlito"/>
              </a:rPr>
              <a:t>However, </a:t>
            </a:r>
            <a:r>
              <a:rPr sz="2200" spc="-10" dirty="0">
                <a:latin typeface="Carlito"/>
                <a:cs typeface="Carlito"/>
              </a:rPr>
              <a:t>since </a:t>
            </a:r>
            <a:r>
              <a:rPr sz="2200" spc="-5" dirty="0">
                <a:latin typeface="Carlito"/>
                <a:cs typeface="Carlito"/>
              </a:rPr>
              <a:t>the number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5" dirty="0">
                <a:latin typeface="Carlito"/>
                <a:cs typeface="Carlito"/>
              </a:rPr>
              <a:t>protons </a:t>
            </a:r>
            <a:r>
              <a:rPr sz="2200" spc="-5" dirty="0">
                <a:latin typeface="Carlito"/>
                <a:cs typeface="Carlito"/>
              </a:rPr>
              <a:t>and  the number of </a:t>
            </a:r>
            <a:r>
              <a:rPr sz="2200" spc="-10" dirty="0">
                <a:latin typeface="Carlito"/>
                <a:cs typeface="Carlito"/>
              </a:rPr>
              <a:t>electrons are </a:t>
            </a:r>
            <a:r>
              <a:rPr sz="2200" spc="-5" dirty="0">
                <a:latin typeface="Carlito"/>
                <a:cs typeface="Carlito"/>
              </a:rPr>
              <a:t>equal </a:t>
            </a:r>
            <a:r>
              <a:rPr sz="2200" spc="-10" dirty="0">
                <a:latin typeface="Carlito"/>
                <a:cs typeface="Carlito"/>
              </a:rPr>
              <a:t>throughout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material, there is  </a:t>
            </a:r>
            <a:r>
              <a:rPr sz="2200" spc="-5" dirty="0">
                <a:latin typeface="Carlito"/>
                <a:cs typeface="Carlito"/>
              </a:rPr>
              <a:t>no </a:t>
            </a:r>
            <a:r>
              <a:rPr sz="2200" spc="-15" dirty="0">
                <a:latin typeface="Carlito"/>
                <a:cs typeface="Carlito"/>
              </a:rPr>
              <a:t>net charge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0" dirty="0">
                <a:latin typeface="Carlito"/>
                <a:cs typeface="Carlito"/>
              </a:rPr>
              <a:t>material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dirty="0">
                <a:latin typeface="Carlito"/>
                <a:cs typeface="Carlito"/>
              </a:rPr>
              <a:t>so </a:t>
            </a:r>
            <a:r>
              <a:rPr sz="2200" spc="-5" dirty="0">
                <a:latin typeface="Carlito"/>
                <a:cs typeface="Carlito"/>
              </a:rPr>
              <a:t>it is</a:t>
            </a:r>
            <a:r>
              <a:rPr sz="2200" spc="9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neutral.</a:t>
            </a:r>
            <a:endParaRPr sz="22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An </a:t>
            </a:r>
            <a:r>
              <a:rPr sz="2200" i="1" spc="-5" dirty="0">
                <a:latin typeface="Carlito"/>
                <a:cs typeface="Carlito"/>
              </a:rPr>
              <a:t>n</a:t>
            </a:r>
            <a:r>
              <a:rPr sz="2200" spc="-5" dirty="0">
                <a:latin typeface="Carlito"/>
                <a:cs typeface="Carlito"/>
              </a:rPr>
              <a:t>-type </a:t>
            </a:r>
            <a:r>
              <a:rPr sz="2200" spc="-10" dirty="0">
                <a:latin typeface="Carlito"/>
                <a:cs typeface="Carlito"/>
              </a:rPr>
              <a:t>silicon material consists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silicon </a:t>
            </a:r>
            <a:r>
              <a:rPr sz="2200" spc="-15" dirty="0">
                <a:latin typeface="Carlito"/>
                <a:cs typeface="Carlito"/>
              </a:rPr>
              <a:t>atoms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20" dirty="0">
                <a:latin typeface="Carlito"/>
                <a:cs typeface="Carlito"/>
              </a:rPr>
              <a:t>pentavalent  </a:t>
            </a:r>
            <a:r>
              <a:rPr sz="2200" spc="-5" dirty="0">
                <a:latin typeface="Carlito"/>
                <a:cs typeface="Carlito"/>
              </a:rPr>
              <a:t>impurity </a:t>
            </a:r>
            <a:r>
              <a:rPr sz="2200" spc="-10" dirty="0">
                <a:latin typeface="Carlito"/>
                <a:cs typeface="Carlito"/>
              </a:rPr>
              <a:t>atoms such </a:t>
            </a:r>
            <a:r>
              <a:rPr sz="2200" spc="-5" dirty="0">
                <a:latin typeface="Carlito"/>
                <a:cs typeface="Carlito"/>
              </a:rPr>
              <a:t>as </a:t>
            </a:r>
            <a:r>
              <a:rPr sz="2200" spc="-30" dirty="0">
                <a:latin typeface="Carlito"/>
                <a:cs typeface="Carlito"/>
              </a:rPr>
              <a:t>antimony. </a:t>
            </a:r>
            <a:r>
              <a:rPr sz="2200" spc="-5" dirty="0">
                <a:latin typeface="Carlito"/>
                <a:cs typeface="Carlito"/>
              </a:rPr>
              <a:t>As </a:t>
            </a:r>
            <a:r>
              <a:rPr sz="2200" spc="-15" dirty="0">
                <a:latin typeface="Carlito"/>
                <a:cs typeface="Carlito"/>
              </a:rPr>
              <a:t>you </a:t>
            </a:r>
            <a:r>
              <a:rPr sz="2200" spc="-20" dirty="0">
                <a:latin typeface="Carlito"/>
                <a:cs typeface="Carlito"/>
              </a:rPr>
              <a:t>have </a:t>
            </a:r>
            <a:r>
              <a:rPr sz="2200" dirty="0">
                <a:latin typeface="Carlito"/>
                <a:cs typeface="Carlito"/>
              </a:rPr>
              <a:t>seen, </a:t>
            </a:r>
            <a:r>
              <a:rPr sz="2200" spc="-5" dirty="0">
                <a:latin typeface="Carlito"/>
                <a:cs typeface="Carlito"/>
              </a:rPr>
              <a:t>an impurity  </a:t>
            </a:r>
            <a:r>
              <a:rPr sz="2200" spc="-15" dirty="0">
                <a:latin typeface="Carlito"/>
                <a:cs typeface="Carlito"/>
              </a:rPr>
              <a:t>atom </a:t>
            </a:r>
            <a:r>
              <a:rPr sz="2200" spc="-5" dirty="0">
                <a:latin typeface="Carlito"/>
                <a:cs typeface="Carlito"/>
              </a:rPr>
              <a:t>releases an </a:t>
            </a:r>
            <a:r>
              <a:rPr sz="2200" spc="-10" dirty="0">
                <a:latin typeface="Carlito"/>
                <a:cs typeface="Carlito"/>
              </a:rPr>
              <a:t>electron </a:t>
            </a:r>
            <a:r>
              <a:rPr sz="2200" dirty="0">
                <a:latin typeface="Carlito"/>
                <a:cs typeface="Carlito"/>
              </a:rPr>
              <a:t>when </a:t>
            </a:r>
            <a:r>
              <a:rPr sz="2200" spc="-5" dirty="0">
                <a:latin typeface="Carlito"/>
                <a:cs typeface="Carlito"/>
              </a:rPr>
              <a:t>it </a:t>
            </a:r>
            <a:r>
              <a:rPr sz="2200" spc="-10" dirty="0">
                <a:latin typeface="Carlito"/>
                <a:cs typeface="Carlito"/>
              </a:rPr>
              <a:t>bonds </a:t>
            </a:r>
            <a:r>
              <a:rPr sz="2200" spc="-5" dirty="0">
                <a:latin typeface="Carlito"/>
                <a:cs typeface="Carlito"/>
              </a:rPr>
              <a:t>with </a:t>
            </a:r>
            <a:r>
              <a:rPr sz="2200" spc="-20" dirty="0">
                <a:latin typeface="Carlito"/>
                <a:cs typeface="Carlito"/>
              </a:rPr>
              <a:t>four </a:t>
            </a:r>
            <a:r>
              <a:rPr sz="2200" spc="-10" dirty="0">
                <a:latin typeface="Carlito"/>
                <a:cs typeface="Carlito"/>
              </a:rPr>
              <a:t>silicon atoms.  Since there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still </a:t>
            </a:r>
            <a:r>
              <a:rPr sz="2200" spc="-5" dirty="0">
                <a:latin typeface="Carlito"/>
                <a:cs typeface="Carlito"/>
              </a:rPr>
              <a:t>an equal </a:t>
            </a:r>
            <a:r>
              <a:rPr sz="2200" spc="-10" dirty="0">
                <a:latin typeface="Carlito"/>
                <a:cs typeface="Carlito"/>
              </a:rPr>
              <a:t>number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5" dirty="0">
                <a:latin typeface="Carlito"/>
                <a:cs typeface="Carlito"/>
              </a:rPr>
              <a:t>protons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electrons  (including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free electrons) throughout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material, there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no  </a:t>
            </a:r>
            <a:r>
              <a:rPr sz="2200" spc="-15" dirty="0">
                <a:latin typeface="Carlito"/>
                <a:cs typeface="Carlito"/>
              </a:rPr>
              <a:t>net charge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0" dirty="0">
                <a:latin typeface="Carlito"/>
                <a:cs typeface="Carlito"/>
              </a:rPr>
              <a:t>material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dirty="0">
                <a:latin typeface="Carlito"/>
                <a:cs typeface="Carlito"/>
              </a:rPr>
              <a:t>so </a:t>
            </a:r>
            <a:r>
              <a:rPr sz="2200" spc="-5" dirty="0">
                <a:latin typeface="Carlito"/>
                <a:cs typeface="Carlito"/>
              </a:rPr>
              <a:t>it is</a:t>
            </a:r>
            <a:r>
              <a:rPr sz="2200" spc="7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neutral.</a:t>
            </a:r>
            <a:endParaRPr sz="2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If a </a:t>
            </a:r>
            <a:r>
              <a:rPr sz="2200" spc="-10" dirty="0">
                <a:latin typeface="Carlito"/>
                <a:cs typeface="Carlito"/>
              </a:rPr>
              <a:t>piece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intrinsic </a:t>
            </a:r>
            <a:r>
              <a:rPr sz="2200" spc="-10" dirty="0">
                <a:latin typeface="Carlito"/>
                <a:cs typeface="Carlito"/>
              </a:rPr>
              <a:t>silicon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doped </a:t>
            </a:r>
            <a:r>
              <a:rPr sz="2200" dirty="0">
                <a:latin typeface="Carlito"/>
                <a:cs typeface="Carlito"/>
              </a:rPr>
              <a:t>so </a:t>
            </a:r>
            <a:r>
              <a:rPr sz="2200" spc="-10" dirty="0">
                <a:latin typeface="Carlito"/>
                <a:cs typeface="Carlito"/>
              </a:rPr>
              <a:t>that part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i="1" spc="-5" dirty="0">
                <a:latin typeface="Carlito"/>
                <a:cs typeface="Carlito"/>
              </a:rPr>
              <a:t>n</a:t>
            </a:r>
            <a:r>
              <a:rPr sz="2200" spc="-5" dirty="0">
                <a:latin typeface="Carlito"/>
                <a:cs typeface="Carlito"/>
              </a:rPr>
              <a:t>-type and the  other </a:t>
            </a:r>
            <a:r>
              <a:rPr sz="2200" spc="-10" dirty="0">
                <a:latin typeface="Carlito"/>
                <a:cs typeface="Carlito"/>
              </a:rPr>
              <a:t>part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i="1" spc="-5" dirty="0">
                <a:latin typeface="Carlito"/>
                <a:cs typeface="Carlito"/>
              </a:rPr>
              <a:t>p</a:t>
            </a:r>
            <a:r>
              <a:rPr sz="2200" spc="-5" dirty="0">
                <a:latin typeface="Carlito"/>
                <a:cs typeface="Carlito"/>
              </a:rPr>
              <a:t>-type, a </a:t>
            </a:r>
            <a:r>
              <a:rPr sz="2200" b="1" spc="-5" dirty="0">
                <a:latin typeface="Carlito"/>
                <a:cs typeface="Carlito"/>
              </a:rPr>
              <a:t>pn junction </a:t>
            </a:r>
            <a:r>
              <a:rPr sz="2200" spc="-15" dirty="0">
                <a:latin typeface="Carlito"/>
                <a:cs typeface="Carlito"/>
              </a:rPr>
              <a:t>forms at </a:t>
            </a:r>
            <a:r>
              <a:rPr sz="2200" spc="-5" dirty="0">
                <a:latin typeface="Carlito"/>
                <a:cs typeface="Carlito"/>
              </a:rPr>
              <a:t>the boundary </a:t>
            </a:r>
            <a:r>
              <a:rPr sz="2200" spc="-10" dirty="0">
                <a:latin typeface="Carlito"/>
                <a:cs typeface="Carlito"/>
              </a:rPr>
              <a:t>between 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two </a:t>
            </a:r>
            <a:r>
              <a:rPr sz="2200" spc="-10" dirty="0">
                <a:latin typeface="Carlito"/>
                <a:cs typeface="Carlito"/>
              </a:rPr>
              <a:t>regions </a:t>
            </a:r>
            <a:r>
              <a:rPr sz="2200" spc="-5" dirty="0">
                <a:latin typeface="Carlito"/>
                <a:cs typeface="Carlito"/>
              </a:rPr>
              <a:t>and a </a:t>
            </a:r>
            <a:r>
              <a:rPr sz="2200" spc="-10" dirty="0">
                <a:latin typeface="Carlito"/>
                <a:cs typeface="Carlito"/>
              </a:rPr>
              <a:t>diode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5" dirty="0">
                <a:latin typeface="Carlito"/>
                <a:cs typeface="Carlito"/>
              </a:rPr>
              <a:t>created, </a:t>
            </a:r>
            <a:r>
              <a:rPr sz="2200" spc="-5" dirty="0">
                <a:latin typeface="Carlito"/>
                <a:cs typeface="Carlito"/>
              </a:rPr>
              <a:t>as </a:t>
            </a:r>
            <a:r>
              <a:rPr sz="2200" spc="-15" dirty="0">
                <a:latin typeface="Carlito"/>
                <a:cs typeface="Carlito"/>
              </a:rPr>
              <a:t>indicated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Figure.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i="1" spc="-5" dirty="0">
                <a:latin typeface="Carlito"/>
                <a:cs typeface="Carlito"/>
              </a:rPr>
              <a:t>p  </a:t>
            </a:r>
            <a:r>
              <a:rPr sz="2200" spc="-10" dirty="0">
                <a:latin typeface="Carlito"/>
                <a:cs typeface="Carlito"/>
              </a:rPr>
              <a:t>region </a:t>
            </a:r>
            <a:r>
              <a:rPr sz="2200" spc="-5" dirty="0">
                <a:latin typeface="Carlito"/>
                <a:cs typeface="Carlito"/>
              </a:rPr>
              <a:t>has </a:t>
            </a:r>
            <a:r>
              <a:rPr sz="2200" spc="-15" dirty="0">
                <a:latin typeface="Carlito"/>
                <a:cs typeface="Carlito"/>
              </a:rPr>
              <a:t>many </a:t>
            </a:r>
            <a:r>
              <a:rPr sz="2200" spc="-5" dirty="0">
                <a:latin typeface="Carlito"/>
                <a:cs typeface="Carlito"/>
              </a:rPr>
              <a:t>holes (majority </a:t>
            </a:r>
            <a:r>
              <a:rPr sz="2200" spc="-15" dirty="0">
                <a:latin typeface="Carlito"/>
                <a:cs typeface="Carlito"/>
              </a:rPr>
              <a:t>carriers) from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impurity atoms  </a:t>
            </a:r>
            <a:r>
              <a:rPr sz="2200" spc="-5" dirty="0">
                <a:latin typeface="Carlito"/>
                <a:cs typeface="Carlito"/>
              </a:rPr>
              <a:t>and only a </a:t>
            </a:r>
            <a:r>
              <a:rPr sz="2200" spc="-25" dirty="0">
                <a:latin typeface="Carlito"/>
                <a:cs typeface="Carlito"/>
              </a:rPr>
              <a:t>few </a:t>
            </a:r>
            <a:r>
              <a:rPr sz="2200" spc="-5" dirty="0">
                <a:latin typeface="Carlito"/>
                <a:cs typeface="Carlito"/>
              </a:rPr>
              <a:t>thermally </a:t>
            </a:r>
            <a:r>
              <a:rPr sz="2200" spc="-15" dirty="0">
                <a:latin typeface="Carlito"/>
                <a:cs typeface="Carlito"/>
              </a:rPr>
              <a:t>generated </a:t>
            </a:r>
            <a:r>
              <a:rPr sz="2200" spc="-10" dirty="0">
                <a:latin typeface="Carlito"/>
                <a:cs typeface="Carlito"/>
              </a:rPr>
              <a:t>free electrons </a:t>
            </a:r>
            <a:r>
              <a:rPr sz="2200" spc="-5" dirty="0">
                <a:latin typeface="Carlito"/>
                <a:cs typeface="Carlito"/>
              </a:rPr>
              <a:t>(minority  </a:t>
            </a:r>
            <a:r>
              <a:rPr sz="2200" spc="-10" dirty="0">
                <a:latin typeface="Carlito"/>
                <a:cs typeface="Carlito"/>
              </a:rPr>
              <a:t>carriers). The </a:t>
            </a:r>
            <a:r>
              <a:rPr sz="2200" i="1" spc="-5" dirty="0">
                <a:latin typeface="Carlito"/>
                <a:cs typeface="Carlito"/>
              </a:rPr>
              <a:t>n </a:t>
            </a:r>
            <a:r>
              <a:rPr sz="2200" spc="-10" dirty="0">
                <a:latin typeface="Carlito"/>
                <a:cs typeface="Carlito"/>
              </a:rPr>
              <a:t>region has </a:t>
            </a:r>
            <a:r>
              <a:rPr sz="2200" spc="-15" dirty="0">
                <a:latin typeface="Carlito"/>
                <a:cs typeface="Carlito"/>
              </a:rPr>
              <a:t>many </a:t>
            </a:r>
            <a:r>
              <a:rPr sz="2200" spc="-10" dirty="0">
                <a:latin typeface="Carlito"/>
                <a:cs typeface="Carlito"/>
              </a:rPr>
              <a:t>free electrons </a:t>
            </a:r>
            <a:r>
              <a:rPr sz="2200" spc="-5" dirty="0">
                <a:latin typeface="Carlito"/>
                <a:cs typeface="Carlito"/>
              </a:rPr>
              <a:t>(majority </a:t>
            </a:r>
            <a:r>
              <a:rPr sz="2200" spc="-15" dirty="0">
                <a:latin typeface="Carlito"/>
                <a:cs typeface="Carlito"/>
              </a:rPr>
              <a:t>carriers)  from </a:t>
            </a:r>
            <a:r>
              <a:rPr sz="2200" spc="-5" dirty="0">
                <a:latin typeface="Carlito"/>
                <a:cs typeface="Carlito"/>
              </a:rPr>
              <a:t>the impurity </a:t>
            </a:r>
            <a:r>
              <a:rPr sz="2200" spc="-10" dirty="0">
                <a:latin typeface="Carlito"/>
                <a:cs typeface="Carlito"/>
              </a:rPr>
              <a:t>atoms </a:t>
            </a:r>
            <a:r>
              <a:rPr sz="2200" spc="-5" dirty="0">
                <a:latin typeface="Carlito"/>
                <a:cs typeface="Carlito"/>
              </a:rPr>
              <a:t>and only a </a:t>
            </a:r>
            <a:r>
              <a:rPr sz="2200" spc="-25" dirty="0">
                <a:latin typeface="Carlito"/>
                <a:cs typeface="Carlito"/>
              </a:rPr>
              <a:t>few </a:t>
            </a:r>
            <a:r>
              <a:rPr sz="2200" spc="-5" dirty="0">
                <a:latin typeface="Carlito"/>
                <a:cs typeface="Carlito"/>
              </a:rPr>
              <a:t>thermally </a:t>
            </a:r>
            <a:r>
              <a:rPr sz="2200" spc="-15" dirty="0">
                <a:latin typeface="Carlito"/>
                <a:cs typeface="Carlito"/>
              </a:rPr>
              <a:t>generated </a:t>
            </a:r>
            <a:r>
              <a:rPr sz="2200" spc="-5" dirty="0">
                <a:latin typeface="Carlito"/>
                <a:cs typeface="Carlito"/>
              </a:rPr>
              <a:t>holes  (minority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carriers).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8408" y="405511"/>
            <a:ext cx="5646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</a:t>
            </a:r>
            <a:r>
              <a:rPr sz="4400" dirty="0"/>
              <a:t>PN Junction</a:t>
            </a:r>
            <a:r>
              <a:rPr sz="4400" spc="-45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325880" y="1400555"/>
            <a:ext cx="6827520" cy="4619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8408" y="405511"/>
            <a:ext cx="5646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</a:t>
            </a:r>
            <a:r>
              <a:rPr sz="4400" dirty="0"/>
              <a:t>PN Junction</a:t>
            </a:r>
            <a:r>
              <a:rPr sz="4400" spc="-45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5081"/>
            <a:ext cx="8073390" cy="45218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715" indent="-343535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5" dirty="0">
                <a:latin typeface="Carlito"/>
                <a:cs typeface="Carlito"/>
              </a:rPr>
              <a:t>When the </a:t>
            </a:r>
            <a:r>
              <a:rPr sz="2500" i="1" spc="-5" dirty="0">
                <a:latin typeface="Carlito"/>
                <a:cs typeface="Carlito"/>
              </a:rPr>
              <a:t>pn </a:t>
            </a:r>
            <a:r>
              <a:rPr sz="2500" spc="-5" dirty="0">
                <a:latin typeface="Carlito"/>
                <a:cs typeface="Carlito"/>
              </a:rPr>
              <a:t>junction is </a:t>
            </a:r>
            <a:r>
              <a:rPr sz="2500" spc="-10" dirty="0">
                <a:latin typeface="Carlito"/>
                <a:cs typeface="Carlito"/>
              </a:rPr>
              <a:t>formed,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i="1" spc="-5" dirty="0">
                <a:latin typeface="Carlito"/>
                <a:cs typeface="Carlito"/>
              </a:rPr>
              <a:t>n </a:t>
            </a:r>
            <a:r>
              <a:rPr sz="2500" spc="-10" dirty="0">
                <a:latin typeface="Carlito"/>
                <a:cs typeface="Carlito"/>
              </a:rPr>
              <a:t>region </a:t>
            </a:r>
            <a:r>
              <a:rPr sz="2500" spc="-5" dirty="0">
                <a:latin typeface="Carlito"/>
                <a:cs typeface="Carlito"/>
              </a:rPr>
              <a:t>loses </a:t>
            </a:r>
            <a:r>
              <a:rPr sz="2500" spc="-15" dirty="0">
                <a:latin typeface="Carlito"/>
                <a:cs typeface="Carlito"/>
              </a:rPr>
              <a:t>free  </a:t>
            </a:r>
            <a:r>
              <a:rPr sz="2500" spc="-5" dirty="0">
                <a:latin typeface="Carlito"/>
                <a:cs typeface="Carlito"/>
              </a:rPr>
              <a:t>electrons as they </a:t>
            </a:r>
            <a:r>
              <a:rPr sz="2500" spc="-15" dirty="0">
                <a:latin typeface="Carlito"/>
                <a:cs typeface="Carlito"/>
              </a:rPr>
              <a:t>diffuse </a:t>
            </a:r>
            <a:r>
              <a:rPr sz="2500" spc="-10" dirty="0">
                <a:latin typeface="Carlito"/>
                <a:cs typeface="Carlito"/>
              </a:rPr>
              <a:t>across </a:t>
            </a:r>
            <a:r>
              <a:rPr sz="2500" spc="-5" dirty="0">
                <a:latin typeface="Carlito"/>
                <a:cs typeface="Carlito"/>
              </a:rPr>
              <a:t>the</a:t>
            </a:r>
            <a:r>
              <a:rPr sz="2500" spc="45" dirty="0">
                <a:latin typeface="Carlito"/>
                <a:cs typeface="Carlito"/>
              </a:rPr>
              <a:t> </a:t>
            </a:r>
            <a:r>
              <a:rPr sz="2500" spc="-5" dirty="0">
                <a:latin typeface="Carlito"/>
                <a:cs typeface="Carlito"/>
              </a:rPr>
              <a:t>junction.</a:t>
            </a:r>
            <a:endParaRPr sz="25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10" dirty="0">
                <a:latin typeface="Carlito"/>
                <a:cs typeface="Carlito"/>
              </a:rPr>
              <a:t>This creates </a:t>
            </a:r>
            <a:r>
              <a:rPr sz="2500" spc="-5" dirty="0">
                <a:latin typeface="Carlito"/>
                <a:cs typeface="Carlito"/>
              </a:rPr>
              <a:t>a </a:t>
            </a:r>
            <a:r>
              <a:rPr sz="2500" spc="-20" dirty="0">
                <a:latin typeface="Carlito"/>
                <a:cs typeface="Carlito"/>
              </a:rPr>
              <a:t>layer </a:t>
            </a:r>
            <a:r>
              <a:rPr sz="2500" spc="-5" dirty="0">
                <a:latin typeface="Carlito"/>
                <a:cs typeface="Carlito"/>
              </a:rPr>
              <a:t>of </a:t>
            </a:r>
            <a:r>
              <a:rPr sz="2500" spc="-10" dirty="0">
                <a:latin typeface="Carlito"/>
                <a:cs typeface="Carlito"/>
              </a:rPr>
              <a:t>positive charges </a:t>
            </a:r>
            <a:r>
              <a:rPr sz="2500" spc="-15" dirty="0">
                <a:latin typeface="Carlito"/>
                <a:cs typeface="Carlito"/>
              </a:rPr>
              <a:t>(pentavalent </a:t>
            </a:r>
            <a:r>
              <a:rPr sz="2500" spc="-5" dirty="0">
                <a:latin typeface="Carlito"/>
                <a:cs typeface="Carlito"/>
              </a:rPr>
              <a:t>ions)  </a:t>
            </a:r>
            <a:r>
              <a:rPr sz="2500" spc="-10" dirty="0">
                <a:latin typeface="Carlito"/>
                <a:cs typeface="Carlito"/>
              </a:rPr>
              <a:t>near </a:t>
            </a:r>
            <a:r>
              <a:rPr sz="2500" spc="-5" dirty="0">
                <a:latin typeface="Carlito"/>
                <a:cs typeface="Carlito"/>
              </a:rPr>
              <a:t>the junction. As the electrons </a:t>
            </a:r>
            <a:r>
              <a:rPr sz="2500" spc="-15" dirty="0">
                <a:latin typeface="Carlito"/>
                <a:cs typeface="Carlito"/>
              </a:rPr>
              <a:t>move  </a:t>
            </a:r>
            <a:r>
              <a:rPr sz="2500" spc="-10" dirty="0">
                <a:latin typeface="Carlito"/>
                <a:cs typeface="Carlito"/>
              </a:rPr>
              <a:t>across the  </a:t>
            </a:r>
            <a:r>
              <a:rPr sz="2500" spc="-5" dirty="0">
                <a:latin typeface="Carlito"/>
                <a:cs typeface="Carlito"/>
              </a:rPr>
              <a:t>junction, </a:t>
            </a:r>
            <a:r>
              <a:rPr sz="2500" dirty="0">
                <a:latin typeface="Carlito"/>
                <a:cs typeface="Carlito"/>
              </a:rPr>
              <a:t>the </a:t>
            </a:r>
            <a:r>
              <a:rPr sz="2500" i="1" spc="-5" dirty="0">
                <a:latin typeface="Carlito"/>
                <a:cs typeface="Carlito"/>
              </a:rPr>
              <a:t>p </a:t>
            </a:r>
            <a:r>
              <a:rPr sz="2500" spc="-10" dirty="0">
                <a:latin typeface="Carlito"/>
                <a:cs typeface="Carlito"/>
              </a:rPr>
              <a:t>region </a:t>
            </a:r>
            <a:r>
              <a:rPr sz="2500" spc="-5" dirty="0">
                <a:latin typeface="Carlito"/>
                <a:cs typeface="Carlito"/>
              </a:rPr>
              <a:t>loses holes as the electrons and holes  </a:t>
            </a:r>
            <a:r>
              <a:rPr sz="2500" spc="-10" dirty="0">
                <a:latin typeface="Carlito"/>
                <a:cs typeface="Carlito"/>
              </a:rPr>
              <a:t>combine. This </a:t>
            </a:r>
            <a:r>
              <a:rPr sz="2500" spc="-15" dirty="0">
                <a:latin typeface="Carlito"/>
                <a:cs typeface="Carlito"/>
              </a:rPr>
              <a:t>creates </a:t>
            </a:r>
            <a:r>
              <a:rPr sz="2500" spc="-5" dirty="0">
                <a:latin typeface="Carlito"/>
                <a:cs typeface="Carlito"/>
              </a:rPr>
              <a:t>a </a:t>
            </a:r>
            <a:r>
              <a:rPr sz="2500" spc="-20" dirty="0">
                <a:latin typeface="Carlito"/>
                <a:cs typeface="Carlito"/>
              </a:rPr>
              <a:t>layer </a:t>
            </a:r>
            <a:r>
              <a:rPr sz="2500" spc="-5" dirty="0">
                <a:latin typeface="Carlito"/>
                <a:cs typeface="Carlito"/>
              </a:rPr>
              <a:t>of </a:t>
            </a:r>
            <a:r>
              <a:rPr sz="2500" spc="-15" dirty="0">
                <a:latin typeface="Carlito"/>
                <a:cs typeface="Carlito"/>
              </a:rPr>
              <a:t>negative </a:t>
            </a:r>
            <a:r>
              <a:rPr sz="2500" spc="-10" dirty="0">
                <a:latin typeface="Carlito"/>
                <a:cs typeface="Carlito"/>
              </a:rPr>
              <a:t>charges (trivalent  </a:t>
            </a:r>
            <a:r>
              <a:rPr sz="2500" spc="-5" dirty="0">
                <a:latin typeface="Carlito"/>
                <a:cs typeface="Carlito"/>
              </a:rPr>
              <a:t>ions) </a:t>
            </a:r>
            <a:r>
              <a:rPr sz="2500" spc="-10" dirty="0">
                <a:latin typeface="Carlito"/>
                <a:cs typeface="Carlito"/>
              </a:rPr>
              <a:t>near </a:t>
            </a:r>
            <a:r>
              <a:rPr sz="2500" spc="-5" dirty="0">
                <a:latin typeface="Carlito"/>
                <a:cs typeface="Carlito"/>
              </a:rPr>
              <a:t>the junction. </a:t>
            </a:r>
            <a:r>
              <a:rPr sz="2500" spc="-10" dirty="0">
                <a:latin typeface="Carlito"/>
                <a:cs typeface="Carlito"/>
              </a:rPr>
              <a:t>These two </a:t>
            </a:r>
            <a:r>
              <a:rPr sz="2500" spc="-20" dirty="0">
                <a:latin typeface="Carlito"/>
                <a:cs typeface="Carlito"/>
              </a:rPr>
              <a:t>layers </a:t>
            </a:r>
            <a:r>
              <a:rPr sz="2500" spc="-5" dirty="0">
                <a:latin typeface="Carlito"/>
                <a:cs typeface="Carlito"/>
              </a:rPr>
              <a:t>of </a:t>
            </a:r>
            <a:r>
              <a:rPr sz="2500" spc="-10" dirty="0">
                <a:latin typeface="Carlito"/>
                <a:cs typeface="Carlito"/>
              </a:rPr>
              <a:t>positive </a:t>
            </a:r>
            <a:r>
              <a:rPr sz="2500" spc="-5" dirty="0">
                <a:latin typeface="Carlito"/>
                <a:cs typeface="Carlito"/>
              </a:rPr>
              <a:t>and  </a:t>
            </a:r>
            <a:r>
              <a:rPr sz="2500" spc="-15" dirty="0">
                <a:latin typeface="Carlito"/>
                <a:cs typeface="Carlito"/>
              </a:rPr>
              <a:t>negative </a:t>
            </a:r>
            <a:r>
              <a:rPr sz="2500" spc="-10" dirty="0">
                <a:latin typeface="Carlito"/>
                <a:cs typeface="Carlito"/>
              </a:rPr>
              <a:t>charges </a:t>
            </a:r>
            <a:r>
              <a:rPr sz="2500" spc="-20" dirty="0">
                <a:latin typeface="Carlito"/>
                <a:cs typeface="Carlito"/>
              </a:rPr>
              <a:t>form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b="1" spc="-5" dirty="0">
                <a:latin typeface="Carlito"/>
                <a:cs typeface="Carlito"/>
              </a:rPr>
              <a:t>depletion </a:t>
            </a:r>
            <a:r>
              <a:rPr sz="2500" b="1" spc="-10" dirty="0">
                <a:latin typeface="Carlito"/>
                <a:cs typeface="Carlito"/>
              </a:rPr>
              <a:t>region, </a:t>
            </a:r>
            <a:r>
              <a:rPr sz="2500" spc="-5" dirty="0">
                <a:latin typeface="Carlito"/>
                <a:cs typeface="Carlito"/>
              </a:rPr>
              <a:t>as </a:t>
            </a:r>
            <a:r>
              <a:rPr sz="2500" spc="-10" dirty="0">
                <a:latin typeface="Carlito"/>
                <a:cs typeface="Carlito"/>
              </a:rPr>
              <a:t>shown </a:t>
            </a:r>
            <a:r>
              <a:rPr sz="2500" spc="-5" dirty="0">
                <a:latin typeface="Carlito"/>
                <a:cs typeface="Carlito"/>
              </a:rPr>
              <a:t>in  </a:t>
            </a:r>
            <a:r>
              <a:rPr sz="2500" spc="-10" dirty="0">
                <a:latin typeface="Carlito"/>
                <a:cs typeface="Carlito"/>
              </a:rPr>
              <a:t>Figure.</a:t>
            </a:r>
            <a:endParaRPr sz="25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600"/>
              </a:spcBef>
              <a:buFont typeface="Arial"/>
              <a:buChar char="•"/>
              <a:tabLst>
                <a:tab pos="356235" algn="l"/>
              </a:tabLst>
            </a:pPr>
            <a:r>
              <a:rPr sz="2500" spc="-10" dirty="0">
                <a:latin typeface="Carlito"/>
                <a:cs typeface="Carlito"/>
              </a:rPr>
              <a:t>The term </a:t>
            </a:r>
            <a:r>
              <a:rPr sz="2500" i="1" spc="-5" dirty="0">
                <a:latin typeface="Carlito"/>
                <a:cs typeface="Carlito"/>
              </a:rPr>
              <a:t>depletion </a:t>
            </a:r>
            <a:r>
              <a:rPr sz="2500" spc="-25" dirty="0">
                <a:latin typeface="Carlito"/>
                <a:cs typeface="Carlito"/>
              </a:rPr>
              <a:t>refers </a:t>
            </a:r>
            <a:r>
              <a:rPr sz="2500" spc="-15" dirty="0">
                <a:latin typeface="Carlito"/>
                <a:cs typeface="Carlito"/>
              </a:rPr>
              <a:t>to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spc="-20" dirty="0">
                <a:latin typeface="Carlito"/>
                <a:cs typeface="Carlito"/>
              </a:rPr>
              <a:t>fact </a:t>
            </a:r>
            <a:r>
              <a:rPr sz="2500" spc="-10" dirty="0">
                <a:latin typeface="Carlito"/>
                <a:cs typeface="Carlito"/>
              </a:rPr>
              <a:t>that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spc="-10" dirty="0">
                <a:latin typeface="Carlito"/>
                <a:cs typeface="Carlito"/>
              </a:rPr>
              <a:t>region near 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i="1" spc="-5" dirty="0">
                <a:latin typeface="Carlito"/>
                <a:cs typeface="Carlito"/>
              </a:rPr>
              <a:t>pn </a:t>
            </a:r>
            <a:r>
              <a:rPr sz="2500" spc="-5" dirty="0">
                <a:latin typeface="Carlito"/>
                <a:cs typeface="Carlito"/>
              </a:rPr>
              <a:t>junction is </a:t>
            </a:r>
            <a:r>
              <a:rPr sz="2500" spc="-10" dirty="0">
                <a:latin typeface="Carlito"/>
                <a:cs typeface="Carlito"/>
              </a:rPr>
              <a:t>depleted </a:t>
            </a:r>
            <a:r>
              <a:rPr sz="2500" spc="-5" dirty="0">
                <a:latin typeface="Carlito"/>
                <a:cs typeface="Carlito"/>
              </a:rPr>
              <a:t>of </a:t>
            </a:r>
            <a:r>
              <a:rPr sz="2500" spc="-10" dirty="0">
                <a:latin typeface="Carlito"/>
                <a:cs typeface="Carlito"/>
              </a:rPr>
              <a:t>charge carriers </a:t>
            </a:r>
            <a:r>
              <a:rPr sz="2500" spc="-5" dirty="0">
                <a:latin typeface="Carlito"/>
                <a:cs typeface="Carlito"/>
              </a:rPr>
              <a:t>(electrons </a:t>
            </a:r>
            <a:r>
              <a:rPr sz="2500" dirty="0">
                <a:latin typeface="Carlito"/>
                <a:cs typeface="Carlito"/>
              </a:rPr>
              <a:t>and  </a:t>
            </a:r>
            <a:r>
              <a:rPr sz="2500" spc="-5" dirty="0">
                <a:latin typeface="Carlito"/>
                <a:cs typeface="Carlito"/>
              </a:rPr>
              <a:t>holes) </a:t>
            </a:r>
            <a:r>
              <a:rPr sz="2500" spc="-10" dirty="0">
                <a:latin typeface="Carlito"/>
                <a:cs typeface="Carlito"/>
              </a:rPr>
              <a:t>due </a:t>
            </a:r>
            <a:r>
              <a:rPr sz="2500" spc="-15" dirty="0">
                <a:latin typeface="Carlito"/>
                <a:cs typeface="Carlito"/>
              </a:rPr>
              <a:t>to </a:t>
            </a:r>
            <a:r>
              <a:rPr sz="2500" spc="-10" dirty="0">
                <a:latin typeface="Carlito"/>
                <a:cs typeface="Carlito"/>
              </a:rPr>
              <a:t>diffusion across </a:t>
            </a:r>
            <a:r>
              <a:rPr sz="2500" spc="-5" dirty="0">
                <a:latin typeface="Carlito"/>
                <a:cs typeface="Carlito"/>
              </a:rPr>
              <a:t>the junction. </a:t>
            </a:r>
            <a:r>
              <a:rPr sz="2500" spc="-15" dirty="0">
                <a:latin typeface="Carlito"/>
                <a:cs typeface="Carlito"/>
              </a:rPr>
              <a:t>Keep </a:t>
            </a:r>
            <a:r>
              <a:rPr sz="2500" spc="-5" dirty="0">
                <a:latin typeface="Carlito"/>
                <a:cs typeface="Carlito"/>
              </a:rPr>
              <a:t>in </a:t>
            </a:r>
            <a:r>
              <a:rPr sz="2500" dirty="0">
                <a:latin typeface="Carlito"/>
                <a:cs typeface="Carlito"/>
              </a:rPr>
              <a:t>mind  </a:t>
            </a:r>
            <a:r>
              <a:rPr sz="2500" spc="-10" dirty="0">
                <a:latin typeface="Carlito"/>
                <a:cs typeface="Carlito"/>
              </a:rPr>
              <a:t>that </a:t>
            </a:r>
            <a:r>
              <a:rPr sz="2500" spc="-5" dirty="0">
                <a:latin typeface="Carlito"/>
                <a:cs typeface="Carlito"/>
              </a:rPr>
              <a:t>the depletion </a:t>
            </a:r>
            <a:r>
              <a:rPr sz="2500" spc="-10" dirty="0">
                <a:latin typeface="Carlito"/>
                <a:cs typeface="Carlito"/>
              </a:rPr>
              <a:t>region </a:t>
            </a:r>
            <a:r>
              <a:rPr sz="2500" spc="-5" dirty="0">
                <a:latin typeface="Carlito"/>
                <a:cs typeface="Carlito"/>
              </a:rPr>
              <a:t>is </a:t>
            </a:r>
            <a:r>
              <a:rPr sz="2500" spc="-10" dirty="0">
                <a:latin typeface="Carlito"/>
                <a:cs typeface="Carlito"/>
              </a:rPr>
              <a:t>formed </a:t>
            </a:r>
            <a:r>
              <a:rPr sz="2500" spc="-5" dirty="0">
                <a:latin typeface="Carlito"/>
                <a:cs typeface="Carlito"/>
              </a:rPr>
              <a:t>very quickly and is </a:t>
            </a:r>
            <a:r>
              <a:rPr sz="2500" spc="-10" dirty="0">
                <a:latin typeface="Carlito"/>
                <a:cs typeface="Carlito"/>
              </a:rPr>
              <a:t>very  </a:t>
            </a:r>
            <a:r>
              <a:rPr sz="2500" spc="-5" dirty="0">
                <a:latin typeface="Carlito"/>
                <a:cs typeface="Carlito"/>
              </a:rPr>
              <a:t>thin </a:t>
            </a:r>
            <a:r>
              <a:rPr sz="2500" spc="-15" dirty="0">
                <a:latin typeface="Carlito"/>
                <a:cs typeface="Carlito"/>
              </a:rPr>
              <a:t>compared to </a:t>
            </a:r>
            <a:r>
              <a:rPr sz="2500" spc="-5" dirty="0">
                <a:latin typeface="Carlito"/>
                <a:cs typeface="Carlito"/>
              </a:rPr>
              <a:t>the </a:t>
            </a:r>
            <a:r>
              <a:rPr sz="2500" i="1" spc="-5" dirty="0">
                <a:latin typeface="Carlito"/>
                <a:cs typeface="Carlito"/>
              </a:rPr>
              <a:t>n </a:t>
            </a:r>
            <a:r>
              <a:rPr sz="2500" spc="-10" dirty="0">
                <a:latin typeface="Carlito"/>
                <a:cs typeface="Carlito"/>
              </a:rPr>
              <a:t>region </a:t>
            </a:r>
            <a:r>
              <a:rPr sz="2500" spc="-5" dirty="0">
                <a:latin typeface="Carlito"/>
                <a:cs typeface="Carlito"/>
              </a:rPr>
              <a:t>and </a:t>
            </a:r>
            <a:r>
              <a:rPr sz="2500" i="1" spc="-5" dirty="0">
                <a:latin typeface="Carlito"/>
                <a:cs typeface="Carlito"/>
              </a:rPr>
              <a:t>p</a:t>
            </a:r>
            <a:r>
              <a:rPr sz="2500" i="1" spc="75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region.</a:t>
            </a:r>
            <a:endParaRPr sz="2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8408" y="405511"/>
            <a:ext cx="5646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</a:t>
            </a:r>
            <a:r>
              <a:rPr sz="4400" dirty="0"/>
              <a:t>PN Junction</a:t>
            </a:r>
            <a:r>
              <a:rPr sz="4400" spc="-45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447800" y="1143000"/>
            <a:ext cx="6649211" cy="5146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8408" y="405511"/>
            <a:ext cx="5646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The </a:t>
            </a:r>
            <a:r>
              <a:rPr sz="4400" dirty="0"/>
              <a:t>PN Junction</a:t>
            </a:r>
            <a:r>
              <a:rPr sz="4400" spc="-45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5749"/>
            <a:ext cx="8073390" cy="378142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After the initial </a:t>
            </a:r>
            <a:r>
              <a:rPr sz="2200" spc="-20" dirty="0">
                <a:latin typeface="Carlito"/>
                <a:cs typeface="Carlito"/>
              </a:rPr>
              <a:t>surge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free electrons across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i="1" spc="-5" dirty="0">
                <a:latin typeface="Carlito"/>
                <a:cs typeface="Carlito"/>
              </a:rPr>
              <a:t>pn </a:t>
            </a:r>
            <a:r>
              <a:rPr sz="2200" spc="-5" dirty="0">
                <a:latin typeface="Carlito"/>
                <a:cs typeface="Carlito"/>
              </a:rPr>
              <a:t>junction, the  depletion </a:t>
            </a:r>
            <a:r>
              <a:rPr sz="2200" spc="-10" dirty="0">
                <a:latin typeface="Carlito"/>
                <a:cs typeface="Carlito"/>
              </a:rPr>
              <a:t>region </a:t>
            </a:r>
            <a:r>
              <a:rPr sz="2200" spc="-5" dirty="0">
                <a:latin typeface="Carlito"/>
                <a:cs typeface="Carlito"/>
              </a:rPr>
              <a:t>has </a:t>
            </a:r>
            <a:r>
              <a:rPr sz="2200" spc="-10" dirty="0">
                <a:latin typeface="Carlito"/>
                <a:cs typeface="Carlito"/>
              </a:rPr>
              <a:t>expanded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point where </a:t>
            </a:r>
            <a:r>
              <a:rPr sz="2200" spc="-5" dirty="0">
                <a:latin typeface="Carlito"/>
                <a:cs typeface="Carlito"/>
              </a:rPr>
              <a:t>equilibrium </a:t>
            </a:r>
            <a:r>
              <a:rPr sz="2200" spc="-10" dirty="0">
                <a:latin typeface="Carlito"/>
                <a:cs typeface="Carlito"/>
              </a:rPr>
              <a:t>is  established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there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dirty="0">
                <a:latin typeface="Carlito"/>
                <a:cs typeface="Carlito"/>
              </a:rPr>
              <a:t>no </a:t>
            </a:r>
            <a:r>
              <a:rPr sz="2200" spc="-10" dirty="0">
                <a:latin typeface="Carlito"/>
                <a:cs typeface="Carlito"/>
              </a:rPr>
              <a:t>further diffusion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electrons across </a:t>
            </a:r>
            <a:r>
              <a:rPr sz="2200" spc="-5" dirty="0">
                <a:latin typeface="Carlito"/>
                <a:cs typeface="Carlito"/>
              </a:rPr>
              <a:t>the  junction.</a:t>
            </a:r>
            <a:endParaRPr sz="2200">
              <a:latin typeface="Carlito"/>
              <a:cs typeface="Carlito"/>
            </a:endParaRPr>
          </a:p>
          <a:p>
            <a:pPr marL="355600" marR="6350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This </a:t>
            </a:r>
            <a:r>
              <a:rPr sz="2200" spc="-15" dirty="0">
                <a:latin typeface="Carlito"/>
                <a:cs typeface="Carlito"/>
              </a:rPr>
              <a:t>occurs </a:t>
            </a:r>
            <a:r>
              <a:rPr sz="2200" spc="5" dirty="0">
                <a:latin typeface="Carlito"/>
                <a:cs typeface="Carlito"/>
              </a:rPr>
              <a:t>as </a:t>
            </a:r>
            <a:r>
              <a:rPr sz="2200" spc="-15" dirty="0">
                <a:latin typeface="Carlito"/>
                <a:cs typeface="Carlito"/>
              </a:rPr>
              <a:t>follows. </a:t>
            </a:r>
            <a:r>
              <a:rPr sz="2200" spc="-5" dirty="0">
                <a:latin typeface="Carlito"/>
                <a:cs typeface="Carlito"/>
              </a:rPr>
              <a:t>As </a:t>
            </a:r>
            <a:r>
              <a:rPr sz="2200" spc="-10" dirty="0">
                <a:latin typeface="Carlito"/>
                <a:cs typeface="Carlito"/>
              </a:rPr>
              <a:t>electrons continue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diffuse across </a:t>
            </a:r>
            <a:r>
              <a:rPr sz="2200" spc="-5" dirty="0">
                <a:latin typeface="Carlito"/>
                <a:cs typeface="Carlito"/>
              </a:rPr>
              <a:t>the  junction, </a:t>
            </a:r>
            <a:r>
              <a:rPr sz="2200" spc="-15" dirty="0">
                <a:latin typeface="Carlito"/>
                <a:cs typeface="Carlito"/>
              </a:rPr>
              <a:t>more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0" dirty="0">
                <a:latin typeface="Carlito"/>
                <a:cs typeface="Carlito"/>
              </a:rPr>
              <a:t>more positive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negative </a:t>
            </a:r>
            <a:r>
              <a:rPr sz="2200" spc="-10" dirty="0">
                <a:latin typeface="Carlito"/>
                <a:cs typeface="Carlito"/>
              </a:rPr>
              <a:t>charges are </a:t>
            </a:r>
            <a:r>
              <a:rPr sz="2200" spc="-15" dirty="0">
                <a:latin typeface="Carlito"/>
                <a:cs typeface="Carlito"/>
              </a:rPr>
              <a:t>created  </a:t>
            </a:r>
            <a:r>
              <a:rPr sz="2200" spc="-5" dirty="0">
                <a:latin typeface="Carlito"/>
                <a:cs typeface="Carlito"/>
              </a:rPr>
              <a:t>near the junction as the depletion </a:t>
            </a:r>
            <a:r>
              <a:rPr sz="2200" spc="-10" dirty="0">
                <a:latin typeface="Carlito"/>
                <a:cs typeface="Carlito"/>
              </a:rPr>
              <a:t>region </a:t>
            </a:r>
            <a:r>
              <a:rPr sz="2200" spc="-5" dirty="0">
                <a:latin typeface="Carlito"/>
                <a:cs typeface="Carlito"/>
              </a:rPr>
              <a:t>is</a:t>
            </a:r>
            <a:r>
              <a:rPr sz="2200" spc="4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formed.</a:t>
            </a:r>
            <a:endParaRPr sz="2200">
              <a:latin typeface="Carlito"/>
              <a:cs typeface="Carlito"/>
            </a:endParaRPr>
          </a:p>
          <a:p>
            <a:pPr marL="355600" marR="5715" indent="-343535" algn="just">
              <a:lnSpc>
                <a:spcPts val="2110"/>
              </a:lnSpc>
              <a:spcBef>
                <a:spcPts val="51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point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reached where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total negative charge </a:t>
            </a:r>
            <a:r>
              <a:rPr sz="2200" spc="-5" dirty="0">
                <a:latin typeface="Carlito"/>
                <a:cs typeface="Carlito"/>
              </a:rPr>
              <a:t>in the depletion  </a:t>
            </a:r>
            <a:r>
              <a:rPr sz="2200" spc="-10" dirty="0">
                <a:latin typeface="Carlito"/>
                <a:cs typeface="Carlito"/>
              </a:rPr>
              <a:t>region repels </a:t>
            </a:r>
            <a:r>
              <a:rPr sz="2200" spc="-15" dirty="0">
                <a:latin typeface="Carlito"/>
                <a:cs typeface="Carlito"/>
              </a:rPr>
              <a:t>any </a:t>
            </a:r>
            <a:r>
              <a:rPr sz="2200" spc="-10" dirty="0">
                <a:latin typeface="Carlito"/>
                <a:cs typeface="Carlito"/>
              </a:rPr>
              <a:t>further diffusion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electrons </a:t>
            </a:r>
            <a:r>
              <a:rPr sz="2200" spc="-15" dirty="0">
                <a:latin typeface="Carlito"/>
                <a:cs typeface="Carlito"/>
              </a:rPr>
              <a:t>(negatively </a:t>
            </a:r>
            <a:r>
              <a:rPr sz="2200" spc="-10" dirty="0">
                <a:latin typeface="Carlito"/>
                <a:cs typeface="Carlito"/>
              </a:rPr>
              <a:t>charged  particles) </a:t>
            </a:r>
            <a:r>
              <a:rPr sz="2200" spc="-20" dirty="0">
                <a:latin typeface="Carlito"/>
                <a:cs typeface="Carlito"/>
              </a:rPr>
              <a:t>into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i="1" spc="-5" dirty="0">
                <a:latin typeface="Carlito"/>
                <a:cs typeface="Carlito"/>
              </a:rPr>
              <a:t>p </a:t>
            </a:r>
            <a:r>
              <a:rPr sz="2200" spc="-10" dirty="0">
                <a:latin typeface="Carlito"/>
                <a:cs typeface="Carlito"/>
              </a:rPr>
              <a:t>region </a:t>
            </a:r>
            <a:r>
              <a:rPr sz="2200" spc="-25" dirty="0">
                <a:latin typeface="Carlito"/>
                <a:cs typeface="Carlito"/>
              </a:rPr>
              <a:t>(like </a:t>
            </a:r>
            <a:r>
              <a:rPr sz="2200" spc="-10" dirty="0">
                <a:latin typeface="Carlito"/>
                <a:cs typeface="Carlito"/>
              </a:rPr>
              <a:t>charges repel) </a:t>
            </a:r>
            <a:r>
              <a:rPr sz="2200" spc="-5" dirty="0">
                <a:latin typeface="Carlito"/>
                <a:cs typeface="Carlito"/>
              </a:rPr>
              <a:t>and the </a:t>
            </a:r>
            <a:r>
              <a:rPr sz="2200" spc="-10" dirty="0">
                <a:latin typeface="Carlito"/>
                <a:cs typeface="Carlito"/>
              </a:rPr>
              <a:t>diffusion  </a:t>
            </a:r>
            <a:r>
              <a:rPr sz="2200" spc="-15" dirty="0">
                <a:latin typeface="Carlito"/>
                <a:cs typeface="Carlito"/>
              </a:rPr>
              <a:t>stops.</a:t>
            </a:r>
            <a:endParaRPr sz="2200">
              <a:latin typeface="Carlito"/>
              <a:cs typeface="Carlito"/>
            </a:endParaRPr>
          </a:p>
          <a:p>
            <a:pPr marL="355600" indent="-343535" algn="just">
              <a:lnSpc>
                <a:spcPts val="2380"/>
              </a:lnSpc>
              <a:spcBef>
                <a:spcPts val="2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In</a:t>
            </a:r>
            <a:r>
              <a:rPr sz="2200" spc="7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other</a:t>
            </a:r>
            <a:r>
              <a:rPr sz="2200" spc="9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words,</a:t>
            </a:r>
            <a:r>
              <a:rPr sz="2200" spc="9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7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depletion</a:t>
            </a:r>
            <a:r>
              <a:rPr sz="2200" spc="8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region</a:t>
            </a:r>
            <a:r>
              <a:rPr sz="2200" spc="8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acts</a:t>
            </a:r>
            <a:r>
              <a:rPr sz="2200" spc="85" dirty="0">
                <a:latin typeface="Carlito"/>
                <a:cs typeface="Carlito"/>
              </a:rPr>
              <a:t> </a:t>
            </a:r>
            <a:r>
              <a:rPr sz="2200" dirty="0">
                <a:latin typeface="Carlito"/>
                <a:cs typeface="Carlito"/>
              </a:rPr>
              <a:t>as</a:t>
            </a:r>
            <a:r>
              <a:rPr sz="2200" spc="8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8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barrier</a:t>
            </a:r>
            <a:r>
              <a:rPr sz="2200" spc="85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to</a:t>
            </a:r>
            <a:r>
              <a:rPr sz="2200" spc="100" dirty="0">
                <a:latin typeface="Carlito"/>
                <a:cs typeface="Carlito"/>
              </a:rPr>
              <a:t> </a:t>
            </a:r>
            <a:r>
              <a:rPr sz="2200" dirty="0">
                <a:latin typeface="Carlito"/>
                <a:cs typeface="Carlito"/>
              </a:rPr>
              <a:t>the</a:t>
            </a:r>
            <a:r>
              <a:rPr sz="2200" spc="8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further</a:t>
            </a:r>
            <a:endParaRPr sz="2200">
              <a:latin typeface="Carlito"/>
              <a:cs typeface="Carlito"/>
            </a:endParaRPr>
          </a:p>
          <a:p>
            <a:pPr marL="355600" algn="just">
              <a:lnSpc>
                <a:spcPts val="2380"/>
              </a:lnSpc>
            </a:pPr>
            <a:r>
              <a:rPr sz="2200" spc="-10" dirty="0">
                <a:latin typeface="Carlito"/>
                <a:cs typeface="Carlito"/>
              </a:rPr>
              <a:t>movement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0" dirty="0">
                <a:latin typeface="Carlito"/>
                <a:cs typeface="Carlito"/>
              </a:rPr>
              <a:t>electrons across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8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junction.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6717" y="405511"/>
            <a:ext cx="375157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Barrier</a:t>
            </a:r>
            <a:r>
              <a:rPr sz="4400" spc="-65" dirty="0"/>
              <a:t> </a:t>
            </a:r>
            <a:r>
              <a:rPr sz="4400" spc="-20" dirty="0"/>
              <a:t>Potential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5749"/>
            <a:ext cx="8073390" cy="384810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5080" indent="-343535" algn="just">
              <a:lnSpc>
                <a:spcPct val="8010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20" dirty="0">
                <a:latin typeface="Carlito"/>
                <a:cs typeface="Carlito"/>
              </a:rPr>
              <a:t>Any </a:t>
            </a:r>
            <a:r>
              <a:rPr sz="2200" spc="-5" dirty="0">
                <a:latin typeface="Carlito"/>
                <a:cs typeface="Carlito"/>
              </a:rPr>
              <a:t>time </a:t>
            </a:r>
            <a:r>
              <a:rPr sz="2200" spc="-10" dirty="0">
                <a:latin typeface="Carlito"/>
                <a:cs typeface="Carlito"/>
              </a:rPr>
              <a:t>there </a:t>
            </a:r>
            <a:r>
              <a:rPr sz="2200" spc="-5" dirty="0">
                <a:latin typeface="Carlito"/>
                <a:cs typeface="Carlito"/>
              </a:rPr>
              <a:t>is a </a:t>
            </a:r>
            <a:r>
              <a:rPr sz="2200" spc="-10" dirty="0">
                <a:latin typeface="Carlito"/>
                <a:cs typeface="Carlito"/>
              </a:rPr>
              <a:t>positive charge </a:t>
            </a:r>
            <a:r>
              <a:rPr sz="2200" spc="-5" dirty="0">
                <a:latin typeface="Carlito"/>
                <a:cs typeface="Carlito"/>
              </a:rPr>
              <a:t>and a </a:t>
            </a:r>
            <a:r>
              <a:rPr sz="2200" spc="-15" dirty="0">
                <a:latin typeface="Carlito"/>
                <a:cs typeface="Carlito"/>
              </a:rPr>
              <a:t>negative charge </a:t>
            </a:r>
            <a:r>
              <a:rPr sz="2200" spc="-10" dirty="0">
                <a:latin typeface="Carlito"/>
                <a:cs typeface="Carlito"/>
              </a:rPr>
              <a:t>near </a:t>
            </a:r>
            <a:r>
              <a:rPr sz="2200" spc="-5" dirty="0">
                <a:latin typeface="Carlito"/>
                <a:cs typeface="Carlito"/>
              </a:rPr>
              <a:t>each  </a:t>
            </a:r>
            <a:r>
              <a:rPr sz="2200" spc="-40" dirty="0">
                <a:latin typeface="Carlito"/>
                <a:cs typeface="Carlito"/>
              </a:rPr>
              <a:t>other, </a:t>
            </a:r>
            <a:r>
              <a:rPr sz="2200" spc="-10" dirty="0">
                <a:latin typeface="Carlito"/>
                <a:cs typeface="Carlito"/>
              </a:rPr>
              <a:t>there </a:t>
            </a:r>
            <a:r>
              <a:rPr sz="2200" spc="-5" dirty="0">
                <a:latin typeface="Carlito"/>
                <a:cs typeface="Carlito"/>
              </a:rPr>
              <a:t>is a </a:t>
            </a:r>
            <a:r>
              <a:rPr sz="2200" spc="-20" dirty="0">
                <a:latin typeface="Carlito"/>
                <a:cs typeface="Carlito"/>
              </a:rPr>
              <a:t>force </a:t>
            </a:r>
            <a:r>
              <a:rPr sz="2200" spc="-5" dirty="0">
                <a:latin typeface="Carlito"/>
                <a:cs typeface="Carlito"/>
              </a:rPr>
              <a:t>acting on the </a:t>
            </a:r>
            <a:r>
              <a:rPr sz="2200" spc="-10" dirty="0">
                <a:latin typeface="Carlito"/>
                <a:cs typeface="Carlito"/>
              </a:rPr>
              <a:t>charges </a:t>
            </a:r>
            <a:r>
              <a:rPr sz="2200" spc="-5" dirty="0">
                <a:latin typeface="Carlito"/>
                <a:cs typeface="Carlito"/>
              </a:rPr>
              <a:t>as </a:t>
            </a:r>
            <a:r>
              <a:rPr sz="2200" spc="-10" dirty="0">
                <a:latin typeface="Carlito"/>
                <a:cs typeface="Carlito"/>
              </a:rPr>
              <a:t>described by  </a:t>
            </a:r>
            <a:r>
              <a:rPr sz="2200" spc="-20" dirty="0">
                <a:latin typeface="Carlito"/>
                <a:cs typeface="Carlito"/>
              </a:rPr>
              <a:t>Coulomb’s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45" dirty="0">
                <a:latin typeface="Carlito"/>
                <a:cs typeface="Carlito"/>
              </a:rPr>
              <a:t>law.</a:t>
            </a:r>
            <a:endParaRPr sz="22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0" dirty="0">
                <a:latin typeface="Carlito"/>
                <a:cs typeface="Carlito"/>
              </a:rPr>
              <a:t>depletion region there are </a:t>
            </a:r>
            <a:r>
              <a:rPr sz="2200" spc="-15" dirty="0">
                <a:latin typeface="Carlito"/>
                <a:cs typeface="Carlito"/>
              </a:rPr>
              <a:t>many </a:t>
            </a:r>
            <a:r>
              <a:rPr sz="2200" spc="-10" dirty="0">
                <a:latin typeface="Carlito"/>
                <a:cs typeface="Carlito"/>
              </a:rPr>
              <a:t>positive charges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many  negative </a:t>
            </a:r>
            <a:r>
              <a:rPr sz="2200" spc="-10" dirty="0">
                <a:latin typeface="Carlito"/>
                <a:cs typeface="Carlito"/>
              </a:rPr>
              <a:t>charges </a:t>
            </a:r>
            <a:r>
              <a:rPr sz="2200" dirty="0">
                <a:latin typeface="Carlito"/>
                <a:cs typeface="Carlito"/>
              </a:rPr>
              <a:t>on </a:t>
            </a:r>
            <a:r>
              <a:rPr sz="2200" spc="-10" dirty="0">
                <a:latin typeface="Carlito"/>
                <a:cs typeface="Carlito"/>
              </a:rPr>
              <a:t>opposite sides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i="1" spc="-5" dirty="0">
                <a:latin typeface="Carlito"/>
                <a:cs typeface="Carlito"/>
              </a:rPr>
              <a:t>pn</a:t>
            </a:r>
            <a:r>
              <a:rPr sz="2200" i="1" spc="7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junction.</a:t>
            </a:r>
            <a:endParaRPr sz="22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20" dirty="0">
                <a:latin typeface="Carlito"/>
                <a:cs typeface="Carlito"/>
              </a:rPr>
              <a:t>forces </a:t>
            </a:r>
            <a:r>
              <a:rPr sz="2200" spc="-10" dirty="0">
                <a:latin typeface="Carlito"/>
                <a:cs typeface="Carlito"/>
              </a:rPr>
              <a:t>between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opposite charges </a:t>
            </a:r>
            <a:r>
              <a:rPr sz="2200" spc="-15" dirty="0">
                <a:latin typeface="Carlito"/>
                <a:cs typeface="Carlito"/>
              </a:rPr>
              <a:t>form </a:t>
            </a:r>
            <a:r>
              <a:rPr sz="2200" spc="-5" dirty="0">
                <a:latin typeface="Carlito"/>
                <a:cs typeface="Carlito"/>
              </a:rPr>
              <a:t>an </a:t>
            </a:r>
            <a:r>
              <a:rPr sz="2200" i="1" spc="-5" dirty="0">
                <a:latin typeface="Carlito"/>
                <a:cs typeface="Carlito"/>
              </a:rPr>
              <a:t>electric </a:t>
            </a:r>
            <a:r>
              <a:rPr sz="2200" i="1" spc="-10" dirty="0">
                <a:latin typeface="Carlito"/>
                <a:cs typeface="Carlito"/>
              </a:rPr>
              <a:t>field, </a:t>
            </a:r>
            <a:r>
              <a:rPr sz="2200" spc="-5" dirty="0">
                <a:latin typeface="Carlito"/>
                <a:cs typeface="Carlito"/>
              </a:rPr>
              <a:t>as  </a:t>
            </a:r>
            <a:r>
              <a:rPr sz="2200" spc="-15" dirty="0">
                <a:latin typeface="Carlito"/>
                <a:cs typeface="Carlito"/>
              </a:rPr>
              <a:t>illustrated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previous Figure </a:t>
            </a:r>
            <a:r>
              <a:rPr sz="2200" spc="-15" dirty="0">
                <a:latin typeface="Carlito"/>
                <a:cs typeface="Carlito"/>
              </a:rPr>
              <a:t>by </a:t>
            </a:r>
            <a:r>
              <a:rPr sz="2200" spc="-5" dirty="0">
                <a:latin typeface="Carlito"/>
                <a:cs typeface="Carlito"/>
              </a:rPr>
              <a:t>the blue </a:t>
            </a:r>
            <a:r>
              <a:rPr sz="2200" spc="-15" dirty="0">
                <a:latin typeface="Carlito"/>
                <a:cs typeface="Carlito"/>
              </a:rPr>
              <a:t>arrows </a:t>
            </a:r>
            <a:r>
              <a:rPr sz="2200" spc="-10" dirty="0">
                <a:latin typeface="Carlito"/>
                <a:cs typeface="Carlito"/>
              </a:rPr>
              <a:t>between </a:t>
            </a:r>
            <a:r>
              <a:rPr sz="2200" spc="-5" dirty="0">
                <a:latin typeface="Carlito"/>
                <a:cs typeface="Carlito"/>
              </a:rPr>
              <a:t>the  </a:t>
            </a:r>
            <a:r>
              <a:rPr sz="2200" spc="-10" dirty="0">
                <a:latin typeface="Carlito"/>
                <a:cs typeface="Carlito"/>
              </a:rPr>
              <a:t>positive charges </a:t>
            </a:r>
            <a:r>
              <a:rPr sz="2200" spc="-5" dirty="0">
                <a:latin typeface="Carlito"/>
                <a:cs typeface="Carlito"/>
              </a:rPr>
              <a:t>and the </a:t>
            </a:r>
            <a:r>
              <a:rPr sz="2200" spc="-15" dirty="0">
                <a:latin typeface="Carlito"/>
                <a:cs typeface="Carlito"/>
              </a:rPr>
              <a:t>negative</a:t>
            </a:r>
            <a:r>
              <a:rPr sz="2200" spc="5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charges.</a:t>
            </a:r>
            <a:endParaRPr sz="2200">
              <a:latin typeface="Carlito"/>
              <a:cs typeface="Carlito"/>
            </a:endParaRPr>
          </a:p>
          <a:p>
            <a:pPr marL="355600" marR="5080" indent="-343535" algn="just">
              <a:lnSpc>
                <a:spcPts val="2110"/>
              </a:lnSpc>
              <a:spcBef>
                <a:spcPts val="51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This </a:t>
            </a:r>
            <a:r>
              <a:rPr sz="2200" spc="-5" dirty="0">
                <a:latin typeface="Carlito"/>
                <a:cs typeface="Carlito"/>
              </a:rPr>
              <a:t>electric </a:t>
            </a:r>
            <a:r>
              <a:rPr sz="2200" dirty="0">
                <a:latin typeface="Carlito"/>
                <a:cs typeface="Carlito"/>
              </a:rPr>
              <a:t>field </a:t>
            </a:r>
            <a:r>
              <a:rPr sz="2200" spc="-5" dirty="0">
                <a:latin typeface="Carlito"/>
                <a:cs typeface="Carlito"/>
              </a:rPr>
              <a:t>is a </a:t>
            </a:r>
            <a:r>
              <a:rPr sz="2200" spc="-10" dirty="0">
                <a:latin typeface="Carlito"/>
                <a:cs typeface="Carlito"/>
              </a:rPr>
              <a:t>barrier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free electrons </a:t>
            </a:r>
            <a:r>
              <a:rPr sz="2200" dirty="0">
                <a:latin typeface="Carlito"/>
                <a:cs typeface="Carlito"/>
              </a:rPr>
              <a:t>in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i="1" spc="-5" dirty="0">
                <a:latin typeface="Carlito"/>
                <a:cs typeface="Carlito"/>
              </a:rPr>
              <a:t>n </a:t>
            </a:r>
            <a:r>
              <a:rPr sz="2200" spc="-5" dirty="0">
                <a:latin typeface="Carlito"/>
                <a:cs typeface="Carlito"/>
              </a:rPr>
              <a:t>region,  and </a:t>
            </a:r>
            <a:r>
              <a:rPr sz="2200" spc="-10" dirty="0">
                <a:latin typeface="Carlito"/>
                <a:cs typeface="Carlito"/>
              </a:rPr>
              <a:t>energy must </a:t>
            </a:r>
            <a:r>
              <a:rPr sz="2200" dirty="0">
                <a:latin typeface="Carlito"/>
                <a:cs typeface="Carlito"/>
              </a:rPr>
              <a:t>be </a:t>
            </a:r>
            <a:r>
              <a:rPr sz="2200" spc="-10" dirty="0">
                <a:latin typeface="Carlito"/>
                <a:cs typeface="Carlito"/>
              </a:rPr>
              <a:t>expended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move </a:t>
            </a:r>
            <a:r>
              <a:rPr sz="2200" spc="-5" dirty="0">
                <a:latin typeface="Carlito"/>
                <a:cs typeface="Carlito"/>
              </a:rPr>
              <a:t>an </a:t>
            </a:r>
            <a:r>
              <a:rPr sz="2200" spc="-10" dirty="0">
                <a:latin typeface="Carlito"/>
                <a:cs typeface="Carlito"/>
              </a:rPr>
              <a:t>electron through </a:t>
            </a:r>
            <a:r>
              <a:rPr sz="2200" spc="-5" dirty="0">
                <a:latin typeface="Carlito"/>
                <a:cs typeface="Carlito"/>
              </a:rPr>
              <a:t>the  electric</a:t>
            </a:r>
            <a:r>
              <a:rPr sz="2200" spc="-1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field.</a:t>
            </a:r>
            <a:endParaRPr sz="2200">
              <a:latin typeface="Carlito"/>
              <a:cs typeface="Carlito"/>
            </a:endParaRPr>
          </a:p>
          <a:p>
            <a:pPr marL="355600" indent="-343535" algn="just">
              <a:lnSpc>
                <a:spcPts val="2380"/>
              </a:lnSpc>
              <a:spcBef>
                <a:spcPts val="2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That </a:t>
            </a:r>
            <a:r>
              <a:rPr sz="2200" spc="-5" dirty="0">
                <a:latin typeface="Carlito"/>
                <a:cs typeface="Carlito"/>
              </a:rPr>
              <a:t>is, </a:t>
            </a:r>
            <a:r>
              <a:rPr sz="2200" spc="-10" dirty="0">
                <a:latin typeface="Carlito"/>
                <a:cs typeface="Carlito"/>
              </a:rPr>
              <a:t>external energy must </a:t>
            </a:r>
            <a:r>
              <a:rPr sz="2200" spc="-5" dirty="0">
                <a:latin typeface="Carlito"/>
                <a:cs typeface="Carlito"/>
              </a:rPr>
              <a:t>be applied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get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electrons</a:t>
            </a:r>
            <a:r>
              <a:rPr sz="2200" spc="-65" dirty="0">
                <a:latin typeface="Carlito"/>
                <a:cs typeface="Carlito"/>
              </a:rPr>
              <a:t> </a:t>
            </a:r>
            <a:r>
              <a:rPr sz="2200" spc="-35" dirty="0">
                <a:latin typeface="Carlito"/>
                <a:cs typeface="Carlito"/>
              </a:rPr>
              <a:t>to</a:t>
            </a:r>
            <a:endParaRPr sz="2200">
              <a:latin typeface="Carlito"/>
              <a:cs typeface="Carlito"/>
            </a:endParaRPr>
          </a:p>
          <a:p>
            <a:pPr marL="355600" algn="just">
              <a:lnSpc>
                <a:spcPts val="2380"/>
              </a:lnSpc>
            </a:pPr>
            <a:r>
              <a:rPr sz="2200" spc="-10" dirty="0">
                <a:latin typeface="Carlito"/>
                <a:cs typeface="Carlito"/>
              </a:rPr>
              <a:t>move across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barrier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the electric </a:t>
            </a:r>
            <a:r>
              <a:rPr sz="2200" spc="-10" dirty="0">
                <a:latin typeface="Carlito"/>
                <a:cs typeface="Carlito"/>
              </a:rPr>
              <a:t>field </a:t>
            </a:r>
            <a:r>
              <a:rPr sz="2200" spc="-5" dirty="0">
                <a:latin typeface="Carlito"/>
                <a:cs typeface="Carlito"/>
              </a:rPr>
              <a:t>in the </a:t>
            </a:r>
            <a:r>
              <a:rPr sz="2200" spc="-10" dirty="0">
                <a:latin typeface="Carlito"/>
                <a:cs typeface="Carlito"/>
              </a:rPr>
              <a:t>depletion</a:t>
            </a:r>
            <a:r>
              <a:rPr sz="2200" spc="17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region.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3357" y="405511"/>
            <a:ext cx="57143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Barrier </a:t>
            </a:r>
            <a:r>
              <a:rPr sz="4400" spc="-20" dirty="0"/>
              <a:t>Potential</a:t>
            </a:r>
            <a:r>
              <a:rPr sz="4400" spc="-60" dirty="0"/>
              <a:t> </a:t>
            </a:r>
            <a:r>
              <a:rPr sz="4400" spc="-15" dirty="0"/>
              <a:t>(Contd.)</a:t>
            </a:r>
            <a:endParaRPr sz="44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555749"/>
            <a:ext cx="8239125" cy="445198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431800" marR="94615" indent="-343535" algn="just">
              <a:lnSpc>
                <a:spcPct val="80100"/>
              </a:lnSpc>
              <a:spcBef>
                <a:spcPts val="620"/>
              </a:spcBef>
              <a:buFont typeface="Arial"/>
              <a:buChar char="•"/>
              <a:tabLst>
                <a:tab pos="432434" algn="l"/>
              </a:tabLst>
            </a:pPr>
            <a:r>
              <a:rPr sz="2200" spc="-10" dirty="0">
                <a:latin typeface="Carlito"/>
                <a:cs typeface="Carlito"/>
              </a:rPr>
              <a:t>The potential </a:t>
            </a:r>
            <a:r>
              <a:rPr sz="2200" spc="-15" dirty="0">
                <a:latin typeface="Carlito"/>
                <a:cs typeface="Carlito"/>
              </a:rPr>
              <a:t>difference </a:t>
            </a:r>
            <a:r>
              <a:rPr sz="2200" spc="5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the electric </a:t>
            </a:r>
            <a:r>
              <a:rPr sz="2200" spc="-10" dirty="0">
                <a:latin typeface="Carlito"/>
                <a:cs typeface="Carlito"/>
              </a:rPr>
              <a:t>field across </a:t>
            </a:r>
            <a:r>
              <a:rPr sz="2200" spc="-5" dirty="0">
                <a:latin typeface="Carlito"/>
                <a:cs typeface="Carlito"/>
              </a:rPr>
              <a:t>the depletion  </a:t>
            </a:r>
            <a:r>
              <a:rPr sz="2200" spc="-10" dirty="0">
                <a:latin typeface="Carlito"/>
                <a:cs typeface="Carlito"/>
              </a:rPr>
              <a:t>region </a:t>
            </a:r>
            <a:r>
              <a:rPr sz="2200" spc="-5" dirty="0">
                <a:latin typeface="Carlito"/>
                <a:cs typeface="Carlito"/>
              </a:rPr>
              <a:t>is the amount of </a:t>
            </a:r>
            <a:r>
              <a:rPr sz="2200" spc="-15" dirty="0">
                <a:latin typeface="Carlito"/>
                <a:cs typeface="Carlito"/>
              </a:rPr>
              <a:t>voltage </a:t>
            </a:r>
            <a:r>
              <a:rPr sz="2200" spc="-10" dirty="0">
                <a:latin typeface="Carlito"/>
                <a:cs typeface="Carlito"/>
              </a:rPr>
              <a:t>required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move </a:t>
            </a:r>
            <a:r>
              <a:rPr sz="2200" spc="-10" dirty="0">
                <a:latin typeface="Carlito"/>
                <a:cs typeface="Carlito"/>
              </a:rPr>
              <a:t>electrons through  </a:t>
            </a:r>
            <a:r>
              <a:rPr sz="2200" spc="-5" dirty="0">
                <a:latin typeface="Carlito"/>
                <a:cs typeface="Carlito"/>
              </a:rPr>
              <a:t>the electric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field.</a:t>
            </a:r>
            <a:endParaRPr sz="2200">
              <a:latin typeface="Carlito"/>
              <a:cs typeface="Carlito"/>
            </a:endParaRPr>
          </a:p>
          <a:p>
            <a:pPr marL="431800" marR="95885" indent="-343535" algn="just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432434" algn="l"/>
              </a:tabLst>
            </a:pPr>
            <a:r>
              <a:rPr sz="2200" spc="-10" dirty="0">
                <a:latin typeface="Carlito"/>
                <a:cs typeface="Carlito"/>
              </a:rPr>
              <a:t>This potential </a:t>
            </a:r>
            <a:r>
              <a:rPr sz="2200" spc="-15" dirty="0">
                <a:latin typeface="Carlito"/>
                <a:cs typeface="Carlito"/>
              </a:rPr>
              <a:t>difference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called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b="1" dirty="0">
                <a:latin typeface="Carlito"/>
                <a:cs typeface="Carlito"/>
              </a:rPr>
              <a:t>barrier </a:t>
            </a:r>
            <a:r>
              <a:rPr sz="2200" b="1" spc="-10" dirty="0">
                <a:latin typeface="Carlito"/>
                <a:cs typeface="Carlito"/>
              </a:rPr>
              <a:t>potential </a:t>
            </a:r>
            <a:r>
              <a:rPr sz="2200" spc="-5" dirty="0">
                <a:latin typeface="Carlito"/>
                <a:cs typeface="Carlito"/>
              </a:rPr>
              <a:t>and is  </a:t>
            </a:r>
            <a:r>
              <a:rPr sz="2200" spc="-15" dirty="0">
                <a:latin typeface="Carlito"/>
                <a:cs typeface="Carlito"/>
              </a:rPr>
              <a:t>expressed </a:t>
            </a:r>
            <a:r>
              <a:rPr sz="2200" spc="-5" dirty="0">
                <a:latin typeface="Carlito"/>
                <a:cs typeface="Carlito"/>
              </a:rPr>
              <a:t>in</a:t>
            </a:r>
            <a:r>
              <a:rPr sz="2200" spc="1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volts.</a:t>
            </a:r>
            <a:endParaRPr sz="2200">
              <a:latin typeface="Carlito"/>
              <a:cs typeface="Carlito"/>
            </a:endParaRPr>
          </a:p>
          <a:p>
            <a:pPr marL="431800" marR="94615" indent="-343535" algn="just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432434" algn="l"/>
              </a:tabLst>
            </a:pPr>
            <a:r>
              <a:rPr sz="2200" spc="-15" dirty="0">
                <a:latin typeface="Carlito"/>
                <a:cs typeface="Carlito"/>
              </a:rPr>
              <a:t>Stated </a:t>
            </a:r>
            <a:r>
              <a:rPr sz="2200" spc="-5" dirty="0">
                <a:latin typeface="Carlito"/>
                <a:cs typeface="Carlito"/>
              </a:rPr>
              <a:t>another </a:t>
            </a:r>
            <a:r>
              <a:rPr sz="2200" spc="-60" dirty="0">
                <a:latin typeface="Carlito"/>
                <a:cs typeface="Carlito"/>
              </a:rPr>
              <a:t>way,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certain amount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15" dirty="0">
                <a:latin typeface="Carlito"/>
                <a:cs typeface="Carlito"/>
              </a:rPr>
              <a:t>voltage </a:t>
            </a:r>
            <a:r>
              <a:rPr sz="2200" spc="-5" dirty="0">
                <a:latin typeface="Carlito"/>
                <a:cs typeface="Carlito"/>
              </a:rPr>
              <a:t>equal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the  barrier </a:t>
            </a:r>
            <a:r>
              <a:rPr sz="2200" spc="-10" dirty="0">
                <a:latin typeface="Carlito"/>
                <a:cs typeface="Carlito"/>
              </a:rPr>
              <a:t>potential </a:t>
            </a:r>
            <a:r>
              <a:rPr sz="2200" spc="-5" dirty="0">
                <a:latin typeface="Carlito"/>
                <a:cs typeface="Carlito"/>
              </a:rPr>
              <a:t>and with the </a:t>
            </a:r>
            <a:r>
              <a:rPr sz="2200" spc="-15" dirty="0">
                <a:latin typeface="Carlito"/>
                <a:cs typeface="Carlito"/>
              </a:rPr>
              <a:t>proper </a:t>
            </a:r>
            <a:r>
              <a:rPr sz="2200" spc="-5" dirty="0">
                <a:latin typeface="Carlito"/>
                <a:cs typeface="Carlito"/>
              </a:rPr>
              <a:t>polarity </a:t>
            </a:r>
            <a:r>
              <a:rPr sz="2200" spc="-10" dirty="0">
                <a:latin typeface="Carlito"/>
                <a:cs typeface="Carlito"/>
              </a:rPr>
              <a:t>must </a:t>
            </a:r>
            <a:r>
              <a:rPr sz="2200" dirty="0">
                <a:latin typeface="Carlito"/>
                <a:cs typeface="Carlito"/>
              </a:rPr>
              <a:t>be </a:t>
            </a:r>
            <a:r>
              <a:rPr sz="2200" spc="-5" dirty="0">
                <a:latin typeface="Carlito"/>
                <a:cs typeface="Carlito"/>
              </a:rPr>
              <a:t>applied  </a:t>
            </a:r>
            <a:r>
              <a:rPr sz="2200" spc="-10" dirty="0">
                <a:latin typeface="Carlito"/>
                <a:cs typeface="Carlito"/>
              </a:rPr>
              <a:t>across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i="1" spc="-10" dirty="0">
                <a:latin typeface="Carlito"/>
                <a:cs typeface="Carlito"/>
              </a:rPr>
              <a:t>pn </a:t>
            </a:r>
            <a:r>
              <a:rPr sz="2200" spc="-10" dirty="0">
                <a:latin typeface="Carlito"/>
                <a:cs typeface="Carlito"/>
              </a:rPr>
              <a:t>junction </a:t>
            </a:r>
            <a:r>
              <a:rPr sz="2200" spc="-25" dirty="0">
                <a:latin typeface="Carlito"/>
                <a:cs typeface="Carlito"/>
              </a:rPr>
              <a:t>before </a:t>
            </a:r>
            <a:r>
              <a:rPr sz="2200" spc="-10" dirty="0">
                <a:latin typeface="Carlito"/>
                <a:cs typeface="Carlito"/>
              </a:rPr>
              <a:t>electrons </a:t>
            </a:r>
            <a:r>
              <a:rPr sz="2200" spc="-5" dirty="0">
                <a:latin typeface="Carlito"/>
                <a:cs typeface="Carlito"/>
              </a:rPr>
              <a:t>will </a:t>
            </a:r>
            <a:r>
              <a:rPr sz="2200" spc="-10" dirty="0">
                <a:latin typeface="Carlito"/>
                <a:cs typeface="Carlito"/>
              </a:rPr>
              <a:t>begin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flow across </a:t>
            </a:r>
            <a:r>
              <a:rPr sz="2200" spc="-5" dirty="0">
                <a:latin typeface="Carlito"/>
                <a:cs typeface="Carlito"/>
              </a:rPr>
              <a:t>the  junction.</a:t>
            </a:r>
            <a:endParaRPr sz="2200">
              <a:latin typeface="Carlito"/>
              <a:cs typeface="Carlito"/>
            </a:endParaRPr>
          </a:p>
          <a:p>
            <a:pPr marL="431800" indent="-343535" algn="just">
              <a:lnSpc>
                <a:spcPct val="100000"/>
              </a:lnSpc>
              <a:buFont typeface="Arial"/>
              <a:buChar char="•"/>
              <a:tabLst>
                <a:tab pos="432434" algn="l"/>
              </a:tabLst>
            </a:pPr>
            <a:r>
              <a:rPr sz="2200" spc="-60" dirty="0">
                <a:latin typeface="Carlito"/>
                <a:cs typeface="Carlito"/>
              </a:rPr>
              <a:t>You </a:t>
            </a:r>
            <a:r>
              <a:rPr sz="2200" spc="-20" dirty="0">
                <a:latin typeface="Carlito"/>
                <a:cs typeface="Carlito"/>
              </a:rPr>
              <a:t>have </a:t>
            </a:r>
            <a:r>
              <a:rPr sz="2200" spc="-5" dirty="0">
                <a:latin typeface="Carlito"/>
                <a:cs typeface="Carlito"/>
              </a:rPr>
              <a:t>learned </a:t>
            </a:r>
            <a:r>
              <a:rPr sz="2200" spc="-10" dirty="0">
                <a:latin typeface="Carlito"/>
                <a:cs typeface="Carlito"/>
              </a:rPr>
              <a:t>more </a:t>
            </a:r>
            <a:r>
              <a:rPr sz="2200" spc="-5" dirty="0">
                <a:latin typeface="Carlito"/>
                <a:cs typeface="Carlito"/>
              </a:rPr>
              <a:t>about this when labs </a:t>
            </a:r>
            <a:r>
              <a:rPr sz="2200" spc="-15" dirty="0">
                <a:latin typeface="Carlito"/>
                <a:cs typeface="Carlito"/>
              </a:rPr>
              <a:t>were</a:t>
            </a:r>
            <a:r>
              <a:rPr sz="2200" spc="10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performed.</a:t>
            </a:r>
            <a:endParaRPr sz="2200">
              <a:latin typeface="Carlito"/>
              <a:cs typeface="Carlito"/>
            </a:endParaRPr>
          </a:p>
          <a:p>
            <a:pPr marL="431800" marR="94615" indent="-343535" algn="just">
              <a:lnSpc>
                <a:spcPct val="80100"/>
              </a:lnSpc>
              <a:spcBef>
                <a:spcPts val="525"/>
              </a:spcBef>
              <a:buFont typeface="Arial"/>
              <a:buChar char="•"/>
              <a:tabLst>
                <a:tab pos="432434" algn="l"/>
              </a:tabLst>
            </a:pPr>
            <a:r>
              <a:rPr sz="2200" spc="-10" dirty="0">
                <a:latin typeface="Carlito"/>
                <a:cs typeface="Carlito"/>
              </a:rPr>
              <a:t>The barrier potential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i="1" spc="-5" dirty="0">
                <a:latin typeface="Carlito"/>
                <a:cs typeface="Carlito"/>
              </a:rPr>
              <a:t>pn </a:t>
            </a:r>
            <a:r>
              <a:rPr sz="2200" spc="-10" dirty="0">
                <a:latin typeface="Carlito"/>
                <a:cs typeface="Carlito"/>
              </a:rPr>
              <a:t>junction depends </a:t>
            </a:r>
            <a:r>
              <a:rPr sz="2200" dirty="0">
                <a:latin typeface="Carlito"/>
                <a:cs typeface="Carlito"/>
              </a:rPr>
              <a:t>on </a:t>
            </a:r>
            <a:r>
              <a:rPr sz="2200" spc="-15" dirty="0">
                <a:latin typeface="Carlito"/>
                <a:cs typeface="Carlito"/>
              </a:rPr>
              <a:t>several </a:t>
            </a:r>
            <a:r>
              <a:rPr sz="2200" spc="-20" dirty="0">
                <a:latin typeface="Carlito"/>
                <a:cs typeface="Carlito"/>
              </a:rPr>
              <a:t>factors,  </a:t>
            </a:r>
            <a:r>
              <a:rPr sz="2200" spc="-5" dirty="0">
                <a:latin typeface="Carlito"/>
                <a:cs typeface="Carlito"/>
              </a:rPr>
              <a:t>including the type of </a:t>
            </a:r>
            <a:r>
              <a:rPr sz="2200" spc="-10" dirty="0">
                <a:latin typeface="Carlito"/>
                <a:cs typeface="Carlito"/>
              </a:rPr>
              <a:t>semiconductive material, </a:t>
            </a:r>
            <a:r>
              <a:rPr sz="2200" spc="-5" dirty="0">
                <a:latin typeface="Carlito"/>
                <a:cs typeface="Carlito"/>
              </a:rPr>
              <a:t>the amount of  doping, and the</a:t>
            </a:r>
            <a:r>
              <a:rPr sz="2200" spc="1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temperature.</a:t>
            </a:r>
            <a:endParaRPr sz="2200">
              <a:latin typeface="Carlito"/>
              <a:cs typeface="Carlito"/>
            </a:endParaRPr>
          </a:p>
          <a:p>
            <a:pPr marL="431800" indent="-343535" algn="just">
              <a:lnSpc>
                <a:spcPts val="2375"/>
              </a:lnSpc>
              <a:buFont typeface="Arial"/>
              <a:buChar char="•"/>
              <a:tabLst>
                <a:tab pos="432434" algn="l"/>
              </a:tabLst>
            </a:pPr>
            <a:r>
              <a:rPr sz="2200" spc="-10" dirty="0">
                <a:latin typeface="Carlito"/>
                <a:cs typeface="Carlito"/>
              </a:rPr>
              <a:t>The</a:t>
            </a:r>
            <a:r>
              <a:rPr sz="2200" spc="27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typical</a:t>
            </a:r>
            <a:r>
              <a:rPr sz="2200" spc="27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barrier</a:t>
            </a:r>
            <a:r>
              <a:rPr sz="2200" spc="28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potential</a:t>
            </a:r>
            <a:r>
              <a:rPr sz="2200" spc="27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is</a:t>
            </a:r>
            <a:r>
              <a:rPr sz="2200" spc="27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approximately</a:t>
            </a:r>
            <a:r>
              <a:rPr sz="2200" spc="27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0.7</a:t>
            </a:r>
            <a:r>
              <a:rPr sz="2200" spc="27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V</a:t>
            </a:r>
            <a:r>
              <a:rPr sz="2200" spc="285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for</a:t>
            </a:r>
            <a:r>
              <a:rPr sz="2200" spc="27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silicon</a:t>
            </a:r>
            <a:r>
              <a:rPr sz="2200" spc="27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and</a:t>
            </a:r>
            <a:endParaRPr sz="2200">
              <a:latin typeface="Carlito"/>
              <a:cs typeface="Carlito"/>
            </a:endParaRPr>
          </a:p>
          <a:p>
            <a:pPr marL="431800" algn="just">
              <a:lnSpc>
                <a:spcPts val="2375"/>
              </a:lnSpc>
            </a:pPr>
            <a:r>
              <a:rPr sz="2200" spc="-5" dirty="0">
                <a:latin typeface="Carlito"/>
                <a:cs typeface="Carlito"/>
              </a:rPr>
              <a:t>0.3 V </a:t>
            </a:r>
            <a:r>
              <a:rPr sz="2200" spc="-20" dirty="0">
                <a:latin typeface="Carlito"/>
                <a:cs typeface="Carlito"/>
              </a:rPr>
              <a:t>for </a:t>
            </a:r>
            <a:r>
              <a:rPr sz="2200" spc="-10" dirty="0">
                <a:latin typeface="Carlito"/>
                <a:cs typeface="Carlito"/>
              </a:rPr>
              <a:t>germanium </a:t>
            </a:r>
            <a:r>
              <a:rPr sz="2200" spc="-15" dirty="0">
                <a:latin typeface="Carlito"/>
                <a:cs typeface="Carlito"/>
              </a:rPr>
              <a:t>at</a:t>
            </a:r>
            <a:r>
              <a:rPr sz="2200" spc="50" dirty="0">
                <a:latin typeface="Carlito"/>
                <a:cs typeface="Carlito"/>
              </a:rPr>
              <a:t> </a:t>
            </a:r>
            <a:r>
              <a:rPr sz="2200" spc="-150" dirty="0">
                <a:latin typeface="Georgia"/>
                <a:cs typeface="Georgia"/>
              </a:rPr>
              <a:t>25</a:t>
            </a:r>
            <a:r>
              <a:rPr sz="2400" spc="-225" baseline="27777" dirty="0">
                <a:latin typeface="Georgia"/>
                <a:cs typeface="Georgia"/>
              </a:rPr>
              <a:t>0</a:t>
            </a:r>
            <a:r>
              <a:rPr sz="2200" spc="-150" dirty="0">
                <a:latin typeface="Georgia"/>
                <a:cs typeface="Georgia"/>
              </a:rPr>
              <a:t>𝐶</a:t>
            </a:r>
            <a:r>
              <a:rPr sz="2200" spc="-150" dirty="0">
                <a:latin typeface="Carlito"/>
                <a:cs typeface="Carlito"/>
              </a:rPr>
              <a:t>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9870" y="405511"/>
            <a:ext cx="36029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Energy</a:t>
            </a:r>
            <a:r>
              <a:rPr sz="4400" spc="-50" dirty="0"/>
              <a:t> </a:t>
            </a:r>
            <a:r>
              <a:rPr sz="4400" spc="-15" dirty="0"/>
              <a:t>Diagram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524000" y="1143000"/>
            <a:ext cx="6861048" cy="510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9870" y="405511"/>
            <a:ext cx="36029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Energy</a:t>
            </a:r>
            <a:r>
              <a:rPr sz="4400" spc="-50" dirty="0"/>
              <a:t> </a:t>
            </a:r>
            <a:r>
              <a:rPr sz="4400" spc="-15" dirty="0"/>
              <a:t>Diagram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650492" y="1219200"/>
            <a:ext cx="6655308" cy="4953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Engr. 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3008</Words>
  <Application>Microsoft Office PowerPoint</Application>
  <PresentationFormat>On-screen Show (4:3)</PresentationFormat>
  <Paragraphs>192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Carlito</vt:lpstr>
      <vt:lpstr>Georgia</vt:lpstr>
      <vt:lpstr>Office Theme</vt:lpstr>
      <vt:lpstr>BS – 101 Engineering Physics</vt:lpstr>
      <vt:lpstr>Comparison of a Semiconductor Atom  to a Conductor Atom</vt:lpstr>
      <vt:lpstr>Comparison of a Semiconductor Atom  to a Conductor Atom (Contd.)</vt:lpstr>
      <vt:lpstr>Comparison of a Semiconductor Atom  to a Conductor Atom (Contd.)</vt:lpstr>
      <vt:lpstr>Silicon and Germanium</vt:lpstr>
      <vt:lpstr>Silicon and Germanium (Contd.)</vt:lpstr>
      <vt:lpstr>Silicon and Germanium (Contd.)</vt:lpstr>
      <vt:lpstr>Covalent Bonds</vt:lpstr>
      <vt:lpstr>Covalent Bonds (Contd.)</vt:lpstr>
      <vt:lpstr>Covalent Bonds (Contd.)</vt:lpstr>
      <vt:lpstr>Covalent Bonds (Contd.)</vt:lpstr>
      <vt:lpstr>Energy Bands</vt:lpstr>
      <vt:lpstr>Energy band diagram for an unexcited  atom in a pure (intrinsic) silicon  crystal.</vt:lpstr>
      <vt:lpstr>Conduction Electrons and Holes</vt:lpstr>
      <vt:lpstr>Conduction Electrons and Holes  (Contd.)</vt:lpstr>
      <vt:lpstr>Conduction Electrons and Holes  (Contd.)</vt:lpstr>
      <vt:lpstr>Electron Current</vt:lpstr>
      <vt:lpstr>Hole Current</vt:lpstr>
      <vt:lpstr>Doping</vt:lpstr>
      <vt:lpstr>N-Type Semiconductor</vt:lpstr>
      <vt:lpstr>N-Type Semiconductor (Contd.)</vt:lpstr>
      <vt:lpstr>N-Type Semiconductor (Contd.)</vt:lpstr>
      <vt:lpstr>P-Type Semiconductor</vt:lpstr>
      <vt:lpstr>P-Type Semiconductor (Contd.)</vt:lpstr>
      <vt:lpstr>P-Type Semiconductor (Contd.)</vt:lpstr>
      <vt:lpstr>The PN Junction</vt:lpstr>
      <vt:lpstr>The PN Junction (Contd.)</vt:lpstr>
      <vt:lpstr>The PN Junction (Contd.)</vt:lpstr>
      <vt:lpstr>The PN Junction (Contd.)</vt:lpstr>
      <vt:lpstr>The PN Junction (Contd.)</vt:lpstr>
      <vt:lpstr>Barrier Potential</vt:lpstr>
      <vt:lpstr>Barrier Potential (Contd.)</vt:lpstr>
      <vt:lpstr>Energy Diagram</vt:lpstr>
      <vt:lpstr>Energy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Electrical Engineering</dc:title>
  <dc:creator>Mamoon Riaz</dc:creator>
  <cp:lastModifiedBy>Safee</cp:lastModifiedBy>
  <cp:revision>1</cp:revision>
  <dcterms:created xsi:type="dcterms:W3CDTF">2021-12-24T06:25:11Z</dcterms:created>
  <dcterms:modified xsi:type="dcterms:W3CDTF">2021-12-24T06:27:58Z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2021-12-24T00:00:00Z</vt:filetime>
  </property>
</Properties>
</file>