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70" r:id="rId13"/>
    <p:sldId id="271" r:id="rId1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F82E3-02D8-4B59-9D80-4E2F9C741DAA}" type="datetimeFigureOut">
              <a:rPr lang="en-US" smtClean="0"/>
              <a:t>2/17/2022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35A72-731D-4CB6-B935-DC589EE4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02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8307C5-3A25-4A3B-A68C-9578ADD3EA78}" type="datetime1">
              <a:rPr lang="en-US" smtClean="0"/>
              <a:t>2/17/2022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5CA4A-DB0D-482F-B82A-F7F499B2A461}" type="datetime1">
              <a:rPr lang="en-US" smtClean="0"/>
              <a:t>2/17/2022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AA9B8-6299-4DEF-AA93-14894F2C57E2}" type="datetime1">
              <a:rPr lang="en-US" smtClean="0"/>
              <a:t>2/17/2022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866FD-C6A0-41C4-A1EE-2FDD9031344B}" type="datetime1">
              <a:rPr lang="en-US" smtClean="0"/>
              <a:t>2/17/2022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4804F-6E3F-4D4D-8CD1-1C38657545EC}" type="datetime1">
              <a:rPr lang="en-US" smtClean="0"/>
              <a:t>2/17/2022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6885" y="461899"/>
            <a:ext cx="565086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3240" y="1074165"/>
            <a:ext cx="8406130" cy="2465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41370" y="6373774"/>
            <a:ext cx="2459354" cy="360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95ABF-56C2-45E0-AA03-FBB2B901680F}" type="datetime1">
              <a:rPr lang="en-US" smtClean="0"/>
              <a:t>2/17/2022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01811" y="6465214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4925" y="502742"/>
            <a:ext cx="6529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BS – 101 </a:t>
            </a:r>
            <a:r>
              <a:rPr spc="-5" dirty="0"/>
              <a:t>Engineering</a:t>
            </a:r>
            <a:r>
              <a:rPr spc="-75" dirty="0"/>
              <a:t> </a:t>
            </a:r>
            <a:r>
              <a:rPr spc="-20" dirty="0"/>
              <a:t>Physics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3664" y="2827147"/>
            <a:ext cx="2824735" cy="168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2715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rlito"/>
                <a:cs typeface="Carlito"/>
              </a:rPr>
              <a:t>Lecture </a:t>
            </a:r>
            <a:r>
              <a:rPr sz="3200" dirty="0">
                <a:latin typeface="Carlito"/>
                <a:cs typeface="Carlito"/>
              </a:rPr>
              <a:t>–</a:t>
            </a:r>
            <a:r>
              <a:rPr sz="3200" spc="-40" dirty="0">
                <a:latin typeface="Carlito"/>
                <a:cs typeface="Carlito"/>
              </a:rPr>
              <a:t> </a:t>
            </a:r>
            <a:r>
              <a:rPr lang="en-US" sz="3200" spc="-5" dirty="0">
                <a:latin typeface="Carlito"/>
                <a:cs typeface="Carlito"/>
              </a:rPr>
              <a:t>17</a:t>
            </a:r>
            <a:endParaRPr sz="32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4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lang="en-US" sz="3200" dirty="0">
                <a:latin typeface="Carlito"/>
                <a:cs typeface="Carlito"/>
              </a:rPr>
              <a:t>Engr. Safee Ullah</a:t>
            </a:r>
            <a:endParaRPr sz="3200" dirty="0">
              <a:latin typeface="Carlito"/>
              <a:cs typeface="Carlito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9D8D4-1DC6-4631-AFF5-3F50CB4564A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B7F26-7E1D-40D1-8377-7D75530B32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5317" y="405511"/>
            <a:ext cx="329120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Diode</a:t>
            </a:r>
            <a:r>
              <a:rPr spc="-65" dirty="0"/>
              <a:t> </a:t>
            </a:r>
            <a:r>
              <a:rPr spc="-20" dirty="0"/>
              <a:t>Limiters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555749"/>
            <a:ext cx="8238490" cy="3311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1800" indent="-343535">
              <a:lnSpc>
                <a:spcPts val="2375"/>
              </a:lnSpc>
              <a:spcBef>
                <a:spcPts val="95"/>
              </a:spcBef>
              <a:buFont typeface="Arial"/>
              <a:buChar char="•"/>
              <a:tabLst>
                <a:tab pos="431800" algn="l"/>
                <a:tab pos="432434" algn="l"/>
              </a:tabLst>
            </a:pPr>
            <a:r>
              <a:rPr sz="2200" spc="-10" dirty="0">
                <a:latin typeface="Carlito"/>
                <a:cs typeface="Carlito"/>
              </a:rPr>
              <a:t>Figure shows</a:t>
            </a:r>
            <a:r>
              <a:rPr sz="2200" spc="14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diode positive </a:t>
            </a:r>
            <a:r>
              <a:rPr sz="2200" b="1" spc="-5" dirty="0">
                <a:latin typeface="Carlito"/>
                <a:cs typeface="Carlito"/>
              </a:rPr>
              <a:t>limiter </a:t>
            </a:r>
            <a:r>
              <a:rPr sz="2200" spc="-5" dirty="0">
                <a:latin typeface="Carlito"/>
                <a:cs typeface="Carlito"/>
              </a:rPr>
              <a:t>(also </a:t>
            </a:r>
            <a:r>
              <a:rPr sz="2200" spc="-10" dirty="0">
                <a:latin typeface="Carlito"/>
                <a:cs typeface="Carlito"/>
              </a:rPr>
              <a:t>called </a:t>
            </a:r>
            <a:r>
              <a:rPr sz="2200" b="1" spc="-5" dirty="0">
                <a:latin typeface="Carlito"/>
                <a:cs typeface="Carlito"/>
              </a:rPr>
              <a:t>clipper</a:t>
            </a:r>
            <a:r>
              <a:rPr sz="2200" spc="-5" dirty="0">
                <a:latin typeface="Carlito"/>
                <a:cs typeface="Carlito"/>
              </a:rPr>
              <a:t>) </a:t>
            </a:r>
            <a:r>
              <a:rPr sz="2200" spc="-10" dirty="0">
                <a:latin typeface="Carlito"/>
                <a:cs typeface="Carlito"/>
              </a:rPr>
              <a:t>that </a:t>
            </a:r>
            <a:r>
              <a:rPr sz="2200" spc="-5" dirty="0">
                <a:latin typeface="Carlito"/>
                <a:cs typeface="Carlito"/>
              </a:rPr>
              <a:t>limits</a:t>
            </a:r>
            <a:endParaRPr sz="2200">
              <a:latin typeface="Carlito"/>
              <a:cs typeface="Carlito"/>
            </a:endParaRPr>
          </a:p>
          <a:p>
            <a:pPr marL="431800">
              <a:lnSpc>
                <a:spcPts val="2375"/>
              </a:lnSpc>
            </a:pPr>
            <a:r>
              <a:rPr sz="2200" spc="-5" dirty="0">
                <a:latin typeface="Carlito"/>
                <a:cs typeface="Carlito"/>
              </a:rPr>
              <a:t>or </a:t>
            </a:r>
            <a:r>
              <a:rPr sz="2200" spc="-10" dirty="0">
                <a:latin typeface="Carlito"/>
                <a:cs typeface="Carlito"/>
              </a:rPr>
              <a:t>clips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0" dirty="0">
                <a:latin typeface="Carlito"/>
                <a:cs typeface="Carlito"/>
              </a:rPr>
              <a:t>positive </a:t>
            </a:r>
            <a:r>
              <a:rPr sz="2200" spc="-5" dirty="0">
                <a:latin typeface="Carlito"/>
                <a:cs typeface="Carlito"/>
              </a:rPr>
              <a:t>part of the input</a:t>
            </a:r>
            <a:r>
              <a:rPr sz="2200" spc="2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voltage.</a:t>
            </a:r>
            <a:endParaRPr sz="2200">
              <a:latin typeface="Carlito"/>
              <a:cs typeface="Carlito"/>
            </a:endParaRPr>
          </a:p>
          <a:p>
            <a:pPr marL="431800" marR="93980" indent="-343535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431800" algn="l"/>
                <a:tab pos="432434" algn="l"/>
                <a:tab pos="836930" algn="l"/>
                <a:tab pos="1349375" algn="l"/>
                <a:tab pos="2079625" algn="l"/>
                <a:tab pos="3041015" algn="l"/>
                <a:tab pos="3701415" algn="l"/>
                <a:tab pos="4792345" algn="l"/>
                <a:tab pos="5306695" algn="l"/>
                <a:tab pos="6082030" algn="l"/>
                <a:tab pos="7239000" algn="l"/>
              </a:tabLst>
            </a:pPr>
            <a:r>
              <a:rPr sz="2200" spc="-5" dirty="0">
                <a:latin typeface="Carlito"/>
                <a:cs typeface="Carlito"/>
              </a:rPr>
              <a:t>As	the	input	</a:t>
            </a:r>
            <a:r>
              <a:rPr sz="2200" spc="-25" dirty="0">
                <a:latin typeface="Carlito"/>
                <a:cs typeface="Carlito"/>
              </a:rPr>
              <a:t>v</a:t>
            </a:r>
            <a:r>
              <a:rPr sz="2200" spc="-5" dirty="0">
                <a:latin typeface="Carlito"/>
                <a:cs typeface="Carlito"/>
              </a:rPr>
              <a:t>ol</a:t>
            </a:r>
            <a:r>
              <a:rPr sz="2200" spc="-35" dirty="0">
                <a:latin typeface="Carlito"/>
                <a:cs typeface="Carlito"/>
              </a:rPr>
              <a:t>t</a:t>
            </a:r>
            <a:r>
              <a:rPr sz="2200" spc="-5" dirty="0">
                <a:latin typeface="Carlito"/>
                <a:cs typeface="Carlito"/>
              </a:rPr>
              <a:t>a</a:t>
            </a:r>
            <a:r>
              <a:rPr sz="2200" spc="-30" dirty="0">
                <a:latin typeface="Carlito"/>
                <a:cs typeface="Carlito"/>
              </a:rPr>
              <a:t>g</a:t>
            </a:r>
            <a:r>
              <a:rPr sz="2200" spc="-5" dirty="0">
                <a:latin typeface="Carlito"/>
                <a:cs typeface="Carlito"/>
              </a:rPr>
              <a:t>e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-20" dirty="0">
                <a:latin typeface="Carlito"/>
                <a:cs typeface="Carlito"/>
              </a:rPr>
              <a:t>g</a:t>
            </a:r>
            <a:r>
              <a:rPr sz="2200" spc="-5" dirty="0">
                <a:latin typeface="Carlito"/>
                <a:cs typeface="Carlito"/>
              </a:rPr>
              <a:t>o</a:t>
            </a:r>
            <a:r>
              <a:rPr sz="2200" dirty="0">
                <a:latin typeface="Carlito"/>
                <a:cs typeface="Carlito"/>
              </a:rPr>
              <a:t>e</a:t>
            </a:r>
            <a:r>
              <a:rPr sz="2200" spc="-5" dirty="0">
                <a:latin typeface="Carlito"/>
                <a:cs typeface="Carlito"/>
              </a:rPr>
              <a:t>s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-10" dirty="0">
                <a:latin typeface="Carlito"/>
                <a:cs typeface="Carlito"/>
              </a:rPr>
              <a:t>po</a:t>
            </a:r>
            <a:r>
              <a:rPr sz="2200" dirty="0">
                <a:latin typeface="Carlito"/>
                <a:cs typeface="Carlito"/>
              </a:rPr>
              <a:t>s</a:t>
            </a:r>
            <a:r>
              <a:rPr sz="2200" spc="-5" dirty="0">
                <a:latin typeface="Carlito"/>
                <a:cs typeface="Carlito"/>
              </a:rPr>
              <a:t>iti</a:t>
            </a:r>
            <a:r>
              <a:rPr sz="2200" spc="-35" dirty="0">
                <a:latin typeface="Carlito"/>
                <a:cs typeface="Carlito"/>
              </a:rPr>
              <a:t>v</a:t>
            </a:r>
            <a:r>
              <a:rPr sz="2200" spc="-5" dirty="0">
                <a:latin typeface="Carlito"/>
                <a:cs typeface="Carlito"/>
              </a:rPr>
              <a:t>e,</a:t>
            </a:r>
            <a:r>
              <a:rPr sz="2200" dirty="0">
                <a:latin typeface="Carlito"/>
                <a:cs typeface="Carlito"/>
              </a:rPr>
              <a:t>	t</a:t>
            </a:r>
            <a:r>
              <a:rPr sz="2200" spc="-10" dirty="0">
                <a:latin typeface="Carlito"/>
                <a:cs typeface="Carlito"/>
              </a:rPr>
              <a:t>h</a:t>
            </a:r>
            <a:r>
              <a:rPr sz="2200" spc="-5" dirty="0">
                <a:latin typeface="Carlito"/>
                <a:cs typeface="Carlito"/>
              </a:rPr>
              <a:t>e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-10" dirty="0">
                <a:latin typeface="Carlito"/>
                <a:cs typeface="Carlito"/>
              </a:rPr>
              <a:t>diod</a:t>
            </a:r>
            <a:r>
              <a:rPr sz="2200" spc="-5" dirty="0">
                <a:latin typeface="Carlito"/>
                <a:cs typeface="Carlito"/>
              </a:rPr>
              <a:t>e</a:t>
            </a:r>
            <a:r>
              <a:rPr sz="2200" dirty="0">
                <a:latin typeface="Carlito"/>
                <a:cs typeface="Carlito"/>
              </a:rPr>
              <a:t>	be</a:t>
            </a:r>
            <a:r>
              <a:rPr sz="2200" spc="-35" dirty="0">
                <a:latin typeface="Carlito"/>
                <a:cs typeface="Carlito"/>
              </a:rPr>
              <a:t>c</a:t>
            </a:r>
            <a:r>
              <a:rPr sz="2200" spc="-5" dirty="0">
                <a:latin typeface="Carlito"/>
                <a:cs typeface="Carlito"/>
              </a:rPr>
              <a:t>o</a:t>
            </a:r>
            <a:r>
              <a:rPr sz="2200" dirty="0">
                <a:latin typeface="Carlito"/>
                <a:cs typeface="Carlito"/>
              </a:rPr>
              <a:t>m</a:t>
            </a:r>
            <a:r>
              <a:rPr sz="2200" spc="-5" dirty="0">
                <a:latin typeface="Carlito"/>
                <a:cs typeface="Carlito"/>
              </a:rPr>
              <a:t>es</a:t>
            </a:r>
            <a:r>
              <a:rPr sz="2200" dirty="0">
                <a:latin typeface="Carlito"/>
                <a:cs typeface="Carlito"/>
              </a:rPr>
              <a:t>	</a:t>
            </a:r>
            <a:r>
              <a:rPr sz="2200" spc="-55" dirty="0">
                <a:latin typeface="Carlito"/>
                <a:cs typeface="Carlito"/>
              </a:rPr>
              <a:t>f</a:t>
            </a:r>
            <a:r>
              <a:rPr sz="2200" spc="-5" dirty="0">
                <a:latin typeface="Carlito"/>
                <a:cs typeface="Carlito"/>
              </a:rPr>
              <a:t>o</a:t>
            </a:r>
            <a:r>
              <a:rPr sz="2200" spc="5" dirty="0">
                <a:latin typeface="Carlito"/>
                <a:cs typeface="Carlito"/>
              </a:rPr>
              <a:t>r</a:t>
            </a:r>
            <a:r>
              <a:rPr sz="2200" spc="-30" dirty="0">
                <a:latin typeface="Carlito"/>
                <a:cs typeface="Carlito"/>
              </a:rPr>
              <a:t>w</a:t>
            </a:r>
            <a:r>
              <a:rPr sz="2200" spc="-5" dirty="0">
                <a:latin typeface="Carlito"/>
                <a:cs typeface="Carlito"/>
              </a:rPr>
              <a:t>a</a:t>
            </a:r>
            <a:r>
              <a:rPr sz="2200" spc="-25" dirty="0">
                <a:latin typeface="Carlito"/>
                <a:cs typeface="Carlito"/>
              </a:rPr>
              <a:t>r</a:t>
            </a:r>
            <a:r>
              <a:rPr sz="2200" spc="-5" dirty="0">
                <a:latin typeface="Carlito"/>
                <a:cs typeface="Carlito"/>
              </a:rPr>
              <a:t>d  biased and </a:t>
            </a:r>
            <a:r>
              <a:rPr sz="2200" spc="-10" dirty="0">
                <a:latin typeface="Carlito"/>
                <a:cs typeface="Carlito"/>
              </a:rPr>
              <a:t>conducts</a:t>
            </a:r>
            <a:r>
              <a:rPr sz="2200" spc="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current.</a:t>
            </a:r>
            <a:endParaRPr sz="2200">
              <a:latin typeface="Carlito"/>
              <a:cs typeface="Carlito"/>
            </a:endParaRPr>
          </a:p>
          <a:p>
            <a:pPr marL="431800" marR="95885" indent="-343535">
              <a:lnSpc>
                <a:spcPct val="80000"/>
              </a:lnSpc>
              <a:spcBef>
                <a:spcPts val="530"/>
              </a:spcBef>
              <a:buFont typeface="Arial"/>
              <a:buChar char="•"/>
              <a:tabLst>
                <a:tab pos="431800" algn="l"/>
                <a:tab pos="432434" algn="l"/>
              </a:tabLst>
            </a:pPr>
            <a:r>
              <a:rPr sz="2200" spc="-20" dirty="0">
                <a:latin typeface="Carlito"/>
                <a:cs typeface="Carlito"/>
              </a:rPr>
              <a:t>Point </a:t>
            </a:r>
            <a:r>
              <a:rPr sz="2200" i="1" spc="-5" dirty="0">
                <a:latin typeface="Carlito"/>
                <a:cs typeface="Carlito"/>
              </a:rPr>
              <a:t>A </a:t>
            </a:r>
            <a:r>
              <a:rPr sz="2200" spc="-5" dirty="0">
                <a:latin typeface="Carlito"/>
                <a:cs typeface="Carlito"/>
              </a:rPr>
              <a:t>is </a:t>
            </a:r>
            <a:r>
              <a:rPr sz="2200" spc="-10" dirty="0">
                <a:latin typeface="Carlito"/>
                <a:cs typeface="Carlito"/>
              </a:rPr>
              <a:t>limited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+0.7 V when the input </a:t>
            </a:r>
            <a:r>
              <a:rPr sz="2200" spc="-15" dirty="0">
                <a:latin typeface="Carlito"/>
                <a:cs typeface="Carlito"/>
              </a:rPr>
              <a:t>voltage exceeds </a:t>
            </a:r>
            <a:r>
              <a:rPr sz="2200" spc="-5" dirty="0">
                <a:latin typeface="Carlito"/>
                <a:cs typeface="Carlito"/>
              </a:rPr>
              <a:t>this   </a:t>
            </a:r>
            <a:r>
              <a:rPr sz="2200" spc="-10" dirty="0">
                <a:latin typeface="Carlito"/>
                <a:cs typeface="Carlito"/>
              </a:rPr>
              <a:t>value.</a:t>
            </a:r>
            <a:endParaRPr sz="2200">
              <a:latin typeface="Carlito"/>
              <a:cs typeface="Carlito"/>
            </a:endParaRPr>
          </a:p>
          <a:p>
            <a:pPr marL="431800" indent="-343535">
              <a:lnSpc>
                <a:spcPts val="2375"/>
              </a:lnSpc>
              <a:buFont typeface="Arial"/>
              <a:buChar char="•"/>
              <a:tabLst>
                <a:tab pos="431800" algn="l"/>
                <a:tab pos="432434" algn="l"/>
              </a:tabLst>
            </a:pPr>
            <a:r>
              <a:rPr sz="2200" spc="-5" dirty="0">
                <a:latin typeface="Carlito"/>
                <a:cs typeface="Carlito"/>
              </a:rPr>
              <a:t>When the input </a:t>
            </a:r>
            <a:r>
              <a:rPr sz="2200" spc="-15" dirty="0">
                <a:latin typeface="Carlito"/>
                <a:cs typeface="Carlito"/>
              </a:rPr>
              <a:t>voltage </a:t>
            </a:r>
            <a:r>
              <a:rPr sz="2200" spc="-5" dirty="0">
                <a:latin typeface="Carlito"/>
                <a:cs typeface="Carlito"/>
              </a:rPr>
              <a:t>goes back </a:t>
            </a:r>
            <a:r>
              <a:rPr sz="2200" spc="-10" dirty="0">
                <a:latin typeface="Carlito"/>
                <a:cs typeface="Carlito"/>
              </a:rPr>
              <a:t>below </a:t>
            </a:r>
            <a:r>
              <a:rPr sz="2200" spc="-5" dirty="0">
                <a:latin typeface="Carlito"/>
                <a:cs typeface="Carlito"/>
              </a:rPr>
              <a:t>0.7 </a:t>
            </a:r>
            <a:r>
              <a:rPr sz="2200" spc="-95" dirty="0">
                <a:latin typeface="Carlito"/>
                <a:cs typeface="Carlito"/>
              </a:rPr>
              <a:t>V,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dirty="0">
                <a:latin typeface="Carlito"/>
                <a:cs typeface="Carlito"/>
              </a:rPr>
              <a:t>diode </a:t>
            </a:r>
            <a:r>
              <a:rPr sz="2200" spc="-5" dirty="0">
                <a:latin typeface="Carlito"/>
                <a:cs typeface="Carlito"/>
              </a:rPr>
              <a:t>is</a:t>
            </a:r>
            <a:r>
              <a:rPr sz="2200" spc="409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reverse-</a:t>
            </a:r>
            <a:endParaRPr sz="2200">
              <a:latin typeface="Carlito"/>
              <a:cs typeface="Carlito"/>
            </a:endParaRPr>
          </a:p>
          <a:p>
            <a:pPr marL="431800">
              <a:lnSpc>
                <a:spcPts val="2375"/>
              </a:lnSpc>
            </a:pPr>
            <a:r>
              <a:rPr sz="2200" spc="-5" dirty="0">
                <a:latin typeface="Carlito"/>
                <a:cs typeface="Carlito"/>
              </a:rPr>
              <a:t>biased and </a:t>
            </a:r>
            <a:r>
              <a:rPr sz="2200" spc="-10" dirty="0">
                <a:latin typeface="Carlito"/>
                <a:cs typeface="Carlito"/>
              </a:rPr>
              <a:t>appears </a:t>
            </a:r>
            <a:r>
              <a:rPr sz="2200" spc="-5" dirty="0">
                <a:latin typeface="Carlito"/>
                <a:cs typeface="Carlito"/>
              </a:rPr>
              <a:t>as an</a:t>
            </a:r>
            <a:r>
              <a:rPr sz="2200" spc="-2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open.</a:t>
            </a:r>
            <a:endParaRPr sz="2200">
              <a:latin typeface="Carlito"/>
              <a:cs typeface="Carlito"/>
            </a:endParaRPr>
          </a:p>
          <a:p>
            <a:pPr marL="431800" marR="96520" indent="-343535">
              <a:lnSpc>
                <a:spcPts val="2110"/>
              </a:lnSpc>
              <a:spcBef>
                <a:spcPts val="509"/>
              </a:spcBef>
              <a:buFont typeface="Arial"/>
              <a:buChar char="•"/>
              <a:tabLst>
                <a:tab pos="431800" algn="l"/>
                <a:tab pos="432434" algn="l"/>
              </a:tabLst>
            </a:pPr>
            <a:r>
              <a:rPr sz="2200" spc="-10" dirty="0">
                <a:latin typeface="Carlito"/>
                <a:cs typeface="Carlito"/>
              </a:rPr>
              <a:t>The output </a:t>
            </a:r>
            <a:r>
              <a:rPr sz="2200" spc="-15" dirty="0">
                <a:latin typeface="Carlito"/>
                <a:cs typeface="Carlito"/>
              </a:rPr>
              <a:t>voltage </a:t>
            </a:r>
            <a:r>
              <a:rPr sz="2200" spc="-10" dirty="0">
                <a:latin typeface="Carlito"/>
                <a:cs typeface="Carlito"/>
              </a:rPr>
              <a:t>looks </a:t>
            </a:r>
            <a:r>
              <a:rPr sz="2200" spc="-25" dirty="0">
                <a:latin typeface="Carlito"/>
                <a:cs typeface="Carlito"/>
              </a:rPr>
              <a:t>like </a:t>
            </a:r>
            <a:r>
              <a:rPr sz="2200" spc="-5" dirty="0">
                <a:latin typeface="Carlito"/>
                <a:cs typeface="Carlito"/>
              </a:rPr>
              <a:t>the </a:t>
            </a:r>
            <a:r>
              <a:rPr sz="2200" spc="-15" dirty="0">
                <a:latin typeface="Carlito"/>
                <a:cs typeface="Carlito"/>
              </a:rPr>
              <a:t>negative </a:t>
            </a:r>
            <a:r>
              <a:rPr sz="2200" spc="-10" dirty="0">
                <a:latin typeface="Carlito"/>
                <a:cs typeface="Carlito"/>
              </a:rPr>
              <a:t>part </a:t>
            </a:r>
            <a:r>
              <a:rPr sz="2200" dirty="0">
                <a:latin typeface="Carlito"/>
                <a:cs typeface="Carlito"/>
              </a:rPr>
              <a:t>of </a:t>
            </a:r>
            <a:r>
              <a:rPr sz="2200" spc="-5" dirty="0">
                <a:latin typeface="Carlito"/>
                <a:cs typeface="Carlito"/>
              </a:rPr>
              <a:t>the input </a:t>
            </a:r>
            <a:r>
              <a:rPr sz="2200" spc="-15" dirty="0">
                <a:latin typeface="Carlito"/>
                <a:cs typeface="Carlito"/>
              </a:rPr>
              <a:t>voltage,  </a:t>
            </a:r>
            <a:r>
              <a:rPr sz="2200" spc="-10" dirty="0">
                <a:latin typeface="Carlito"/>
                <a:cs typeface="Carlito"/>
              </a:rPr>
              <a:t>but</a:t>
            </a:r>
            <a:r>
              <a:rPr sz="2200" spc="85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with</a:t>
            </a:r>
            <a:r>
              <a:rPr sz="2200" spc="10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a</a:t>
            </a:r>
            <a:r>
              <a:rPr sz="2200" spc="11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magnitude</a:t>
            </a:r>
            <a:r>
              <a:rPr sz="2200" spc="9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determined</a:t>
            </a:r>
            <a:r>
              <a:rPr sz="2200" spc="100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by</a:t>
            </a:r>
            <a:r>
              <a:rPr sz="2200" spc="120" dirty="0">
                <a:latin typeface="Carlito"/>
                <a:cs typeface="Carlito"/>
              </a:rPr>
              <a:t> </a:t>
            </a:r>
            <a:r>
              <a:rPr sz="2200" spc="-5" dirty="0">
                <a:latin typeface="Carlito"/>
                <a:cs typeface="Carlito"/>
              </a:rPr>
              <a:t>the</a:t>
            </a:r>
            <a:r>
              <a:rPr sz="2200" spc="9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voltage</a:t>
            </a:r>
            <a:r>
              <a:rPr sz="2200" spc="9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divider</a:t>
            </a:r>
            <a:r>
              <a:rPr sz="2200" spc="105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formed</a:t>
            </a:r>
            <a:r>
              <a:rPr sz="2200" spc="114" dirty="0">
                <a:latin typeface="Carlito"/>
                <a:cs typeface="Carlito"/>
              </a:rPr>
              <a:t> </a:t>
            </a:r>
            <a:r>
              <a:rPr sz="2200" spc="-20" dirty="0">
                <a:latin typeface="Carlito"/>
                <a:cs typeface="Carlito"/>
              </a:rPr>
              <a:t>by</a:t>
            </a:r>
            <a:endParaRPr sz="2200">
              <a:latin typeface="Carlito"/>
              <a:cs typeface="Carlito"/>
            </a:endParaRPr>
          </a:p>
          <a:p>
            <a:pPr marL="431800">
              <a:lnSpc>
                <a:spcPts val="2130"/>
              </a:lnSpc>
            </a:pPr>
            <a:r>
              <a:rPr sz="2200" spc="-135" dirty="0">
                <a:latin typeface="Times New Roman"/>
                <a:cs typeface="Times New Roman"/>
              </a:rPr>
              <a:t>𝑅</a:t>
            </a:r>
            <a:r>
              <a:rPr sz="2400" spc="-202" baseline="-15625" dirty="0">
                <a:latin typeface="Times New Roman"/>
                <a:cs typeface="Times New Roman"/>
              </a:rPr>
              <a:t>1 </a:t>
            </a:r>
            <a:r>
              <a:rPr sz="2200" spc="-5" dirty="0">
                <a:latin typeface="Carlito"/>
                <a:cs typeface="Carlito"/>
              </a:rPr>
              <a:t>and the load </a:t>
            </a:r>
            <a:r>
              <a:rPr sz="2200" spc="-35" dirty="0">
                <a:latin typeface="Carlito"/>
                <a:cs typeface="Carlito"/>
              </a:rPr>
              <a:t>resistor, </a:t>
            </a:r>
            <a:r>
              <a:rPr sz="2200" spc="-200" dirty="0">
                <a:latin typeface="Times New Roman"/>
                <a:cs typeface="Times New Roman"/>
              </a:rPr>
              <a:t>𝑅</a:t>
            </a:r>
            <a:r>
              <a:rPr sz="2400" spc="-300" baseline="-15625" dirty="0">
                <a:latin typeface="Times New Roman"/>
                <a:cs typeface="Times New Roman"/>
              </a:rPr>
              <a:t>𝐿</a:t>
            </a:r>
            <a:r>
              <a:rPr sz="2200" spc="-200" dirty="0">
                <a:latin typeface="Carlito"/>
                <a:cs typeface="Carlito"/>
              </a:rPr>
              <a:t>, </a:t>
            </a:r>
            <a:r>
              <a:rPr sz="2200" spc="-5" dirty="0">
                <a:latin typeface="Carlito"/>
                <a:cs typeface="Carlito"/>
              </a:rPr>
              <a:t>as</a:t>
            </a:r>
            <a:r>
              <a:rPr sz="2200" spc="-20" dirty="0">
                <a:latin typeface="Carlito"/>
                <a:cs typeface="Carlito"/>
              </a:rPr>
              <a:t> </a:t>
            </a:r>
            <a:r>
              <a:rPr sz="2200" spc="-15" dirty="0">
                <a:latin typeface="Carlito"/>
                <a:cs typeface="Carlito"/>
              </a:rPr>
              <a:t>follows: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6275" y="5107685"/>
            <a:ext cx="859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300" spc="-630" baseline="11363" dirty="0">
                <a:latin typeface="Times New Roman"/>
                <a:cs typeface="Times New Roman"/>
              </a:rPr>
              <a:t>𝑉</a:t>
            </a:r>
            <a:r>
              <a:rPr sz="1600" spc="-420" dirty="0">
                <a:latin typeface="Times New Roman"/>
                <a:cs typeface="Times New Roman"/>
              </a:rPr>
              <a:t>𝑜𝑢𝑡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3300" spc="592" baseline="11363" dirty="0">
                <a:latin typeface="Times New Roman"/>
                <a:cs typeface="Times New Roman"/>
              </a:rPr>
              <a:t>=</a:t>
            </a:r>
            <a:endParaRPr sz="3300" baseline="1136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36136" y="4907788"/>
            <a:ext cx="1329055" cy="711200"/>
          </a:xfrm>
          <a:custGeom>
            <a:avLst/>
            <a:gdLst/>
            <a:ahLst/>
            <a:cxnLst/>
            <a:rect l="l" t="t" r="r" b="b"/>
            <a:pathLst>
              <a:path w="1329054" h="711200">
                <a:moveTo>
                  <a:pt x="128143" y="10160"/>
                </a:moveTo>
                <a:lnTo>
                  <a:pt x="71577" y="59740"/>
                </a:lnTo>
                <a:lnTo>
                  <a:pt x="50800" y="98425"/>
                </a:lnTo>
                <a:lnTo>
                  <a:pt x="32893" y="143002"/>
                </a:lnTo>
                <a:lnTo>
                  <a:pt x="18478" y="191922"/>
                </a:lnTo>
                <a:lnTo>
                  <a:pt x="8204" y="243573"/>
                </a:lnTo>
                <a:lnTo>
                  <a:pt x="2044" y="297980"/>
                </a:lnTo>
                <a:lnTo>
                  <a:pt x="0" y="355092"/>
                </a:lnTo>
                <a:lnTo>
                  <a:pt x="2044" y="411632"/>
                </a:lnTo>
                <a:lnTo>
                  <a:pt x="8204" y="465772"/>
                </a:lnTo>
                <a:lnTo>
                  <a:pt x="18478" y="517550"/>
                </a:lnTo>
                <a:lnTo>
                  <a:pt x="32893" y="566928"/>
                </a:lnTo>
                <a:lnTo>
                  <a:pt x="50800" y="612152"/>
                </a:lnTo>
                <a:lnTo>
                  <a:pt x="71577" y="651256"/>
                </a:lnTo>
                <a:lnTo>
                  <a:pt x="95237" y="684237"/>
                </a:lnTo>
                <a:lnTo>
                  <a:pt x="121793" y="711111"/>
                </a:lnTo>
                <a:lnTo>
                  <a:pt x="128143" y="701040"/>
                </a:lnTo>
                <a:lnTo>
                  <a:pt x="105346" y="673709"/>
                </a:lnTo>
                <a:lnTo>
                  <a:pt x="85356" y="640867"/>
                </a:lnTo>
                <a:lnTo>
                  <a:pt x="68148" y="602513"/>
                </a:lnTo>
                <a:lnTo>
                  <a:pt x="53721" y="558673"/>
                </a:lnTo>
                <a:lnTo>
                  <a:pt x="42227" y="511098"/>
                </a:lnTo>
                <a:lnTo>
                  <a:pt x="34061" y="461352"/>
                </a:lnTo>
                <a:lnTo>
                  <a:pt x="29171" y="409422"/>
                </a:lnTo>
                <a:lnTo>
                  <a:pt x="27559" y="355346"/>
                </a:lnTo>
                <a:lnTo>
                  <a:pt x="29197" y="300202"/>
                </a:lnTo>
                <a:lnTo>
                  <a:pt x="34112" y="247738"/>
                </a:lnTo>
                <a:lnTo>
                  <a:pt x="42291" y="197954"/>
                </a:lnTo>
                <a:lnTo>
                  <a:pt x="53721" y="150876"/>
                </a:lnTo>
                <a:lnTo>
                  <a:pt x="68224" y="107784"/>
                </a:lnTo>
                <a:lnTo>
                  <a:pt x="85445" y="69951"/>
                </a:lnTo>
                <a:lnTo>
                  <a:pt x="105422" y="37401"/>
                </a:lnTo>
                <a:lnTo>
                  <a:pt x="128143" y="10160"/>
                </a:lnTo>
                <a:close/>
              </a:path>
              <a:path w="1329054" h="711200">
                <a:moveTo>
                  <a:pt x="1191768" y="345440"/>
                </a:moveTo>
                <a:lnTo>
                  <a:pt x="138684" y="345440"/>
                </a:lnTo>
                <a:lnTo>
                  <a:pt x="138684" y="363728"/>
                </a:lnTo>
                <a:lnTo>
                  <a:pt x="1191768" y="363728"/>
                </a:lnTo>
                <a:lnTo>
                  <a:pt x="1191768" y="345440"/>
                </a:lnTo>
                <a:close/>
              </a:path>
              <a:path w="1329054" h="711200">
                <a:moveTo>
                  <a:pt x="1328928" y="355092"/>
                </a:moveTo>
                <a:lnTo>
                  <a:pt x="1326857" y="297980"/>
                </a:lnTo>
                <a:lnTo>
                  <a:pt x="1320673" y="243573"/>
                </a:lnTo>
                <a:lnTo>
                  <a:pt x="1310386" y="191922"/>
                </a:lnTo>
                <a:lnTo>
                  <a:pt x="1296035" y="143002"/>
                </a:lnTo>
                <a:lnTo>
                  <a:pt x="1278115" y="98425"/>
                </a:lnTo>
                <a:lnTo>
                  <a:pt x="1257338" y="59740"/>
                </a:lnTo>
                <a:lnTo>
                  <a:pt x="1233678" y="26936"/>
                </a:lnTo>
                <a:lnTo>
                  <a:pt x="1207135" y="0"/>
                </a:lnTo>
                <a:lnTo>
                  <a:pt x="1200785" y="10160"/>
                </a:lnTo>
                <a:lnTo>
                  <a:pt x="1223429" y="37401"/>
                </a:lnTo>
                <a:lnTo>
                  <a:pt x="1243355" y="69951"/>
                </a:lnTo>
                <a:lnTo>
                  <a:pt x="1260576" y="107784"/>
                </a:lnTo>
                <a:lnTo>
                  <a:pt x="1275080" y="150876"/>
                </a:lnTo>
                <a:lnTo>
                  <a:pt x="1286573" y="197954"/>
                </a:lnTo>
                <a:lnTo>
                  <a:pt x="1294790" y="247738"/>
                </a:lnTo>
                <a:lnTo>
                  <a:pt x="1299718" y="300202"/>
                </a:lnTo>
                <a:lnTo>
                  <a:pt x="1301369" y="355346"/>
                </a:lnTo>
                <a:lnTo>
                  <a:pt x="1299743" y="409422"/>
                </a:lnTo>
                <a:lnTo>
                  <a:pt x="1294853" y="461352"/>
                </a:lnTo>
                <a:lnTo>
                  <a:pt x="1286687" y="511098"/>
                </a:lnTo>
                <a:lnTo>
                  <a:pt x="1275207" y="558673"/>
                </a:lnTo>
                <a:lnTo>
                  <a:pt x="1260767" y="602513"/>
                </a:lnTo>
                <a:lnTo>
                  <a:pt x="1243558" y="640867"/>
                </a:lnTo>
                <a:lnTo>
                  <a:pt x="1223568" y="673709"/>
                </a:lnTo>
                <a:lnTo>
                  <a:pt x="1200785" y="701040"/>
                </a:lnTo>
                <a:lnTo>
                  <a:pt x="1207135" y="711111"/>
                </a:lnTo>
                <a:lnTo>
                  <a:pt x="1257338" y="651256"/>
                </a:lnTo>
                <a:lnTo>
                  <a:pt x="1278115" y="612152"/>
                </a:lnTo>
                <a:lnTo>
                  <a:pt x="1296035" y="566928"/>
                </a:lnTo>
                <a:lnTo>
                  <a:pt x="1310386" y="517550"/>
                </a:lnTo>
                <a:lnTo>
                  <a:pt x="1320673" y="465772"/>
                </a:lnTo>
                <a:lnTo>
                  <a:pt x="1326857" y="411632"/>
                </a:lnTo>
                <a:lnTo>
                  <a:pt x="1328928" y="3550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12513" y="4838776"/>
            <a:ext cx="3619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00" spc="-360" dirty="0">
                <a:latin typeface="Times New Roman"/>
                <a:cs typeface="Times New Roman"/>
              </a:rPr>
              <a:t>𝑅</a:t>
            </a:r>
            <a:r>
              <a:rPr sz="2400" spc="-540" baseline="-15625" dirty="0">
                <a:latin typeface="Times New Roman"/>
                <a:cs typeface="Times New Roman"/>
              </a:rPr>
              <a:t>𝐿</a:t>
            </a:r>
            <a:endParaRPr sz="2400" baseline="-15625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4237609" y="5237226"/>
            <a:ext cx="1113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56565" algn="l"/>
              </a:tabLst>
            </a:pPr>
            <a:r>
              <a:rPr sz="2200" spc="-135" dirty="0">
                <a:latin typeface="Times New Roman"/>
                <a:cs typeface="Times New Roman"/>
              </a:rPr>
              <a:t>𝑅</a:t>
            </a:r>
            <a:r>
              <a:rPr sz="2400" spc="-202" baseline="-15625" dirty="0">
                <a:latin typeface="Times New Roman"/>
                <a:cs typeface="Times New Roman"/>
              </a:rPr>
              <a:t>1	</a:t>
            </a:r>
            <a:r>
              <a:rPr sz="2200" spc="395" dirty="0">
                <a:latin typeface="Times New Roman"/>
                <a:cs typeface="Times New Roman"/>
              </a:rPr>
              <a:t>+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spc="-360" dirty="0">
                <a:latin typeface="Times New Roman"/>
                <a:cs typeface="Times New Roman"/>
              </a:rPr>
              <a:t>𝑅</a:t>
            </a:r>
            <a:r>
              <a:rPr sz="2400" spc="-540" baseline="-15625" dirty="0">
                <a:latin typeface="Times New Roman"/>
                <a:cs typeface="Times New Roman"/>
              </a:rPr>
              <a:t>𝐿</a:t>
            </a:r>
            <a:endParaRPr sz="2400" baseline="-15625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21833" y="5051297"/>
            <a:ext cx="200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34" dirty="0">
                <a:latin typeface="Times New Roman"/>
                <a:cs typeface="Times New Roman"/>
              </a:rPr>
              <a:t>𝑉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8992" y="5182361"/>
            <a:ext cx="22987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spc="-570" dirty="0">
                <a:latin typeface="Times New Roman"/>
                <a:cs typeface="Times New Roman"/>
              </a:rPr>
              <a:t>𝑖𝑛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1957" y="405511"/>
            <a:ext cx="52565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Diode </a:t>
            </a:r>
            <a:r>
              <a:rPr spc="-20" dirty="0"/>
              <a:t>Limiters</a:t>
            </a:r>
            <a:r>
              <a:rPr spc="-35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1415796" y="1219200"/>
            <a:ext cx="6432803" cy="502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1645" y="405511"/>
            <a:ext cx="56762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Diode </a:t>
            </a:r>
            <a:r>
              <a:rPr spc="-20" dirty="0"/>
              <a:t>Limiters</a:t>
            </a:r>
            <a:r>
              <a:rPr spc="-60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607261"/>
            <a:ext cx="8124825" cy="1490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304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81635" algn="l"/>
              </a:tabLst>
            </a:pPr>
            <a:r>
              <a:rPr sz="3200" spc="-5" dirty="0">
                <a:latin typeface="Carlito"/>
                <a:cs typeface="Carlito"/>
              </a:rPr>
              <a:t>What </a:t>
            </a:r>
            <a:r>
              <a:rPr sz="3200" spc="-10" dirty="0">
                <a:latin typeface="Carlito"/>
                <a:cs typeface="Carlito"/>
              </a:rPr>
              <a:t>would </a:t>
            </a:r>
            <a:r>
              <a:rPr sz="3200" spc="-15" dirty="0">
                <a:latin typeface="Carlito"/>
                <a:cs typeface="Carlito"/>
              </a:rPr>
              <a:t>you </a:t>
            </a:r>
            <a:r>
              <a:rPr sz="3200" spc="-10" dirty="0">
                <a:latin typeface="Carlito"/>
                <a:cs typeface="Carlito"/>
              </a:rPr>
              <a:t>expect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-5" dirty="0">
                <a:latin typeface="Carlito"/>
                <a:cs typeface="Carlito"/>
              </a:rPr>
              <a:t>see </a:t>
            </a:r>
            <a:r>
              <a:rPr sz="3200" spc="-15" dirty="0">
                <a:latin typeface="Carlito"/>
                <a:cs typeface="Carlito"/>
              </a:rPr>
              <a:t>displayed </a:t>
            </a:r>
            <a:r>
              <a:rPr sz="3200" dirty="0">
                <a:latin typeface="Carlito"/>
                <a:cs typeface="Carlito"/>
              </a:rPr>
              <a:t>on an  </a:t>
            </a:r>
            <a:r>
              <a:rPr sz="3200" spc="-5" dirty="0">
                <a:latin typeface="Carlito"/>
                <a:cs typeface="Carlito"/>
              </a:rPr>
              <a:t>oscilloscope </a:t>
            </a:r>
            <a:r>
              <a:rPr sz="3200" spc="-10" dirty="0">
                <a:latin typeface="Carlito"/>
                <a:cs typeface="Carlito"/>
              </a:rPr>
              <a:t>connected </a:t>
            </a:r>
            <a:r>
              <a:rPr sz="3200" spc="-15" dirty="0">
                <a:latin typeface="Carlito"/>
                <a:cs typeface="Carlito"/>
              </a:rPr>
              <a:t>across </a:t>
            </a:r>
            <a:r>
              <a:rPr sz="3200" spc="-535" dirty="0">
                <a:latin typeface="Times New Roman"/>
                <a:cs typeface="Times New Roman"/>
              </a:rPr>
              <a:t>𝑅</a:t>
            </a:r>
            <a:r>
              <a:rPr sz="3525" spc="-802" baseline="-15366" dirty="0">
                <a:latin typeface="Times New Roman"/>
                <a:cs typeface="Times New Roman"/>
              </a:rPr>
              <a:t>𝐿 </a:t>
            </a:r>
            <a:r>
              <a:rPr sz="3200" spc="-5" dirty="0">
                <a:latin typeface="Carlito"/>
                <a:cs typeface="Carlito"/>
              </a:rPr>
              <a:t>in </a:t>
            </a:r>
            <a:r>
              <a:rPr sz="3200" spc="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limiter  </a:t>
            </a:r>
            <a:r>
              <a:rPr sz="3200" spc="-5" dirty="0">
                <a:latin typeface="Carlito"/>
                <a:cs typeface="Carlito"/>
              </a:rPr>
              <a:t>shown in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Figure.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39140" y="3144011"/>
            <a:ext cx="7947659" cy="3179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53511" y="4572000"/>
            <a:ext cx="6114288" cy="20375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49117" y="0"/>
            <a:ext cx="344360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Biased</a:t>
            </a:r>
            <a:r>
              <a:rPr spc="-75" dirty="0"/>
              <a:t> </a:t>
            </a:r>
            <a:r>
              <a:rPr spc="-20" dirty="0"/>
              <a:t>Limiters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97840" y="586866"/>
            <a:ext cx="8150225" cy="441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marR="43815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94335" algn="l"/>
              </a:tabLst>
            </a:pPr>
            <a:r>
              <a:rPr sz="3200" spc="-5" dirty="0">
                <a:latin typeface="Carlito"/>
                <a:cs typeface="Carlito"/>
              </a:rPr>
              <a:t>The </a:t>
            </a:r>
            <a:r>
              <a:rPr sz="3200" spc="-10" dirty="0">
                <a:latin typeface="Carlito"/>
                <a:cs typeface="Carlito"/>
              </a:rPr>
              <a:t>level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which an ac </a:t>
            </a:r>
            <a:r>
              <a:rPr sz="3200" spc="-15" dirty="0">
                <a:latin typeface="Carlito"/>
                <a:cs typeface="Carlito"/>
              </a:rPr>
              <a:t>voltage </a:t>
            </a:r>
            <a:r>
              <a:rPr sz="3200" spc="-5" dirty="0">
                <a:latin typeface="Carlito"/>
                <a:cs typeface="Carlito"/>
              </a:rPr>
              <a:t>is limited can  be </a:t>
            </a:r>
            <a:r>
              <a:rPr sz="3200" spc="-10" dirty="0">
                <a:latin typeface="Carlito"/>
                <a:cs typeface="Carlito"/>
              </a:rPr>
              <a:t>adjusted by </a:t>
            </a:r>
            <a:r>
              <a:rPr sz="3200" dirty="0">
                <a:latin typeface="Carlito"/>
                <a:cs typeface="Carlito"/>
              </a:rPr>
              <a:t>adding a </a:t>
            </a:r>
            <a:r>
              <a:rPr sz="3200" spc="-5" dirty="0">
                <a:latin typeface="Carlito"/>
                <a:cs typeface="Carlito"/>
              </a:rPr>
              <a:t>bias </a:t>
            </a:r>
            <a:r>
              <a:rPr sz="3200" spc="-15" dirty="0">
                <a:latin typeface="Carlito"/>
                <a:cs typeface="Carlito"/>
              </a:rPr>
              <a:t>voltage, </a:t>
            </a:r>
            <a:r>
              <a:rPr sz="3200" spc="-455" dirty="0">
                <a:latin typeface="Times New Roman"/>
                <a:cs typeface="Times New Roman"/>
              </a:rPr>
              <a:t>𝑉</a:t>
            </a:r>
            <a:r>
              <a:rPr sz="3525" spc="-682" baseline="-15366" dirty="0">
                <a:latin typeface="Times New Roman"/>
                <a:cs typeface="Times New Roman"/>
              </a:rPr>
              <a:t>𝐵𝐼𝐴𝑆</a:t>
            </a:r>
            <a:r>
              <a:rPr sz="3200" spc="-455" dirty="0">
                <a:latin typeface="Carlito"/>
                <a:cs typeface="Carlito"/>
              </a:rPr>
              <a:t>, </a:t>
            </a:r>
            <a:r>
              <a:rPr sz="3200" spc="-5" dirty="0">
                <a:latin typeface="Carlito"/>
                <a:cs typeface="Carlito"/>
              </a:rPr>
              <a:t>in  series with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diode,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shown in </a:t>
            </a:r>
            <a:r>
              <a:rPr sz="3200" spc="-10" dirty="0">
                <a:latin typeface="Carlito"/>
                <a:cs typeface="Carlito"/>
              </a:rPr>
              <a:t>Figure. </a:t>
            </a:r>
            <a:r>
              <a:rPr sz="3200" dirty="0">
                <a:latin typeface="Carlito"/>
                <a:cs typeface="Carlito"/>
              </a:rPr>
              <a:t>The  </a:t>
            </a:r>
            <a:r>
              <a:rPr sz="3200" spc="-15" dirty="0">
                <a:latin typeface="Carlito"/>
                <a:cs typeface="Carlito"/>
              </a:rPr>
              <a:t>voltage at </a:t>
            </a:r>
            <a:r>
              <a:rPr sz="3200" spc="-10" dirty="0">
                <a:latin typeface="Carlito"/>
                <a:cs typeface="Carlito"/>
              </a:rPr>
              <a:t>point </a:t>
            </a:r>
            <a:r>
              <a:rPr sz="3200" i="1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must </a:t>
            </a:r>
            <a:r>
              <a:rPr sz="3200" dirty="0">
                <a:latin typeface="Carlito"/>
                <a:cs typeface="Carlito"/>
              </a:rPr>
              <a:t>equal </a:t>
            </a:r>
            <a:r>
              <a:rPr sz="3200" spc="-580" dirty="0">
                <a:latin typeface="Times New Roman"/>
                <a:cs typeface="Times New Roman"/>
              </a:rPr>
              <a:t>𝑉</a:t>
            </a:r>
            <a:r>
              <a:rPr sz="3525" spc="-869" baseline="-15366" dirty="0">
                <a:latin typeface="Times New Roman"/>
                <a:cs typeface="Times New Roman"/>
              </a:rPr>
              <a:t>𝐵𝐼𝐴𝑆  </a:t>
            </a:r>
            <a:r>
              <a:rPr sz="3200" spc="585" dirty="0">
                <a:latin typeface="Times New Roman"/>
                <a:cs typeface="Times New Roman"/>
              </a:rPr>
              <a:t>+ </a:t>
            </a:r>
            <a:r>
              <a:rPr sz="3200" spc="65" dirty="0">
                <a:latin typeface="Times New Roman"/>
                <a:cs typeface="Times New Roman"/>
              </a:rPr>
              <a:t>0.7 </a:t>
            </a:r>
            <a:r>
              <a:rPr sz="3200" spc="-484" dirty="0">
                <a:latin typeface="Times New Roman"/>
                <a:cs typeface="Times New Roman"/>
              </a:rPr>
              <a:t>𝑉  </a:t>
            </a:r>
            <a:r>
              <a:rPr sz="3200" spc="-30" dirty="0">
                <a:latin typeface="Carlito"/>
                <a:cs typeface="Carlito"/>
              </a:rPr>
              <a:t>before </a:t>
            </a:r>
            <a:r>
              <a:rPr sz="3200" dirty="0">
                <a:latin typeface="Carlito"/>
                <a:cs typeface="Carlito"/>
              </a:rPr>
              <a:t>the diode will </a:t>
            </a:r>
            <a:r>
              <a:rPr sz="3200" spc="-10" dirty="0">
                <a:latin typeface="Carlito"/>
                <a:cs typeface="Carlito"/>
              </a:rPr>
              <a:t>become </a:t>
            </a:r>
            <a:r>
              <a:rPr sz="3200" spc="-15" dirty="0">
                <a:latin typeface="Carlito"/>
                <a:cs typeface="Carlito"/>
              </a:rPr>
              <a:t>forward-biased </a:t>
            </a:r>
            <a:r>
              <a:rPr sz="3200" spc="690" dirty="0">
                <a:latin typeface="Carlito"/>
                <a:cs typeface="Carlito"/>
              </a:rPr>
              <a:t>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conduct. </a:t>
            </a:r>
            <a:r>
              <a:rPr sz="3200" dirty="0">
                <a:latin typeface="Carlito"/>
                <a:cs typeface="Carlito"/>
              </a:rPr>
              <a:t>Once the diode </a:t>
            </a:r>
            <a:r>
              <a:rPr sz="3200" spc="-5" dirty="0">
                <a:latin typeface="Carlito"/>
                <a:cs typeface="Carlito"/>
              </a:rPr>
              <a:t>begins </a:t>
            </a:r>
            <a:r>
              <a:rPr sz="3200" spc="-45" dirty="0">
                <a:latin typeface="Carlito"/>
                <a:cs typeface="Carlito"/>
              </a:rPr>
              <a:t>to  </a:t>
            </a:r>
            <a:r>
              <a:rPr sz="3200" spc="-10" dirty="0">
                <a:latin typeface="Carlito"/>
                <a:cs typeface="Carlito"/>
              </a:rPr>
              <a:t>conduct,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voltage at </a:t>
            </a:r>
            <a:r>
              <a:rPr sz="3200" spc="-10" dirty="0">
                <a:latin typeface="Carlito"/>
                <a:cs typeface="Carlito"/>
              </a:rPr>
              <a:t>point </a:t>
            </a:r>
            <a:r>
              <a:rPr sz="3200" i="1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is limited</a:t>
            </a:r>
            <a:r>
              <a:rPr sz="3200" spc="-300" dirty="0">
                <a:latin typeface="Carlito"/>
                <a:cs typeface="Carlito"/>
              </a:rPr>
              <a:t> </a:t>
            </a:r>
            <a:r>
              <a:rPr sz="3200" spc="-45" dirty="0">
                <a:latin typeface="Carlito"/>
                <a:cs typeface="Carlito"/>
              </a:rPr>
              <a:t>to</a:t>
            </a:r>
            <a:endParaRPr sz="3200">
              <a:latin typeface="Carlito"/>
              <a:cs typeface="Carlito"/>
            </a:endParaRPr>
          </a:p>
          <a:p>
            <a:pPr marL="393700" marR="43180" algn="just">
              <a:lnSpc>
                <a:spcPct val="100000"/>
              </a:lnSpc>
              <a:spcBef>
                <a:spcPts val="5"/>
              </a:spcBef>
            </a:pPr>
            <a:r>
              <a:rPr sz="3200" spc="-580" dirty="0">
                <a:latin typeface="Times New Roman"/>
                <a:cs typeface="Times New Roman"/>
              </a:rPr>
              <a:t>𝑉</a:t>
            </a:r>
            <a:r>
              <a:rPr sz="3525" spc="-869" baseline="-15366" dirty="0">
                <a:latin typeface="Times New Roman"/>
                <a:cs typeface="Times New Roman"/>
              </a:rPr>
              <a:t>𝐵𝐼𝐴𝑆 </a:t>
            </a:r>
            <a:r>
              <a:rPr sz="3200" spc="585" dirty="0">
                <a:latin typeface="Times New Roman"/>
                <a:cs typeface="Times New Roman"/>
              </a:rPr>
              <a:t>+ </a:t>
            </a:r>
            <a:r>
              <a:rPr sz="3200" spc="70" dirty="0">
                <a:latin typeface="Times New Roman"/>
                <a:cs typeface="Times New Roman"/>
              </a:rPr>
              <a:t>0.7 </a:t>
            </a:r>
            <a:r>
              <a:rPr sz="3200" spc="-484" dirty="0">
                <a:latin typeface="Times New Roman"/>
                <a:cs typeface="Times New Roman"/>
              </a:rPr>
              <a:t>𝑉 </a:t>
            </a:r>
            <a:r>
              <a:rPr sz="3200" spc="-5" dirty="0">
                <a:latin typeface="Carlito"/>
                <a:cs typeface="Carlito"/>
              </a:rPr>
              <a:t>so that </a:t>
            </a:r>
            <a:r>
              <a:rPr sz="3200" dirty="0">
                <a:latin typeface="Carlito"/>
                <a:cs typeface="Carlito"/>
              </a:rPr>
              <a:t>all input </a:t>
            </a:r>
            <a:r>
              <a:rPr sz="3200" spc="-15" dirty="0">
                <a:latin typeface="Carlito"/>
                <a:cs typeface="Carlito"/>
              </a:rPr>
              <a:t>voltage </a:t>
            </a:r>
            <a:r>
              <a:rPr sz="3200" spc="-10" dirty="0">
                <a:latin typeface="Carlito"/>
                <a:cs typeface="Carlito"/>
              </a:rPr>
              <a:t>above  </a:t>
            </a:r>
            <a:r>
              <a:rPr sz="3200" spc="-5" dirty="0">
                <a:latin typeface="Carlito"/>
                <a:cs typeface="Carlito"/>
              </a:rPr>
              <a:t>this </a:t>
            </a:r>
            <a:r>
              <a:rPr sz="3200" spc="-10" dirty="0">
                <a:latin typeface="Carlito"/>
                <a:cs typeface="Carlito"/>
              </a:rPr>
              <a:t>level </a:t>
            </a:r>
            <a:r>
              <a:rPr sz="3200" spc="-5" dirty="0">
                <a:latin typeface="Carlito"/>
                <a:cs typeface="Carlito"/>
              </a:rPr>
              <a:t>is clipped</a:t>
            </a:r>
            <a:r>
              <a:rPr sz="3200" spc="35" dirty="0">
                <a:latin typeface="Carlito"/>
                <a:cs typeface="Carlito"/>
              </a:rPr>
              <a:t> </a:t>
            </a:r>
            <a:r>
              <a:rPr sz="3200" spc="-70" dirty="0">
                <a:latin typeface="Carlito"/>
                <a:cs typeface="Carlito"/>
              </a:rPr>
              <a:t>off.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3759708"/>
            <a:ext cx="7822692" cy="2514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65757" y="0"/>
            <a:ext cx="5409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Biased </a:t>
            </a:r>
            <a:r>
              <a:rPr spc="-20" dirty="0"/>
              <a:t>Limiters</a:t>
            </a:r>
            <a:r>
              <a:rPr spc="-40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10540" y="891666"/>
            <a:ext cx="8149590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5461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81635" algn="l"/>
              </a:tabLst>
            </a:pPr>
            <a:r>
              <a:rPr sz="3200" spc="-14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limit a </a:t>
            </a:r>
            <a:r>
              <a:rPr sz="3200" spc="-15" dirty="0">
                <a:latin typeface="Carlito"/>
                <a:cs typeface="Carlito"/>
              </a:rPr>
              <a:t>voltage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specified </a:t>
            </a:r>
            <a:r>
              <a:rPr sz="3200" spc="-20" dirty="0">
                <a:latin typeface="Carlito"/>
                <a:cs typeface="Carlito"/>
              </a:rPr>
              <a:t>negative </a:t>
            </a:r>
            <a:r>
              <a:rPr sz="3200" spc="-10" dirty="0">
                <a:latin typeface="Carlito"/>
                <a:cs typeface="Carlito"/>
              </a:rPr>
              <a:t>level, 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diode </a:t>
            </a:r>
            <a:r>
              <a:rPr sz="3200" dirty="0">
                <a:latin typeface="Carlito"/>
                <a:cs typeface="Carlito"/>
              </a:rPr>
              <a:t>and bias </a:t>
            </a:r>
            <a:r>
              <a:rPr sz="3200" spc="-15" dirty="0">
                <a:latin typeface="Carlito"/>
                <a:cs typeface="Carlito"/>
              </a:rPr>
              <a:t>voltage </a:t>
            </a:r>
            <a:r>
              <a:rPr sz="3200" spc="-10" dirty="0">
                <a:latin typeface="Carlito"/>
                <a:cs typeface="Carlito"/>
              </a:rPr>
              <a:t>must </a:t>
            </a:r>
            <a:r>
              <a:rPr sz="3200" dirty="0">
                <a:latin typeface="Carlito"/>
                <a:cs typeface="Carlito"/>
              </a:rPr>
              <a:t>be </a:t>
            </a:r>
            <a:r>
              <a:rPr sz="3200" spc="-10" dirty="0">
                <a:latin typeface="Carlito"/>
                <a:cs typeface="Carlito"/>
              </a:rPr>
              <a:t>connected 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in Figure. </a:t>
            </a:r>
            <a:r>
              <a:rPr sz="3200" dirty="0">
                <a:latin typeface="Carlito"/>
                <a:cs typeface="Carlito"/>
              </a:rPr>
              <a:t>In this </a:t>
            </a:r>
            <a:r>
              <a:rPr sz="3200" spc="-5" dirty="0">
                <a:latin typeface="Carlito"/>
                <a:cs typeface="Carlito"/>
              </a:rPr>
              <a:t>case,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voltage at </a:t>
            </a:r>
            <a:r>
              <a:rPr sz="3200" spc="-10" dirty="0">
                <a:latin typeface="Carlito"/>
                <a:cs typeface="Carlito"/>
              </a:rPr>
              <a:t>point </a:t>
            </a:r>
            <a:r>
              <a:rPr sz="3200" i="1" dirty="0">
                <a:latin typeface="Carlito"/>
                <a:cs typeface="Carlito"/>
              </a:rPr>
              <a:t>A  </a:t>
            </a:r>
            <a:r>
              <a:rPr sz="3200" spc="-10" dirty="0">
                <a:latin typeface="Carlito"/>
                <a:cs typeface="Carlito"/>
              </a:rPr>
              <a:t>must </a:t>
            </a:r>
            <a:r>
              <a:rPr sz="3200" spc="-15" dirty="0">
                <a:latin typeface="Carlito"/>
                <a:cs typeface="Carlito"/>
              </a:rPr>
              <a:t>go </a:t>
            </a:r>
            <a:r>
              <a:rPr sz="3200" spc="-5" dirty="0">
                <a:latin typeface="Carlito"/>
                <a:cs typeface="Carlito"/>
              </a:rPr>
              <a:t>below </a:t>
            </a:r>
            <a:r>
              <a:rPr sz="3200" spc="-385" dirty="0">
                <a:latin typeface="Times New Roman"/>
                <a:cs typeface="Times New Roman"/>
              </a:rPr>
              <a:t>−𝑉</a:t>
            </a:r>
            <a:r>
              <a:rPr sz="3525" spc="-577" baseline="-15366" dirty="0">
                <a:latin typeface="Times New Roman"/>
                <a:cs typeface="Times New Roman"/>
              </a:rPr>
              <a:t>𝐵𝐼𝐴𝑆 </a:t>
            </a:r>
            <a:r>
              <a:rPr sz="3200" spc="585" dirty="0">
                <a:latin typeface="Times New Roman"/>
                <a:cs typeface="Times New Roman"/>
              </a:rPr>
              <a:t>− </a:t>
            </a:r>
            <a:r>
              <a:rPr sz="3200" spc="65" dirty="0">
                <a:latin typeface="Times New Roman"/>
                <a:cs typeface="Times New Roman"/>
              </a:rPr>
              <a:t>0.7 </a:t>
            </a:r>
            <a:r>
              <a:rPr sz="3200" spc="-484" dirty="0">
                <a:latin typeface="Times New Roman"/>
                <a:cs typeface="Times New Roman"/>
              </a:rPr>
              <a:t>𝑉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spc="-20" dirty="0">
                <a:latin typeface="Carlito"/>
                <a:cs typeface="Carlito"/>
              </a:rPr>
              <a:t>forward-  </a:t>
            </a:r>
            <a:r>
              <a:rPr sz="3200" spc="-5" dirty="0">
                <a:latin typeface="Carlito"/>
                <a:cs typeface="Carlito"/>
              </a:rPr>
              <a:t>bias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diode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10" dirty="0">
                <a:latin typeface="Carlito"/>
                <a:cs typeface="Carlito"/>
              </a:rPr>
              <a:t>initiate </a:t>
            </a:r>
            <a:r>
              <a:rPr sz="3200" dirty="0">
                <a:latin typeface="Carlito"/>
                <a:cs typeface="Carlito"/>
              </a:rPr>
              <a:t>limiting </a:t>
            </a:r>
            <a:r>
              <a:rPr sz="3200" spc="-5" dirty="0">
                <a:latin typeface="Carlito"/>
                <a:cs typeface="Carlito"/>
              </a:rPr>
              <a:t>action </a:t>
            </a:r>
            <a:r>
              <a:rPr sz="3200" spc="10" dirty="0">
                <a:latin typeface="Carlito"/>
                <a:cs typeface="Carlito"/>
              </a:rPr>
              <a:t>as </a:t>
            </a:r>
            <a:r>
              <a:rPr sz="3200" spc="74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shown.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5757" y="0"/>
            <a:ext cx="5409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Biased </a:t>
            </a:r>
            <a:r>
              <a:rPr spc="-20" dirty="0"/>
              <a:t>Limiters</a:t>
            </a:r>
            <a:r>
              <a:rPr spc="-40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891666"/>
            <a:ext cx="8074659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20" dirty="0">
                <a:latin typeface="Carlito"/>
                <a:cs typeface="Carlito"/>
              </a:rPr>
              <a:t>By </a:t>
            </a:r>
            <a:r>
              <a:rPr sz="3200" dirty="0">
                <a:latin typeface="Carlito"/>
                <a:cs typeface="Carlito"/>
              </a:rPr>
              <a:t>turning the </a:t>
            </a:r>
            <a:r>
              <a:rPr sz="3200" spc="-5" dirty="0">
                <a:latin typeface="Carlito"/>
                <a:cs typeface="Carlito"/>
              </a:rPr>
              <a:t>diode </a:t>
            </a:r>
            <a:r>
              <a:rPr sz="3200" spc="-10" dirty="0">
                <a:latin typeface="Carlito"/>
                <a:cs typeface="Carlito"/>
              </a:rPr>
              <a:t>around,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positive  limiter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dirty="0">
                <a:latin typeface="Carlito"/>
                <a:cs typeface="Carlito"/>
              </a:rPr>
              <a:t>be modified </a:t>
            </a:r>
            <a:r>
              <a:rPr sz="3200" spc="-1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limit the output  </a:t>
            </a:r>
            <a:r>
              <a:rPr sz="3200" spc="-15" dirty="0">
                <a:latin typeface="Carlito"/>
                <a:cs typeface="Carlito"/>
              </a:rPr>
              <a:t>voltage </a:t>
            </a:r>
            <a:r>
              <a:rPr sz="3200" spc="-25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portion </a:t>
            </a:r>
            <a:r>
              <a:rPr sz="3200" dirty="0">
                <a:latin typeface="Carlito"/>
                <a:cs typeface="Carlito"/>
              </a:rPr>
              <a:t>of the input </a:t>
            </a:r>
            <a:r>
              <a:rPr sz="3200" spc="-10" dirty="0">
                <a:latin typeface="Carlito"/>
                <a:cs typeface="Carlito"/>
              </a:rPr>
              <a:t>voltage  </a:t>
            </a:r>
            <a:r>
              <a:rPr sz="3200" spc="-30" dirty="0">
                <a:latin typeface="Carlito"/>
                <a:cs typeface="Carlito"/>
              </a:rPr>
              <a:t>waveform </a:t>
            </a:r>
            <a:r>
              <a:rPr sz="3200" spc="-5" dirty="0">
                <a:latin typeface="Carlito"/>
                <a:cs typeface="Carlito"/>
              </a:rPr>
              <a:t>above </a:t>
            </a:r>
            <a:r>
              <a:rPr sz="3200" dirty="0">
                <a:latin typeface="Carlito"/>
                <a:cs typeface="Carlito"/>
              </a:rPr>
              <a:t>as shown </a:t>
            </a:r>
            <a:r>
              <a:rPr sz="3200" spc="-10" dirty="0">
                <a:latin typeface="Carlito"/>
                <a:cs typeface="Carlito"/>
              </a:rPr>
              <a:t>by </a:t>
            </a:r>
            <a:r>
              <a:rPr sz="3200" dirty="0">
                <a:latin typeface="Carlito"/>
                <a:cs typeface="Carlito"/>
              </a:rPr>
              <a:t>the output  </a:t>
            </a:r>
            <a:r>
              <a:rPr sz="3200" spc="-30" dirty="0">
                <a:latin typeface="Carlito"/>
                <a:cs typeface="Carlito"/>
              </a:rPr>
              <a:t>waveform </a:t>
            </a:r>
            <a:r>
              <a:rPr sz="3200" spc="-5" dirty="0">
                <a:latin typeface="Carlito"/>
                <a:cs typeface="Carlito"/>
              </a:rPr>
              <a:t>in</a:t>
            </a:r>
            <a:r>
              <a:rPr sz="3200" spc="20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Figure.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3429000"/>
            <a:ext cx="8686800" cy="274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5757" y="0"/>
            <a:ext cx="5409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Biased </a:t>
            </a:r>
            <a:r>
              <a:rPr spc="-20" dirty="0"/>
              <a:t>Limiters</a:t>
            </a:r>
            <a:r>
              <a:rPr spc="-40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891666"/>
            <a:ext cx="810069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68935" algn="l"/>
              </a:tabLst>
            </a:pPr>
            <a:r>
              <a:rPr sz="3200" spc="-30" dirty="0">
                <a:latin typeface="Carlito"/>
                <a:cs typeface="Carlito"/>
              </a:rPr>
              <a:t>Similarly,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15" dirty="0">
                <a:latin typeface="Carlito"/>
                <a:cs typeface="Carlito"/>
              </a:rPr>
              <a:t>negative </a:t>
            </a:r>
            <a:r>
              <a:rPr sz="3200" spc="-5" dirty="0">
                <a:latin typeface="Carlito"/>
                <a:cs typeface="Carlito"/>
              </a:rPr>
              <a:t>limiter </a:t>
            </a:r>
            <a:r>
              <a:rPr sz="3200" spc="-10" dirty="0">
                <a:latin typeface="Carlito"/>
                <a:cs typeface="Carlito"/>
              </a:rPr>
              <a:t>can </a:t>
            </a:r>
            <a:r>
              <a:rPr sz="3200" dirty="0">
                <a:latin typeface="Carlito"/>
                <a:cs typeface="Carlito"/>
              </a:rPr>
              <a:t>be modified 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limit the output </a:t>
            </a:r>
            <a:r>
              <a:rPr sz="3200" spc="-15" dirty="0">
                <a:latin typeface="Carlito"/>
                <a:cs typeface="Carlito"/>
              </a:rPr>
              <a:t>voltage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dirty="0">
                <a:latin typeface="Carlito"/>
                <a:cs typeface="Carlito"/>
              </a:rPr>
              <a:t>the </a:t>
            </a:r>
            <a:r>
              <a:rPr sz="3200" spc="-5" dirty="0">
                <a:latin typeface="Carlito"/>
                <a:cs typeface="Carlito"/>
              </a:rPr>
              <a:t>portion </a:t>
            </a:r>
            <a:r>
              <a:rPr sz="3200" dirty="0">
                <a:latin typeface="Carlito"/>
                <a:cs typeface="Carlito"/>
              </a:rPr>
              <a:t>of  the input </a:t>
            </a:r>
            <a:r>
              <a:rPr sz="3200" spc="-15" dirty="0">
                <a:latin typeface="Carlito"/>
                <a:cs typeface="Carlito"/>
              </a:rPr>
              <a:t>voltage </a:t>
            </a:r>
            <a:r>
              <a:rPr sz="3200" spc="-30" dirty="0">
                <a:latin typeface="Carlito"/>
                <a:cs typeface="Carlito"/>
              </a:rPr>
              <a:t>waveform </a:t>
            </a:r>
            <a:r>
              <a:rPr sz="3200" spc="-5" dirty="0">
                <a:latin typeface="Carlito"/>
                <a:cs typeface="Carlito"/>
              </a:rPr>
              <a:t>below</a:t>
            </a:r>
            <a:r>
              <a:rPr sz="3200" spc="-15" dirty="0">
                <a:latin typeface="Carlito"/>
                <a:cs typeface="Carlito"/>
              </a:rPr>
              <a:t> </a:t>
            </a:r>
            <a:r>
              <a:rPr sz="3200" spc="-385" dirty="0">
                <a:latin typeface="Times New Roman"/>
                <a:cs typeface="Times New Roman"/>
              </a:rPr>
              <a:t>−𝑉</a:t>
            </a:r>
            <a:r>
              <a:rPr sz="3525" spc="-577" baseline="-15366" dirty="0">
                <a:latin typeface="Times New Roman"/>
                <a:cs typeface="Times New Roman"/>
              </a:rPr>
              <a:t>𝐵𝐼𝐴𝑆 </a:t>
            </a:r>
            <a:r>
              <a:rPr sz="3200" spc="585" dirty="0">
                <a:latin typeface="Times New Roman"/>
                <a:cs typeface="Times New Roman"/>
              </a:rPr>
              <a:t>+</a:t>
            </a:r>
            <a:endParaRPr sz="3200">
              <a:latin typeface="Times New Roman"/>
              <a:cs typeface="Times New Roman"/>
            </a:endParaRPr>
          </a:p>
          <a:p>
            <a:pPr marL="368300" marR="21590" algn="just">
              <a:lnSpc>
                <a:spcPct val="100000"/>
              </a:lnSpc>
            </a:pPr>
            <a:r>
              <a:rPr sz="3200" spc="65" dirty="0">
                <a:latin typeface="Times New Roman"/>
                <a:cs typeface="Times New Roman"/>
              </a:rPr>
              <a:t>0.7 </a:t>
            </a:r>
            <a:r>
              <a:rPr sz="3200" spc="-484" dirty="0">
                <a:latin typeface="Times New Roman"/>
                <a:cs typeface="Times New Roman"/>
              </a:rPr>
              <a:t>𝑉 </a:t>
            </a:r>
            <a:r>
              <a:rPr sz="3200" dirty="0">
                <a:latin typeface="Carlito"/>
                <a:cs typeface="Carlito"/>
              </a:rPr>
              <a:t>, </a:t>
            </a:r>
            <a:r>
              <a:rPr sz="3200" spc="5" dirty="0">
                <a:latin typeface="Carlito"/>
                <a:cs typeface="Carlito"/>
              </a:rPr>
              <a:t>as </a:t>
            </a:r>
            <a:r>
              <a:rPr sz="3200" spc="-5" dirty="0">
                <a:latin typeface="Carlito"/>
                <a:cs typeface="Carlito"/>
              </a:rPr>
              <a:t>shown </a:t>
            </a:r>
            <a:r>
              <a:rPr sz="3200" spc="-10" dirty="0">
                <a:latin typeface="Carlito"/>
                <a:cs typeface="Carlito"/>
              </a:rPr>
              <a:t>by </a:t>
            </a:r>
            <a:r>
              <a:rPr sz="3200" dirty="0">
                <a:latin typeface="Carlito"/>
                <a:cs typeface="Carlito"/>
              </a:rPr>
              <a:t>the output </a:t>
            </a:r>
            <a:r>
              <a:rPr sz="3200" spc="-30" dirty="0">
                <a:latin typeface="Carlito"/>
                <a:cs typeface="Carlito"/>
              </a:rPr>
              <a:t>waveform </a:t>
            </a:r>
            <a:r>
              <a:rPr sz="3200" spc="-5" dirty="0">
                <a:latin typeface="Carlito"/>
                <a:cs typeface="Carlito"/>
              </a:rPr>
              <a:t>in  </a:t>
            </a:r>
            <a:r>
              <a:rPr sz="3200" spc="-10" dirty="0">
                <a:latin typeface="Carlito"/>
                <a:cs typeface="Carlito"/>
              </a:rPr>
              <a:t>Figure.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3517391"/>
            <a:ext cx="8648700" cy="27310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6969" y="0"/>
            <a:ext cx="58299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Biased </a:t>
            </a:r>
            <a:r>
              <a:rPr spc="-20" dirty="0"/>
              <a:t>Limiters</a:t>
            </a:r>
            <a:r>
              <a:rPr spc="-55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3" name="object 3"/>
          <p:cNvSpPr/>
          <p:nvPr/>
        </p:nvSpPr>
        <p:spPr>
          <a:xfrm>
            <a:off x="59435" y="1447800"/>
            <a:ext cx="9084563" cy="3963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6822" y="405511"/>
            <a:ext cx="36080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Diode</a:t>
            </a:r>
            <a:r>
              <a:rPr spc="-50" dirty="0"/>
              <a:t> </a:t>
            </a:r>
            <a:r>
              <a:rPr spc="-15" dirty="0"/>
              <a:t>Clampers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8073390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A clamper adds a dc </a:t>
            </a:r>
            <a:r>
              <a:rPr sz="3200" spc="-10" dirty="0">
                <a:latin typeface="Carlito"/>
                <a:cs typeface="Carlito"/>
              </a:rPr>
              <a:t>level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5" dirty="0">
                <a:latin typeface="Carlito"/>
                <a:cs typeface="Carlito"/>
              </a:rPr>
              <a:t>an </a:t>
            </a:r>
            <a:r>
              <a:rPr sz="3200" dirty="0">
                <a:latin typeface="Carlito"/>
                <a:cs typeface="Carlito"/>
              </a:rPr>
              <a:t>ac </a:t>
            </a:r>
            <a:r>
              <a:rPr sz="3200" spc="-10" dirty="0">
                <a:latin typeface="Carlito"/>
                <a:cs typeface="Carlito"/>
              </a:rPr>
              <a:t>voltage.  </a:t>
            </a:r>
            <a:r>
              <a:rPr sz="3200" b="1" spc="-10" dirty="0">
                <a:latin typeface="Carlito"/>
                <a:cs typeface="Carlito"/>
              </a:rPr>
              <a:t>Clampers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sometimes known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i="1" spc="-5" dirty="0">
                <a:latin typeface="Carlito"/>
                <a:cs typeface="Carlito"/>
              </a:rPr>
              <a:t>dc  </a:t>
            </a:r>
            <a:r>
              <a:rPr sz="3200" i="1" spc="-10" dirty="0">
                <a:latin typeface="Carlito"/>
                <a:cs typeface="Carlito"/>
              </a:rPr>
              <a:t>restorers. </a:t>
            </a:r>
            <a:r>
              <a:rPr sz="3200" spc="-5" dirty="0">
                <a:latin typeface="Carlito"/>
                <a:cs typeface="Carlito"/>
              </a:rPr>
              <a:t>Figure </a:t>
            </a:r>
            <a:r>
              <a:rPr sz="3200" spc="-10" dirty="0">
                <a:latin typeface="Carlito"/>
                <a:cs typeface="Carlito"/>
              </a:rPr>
              <a:t>shows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diode </a:t>
            </a:r>
            <a:r>
              <a:rPr sz="3200" dirty="0">
                <a:latin typeface="Carlito"/>
                <a:cs typeface="Carlito"/>
              </a:rPr>
              <a:t>clamper </a:t>
            </a:r>
            <a:r>
              <a:rPr sz="3200" spc="-5" dirty="0">
                <a:latin typeface="Carlito"/>
                <a:cs typeface="Carlito"/>
              </a:rPr>
              <a:t>that  inserts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positive </a:t>
            </a:r>
            <a:r>
              <a:rPr sz="3200" dirty="0">
                <a:latin typeface="Carlito"/>
                <a:cs typeface="Carlito"/>
              </a:rPr>
              <a:t>dc </a:t>
            </a:r>
            <a:r>
              <a:rPr sz="3200" spc="-15" dirty="0">
                <a:latin typeface="Carlito"/>
                <a:cs typeface="Carlito"/>
              </a:rPr>
              <a:t>level  </a:t>
            </a:r>
            <a:r>
              <a:rPr sz="3200" spc="-5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the output  </a:t>
            </a:r>
            <a:r>
              <a:rPr sz="3200" spc="-25" dirty="0">
                <a:latin typeface="Carlito"/>
                <a:cs typeface="Carlito"/>
              </a:rPr>
              <a:t>waveform.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0955" y="4084320"/>
            <a:ext cx="7591044" cy="224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6822" y="405511"/>
            <a:ext cx="36080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Diode</a:t>
            </a:r>
            <a:r>
              <a:rPr spc="-50" dirty="0"/>
              <a:t> </a:t>
            </a:r>
            <a:r>
              <a:rPr spc="-15" dirty="0"/>
              <a:t>Clampers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261"/>
            <a:ext cx="8073390" cy="2465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dirty="0">
                <a:latin typeface="Carlito"/>
                <a:cs typeface="Carlito"/>
              </a:rPr>
              <a:t>A clamper adds a dc </a:t>
            </a:r>
            <a:r>
              <a:rPr sz="3200" spc="-10" dirty="0">
                <a:latin typeface="Carlito"/>
                <a:cs typeface="Carlito"/>
              </a:rPr>
              <a:t>level </a:t>
            </a:r>
            <a:r>
              <a:rPr sz="3200" spc="-20" dirty="0">
                <a:latin typeface="Carlito"/>
                <a:cs typeface="Carlito"/>
              </a:rPr>
              <a:t>to </a:t>
            </a:r>
            <a:r>
              <a:rPr sz="3200" spc="5" dirty="0">
                <a:latin typeface="Carlito"/>
                <a:cs typeface="Carlito"/>
              </a:rPr>
              <a:t>an </a:t>
            </a:r>
            <a:r>
              <a:rPr sz="3200" dirty="0">
                <a:latin typeface="Carlito"/>
                <a:cs typeface="Carlito"/>
              </a:rPr>
              <a:t>ac </a:t>
            </a:r>
            <a:r>
              <a:rPr sz="3200" spc="-10" dirty="0">
                <a:latin typeface="Carlito"/>
                <a:cs typeface="Carlito"/>
              </a:rPr>
              <a:t>voltage.  </a:t>
            </a:r>
            <a:r>
              <a:rPr sz="3200" b="1" spc="-10" dirty="0">
                <a:latin typeface="Carlito"/>
                <a:cs typeface="Carlito"/>
              </a:rPr>
              <a:t>Clampers </a:t>
            </a:r>
            <a:r>
              <a:rPr sz="3200" spc="-15" dirty="0">
                <a:latin typeface="Carlito"/>
                <a:cs typeface="Carlito"/>
              </a:rPr>
              <a:t>are </a:t>
            </a:r>
            <a:r>
              <a:rPr sz="3200" spc="-5" dirty="0">
                <a:latin typeface="Carlito"/>
                <a:cs typeface="Carlito"/>
              </a:rPr>
              <a:t>sometimes known </a:t>
            </a:r>
            <a:r>
              <a:rPr sz="3200" dirty="0">
                <a:latin typeface="Carlito"/>
                <a:cs typeface="Carlito"/>
              </a:rPr>
              <a:t>as </a:t>
            </a:r>
            <a:r>
              <a:rPr sz="3200" i="1" spc="-5" dirty="0">
                <a:latin typeface="Carlito"/>
                <a:cs typeface="Carlito"/>
              </a:rPr>
              <a:t>dc  </a:t>
            </a:r>
            <a:r>
              <a:rPr sz="3200" i="1" spc="-10" dirty="0">
                <a:latin typeface="Carlito"/>
                <a:cs typeface="Carlito"/>
              </a:rPr>
              <a:t>restorers. </a:t>
            </a:r>
            <a:r>
              <a:rPr sz="3200" spc="-5" dirty="0">
                <a:latin typeface="Carlito"/>
                <a:cs typeface="Carlito"/>
              </a:rPr>
              <a:t>Figure </a:t>
            </a:r>
            <a:r>
              <a:rPr sz="3200" spc="-10" dirty="0">
                <a:latin typeface="Carlito"/>
                <a:cs typeface="Carlito"/>
              </a:rPr>
              <a:t>shows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5" dirty="0">
                <a:latin typeface="Carlito"/>
                <a:cs typeface="Carlito"/>
              </a:rPr>
              <a:t>diode </a:t>
            </a:r>
            <a:r>
              <a:rPr sz="3200" dirty="0">
                <a:latin typeface="Carlito"/>
                <a:cs typeface="Carlito"/>
              </a:rPr>
              <a:t>clamper </a:t>
            </a:r>
            <a:r>
              <a:rPr sz="3200" spc="-5" dirty="0">
                <a:latin typeface="Carlito"/>
                <a:cs typeface="Carlito"/>
              </a:rPr>
              <a:t>that  inserts </a:t>
            </a:r>
            <a:r>
              <a:rPr sz="3200" dirty="0">
                <a:latin typeface="Carlito"/>
                <a:cs typeface="Carlito"/>
              </a:rPr>
              <a:t>a </a:t>
            </a:r>
            <a:r>
              <a:rPr sz="3200" spc="-10" dirty="0">
                <a:latin typeface="Carlito"/>
                <a:cs typeface="Carlito"/>
              </a:rPr>
              <a:t>positive </a:t>
            </a:r>
            <a:r>
              <a:rPr sz="3200" dirty="0">
                <a:latin typeface="Carlito"/>
                <a:cs typeface="Carlito"/>
              </a:rPr>
              <a:t>dc </a:t>
            </a:r>
            <a:r>
              <a:rPr sz="3200" spc="-15" dirty="0">
                <a:latin typeface="Carlito"/>
                <a:cs typeface="Carlito"/>
              </a:rPr>
              <a:t>level  </a:t>
            </a:r>
            <a:r>
              <a:rPr sz="3200" spc="-5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the output  </a:t>
            </a:r>
            <a:r>
              <a:rPr sz="3200" spc="-25" dirty="0">
                <a:latin typeface="Carlito"/>
                <a:cs typeface="Carlito"/>
              </a:rPr>
              <a:t>waveform.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0955" y="4084320"/>
            <a:ext cx="7591044" cy="2240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3460" y="405511"/>
            <a:ext cx="55727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Diode </a:t>
            </a:r>
            <a:r>
              <a:rPr spc="-15" dirty="0"/>
              <a:t>Clampers</a:t>
            </a:r>
            <a:r>
              <a:rPr spc="-30" dirty="0"/>
              <a:t> </a:t>
            </a:r>
            <a:r>
              <a:rPr spc="-15" dirty="0"/>
              <a:t>(Contd.)</a:t>
            </a:r>
          </a:p>
        </p:txBody>
      </p:sp>
      <p:sp>
        <p:nvSpPr>
          <p:cNvPr id="3" name="object 3"/>
          <p:cNvSpPr/>
          <p:nvPr/>
        </p:nvSpPr>
        <p:spPr>
          <a:xfrm>
            <a:off x="76200" y="2362200"/>
            <a:ext cx="8912352" cy="24307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1200" y="3581400"/>
            <a:ext cx="6937248" cy="2775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74672" y="405511"/>
            <a:ext cx="59924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Diode </a:t>
            </a:r>
            <a:r>
              <a:rPr spc="-15" dirty="0"/>
              <a:t>Clampers</a:t>
            </a:r>
            <a:r>
              <a:rPr spc="-55" dirty="0"/>
              <a:t> </a:t>
            </a:r>
            <a:r>
              <a:rPr spc="-10" dirty="0"/>
              <a:t>(Example)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pc="-5"/>
              <a:t>Safee Ullah, Department of Electrical Engineering, HITEC University</a:t>
            </a:r>
            <a:endParaRPr spc="-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10540" y="1607261"/>
            <a:ext cx="8146415" cy="1978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53975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81635" algn="l"/>
              </a:tabLst>
            </a:pPr>
            <a:r>
              <a:rPr sz="3200" spc="-5" dirty="0">
                <a:latin typeface="Carlito"/>
                <a:cs typeface="Carlito"/>
              </a:rPr>
              <a:t>What is </a:t>
            </a:r>
            <a:r>
              <a:rPr sz="3200" dirty="0">
                <a:latin typeface="Carlito"/>
                <a:cs typeface="Carlito"/>
              </a:rPr>
              <a:t>the output </a:t>
            </a:r>
            <a:r>
              <a:rPr sz="3200" spc="-15" dirty="0">
                <a:latin typeface="Carlito"/>
                <a:cs typeface="Carlito"/>
              </a:rPr>
              <a:t>voltage </a:t>
            </a:r>
            <a:r>
              <a:rPr sz="3200" spc="-10" dirty="0">
                <a:latin typeface="Carlito"/>
                <a:cs typeface="Carlito"/>
              </a:rPr>
              <a:t>that you would  expect </a:t>
            </a:r>
            <a:r>
              <a:rPr sz="3200" spc="-15" dirty="0">
                <a:latin typeface="Carlito"/>
                <a:cs typeface="Carlito"/>
              </a:rPr>
              <a:t>to </a:t>
            </a:r>
            <a:r>
              <a:rPr sz="3200" spc="-10" dirty="0">
                <a:latin typeface="Carlito"/>
                <a:cs typeface="Carlito"/>
              </a:rPr>
              <a:t>observe </a:t>
            </a:r>
            <a:r>
              <a:rPr sz="3200" spc="-15" dirty="0">
                <a:latin typeface="Carlito"/>
                <a:cs typeface="Carlito"/>
              </a:rPr>
              <a:t>across </a:t>
            </a:r>
            <a:r>
              <a:rPr sz="3200" spc="-535" dirty="0">
                <a:latin typeface="Times New Roman"/>
                <a:cs typeface="Times New Roman"/>
              </a:rPr>
              <a:t>𝑅</a:t>
            </a:r>
            <a:r>
              <a:rPr sz="3525" spc="-802" baseline="-15366" dirty="0">
                <a:latin typeface="Times New Roman"/>
                <a:cs typeface="Times New Roman"/>
              </a:rPr>
              <a:t>𝐿 </a:t>
            </a:r>
            <a:r>
              <a:rPr sz="3200" spc="-5" dirty="0">
                <a:latin typeface="Carlito"/>
                <a:cs typeface="Carlito"/>
              </a:rPr>
              <a:t>in </a:t>
            </a:r>
            <a:r>
              <a:rPr sz="3200" dirty="0">
                <a:latin typeface="Carlito"/>
                <a:cs typeface="Carlito"/>
              </a:rPr>
              <a:t>the clamping  </a:t>
            </a:r>
            <a:r>
              <a:rPr sz="3200" spc="-10" dirty="0">
                <a:latin typeface="Carlito"/>
                <a:cs typeface="Carlito"/>
              </a:rPr>
              <a:t>circuit? </a:t>
            </a:r>
            <a:r>
              <a:rPr sz="3200" dirty="0">
                <a:latin typeface="Carlito"/>
                <a:cs typeface="Carlito"/>
              </a:rPr>
              <a:t>Assume </a:t>
            </a:r>
            <a:r>
              <a:rPr sz="3200" spc="-10" dirty="0">
                <a:latin typeface="Carlito"/>
                <a:cs typeface="Carlito"/>
              </a:rPr>
              <a:t>that </a:t>
            </a:r>
            <a:r>
              <a:rPr sz="3200" spc="-515" dirty="0">
                <a:latin typeface="Times New Roman"/>
                <a:cs typeface="Times New Roman"/>
              </a:rPr>
              <a:t>𝑅𝐶 </a:t>
            </a:r>
            <a:r>
              <a:rPr sz="3200" spc="-5" dirty="0">
                <a:latin typeface="Carlito"/>
                <a:cs typeface="Carlito"/>
              </a:rPr>
              <a:t>is </a:t>
            </a:r>
            <a:r>
              <a:rPr sz="3200" spc="-15" dirty="0">
                <a:latin typeface="Carlito"/>
                <a:cs typeface="Carlito"/>
              </a:rPr>
              <a:t>large </a:t>
            </a:r>
            <a:r>
              <a:rPr sz="3200" dirty="0">
                <a:latin typeface="Carlito"/>
                <a:cs typeface="Carlito"/>
              </a:rPr>
              <a:t>enough </a:t>
            </a:r>
            <a:r>
              <a:rPr sz="3200" spc="-45" dirty="0">
                <a:latin typeface="Carlito"/>
                <a:cs typeface="Carlito"/>
              </a:rPr>
              <a:t>to  </a:t>
            </a:r>
            <a:r>
              <a:rPr sz="3200" spc="-20" dirty="0">
                <a:latin typeface="Carlito"/>
                <a:cs typeface="Carlito"/>
              </a:rPr>
              <a:t>prevent </a:t>
            </a:r>
            <a:r>
              <a:rPr sz="3200" spc="-10" dirty="0">
                <a:latin typeface="Carlito"/>
                <a:cs typeface="Carlito"/>
              </a:rPr>
              <a:t>significant capacitor</a:t>
            </a:r>
            <a:r>
              <a:rPr sz="3200" spc="25" dirty="0">
                <a:latin typeface="Carlito"/>
                <a:cs typeface="Carlito"/>
              </a:rPr>
              <a:t> </a:t>
            </a:r>
            <a:r>
              <a:rPr sz="3200" spc="-10" dirty="0">
                <a:latin typeface="Carlito"/>
                <a:cs typeface="Carlito"/>
              </a:rPr>
              <a:t>discharge.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659</Words>
  <Application>Microsoft Office PowerPoint</Application>
  <PresentationFormat>On-screen Show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Carlito</vt:lpstr>
      <vt:lpstr>Times New Roman</vt:lpstr>
      <vt:lpstr>Office Theme</vt:lpstr>
      <vt:lpstr>BS – 101 Engineering Physics</vt:lpstr>
      <vt:lpstr>Diode Limiters</vt:lpstr>
      <vt:lpstr>Diode Limiters (Contd.)</vt:lpstr>
      <vt:lpstr>Diode Limiters (Example)</vt:lpstr>
      <vt:lpstr>Biased Limiters</vt:lpstr>
      <vt:lpstr>Biased Limiters (Contd.)</vt:lpstr>
      <vt:lpstr>Biased Limiters (Contd.)</vt:lpstr>
      <vt:lpstr>Biased Limiters (Contd.)</vt:lpstr>
      <vt:lpstr>Biased Limiters (Example)</vt:lpstr>
      <vt:lpstr>Diode Clampers</vt:lpstr>
      <vt:lpstr>Diode Clampers</vt:lpstr>
      <vt:lpstr>Diode Clampers (Contd.)</vt:lpstr>
      <vt:lpstr>Diode Clampers (Example)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Electrical Engineering</dc:title>
  <dc:creator>Mamoon Riaz</dc:creator>
  <cp:lastModifiedBy>Safee</cp:lastModifiedBy>
  <cp:revision>2</cp:revision>
  <dcterms:created xsi:type="dcterms:W3CDTF">2022-01-28T05:36:03Z</dcterms:created>
  <dcterms:modified xsi:type="dcterms:W3CDTF">2022-02-17T14:39:43Z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2019-01-17T00:00:00Z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2022-01-28T00:00:00Z</vt:filetime>
  </property>
</Properties>
</file>