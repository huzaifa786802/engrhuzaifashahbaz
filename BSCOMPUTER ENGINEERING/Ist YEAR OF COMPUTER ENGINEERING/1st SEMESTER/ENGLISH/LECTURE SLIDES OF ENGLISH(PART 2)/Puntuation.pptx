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09728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044" y="-108"/>
      </p:cViewPr>
      <p:guideLst>
        <p:guide orient="horz" pos="2160"/>
        <p:guide pos="3456"/>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640080" y="1371600"/>
            <a:ext cx="942197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640080" y="3228536"/>
            <a:ext cx="9425635"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1/19/2022</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36422" y="1316736"/>
            <a:ext cx="932688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36422" y="2704664"/>
            <a:ext cx="932688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48640" y="704088"/>
            <a:ext cx="987552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548640" y="1920085"/>
            <a:ext cx="484632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577840" y="1920085"/>
            <a:ext cx="484632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48640" y="704088"/>
            <a:ext cx="987552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48640" y="1855248"/>
            <a:ext cx="4848226"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5574031" y="1859758"/>
            <a:ext cx="4850130"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548640" y="2514600"/>
            <a:ext cx="4848226"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5574031" y="2514600"/>
            <a:ext cx="4850130"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1/19/2022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48640" y="704088"/>
            <a:ext cx="996696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1/19/2022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22960" y="514352"/>
            <a:ext cx="329184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822960" y="1676400"/>
            <a:ext cx="329184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290060" y="1676400"/>
            <a:ext cx="613410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798904" y="1108077"/>
            <a:ext cx="630936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9604961" y="5359769"/>
            <a:ext cx="18653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31520" y="1176997"/>
            <a:ext cx="265541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731520" y="2828785"/>
            <a:ext cx="265176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9692640" y="6356351"/>
            <a:ext cx="73152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4182952" y="1199517"/>
            <a:ext cx="5541264"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11430" y="5816600"/>
            <a:ext cx="1099566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5257800" y="6219826"/>
            <a:ext cx="5715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55280" y="914402"/>
            <a:ext cx="246888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48640" y="914402"/>
            <a:ext cx="722376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1430" y="-7144"/>
            <a:ext cx="1099566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5257800" y="-7144"/>
            <a:ext cx="5715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548640" y="704088"/>
            <a:ext cx="987552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548640" y="1935480"/>
            <a:ext cx="987552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548640" y="6356351"/>
            <a:ext cx="256032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1/19/2022</a:t>
            </a:fld>
            <a:endParaRPr lang="en-US"/>
          </a:p>
        </p:txBody>
      </p:sp>
      <p:sp>
        <p:nvSpPr>
          <p:cNvPr id="22" name="Footer Placeholder 21"/>
          <p:cNvSpPr>
            <a:spLocks noGrp="1"/>
          </p:cNvSpPr>
          <p:nvPr>
            <p:ph type="ftr" sz="quarter" idx="3"/>
          </p:nvPr>
        </p:nvSpPr>
        <p:spPr>
          <a:xfrm>
            <a:off x="3200400" y="6356351"/>
            <a:ext cx="402336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9509760" y="6356351"/>
            <a:ext cx="9144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22821" y="202408"/>
            <a:ext cx="1101665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2960" y="2130426"/>
            <a:ext cx="9326880" cy="2441575"/>
          </a:xfrm>
        </p:spPr>
        <p:txBody>
          <a:bodyPr/>
          <a:lstStyle/>
          <a:p>
            <a:r>
              <a:rPr lang="en-US" dirty="0" smtClean="0"/>
              <a:t>Punctuation an Overview</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704088"/>
            <a:ext cx="9875520" cy="896112"/>
          </a:xfrm>
        </p:spPr>
        <p:txBody>
          <a:bodyPr/>
          <a:lstStyle/>
          <a:p>
            <a:r>
              <a:rPr lang="en-US" dirty="0" smtClean="0"/>
              <a:t>Recapitulation of Sentences</a:t>
            </a:r>
            <a:endParaRPr lang="en-US" dirty="0"/>
          </a:p>
        </p:txBody>
      </p:sp>
      <p:sp>
        <p:nvSpPr>
          <p:cNvPr id="3" name="Content Placeholder 2"/>
          <p:cNvSpPr>
            <a:spLocks noGrp="1"/>
          </p:cNvSpPr>
          <p:nvPr>
            <p:ph idx="1"/>
          </p:nvPr>
        </p:nvSpPr>
        <p:spPr>
          <a:xfrm>
            <a:off x="533400" y="1828800"/>
            <a:ext cx="9875520" cy="4389120"/>
          </a:xfrm>
        </p:spPr>
        <p:txBody>
          <a:bodyPr>
            <a:normAutofit/>
          </a:bodyPr>
          <a:lstStyle/>
          <a:p>
            <a:r>
              <a:rPr lang="en-US" dirty="0" smtClean="0"/>
              <a:t>CLAUSE</a:t>
            </a:r>
          </a:p>
          <a:p>
            <a:r>
              <a:rPr lang="en-US" dirty="0" smtClean="0"/>
              <a:t> A group of words consisting of a subject and a predicate, and forms a sentence or part of a sentence. There are two kinds of clause: </a:t>
            </a:r>
            <a:r>
              <a:rPr lang="en-US" u="sng" dirty="0" smtClean="0"/>
              <a:t>independent clause</a:t>
            </a:r>
            <a:r>
              <a:rPr lang="en-US" dirty="0" smtClean="0"/>
              <a:t> &amp; </a:t>
            </a:r>
            <a:r>
              <a:rPr lang="en-US" u="sng" dirty="0" smtClean="0"/>
              <a:t>subordinate clause</a:t>
            </a:r>
            <a:r>
              <a:rPr lang="en-US" dirty="0" smtClean="0"/>
              <a:t>.</a:t>
            </a:r>
          </a:p>
          <a:p>
            <a:r>
              <a:rPr lang="en-US" dirty="0" smtClean="0"/>
              <a:t> SUBJECT:  A noun, noun phrase or pronoun representing the person or thing that performs the action of the verb, about which something is stated.</a:t>
            </a:r>
          </a:p>
          <a:p>
            <a:r>
              <a:rPr lang="en-US" dirty="0" smtClean="0"/>
              <a:t> PREDICATE: A part of a sentence containing a verb that makes a statement about the subject of the verb.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9875520" cy="5105400"/>
          </a:xfrm>
        </p:spPr>
        <p:txBody>
          <a:bodyPr/>
          <a:lstStyle/>
          <a:p>
            <a:r>
              <a:rPr lang="en-US" dirty="0" smtClean="0"/>
              <a:t>SENTENCE</a:t>
            </a:r>
          </a:p>
          <a:p>
            <a:r>
              <a:rPr lang="en-US" dirty="0" smtClean="0"/>
              <a:t> A set of words expressing a statement, a question or an order, containing a subject and a predicate. </a:t>
            </a:r>
          </a:p>
          <a:p>
            <a:r>
              <a:rPr lang="en-US" dirty="0" smtClean="0"/>
              <a:t> A set of words </a:t>
            </a:r>
            <a:r>
              <a:rPr lang="en-US" u="sng" dirty="0" smtClean="0"/>
              <a:t>complete in itself</a:t>
            </a:r>
            <a:r>
              <a:rPr lang="en-US" dirty="0" smtClean="0"/>
              <a:t> as </a:t>
            </a:r>
            <a:r>
              <a:rPr lang="en-US" u="sng" dirty="0" smtClean="0"/>
              <a:t>the expression of a thought</a:t>
            </a:r>
            <a:r>
              <a:rPr lang="en-US" dirty="0" smtClean="0"/>
              <a:t>, containing or implying a subject and predicate, and conveying a statement,  question,  exclamation  or  command.</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066800"/>
            <a:ext cx="9875520" cy="5257800"/>
          </a:xfrm>
        </p:spPr>
        <p:txBody>
          <a:bodyPr>
            <a:normAutofit/>
          </a:bodyPr>
          <a:lstStyle/>
          <a:p>
            <a:r>
              <a:rPr lang="en-US" dirty="0" smtClean="0"/>
              <a:t>KINDS OF SENTENCE</a:t>
            </a:r>
          </a:p>
          <a:p>
            <a:r>
              <a:rPr lang="en-US" dirty="0" smtClean="0"/>
              <a:t> Four types of sentences:</a:t>
            </a:r>
          </a:p>
          <a:p>
            <a:r>
              <a:rPr lang="en-US" dirty="0" smtClean="0"/>
              <a:t> </a:t>
            </a:r>
            <a:r>
              <a:rPr lang="en-US" u="sng" dirty="0" smtClean="0"/>
              <a:t>Simple Sentence: </a:t>
            </a:r>
            <a:r>
              <a:rPr lang="en-US" dirty="0" smtClean="0"/>
              <a:t> A simple sentence contains only one independent clause.</a:t>
            </a:r>
          </a:p>
          <a:p>
            <a:r>
              <a:rPr lang="en-US" dirty="0" smtClean="0"/>
              <a:t> </a:t>
            </a:r>
            <a:r>
              <a:rPr lang="en-US" i="1" dirty="0" smtClean="0"/>
              <a:t>The doctor examined the patient.</a:t>
            </a:r>
            <a:endParaRPr lang="en-US" dirty="0" smtClean="0"/>
          </a:p>
          <a:p>
            <a:r>
              <a:rPr lang="en-US" i="1" dirty="0" smtClean="0"/>
              <a:t> </a:t>
            </a:r>
            <a:r>
              <a:rPr lang="en-US" u="sng" dirty="0" smtClean="0"/>
              <a:t>Compound Sentence:</a:t>
            </a:r>
            <a:r>
              <a:rPr lang="en-US" dirty="0" smtClean="0"/>
              <a:t> A compound sentence consists of at least two simple sentences.</a:t>
            </a:r>
          </a:p>
          <a:p>
            <a:r>
              <a:rPr lang="en-US" dirty="0" smtClean="0"/>
              <a:t> </a:t>
            </a:r>
            <a:r>
              <a:rPr lang="en-US" i="1" dirty="0" smtClean="0"/>
              <a:t>The doctor examined the patient, and the patient left the clinic.</a:t>
            </a:r>
            <a:endParaRPr lang="en-US" dirty="0" smtClean="0"/>
          </a:p>
          <a:p>
            <a:r>
              <a:rPr lang="en-US" dirty="0" smtClean="0"/>
              <a:t> </a:t>
            </a:r>
            <a:r>
              <a:rPr lang="en-US" i="1" dirty="0" smtClean="0"/>
              <a:t> </a:t>
            </a:r>
            <a:endParaRPr lang="en-US"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990600"/>
            <a:ext cx="9875520" cy="5334000"/>
          </a:xfrm>
        </p:spPr>
        <p:txBody>
          <a:bodyPr/>
          <a:lstStyle/>
          <a:p>
            <a:r>
              <a:rPr lang="en-US" u="sng" dirty="0" smtClean="0"/>
              <a:t>Complex Sentence:</a:t>
            </a:r>
            <a:r>
              <a:rPr lang="en-US" dirty="0" smtClean="0"/>
              <a:t> A sentence containing one independent clause and at least one subordinate clause is called complex sentence.</a:t>
            </a:r>
          </a:p>
          <a:p>
            <a:r>
              <a:rPr lang="en-US" dirty="0" smtClean="0"/>
              <a:t> </a:t>
            </a:r>
            <a:r>
              <a:rPr lang="en-US" i="1" dirty="0" smtClean="0"/>
              <a:t>The doctor examined the patient because he was crying with pain.</a:t>
            </a:r>
          </a:p>
          <a:p>
            <a:pPr>
              <a:buNone/>
            </a:pPr>
            <a:endParaRPr lang="en-US" dirty="0" smtClean="0"/>
          </a:p>
          <a:p>
            <a:r>
              <a:rPr lang="en-US" u="sng" dirty="0" smtClean="0"/>
              <a:t>Compound-Complex Sentence:</a:t>
            </a:r>
            <a:r>
              <a:rPr lang="en-US" dirty="0" smtClean="0"/>
              <a:t> A compound-complex sentence consists of at least two independent clauses and one dependent clause.</a:t>
            </a:r>
          </a:p>
          <a:p>
            <a:r>
              <a:rPr lang="en-GB" i="1" dirty="0" smtClean="0"/>
              <a:t>Fossil fuels are non-renewable; therefore, we need to find alternative energy sources which will not be depleted. </a:t>
            </a:r>
            <a:endParaRPr lang="en-US" dirty="0" smtClean="0"/>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704088"/>
            <a:ext cx="9875520" cy="667512"/>
          </a:xfrm>
        </p:spPr>
        <p:txBody>
          <a:bodyPr>
            <a:noAutofit/>
          </a:bodyPr>
          <a:lstStyle/>
          <a:p>
            <a:r>
              <a:rPr lang="en-US" sz="4000" b="1" dirty="0" smtClean="0"/>
              <a:t>Sentence Fragments (Incomplete Sentences) </a:t>
            </a:r>
            <a:endParaRPr lang="en-US" sz="4000" dirty="0"/>
          </a:p>
        </p:txBody>
      </p:sp>
      <p:sp>
        <p:nvSpPr>
          <p:cNvPr id="3" name="Content Placeholder 2"/>
          <p:cNvSpPr>
            <a:spLocks noGrp="1"/>
          </p:cNvSpPr>
          <p:nvPr>
            <p:ph idx="1"/>
          </p:nvPr>
        </p:nvSpPr>
        <p:spPr/>
        <p:txBody>
          <a:bodyPr>
            <a:normAutofit fontScale="85000" lnSpcReduction="10000"/>
          </a:bodyPr>
          <a:lstStyle/>
          <a:p>
            <a:r>
              <a:rPr lang="en-US" b="1" dirty="0" smtClean="0"/>
              <a:t> </a:t>
            </a:r>
            <a:r>
              <a:rPr lang="en-US" dirty="0" smtClean="0"/>
              <a:t>A sentence fragment is a group of words written as a sentence, but it lacks some essential element to be a complete sentence. For example, it might lack</a:t>
            </a:r>
          </a:p>
          <a:p>
            <a:pPr lvl="0"/>
            <a:r>
              <a:rPr lang="en-US" dirty="0" smtClean="0"/>
              <a:t>a subject </a:t>
            </a:r>
          </a:p>
          <a:p>
            <a:pPr lvl="0"/>
            <a:r>
              <a:rPr lang="en-US" dirty="0" smtClean="0"/>
              <a:t>a verb </a:t>
            </a:r>
          </a:p>
          <a:p>
            <a:pPr lvl="0"/>
            <a:r>
              <a:rPr lang="en-US" dirty="0" smtClean="0"/>
              <a:t>a complete thought </a:t>
            </a:r>
          </a:p>
          <a:p>
            <a:pPr lvl="0">
              <a:buNone/>
            </a:pPr>
            <a:endParaRPr lang="en-US" dirty="0" smtClean="0"/>
          </a:p>
          <a:p>
            <a:r>
              <a:rPr lang="en-US" dirty="0" smtClean="0"/>
              <a:t>1. A sentence must have a </a:t>
            </a:r>
            <a:r>
              <a:rPr lang="en-US" u="sng" dirty="0" smtClean="0"/>
              <a:t>subject</a:t>
            </a:r>
            <a:r>
              <a:rPr lang="en-US" dirty="0" smtClean="0"/>
              <a:t> and a </a:t>
            </a:r>
            <a:r>
              <a:rPr lang="en-US" u="sng" dirty="0" smtClean="0"/>
              <a:t>verb</a:t>
            </a:r>
            <a:r>
              <a:rPr lang="en-US" dirty="0" smtClean="0"/>
              <a:t> if it is to make sense. </a:t>
            </a:r>
          </a:p>
          <a:p>
            <a:r>
              <a:rPr lang="en-US" u="sng" dirty="0" smtClean="0"/>
              <a:t>Incorrec</a:t>
            </a:r>
            <a:r>
              <a:rPr lang="en-US" dirty="0" smtClean="0"/>
              <a:t>t: John, being a friendly computer salesman and baseball fan.</a:t>
            </a:r>
            <a:br>
              <a:rPr lang="en-US" dirty="0" smtClean="0"/>
            </a:br>
            <a:r>
              <a:rPr lang="en-US" dirty="0" smtClean="0"/>
              <a:t>(No verb) </a:t>
            </a:r>
          </a:p>
          <a:p>
            <a:r>
              <a:rPr lang="en-US" u="sng" dirty="0" smtClean="0"/>
              <a:t>Correct</a:t>
            </a:r>
            <a:r>
              <a:rPr lang="en-US" dirty="0" smtClean="0"/>
              <a:t>: John, being a friendly computer salesman and baseball fan, refused  to argue. </a:t>
            </a:r>
            <a:br>
              <a:rPr lang="en-US" dirty="0" smtClean="0"/>
            </a:br>
            <a:endParaRPr lang="en-US" dirty="0" smtClean="0"/>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2. A subordinate clause is not a complete sentence if it does not have a </a:t>
            </a:r>
            <a:r>
              <a:rPr lang="en-US" u="sng" dirty="0" smtClean="0"/>
              <a:t>main clause</a:t>
            </a:r>
            <a:r>
              <a:rPr lang="en-US" dirty="0" smtClean="0"/>
              <a:t> even though it may have a </a:t>
            </a:r>
            <a:r>
              <a:rPr lang="en-US" u="sng" dirty="0" smtClean="0"/>
              <a:t>subject</a:t>
            </a:r>
            <a:r>
              <a:rPr lang="en-US" dirty="0" smtClean="0"/>
              <a:t> and </a:t>
            </a:r>
            <a:r>
              <a:rPr lang="en-US" u="sng" dirty="0" smtClean="0"/>
              <a:t>verb.</a:t>
            </a:r>
            <a:r>
              <a:rPr lang="en-US" dirty="0" smtClean="0"/>
              <a:t> </a:t>
            </a:r>
          </a:p>
          <a:p>
            <a:r>
              <a:rPr lang="en-US" u="sng" dirty="0" smtClean="0"/>
              <a:t>Incorrect:</a:t>
            </a:r>
            <a:r>
              <a:rPr lang="en-US" dirty="0" smtClean="0"/>
              <a:t> Because we are baseball fans.</a:t>
            </a:r>
          </a:p>
          <a:p>
            <a:r>
              <a:rPr lang="en-US" u="sng" dirty="0" smtClean="0"/>
              <a:t>Correct:</a:t>
            </a:r>
            <a:r>
              <a:rPr lang="en-US" dirty="0" smtClean="0"/>
              <a:t> We watched the All-Star Game because we are baseball fans.</a:t>
            </a:r>
          </a:p>
          <a:p>
            <a:r>
              <a:rPr lang="en-US" dirty="0" smtClean="0"/>
              <a:t>3. Sometimes </a:t>
            </a:r>
            <a:r>
              <a:rPr lang="en-US" b="1" dirty="0" smtClean="0"/>
              <a:t>in conversation only</a:t>
            </a:r>
            <a:r>
              <a:rPr lang="en-US" dirty="0" smtClean="0"/>
              <a:t> sentence fragments make sense. </a:t>
            </a:r>
          </a:p>
          <a:p>
            <a:r>
              <a:rPr lang="en-US" dirty="0" smtClean="0"/>
              <a:t>He asked, "Why did you watch that baseball game?" </a:t>
            </a:r>
          </a:p>
          <a:p>
            <a:r>
              <a:rPr lang="en-US" dirty="0" smtClean="0"/>
              <a:t>"Because we are baseball fans." </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990600"/>
            <a:ext cx="9875520" cy="5334000"/>
          </a:xfrm>
        </p:spPr>
        <p:txBody>
          <a:bodyPr>
            <a:normAutofit fontScale="92500"/>
          </a:bodyPr>
          <a:lstStyle/>
          <a:p>
            <a:r>
              <a:rPr lang="en-US" b="1" dirty="0" smtClean="0"/>
              <a:t>Sentence fragments exercise</a:t>
            </a:r>
            <a:endParaRPr lang="en-US" dirty="0" smtClean="0"/>
          </a:p>
          <a:p>
            <a:pPr algn="just"/>
            <a:r>
              <a:rPr lang="en-US" sz="3200" dirty="0" smtClean="0"/>
              <a:t>I prefer living in smaller communities. While they may not offer all the services of larger cities. They are advantageous in many ways. Less pollution, less noise and fewer people. Knowing your </a:t>
            </a:r>
            <a:r>
              <a:rPr lang="en-US" sz="3200" dirty="0" err="1" smtClean="0"/>
              <a:t>neighbours</a:t>
            </a:r>
            <a:r>
              <a:rPr lang="en-US" sz="3200" dirty="0" smtClean="0"/>
              <a:t> is another advantage. Being part of a community. Having a feeling of belonging is rare in high-rise apartments. Because they are overcrowded and poorly designed. Perhaps living away from the city means fewer choices for entertainment, shopping and excitement, but means more time for family and friends.</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533400"/>
            <a:ext cx="9875520" cy="5791200"/>
          </a:xfrm>
        </p:spPr>
        <p:txBody>
          <a:bodyPr>
            <a:normAutofit/>
          </a:bodyPr>
          <a:lstStyle/>
          <a:p>
            <a:pPr lvl="1" algn="just"/>
            <a:r>
              <a:rPr lang="en-US" i="1" u="sng" dirty="0" smtClean="0"/>
              <a:t>           A corrected version </a:t>
            </a:r>
          </a:p>
          <a:p>
            <a:pPr lvl="1" algn="just"/>
            <a:endParaRPr lang="en-US" dirty="0" smtClean="0"/>
          </a:p>
          <a:p>
            <a:pPr algn="just"/>
            <a:r>
              <a:rPr lang="en-US" sz="2800" dirty="0" smtClean="0"/>
              <a:t>I prefer living in smaller communities. While they may not offer all the services of larger cities</a:t>
            </a:r>
            <a:r>
              <a:rPr lang="en-US" sz="2800" i="1" dirty="0" smtClean="0"/>
              <a:t>, </a:t>
            </a:r>
            <a:r>
              <a:rPr lang="en-US" sz="2800" i="1" u="sng" dirty="0" smtClean="0">
                <a:solidFill>
                  <a:srgbClr val="FF0000"/>
                </a:solidFill>
              </a:rPr>
              <a:t>they</a:t>
            </a:r>
            <a:r>
              <a:rPr lang="en-US" sz="2800" i="1" baseline="30000" dirty="0" smtClean="0">
                <a:solidFill>
                  <a:srgbClr val="FF0000"/>
                </a:solidFill>
              </a:rPr>
              <a:t>1</a:t>
            </a:r>
            <a:r>
              <a:rPr lang="en-US" sz="2800" dirty="0" smtClean="0"/>
              <a:t> are advantageous in many ways. Less pollution, less noise and fewer people</a:t>
            </a:r>
            <a:r>
              <a:rPr lang="en-US" sz="2800" i="1" dirty="0" smtClean="0"/>
              <a:t> </a:t>
            </a:r>
            <a:r>
              <a:rPr lang="en-US" sz="2800" i="1" dirty="0" smtClean="0">
                <a:solidFill>
                  <a:srgbClr val="FF0000"/>
                </a:solidFill>
              </a:rPr>
              <a:t>are among the benefits of small town living</a:t>
            </a:r>
            <a:r>
              <a:rPr lang="en-US" sz="2800" i="1" baseline="30000" dirty="0" smtClean="0">
                <a:solidFill>
                  <a:srgbClr val="FF0000"/>
                </a:solidFill>
              </a:rPr>
              <a:t>2</a:t>
            </a:r>
            <a:r>
              <a:rPr lang="en-US" sz="2800" i="1" dirty="0" smtClean="0"/>
              <a:t>. </a:t>
            </a:r>
            <a:r>
              <a:rPr lang="en-US" sz="2800" dirty="0" smtClean="0"/>
              <a:t>Knowing your neighbors</a:t>
            </a:r>
            <a:r>
              <a:rPr lang="en-US" sz="2800" i="1" dirty="0" smtClean="0"/>
              <a:t> </a:t>
            </a:r>
            <a:r>
              <a:rPr lang="en-US" sz="2800" i="1" u="sng" dirty="0" smtClean="0">
                <a:solidFill>
                  <a:srgbClr val="FF0000"/>
                </a:solidFill>
              </a:rPr>
              <a:t>and being part of a community are other advantages</a:t>
            </a:r>
            <a:r>
              <a:rPr lang="en-US" sz="2800" i="1" u="sng" baseline="30000" dirty="0" smtClean="0">
                <a:solidFill>
                  <a:srgbClr val="FF0000"/>
                </a:solidFill>
              </a:rPr>
              <a:t>3</a:t>
            </a:r>
            <a:r>
              <a:rPr lang="en-US" sz="2800" i="1" dirty="0" smtClean="0"/>
              <a:t>. </a:t>
            </a:r>
            <a:r>
              <a:rPr lang="en-US" sz="2800" dirty="0" smtClean="0"/>
              <a:t>Having a feeling of belonging is rare in high-rise apartments. </a:t>
            </a:r>
            <a:r>
              <a:rPr lang="en-US" sz="2800" i="1" u="sng" dirty="0" smtClean="0">
                <a:solidFill>
                  <a:srgbClr val="FF0000"/>
                </a:solidFill>
              </a:rPr>
              <a:t>Their poor design and overcrowded population add to the feeling of isolation</a:t>
            </a:r>
            <a:r>
              <a:rPr lang="en-US" sz="2800" i="1" u="sng" baseline="30000" dirty="0" smtClean="0">
                <a:solidFill>
                  <a:srgbClr val="FF0000"/>
                </a:solidFill>
              </a:rPr>
              <a:t> 4</a:t>
            </a:r>
            <a:r>
              <a:rPr lang="en-US" sz="2800" dirty="0" smtClean="0"/>
              <a:t>. Perhaps living away from the city means fewer choices for entertainment, shopping and excitement, but </a:t>
            </a:r>
            <a:r>
              <a:rPr lang="en-US" sz="2800" i="1" u="sng" dirty="0" smtClean="0">
                <a:solidFill>
                  <a:srgbClr val="FF0000"/>
                </a:solidFill>
              </a:rPr>
              <a:t>this sacrifice</a:t>
            </a:r>
            <a:r>
              <a:rPr lang="en-US" sz="2800" i="1" baseline="30000" dirty="0" smtClean="0">
                <a:solidFill>
                  <a:srgbClr val="FF0000"/>
                </a:solidFill>
              </a:rPr>
              <a:t> 5</a:t>
            </a:r>
            <a:r>
              <a:rPr lang="en-US" sz="2800" dirty="0" smtClean="0">
                <a:solidFill>
                  <a:srgbClr val="FF0000"/>
                </a:solidFill>
              </a:rPr>
              <a:t> </a:t>
            </a:r>
            <a:r>
              <a:rPr lang="en-US" sz="2800" dirty="0" smtClean="0"/>
              <a:t>means more time for family and friends.</a:t>
            </a:r>
          </a:p>
          <a:p>
            <a:pPr algn="just"/>
            <a:endParaRPr lang="en-US"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762000"/>
            <a:ext cx="9875520" cy="5562600"/>
          </a:xfrm>
        </p:spPr>
        <p:txBody>
          <a:bodyPr>
            <a:normAutofit/>
          </a:bodyPr>
          <a:lstStyle/>
          <a:p>
            <a:r>
              <a:rPr lang="en-US" sz="2800" b="1" u="sng" dirty="0" smtClean="0"/>
              <a:t>Comma Splice </a:t>
            </a:r>
            <a:endParaRPr lang="en-US" sz="2800" dirty="0" smtClean="0"/>
          </a:p>
          <a:p>
            <a:r>
              <a:rPr lang="en-US" sz="2800" dirty="0" smtClean="0"/>
              <a:t>The use of a comma, instead of a period or semicolon, between two main clauses not joined by a connective is called a comma splice</a:t>
            </a:r>
          </a:p>
          <a:p>
            <a:r>
              <a:rPr lang="en-US" sz="2800" dirty="0" smtClean="0"/>
              <a:t> He got admission in the learning school, he wanted to speak English Fluently.</a:t>
            </a:r>
          </a:p>
          <a:p>
            <a:r>
              <a:rPr lang="en-US" sz="2800" dirty="0" smtClean="0"/>
              <a:t> C</a:t>
            </a:r>
            <a:r>
              <a:rPr lang="en-US" sz="2800" u="sng" dirty="0" smtClean="0"/>
              <a:t>orrect Revision</a:t>
            </a:r>
            <a:endParaRPr lang="en-US" sz="2800" dirty="0" smtClean="0"/>
          </a:p>
          <a:p>
            <a:r>
              <a:rPr lang="en-US" sz="2800" dirty="0" smtClean="0"/>
              <a:t>He got admission in the learning school because he wanted to speak English Frequently.</a:t>
            </a:r>
          </a:p>
          <a:p>
            <a:endParaRPr 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762000"/>
            <a:ext cx="9875520" cy="5562600"/>
          </a:xfrm>
        </p:spPr>
        <p:txBody>
          <a:bodyPr>
            <a:normAutofit/>
          </a:bodyPr>
          <a:lstStyle/>
          <a:p>
            <a:pPr algn="just"/>
            <a:r>
              <a:rPr lang="en-US" sz="2800" b="1" u="sng" dirty="0" smtClean="0"/>
              <a:t>Fused or Run-on Sentences</a:t>
            </a:r>
            <a:endParaRPr lang="en-US" sz="2800" dirty="0" smtClean="0"/>
          </a:p>
          <a:p>
            <a:pPr algn="just"/>
            <a:r>
              <a:rPr lang="en-US" sz="2800" dirty="0" smtClean="0"/>
              <a:t>A </a:t>
            </a:r>
            <a:r>
              <a:rPr lang="en-US" sz="2800" b="1" dirty="0" smtClean="0"/>
              <a:t>run-on sentence</a:t>
            </a:r>
            <a:r>
              <a:rPr lang="en-US" sz="2800" dirty="0" smtClean="0"/>
              <a:t> consists of two or more </a:t>
            </a:r>
            <a:r>
              <a:rPr lang="en-US" sz="2800" u="sng" dirty="0" smtClean="0"/>
              <a:t>main clauses</a:t>
            </a:r>
            <a:r>
              <a:rPr lang="en-US" sz="2800" dirty="0" smtClean="0"/>
              <a:t> that run together without proper punctuation. In this type of sentence two thoughts are fused together with no adequate sign to mark the break between them. We often </a:t>
            </a:r>
            <a:r>
              <a:rPr lang="en-US" sz="2800" b="1" dirty="0" smtClean="0"/>
              <a:t>speak</a:t>
            </a:r>
            <a:r>
              <a:rPr lang="en-US" sz="2800" dirty="0" smtClean="0"/>
              <a:t> in run-on sentences, but we make pauses and change our tone so people can understand us. </a:t>
            </a:r>
          </a:p>
          <a:p>
            <a:pPr algn="just"/>
            <a:r>
              <a:rPr lang="en-US" sz="2800" b="1" dirty="0" smtClean="0"/>
              <a:t>Examples</a:t>
            </a:r>
            <a:endParaRPr lang="en-US" sz="2800" dirty="0" smtClean="0"/>
          </a:p>
          <a:p>
            <a:pPr algn="just"/>
            <a:r>
              <a:rPr lang="en-US" sz="2800" i="1" dirty="0" smtClean="0"/>
              <a:t>The cat ran away the toddler chased it</a:t>
            </a:r>
            <a:r>
              <a:rPr lang="en-US" sz="2800" dirty="0" smtClean="0"/>
              <a:t>.</a:t>
            </a:r>
          </a:p>
          <a:p>
            <a:pPr algn="just"/>
            <a:endParaRPr lang="en-US"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How To Correct Fused Sentences?</a:t>
            </a:r>
            <a:endParaRPr lang="en-US" sz="3600" dirty="0"/>
          </a:p>
        </p:txBody>
      </p:sp>
      <p:sp>
        <p:nvSpPr>
          <p:cNvPr id="3" name="Content Placeholder 2"/>
          <p:cNvSpPr>
            <a:spLocks noGrp="1"/>
          </p:cNvSpPr>
          <p:nvPr>
            <p:ph idx="1"/>
          </p:nvPr>
        </p:nvSpPr>
        <p:spPr/>
        <p:txBody>
          <a:bodyPr>
            <a:normAutofit lnSpcReduction="10000"/>
          </a:bodyPr>
          <a:lstStyle/>
          <a:p>
            <a:r>
              <a:rPr lang="en-US" dirty="0" smtClean="0"/>
              <a:t>Fused sentences can be corrected in a variety of ways. These ways include:</a:t>
            </a:r>
          </a:p>
          <a:p>
            <a:r>
              <a:rPr lang="en-US" dirty="0" smtClean="0"/>
              <a:t>separating the fused sentence into two sentences</a:t>
            </a:r>
          </a:p>
          <a:p>
            <a:r>
              <a:rPr lang="en-US" dirty="0" smtClean="0"/>
              <a:t>using a semi-colon</a:t>
            </a:r>
          </a:p>
          <a:p>
            <a:r>
              <a:rPr lang="en-US" dirty="0" smtClean="0"/>
              <a:t>rewriting the fused sentence</a:t>
            </a:r>
          </a:p>
          <a:p>
            <a:r>
              <a:rPr lang="en-US" dirty="0" smtClean="0"/>
              <a:t>using a comma and coordinating conjunction to separate the fused sentence</a:t>
            </a:r>
          </a:p>
          <a:p>
            <a:r>
              <a:rPr lang="en-US" dirty="0" smtClean="0"/>
              <a:t>(NOTE). Writers should choose the correction method that best matches the needs of their writing. In addition, longer pieces of writing should contain a variety of sentence styles and structures.</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Correcting Fused sentences</a:t>
            </a:r>
            <a:endParaRPr lang="en-US" dirty="0"/>
          </a:p>
        </p:txBody>
      </p:sp>
      <p:sp>
        <p:nvSpPr>
          <p:cNvPr id="3" name="Content Placeholder 2"/>
          <p:cNvSpPr>
            <a:spLocks noGrp="1"/>
          </p:cNvSpPr>
          <p:nvPr>
            <p:ph idx="1"/>
          </p:nvPr>
        </p:nvSpPr>
        <p:spPr/>
        <p:txBody>
          <a:bodyPr/>
          <a:lstStyle/>
          <a:p>
            <a:r>
              <a:rPr lang="en-US" dirty="0" smtClean="0"/>
              <a:t>Incorrect: The cat ran away the toddler chased it.</a:t>
            </a:r>
          </a:p>
          <a:p>
            <a:r>
              <a:rPr lang="en-US" dirty="0" smtClean="0"/>
              <a:t>Correct: The cat ran away. The toddler chased it. (2 sentences)</a:t>
            </a:r>
          </a:p>
          <a:p>
            <a:r>
              <a:rPr lang="en-US" dirty="0" smtClean="0"/>
              <a:t>Correct: The cat ran away; the toddler chased it.  (Semicolon)</a:t>
            </a:r>
          </a:p>
          <a:p>
            <a:r>
              <a:rPr lang="en-US" dirty="0" smtClean="0"/>
              <a:t>Correct: After the cat ran away, the toddler chased it. (rewriting)</a:t>
            </a:r>
          </a:p>
          <a:p>
            <a:r>
              <a:rPr lang="en-US" dirty="0" smtClean="0"/>
              <a:t>Correct: The cat ran away, so the toddler chased it. (comma, </a:t>
            </a:r>
            <a:r>
              <a:rPr lang="en-US" dirty="0" err="1" smtClean="0"/>
              <a:t>coord</a:t>
            </a:r>
            <a:r>
              <a:rPr lang="en-US" dirty="0" smtClean="0"/>
              <a:t> conjunction)</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066800"/>
            <a:ext cx="9875520" cy="5257800"/>
          </a:xfrm>
        </p:spPr>
        <p:txBody>
          <a:bodyPr>
            <a:noAutofit/>
          </a:bodyPr>
          <a:lstStyle/>
          <a:p>
            <a:r>
              <a:rPr lang="en-US" sz="3200" dirty="0" smtClean="0"/>
              <a:t>Now correct these sentences: </a:t>
            </a:r>
          </a:p>
          <a:p>
            <a:pPr marL="514350" indent="-514350">
              <a:buFont typeface="+mj-lt"/>
              <a:buAutoNum type="arabicPeriod"/>
            </a:pPr>
            <a:r>
              <a:rPr lang="en-US" sz="3200" dirty="0" smtClean="0"/>
              <a:t> It destroyed several homes fortunately no one was hurt.</a:t>
            </a:r>
          </a:p>
          <a:p>
            <a:pPr marL="514350" indent="-514350">
              <a:buFont typeface="+mj-lt"/>
              <a:buAutoNum type="arabicPeriod"/>
            </a:pPr>
            <a:r>
              <a:rPr lang="en-US" sz="3200" dirty="0" smtClean="0"/>
              <a:t> I must be out of my mind everyone else is at the shore.</a:t>
            </a:r>
          </a:p>
          <a:p>
            <a:pPr>
              <a:buNone/>
            </a:pPr>
            <a:endParaRPr lang="en-US" sz="32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606</TotalTime>
  <Words>483</Words>
  <Application>Microsoft Office PowerPoint</Application>
  <PresentationFormat>Custom</PresentationFormat>
  <Paragraphs>66</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Flow</vt:lpstr>
      <vt:lpstr>Punctuation an Overview</vt:lpstr>
      <vt:lpstr>Recapitulation of Sentences</vt:lpstr>
      <vt:lpstr>Slide 3</vt:lpstr>
      <vt:lpstr>Slide 4</vt:lpstr>
      <vt:lpstr>Slide 5</vt:lpstr>
      <vt:lpstr>Sentence Fragments (Incomplete Sentences) </vt:lpstr>
      <vt:lpstr>Slide 7</vt:lpstr>
      <vt:lpstr>Slide 8</vt:lpstr>
      <vt:lpstr>Slide 9</vt:lpstr>
      <vt:lpstr>Slide 10</vt:lpstr>
      <vt:lpstr>Slide 11</vt:lpstr>
      <vt:lpstr>How To Correct Fused Sentences?</vt:lpstr>
      <vt:lpstr>Correcting Fused sentences</vt:lpstr>
      <vt:lpstr>Slide 14</vt:lpstr>
      <vt:lpstr>Slide 15</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Paragraph Writing &amp; Comprehension</dc:title>
  <dc:creator>Bakht</dc:creator>
  <cp:lastModifiedBy>Maaz ali</cp:lastModifiedBy>
  <cp:revision>27</cp:revision>
  <dcterms:created xsi:type="dcterms:W3CDTF">2006-08-16T00:00:00Z</dcterms:created>
  <dcterms:modified xsi:type="dcterms:W3CDTF">2022-01-19T06:24:57Z</dcterms:modified>
</cp:coreProperties>
</file>