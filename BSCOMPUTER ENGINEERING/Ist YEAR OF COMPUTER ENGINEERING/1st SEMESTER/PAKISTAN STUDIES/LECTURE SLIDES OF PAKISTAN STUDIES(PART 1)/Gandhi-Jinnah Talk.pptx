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FFEF9-A366-4535-97FF-4194CF51D3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A26150-21B8-4BCC-81C6-AA59320A33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0DBE36-5781-4609-84DB-326E8D2006A0}"/>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18605943-0607-4F4D-BCF6-54651A73B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4E4F32-CA1B-4572-9B36-5B9FE73BDFD2}"/>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273524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01771-930B-4F77-BC0A-2B4089D428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2E32A9-AD8D-4759-A532-E3CC5D8734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5934FD-B1B5-4712-A6A4-EFE8BA6E97A2}"/>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A5F623F6-907F-48B1-B079-83AAFE112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777C05-3157-434E-9978-4F454E1D00A4}"/>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2250517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59F84-5C0C-452C-A25C-FB64C62025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4FCE93-AC38-4E97-AB08-A78C999A08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32A2DA-6EE5-415B-B7F8-2CAEC9BBD77A}"/>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6209BA6B-129D-4C9C-A4F9-673B7C796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C9149-B25A-4803-BD5B-3674CBFE33EB}"/>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1300088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09A02-089B-4C6F-ABE1-FBA01A9DAF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5AC979-9527-4A91-B90A-DE1C621CF1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64B74F-825E-4112-BFBD-920441B8F0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1367AE-0252-4651-9D87-C4420ABBA253}"/>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6" name="Footer Placeholder 5">
            <a:extLst>
              <a:ext uri="{FF2B5EF4-FFF2-40B4-BE49-F238E27FC236}">
                <a16:creationId xmlns:a16="http://schemas.microsoft.com/office/drawing/2014/main" id="{D6B91785-027C-4B53-9FC1-E1049D7CA5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9D4C2-F974-4C3E-B7E6-951F8A0FC06F}"/>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1786703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3CFB-A41A-425C-8347-67DA2A8C8B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E794C9-372D-499B-AE4D-A8F207F999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BAB814-DDB2-45C5-A359-B5E2795F43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85FBBD-5064-45A0-9226-DD318C8228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258F4C-0AF7-44B1-B9E4-CBD8BE70CB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0CB9AF-30D4-404C-BB8D-B7FC7ED9AD17}"/>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8" name="Footer Placeholder 7">
            <a:extLst>
              <a:ext uri="{FF2B5EF4-FFF2-40B4-BE49-F238E27FC236}">
                <a16:creationId xmlns:a16="http://schemas.microsoft.com/office/drawing/2014/main" id="{281B85C3-C635-42F7-8228-501C88D2BC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9AD393-6689-4A64-9CBD-CFA5520F1859}"/>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331745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84290-8FA6-4FFD-99FD-5C2B59135E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00061F-BC71-48BA-BAB6-4494FE6CB251}"/>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4" name="Footer Placeholder 3">
            <a:extLst>
              <a:ext uri="{FF2B5EF4-FFF2-40B4-BE49-F238E27FC236}">
                <a16:creationId xmlns:a16="http://schemas.microsoft.com/office/drawing/2014/main" id="{7594E154-1EBD-435C-B195-3BCACC081F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A5EB1D-0A6E-420A-9A9A-5A9D95203E41}"/>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2559942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EB42B4-49AB-4636-BEB4-3559813628B5}"/>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3" name="Footer Placeholder 2">
            <a:extLst>
              <a:ext uri="{FF2B5EF4-FFF2-40B4-BE49-F238E27FC236}">
                <a16:creationId xmlns:a16="http://schemas.microsoft.com/office/drawing/2014/main" id="{681D566B-D6F4-4020-9692-A526A4340D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D6CDC-3651-4641-B749-FC9B26127F3A}"/>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2717023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6595D-49CC-4CC9-8ED8-73D5A85BA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4A0004-E712-4D53-9BA0-1989D71AA2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DB642C-4056-4C5F-8838-B40DD918CE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526864-5361-4C35-9C09-66B50C733F4C}"/>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6" name="Footer Placeholder 5">
            <a:extLst>
              <a:ext uri="{FF2B5EF4-FFF2-40B4-BE49-F238E27FC236}">
                <a16:creationId xmlns:a16="http://schemas.microsoft.com/office/drawing/2014/main" id="{77BF5134-20CF-4739-8809-EC0CA2FB17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D77263-F8CC-4439-84CB-B9B238918E86}"/>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2418908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92D20-6289-4E4C-9B97-C4D54E327D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067C22-0D42-469C-B5FD-6910D9DB9C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C53816-C9B4-4030-95EB-FCC614999B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715738-9689-4C72-B859-DCA4FCCDC4AE}"/>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6" name="Footer Placeholder 5">
            <a:extLst>
              <a:ext uri="{FF2B5EF4-FFF2-40B4-BE49-F238E27FC236}">
                <a16:creationId xmlns:a16="http://schemas.microsoft.com/office/drawing/2014/main" id="{B0F45F38-1E14-4D19-A830-F24B92FDBE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4F1C82-ACBE-43C0-BE58-80CACE55DC7F}"/>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129602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A8CE-2339-4A9E-939C-497754598D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97AB49-134F-4404-BD1C-555A79D563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FCD2F9-9A2C-4FBE-A80D-0CCE018CC30B}"/>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3611858B-3263-4791-9BAF-4F81B828A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4DA15-69B9-46A2-ACE5-DDB521C8E18C}"/>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1099187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67F547-2779-425C-998B-DC3F9FD047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B2969B-394E-462D-8919-0D48CF7ACD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29455-9C13-4A65-8DD1-346220A14591}"/>
              </a:ext>
            </a:extLst>
          </p:cNvPr>
          <p:cNvSpPr>
            <a:spLocks noGrp="1"/>
          </p:cNvSpPr>
          <p:nvPr>
            <p:ph type="dt" sz="half" idx="10"/>
          </p:nvPr>
        </p:nvSpPr>
        <p:spPr/>
        <p:txBody>
          <a:body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5A2CF74D-63C2-49C4-B535-6DD4815179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0A7DA-0941-4811-9CA3-A59A1738579F}"/>
              </a:ext>
            </a:extLst>
          </p:cNvPr>
          <p:cNvSpPr>
            <a:spLocks noGrp="1"/>
          </p:cNvSpPr>
          <p:nvPr>
            <p:ph type="sldNum" sz="quarter" idx="12"/>
          </p:nvPr>
        </p:nvSpPr>
        <p:spPr/>
        <p:txBody>
          <a:bodyPr/>
          <a:lstStyle/>
          <a:p>
            <a:fld id="{D2AE8E3F-BBF9-4037-BEAF-9EAFE1EC40F6}" type="slidenum">
              <a:rPr lang="en-US" smtClean="0"/>
              <a:t>‹#›</a:t>
            </a:fld>
            <a:endParaRPr lang="en-US"/>
          </a:p>
        </p:txBody>
      </p:sp>
    </p:spTree>
    <p:extLst>
      <p:ext uri="{BB962C8B-B14F-4D97-AF65-F5344CB8AC3E}">
        <p14:creationId xmlns:p14="http://schemas.microsoft.com/office/powerpoint/2010/main" val="169582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FAB793-3187-4B12-BAA3-C8021EEB54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F05239-8523-43AC-BCA4-2AB327468C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1A30F7-D799-4A1D-99A2-50BC3D3E8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FDB0C-4938-4C7C-B4BC-846908BEA9CE}" type="datetimeFigureOut">
              <a:rPr lang="en-US" smtClean="0"/>
              <a:t>5/4/2020</a:t>
            </a:fld>
            <a:endParaRPr lang="en-US"/>
          </a:p>
        </p:txBody>
      </p:sp>
      <p:sp>
        <p:nvSpPr>
          <p:cNvPr id="5" name="Footer Placeholder 4">
            <a:extLst>
              <a:ext uri="{FF2B5EF4-FFF2-40B4-BE49-F238E27FC236}">
                <a16:creationId xmlns:a16="http://schemas.microsoft.com/office/drawing/2014/main" id="{F9C5D898-7D71-417B-AA10-83EE27611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6B29F0-2F6F-44A3-BD91-16406A2B5D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AE8E3F-BBF9-4037-BEAF-9EAFE1EC40F6}" type="slidenum">
              <a:rPr lang="en-US" smtClean="0"/>
              <a:t>‹#›</a:t>
            </a:fld>
            <a:endParaRPr lang="en-US"/>
          </a:p>
        </p:txBody>
      </p:sp>
    </p:spTree>
    <p:extLst>
      <p:ext uri="{BB962C8B-B14F-4D97-AF65-F5344CB8AC3E}">
        <p14:creationId xmlns:p14="http://schemas.microsoft.com/office/powerpoint/2010/main" val="2373405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BFC77-B4CA-465E-A619-F314C2A2F28E}"/>
              </a:ext>
            </a:extLst>
          </p:cNvPr>
          <p:cNvSpPr>
            <a:spLocks noGrp="1"/>
          </p:cNvSpPr>
          <p:nvPr>
            <p:ph type="ctrTitle"/>
          </p:nvPr>
        </p:nvSpPr>
        <p:spPr/>
        <p:txBody>
          <a:bodyPr/>
          <a:lstStyle/>
          <a:p>
            <a:r>
              <a:rPr lang="en-US" b="1" dirty="0"/>
              <a:t>Jinnah-Gandhi 1944</a:t>
            </a:r>
          </a:p>
        </p:txBody>
      </p:sp>
      <p:sp>
        <p:nvSpPr>
          <p:cNvPr id="3" name="Subtitle 2">
            <a:extLst>
              <a:ext uri="{FF2B5EF4-FFF2-40B4-BE49-F238E27FC236}">
                <a16:creationId xmlns:a16="http://schemas.microsoft.com/office/drawing/2014/main" id="{701933CB-E6B0-435B-A462-1946276EBE5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6536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8808-E470-4065-AA9A-7CCCFB19EA80}"/>
              </a:ext>
            </a:extLst>
          </p:cNvPr>
          <p:cNvSpPr>
            <a:spLocks noGrp="1"/>
          </p:cNvSpPr>
          <p:nvPr>
            <p:ph type="title"/>
          </p:nvPr>
        </p:nvSpPr>
        <p:spPr/>
        <p:txBody>
          <a:bodyPr/>
          <a:lstStyle/>
          <a:p>
            <a:r>
              <a:rPr lang="en-US" b="1" dirty="0"/>
              <a:t>CR formula</a:t>
            </a:r>
          </a:p>
        </p:txBody>
      </p:sp>
      <p:sp>
        <p:nvSpPr>
          <p:cNvPr id="3" name="Content Placeholder 2">
            <a:extLst>
              <a:ext uri="{FF2B5EF4-FFF2-40B4-BE49-F238E27FC236}">
                <a16:creationId xmlns:a16="http://schemas.microsoft.com/office/drawing/2014/main" id="{ED6F4AB7-D2AB-40E4-AAF7-A0583FD4F481}"/>
              </a:ext>
            </a:extLst>
          </p:cNvPr>
          <p:cNvSpPr>
            <a:spLocks noGrp="1"/>
          </p:cNvSpPr>
          <p:nvPr>
            <p:ph idx="1"/>
          </p:nvPr>
        </p:nvSpPr>
        <p:spPr/>
        <p:txBody>
          <a:bodyPr/>
          <a:lstStyle/>
          <a:p>
            <a:r>
              <a:rPr lang="en-US" dirty="0" err="1"/>
              <a:t>i</a:t>
            </a:r>
            <a:r>
              <a:rPr lang="en-US" dirty="0"/>
              <a:t>. The League was to endorse the Indian demand for independence and to co-operate with the Congress in formation of Provisional Interim Government for a transitional period.</a:t>
            </a:r>
          </a:p>
          <a:p>
            <a:r>
              <a:rPr lang="en-US" dirty="0"/>
              <a:t>ii. At the end of the War, a commission would be appointed to demarcate the districts having a Muslim population in absolute majority and in those areas plebiscite to be conducted on all inhabitants (including the non-Muslims) on basis of adult suffrage.</a:t>
            </a:r>
          </a:p>
          <a:p>
            <a:r>
              <a:rPr lang="en-US" dirty="0"/>
              <a:t>iii. All parties would be allowed to express their stance on the partition and their views before the plebiscite</a:t>
            </a:r>
          </a:p>
        </p:txBody>
      </p:sp>
    </p:spTree>
    <p:extLst>
      <p:ext uri="{BB962C8B-B14F-4D97-AF65-F5344CB8AC3E}">
        <p14:creationId xmlns:p14="http://schemas.microsoft.com/office/powerpoint/2010/main" val="154021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1AC6-1AA9-4289-BB3E-3A6E0DBE92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3D089A-0143-451F-A5D6-0968A901FF94}"/>
              </a:ext>
            </a:extLst>
          </p:cNvPr>
          <p:cNvSpPr>
            <a:spLocks noGrp="1"/>
          </p:cNvSpPr>
          <p:nvPr>
            <p:ph idx="1"/>
          </p:nvPr>
        </p:nvSpPr>
        <p:spPr/>
        <p:txBody>
          <a:bodyPr/>
          <a:lstStyle/>
          <a:p>
            <a:r>
              <a:rPr lang="en-US" dirty="0"/>
              <a:t>iv. In the event of separation, a mutual agreement would be entered into for safeguarding essential matters such as </a:t>
            </a:r>
            <a:r>
              <a:rPr lang="en-US" dirty="0" err="1"/>
              <a:t>defence</a:t>
            </a:r>
            <a:r>
              <a:rPr lang="en-US" dirty="0"/>
              <a:t>, communication and commerce and for other essential services.</a:t>
            </a:r>
          </a:p>
          <a:p>
            <a:r>
              <a:rPr lang="en-US" dirty="0"/>
              <a:t>v. The transfer of population, if any would be absolutely on a voluntary basis.</a:t>
            </a:r>
          </a:p>
          <a:p>
            <a:r>
              <a:rPr lang="en-US" dirty="0"/>
              <a:t>The terms of the binding will be applicable only in case of full transfer of power by Britain to Government of India.</a:t>
            </a:r>
          </a:p>
        </p:txBody>
      </p:sp>
    </p:spTree>
    <p:extLst>
      <p:ext uri="{BB962C8B-B14F-4D97-AF65-F5344CB8AC3E}">
        <p14:creationId xmlns:p14="http://schemas.microsoft.com/office/powerpoint/2010/main" val="444430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B650-3BCE-4847-B372-5ECC44881B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DFC7576-5DD0-4CA8-B170-A75BA45B371B}"/>
              </a:ext>
            </a:extLst>
          </p:cNvPr>
          <p:cNvSpPr>
            <a:spLocks noGrp="1"/>
          </p:cNvSpPr>
          <p:nvPr>
            <p:ph idx="1"/>
          </p:nvPr>
        </p:nvSpPr>
        <p:spPr/>
        <p:txBody>
          <a:bodyPr>
            <a:normAutofit/>
          </a:bodyPr>
          <a:lstStyle/>
          <a:p>
            <a:pPr algn="just"/>
            <a:r>
              <a:rPr lang="en-US" dirty="0"/>
              <a:t>Although the formulation supported the principle of Pakistan, it aimed to show that the provinces that Jinnah claimed as Pakistan contained large numbers of non-Muslims. Jinnah had claimed provinces then regarded as Muslim majority regions (in the north-west; Sindh, Baluchistan, the North-West Frontier Province and the Punjab, and in the north-east, Assam and Bengal. Thus if a plebiscite was placed, Jinnah ran a risk of partitioning Punjab and Bengal. Moreover, Jinnah considered that the League represented all Muslims and the adult franchise demanded by the formula was redundant. </a:t>
            </a:r>
          </a:p>
        </p:txBody>
      </p:sp>
    </p:spTree>
    <p:extLst>
      <p:ext uri="{BB962C8B-B14F-4D97-AF65-F5344CB8AC3E}">
        <p14:creationId xmlns:p14="http://schemas.microsoft.com/office/powerpoint/2010/main" val="512573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8088-0A0C-49DA-B979-B6BA6E0220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C083D8-C1EF-47AC-8C59-D4C76EF0E829}"/>
              </a:ext>
            </a:extLst>
          </p:cNvPr>
          <p:cNvSpPr>
            <a:spLocks noGrp="1"/>
          </p:cNvSpPr>
          <p:nvPr>
            <p:ph idx="1"/>
          </p:nvPr>
        </p:nvSpPr>
        <p:spPr/>
        <p:txBody>
          <a:bodyPr/>
          <a:lstStyle/>
          <a:p>
            <a:pPr algn="just"/>
            <a:r>
              <a:rPr lang="en-US" dirty="0"/>
              <a:t>Furthermore, the decision of Muslims to secede from India, according to the CR formula, would be taken not just by Muslims alone but by a plebiscite of the entire population even in the Muslim majority districts. This, according to Ayesha Jalal (a Pakistani-American sociologist and historian), might well have diluted the enthusiasm of the people of these provinces about going partition. Hence Jinnah rejected the initiative, telling his Council that it was intended to 'torpedo' the Lahore resolution; it was the 'grossest travesty', a 'ridiculous proposal', 'offering a shadow and a husk – a maimed, mutilated and moth-eaten Pakistan, and thus trying to pass off having met out Pakistan scheme and Muslim demand'.</a:t>
            </a:r>
          </a:p>
          <a:p>
            <a:endParaRPr lang="en-US" dirty="0"/>
          </a:p>
        </p:txBody>
      </p:sp>
    </p:spTree>
    <p:extLst>
      <p:ext uri="{BB962C8B-B14F-4D97-AF65-F5344CB8AC3E}">
        <p14:creationId xmlns:p14="http://schemas.microsoft.com/office/powerpoint/2010/main" val="114792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2D8E3-CFA0-4012-960D-3E16AB6F1E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7AC130-9373-43FB-BA81-B363DDCE8DAE}"/>
              </a:ext>
            </a:extLst>
          </p:cNvPr>
          <p:cNvSpPr>
            <a:spLocks noGrp="1"/>
          </p:cNvSpPr>
          <p:nvPr>
            <p:ph idx="1"/>
          </p:nvPr>
        </p:nvSpPr>
        <p:spPr/>
        <p:txBody>
          <a:bodyPr/>
          <a:lstStyle/>
          <a:p>
            <a:pPr algn="just"/>
            <a:r>
              <a:rPr lang="en-US" dirty="0"/>
              <a:t>While the formula retained most of the essential services, Jinnah wanted a full partition and any relations would be dealt via treaty alone. Although a failure the CR formula was seen as Congress' betrayal of the Sikhs by </a:t>
            </a:r>
            <a:r>
              <a:rPr lang="en-US" dirty="0" err="1"/>
              <a:t>Akali</a:t>
            </a:r>
            <a:r>
              <a:rPr lang="en-US" dirty="0"/>
              <a:t> Dal leaders like Master Tara Singh. Since the formula meant vivisection of Punjab, if agreed the Sikh community would be divided. Sikhs did not hold a majority in any single district. Splitting Punjab would leave many on both sides of the dividing line.</a:t>
            </a:r>
          </a:p>
          <a:p>
            <a:endParaRPr lang="en-US" dirty="0"/>
          </a:p>
        </p:txBody>
      </p:sp>
    </p:spTree>
    <p:extLst>
      <p:ext uri="{BB962C8B-B14F-4D97-AF65-F5344CB8AC3E}">
        <p14:creationId xmlns:p14="http://schemas.microsoft.com/office/powerpoint/2010/main" val="4241221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265</Words>
  <Application>Microsoft Office PowerPoint</Application>
  <PresentationFormat>Widescreen</PresentationFormat>
  <Paragraphs>11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Jinnah-Gandhi 1944</vt:lpstr>
      <vt:lpstr>CR formula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Jinnah-Gandhi 1944</dc:title>
  <dc:creator>tahir sial</dc:creator>
  <cp:lastModifiedBy>tahir sial</cp:lastModifiedBy>
  <cp:revision>2</cp:revision>
  <dcterms:created xsi:type="dcterms:W3CDTF">2020-04-23T08:30:05Z</dcterms:created>
  <dcterms:modified xsi:type="dcterms:W3CDTF">2020-05-04T11:36:56Z</dcterms:modified>
</cp:coreProperties>
</file>