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57" r:id="rId4"/>
    <p:sldId id="258" r:id="rId5"/>
    <p:sldId id="264" r:id="rId6"/>
    <p:sldId id="265" r:id="rId7"/>
    <p:sldId id="267" r:id="rId8"/>
    <p:sldId id="268" r:id="rId9"/>
    <p:sldId id="269" r:id="rId10"/>
    <p:sldId id="270" r:id="rId11"/>
    <p:sldId id="271" r:id="rId12"/>
    <p:sldId id="272" r:id="rId13"/>
    <p:sldId id="273" r:id="rId14"/>
    <p:sldId id="274" r:id="rId15"/>
    <p:sldId id="275" r:id="rId16"/>
    <p:sldId id="259" r:id="rId17"/>
    <p:sldId id="260" r:id="rId18"/>
    <p:sldId id="261" r:id="rId19"/>
    <p:sldId id="262" r:id="rId20"/>
    <p:sldId id="263"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2D5B2-415F-4E6B-8406-95D4E3A314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625D61F-02AE-449D-9DC5-419E45D61E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36F71A6-9F97-4520-90D4-A205EB342DD2}"/>
              </a:ext>
            </a:extLst>
          </p:cNvPr>
          <p:cNvSpPr>
            <a:spLocks noGrp="1"/>
          </p:cNvSpPr>
          <p:nvPr>
            <p:ph type="dt" sz="half" idx="10"/>
          </p:nvPr>
        </p:nvSpPr>
        <p:spPr/>
        <p:txBody>
          <a:bodyPr/>
          <a:lstStyle/>
          <a:p>
            <a:fld id="{F2BBB09B-D506-4AE2-B20F-0652D1439B3C}" type="datetimeFigureOut">
              <a:rPr lang="en-US" smtClean="0"/>
              <a:t>1/28/2021</a:t>
            </a:fld>
            <a:endParaRPr lang="en-US"/>
          </a:p>
        </p:txBody>
      </p:sp>
      <p:sp>
        <p:nvSpPr>
          <p:cNvPr id="5" name="Footer Placeholder 4">
            <a:extLst>
              <a:ext uri="{FF2B5EF4-FFF2-40B4-BE49-F238E27FC236}">
                <a16:creationId xmlns:a16="http://schemas.microsoft.com/office/drawing/2014/main" id="{4A699E1B-EE85-4761-AFFE-44C056B8D0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3D2D6-7C8C-4A05-AC2B-7BA3995230F1}"/>
              </a:ext>
            </a:extLst>
          </p:cNvPr>
          <p:cNvSpPr>
            <a:spLocks noGrp="1"/>
          </p:cNvSpPr>
          <p:nvPr>
            <p:ph type="sldNum" sz="quarter" idx="12"/>
          </p:nvPr>
        </p:nvSpPr>
        <p:spPr/>
        <p:txBody>
          <a:bodyPr/>
          <a:lstStyle/>
          <a:p>
            <a:fld id="{13FF19C9-B5DE-4DE8-89AB-672843A0E154}" type="slidenum">
              <a:rPr lang="en-US" smtClean="0"/>
              <a:t>‹#›</a:t>
            </a:fld>
            <a:endParaRPr lang="en-US"/>
          </a:p>
        </p:txBody>
      </p:sp>
    </p:spTree>
    <p:extLst>
      <p:ext uri="{BB962C8B-B14F-4D97-AF65-F5344CB8AC3E}">
        <p14:creationId xmlns:p14="http://schemas.microsoft.com/office/powerpoint/2010/main" val="1254621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89677-F962-48DA-8CF1-9BC37668AC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FE5030-D5CE-425C-B74E-F7AD67DC31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C4B1F3-5BC7-4AEF-B60A-5325D3A3C0E6}"/>
              </a:ext>
            </a:extLst>
          </p:cNvPr>
          <p:cNvSpPr>
            <a:spLocks noGrp="1"/>
          </p:cNvSpPr>
          <p:nvPr>
            <p:ph type="dt" sz="half" idx="10"/>
          </p:nvPr>
        </p:nvSpPr>
        <p:spPr/>
        <p:txBody>
          <a:bodyPr/>
          <a:lstStyle/>
          <a:p>
            <a:fld id="{F2BBB09B-D506-4AE2-B20F-0652D1439B3C}" type="datetimeFigureOut">
              <a:rPr lang="en-US" smtClean="0"/>
              <a:t>1/28/2021</a:t>
            </a:fld>
            <a:endParaRPr lang="en-US"/>
          </a:p>
        </p:txBody>
      </p:sp>
      <p:sp>
        <p:nvSpPr>
          <p:cNvPr id="5" name="Footer Placeholder 4">
            <a:extLst>
              <a:ext uri="{FF2B5EF4-FFF2-40B4-BE49-F238E27FC236}">
                <a16:creationId xmlns:a16="http://schemas.microsoft.com/office/drawing/2014/main" id="{A5A3EE79-643E-43B8-A585-EDE6D2B7E5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39937A-1E28-4D2B-A2D7-6232AE3A0C55}"/>
              </a:ext>
            </a:extLst>
          </p:cNvPr>
          <p:cNvSpPr>
            <a:spLocks noGrp="1"/>
          </p:cNvSpPr>
          <p:nvPr>
            <p:ph type="sldNum" sz="quarter" idx="12"/>
          </p:nvPr>
        </p:nvSpPr>
        <p:spPr/>
        <p:txBody>
          <a:bodyPr/>
          <a:lstStyle/>
          <a:p>
            <a:fld id="{13FF19C9-B5DE-4DE8-89AB-672843A0E154}" type="slidenum">
              <a:rPr lang="en-US" smtClean="0"/>
              <a:t>‹#›</a:t>
            </a:fld>
            <a:endParaRPr lang="en-US"/>
          </a:p>
        </p:txBody>
      </p:sp>
    </p:spTree>
    <p:extLst>
      <p:ext uri="{BB962C8B-B14F-4D97-AF65-F5344CB8AC3E}">
        <p14:creationId xmlns:p14="http://schemas.microsoft.com/office/powerpoint/2010/main" val="1848448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8D8E3-69DF-4AC0-A77D-FFFA3275B6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97AE2B-CC68-4FD9-9227-1EABAE1FB8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5F825A-A52E-428B-9B1E-4AE0A2C30C8F}"/>
              </a:ext>
            </a:extLst>
          </p:cNvPr>
          <p:cNvSpPr>
            <a:spLocks noGrp="1"/>
          </p:cNvSpPr>
          <p:nvPr>
            <p:ph type="dt" sz="half" idx="10"/>
          </p:nvPr>
        </p:nvSpPr>
        <p:spPr/>
        <p:txBody>
          <a:bodyPr/>
          <a:lstStyle/>
          <a:p>
            <a:fld id="{F2BBB09B-D506-4AE2-B20F-0652D1439B3C}" type="datetimeFigureOut">
              <a:rPr lang="en-US" smtClean="0"/>
              <a:t>1/28/2021</a:t>
            </a:fld>
            <a:endParaRPr lang="en-US"/>
          </a:p>
        </p:txBody>
      </p:sp>
      <p:sp>
        <p:nvSpPr>
          <p:cNvPr id="5" name="Footer Placeholder 4">
            <a:extLst>
              <a:ext uri="{FF2B5EF4-FFF2-40B4-BE49-F238E27FC236}">
                <a16:creationId xmlns:a16="http://schemas.microsoft.com/office/drawing/2014/main" id="{B28FAE02-F2AB-4714-8BDC-BB8152B86D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E0BBC4-F6A0-4C7A-ACE3-3224D0CF372C}"/>
              </a:ext>
            </a:extLst>
          </p:cNvPr>
          <p:cNvSpPr>
            <a:spLocks noGrp="1"/>
          </p:cNvSpPr>
          <p:nvPr>
            <p:ph type="sldNum" sz="quarter" idx="12"/>
          </p:nvPr>
        </p:nvSpPr>
        <p:spPr/>
        <p:txBody>
          <a:bodyPr/>
          <a:lstStyle/>
          <a:p>
            <a:fld id="{13FF19C9-B5DE-4DE8-89AB-672843A0E154}" type="slidenum">
              <a:rPr lang="en-US" smtClean="0"/>
              <a:t>‹#›</a:t>
            </a:fld>
            <a:endParaRPr lang="en-US"/>
          </a:p>
        </p:txBody>
      </p:sp>
    </p:spTree>
    <p:extLst>
      <p:ext uri="{BB962C8B-B14F-4D97-AF65-F5344CB8AC3E}">
        <p14:creationId xmlns:p14="http://schemas.microsoft.com/office/powerpoint/2010/main" val="3132932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A578C-0055-4A9F-A951-37EDE31E0A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B2C737-2323-4235-8D02-35D16DBE8E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B5503E-E62C-4B93-857B-943D7B06E9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3017885-6B97-4272-A964-EE0F825C2F53}"/>
              </a:ext>
            </a:extLst>
          </p:cNvPr>
          <p:cNvSpPr>
            <a:spLocks noGrp="1"/>
          </p:cNvSpPr>
          <p:nvPr>
            <p:ph type="dt" sz="half" idx="10"/>
          </p:nvPr>
        </p:nvSpPr>
        <p:spPr/>
        <p:txBody>
          <a:bodyPr/>
          <a:lstStyle/>
          <a:p>
            <a:fld id="{F2BBB09B-D506-4AE2-B20F-0652D1439B3C}" type="datetimeFigureOut">
              <a:rPr lang="en-US" smtClean="0"/>
              <a:t>1/28/2021</a:t>
            </a:fld>
            <a:endParaRPr lang="en-US"/>
          </a:p>
        </p:txBody>
      </p:sp>
      <p:sp>
        <p:nvSpPr>
          <p:cNvPr id="6" name="Footer Placeholder 5">
            <a:extLst>
              <a:ext uri="{FF2B5EF4-FFF2-40B4-BE49-F238E27FC236}">
                <a16:creationId xmlns:a16="http://schemas.microsoft.com/office/drawing/2014/main" id="{57DF103C-301E-475C-B04E-92AD063342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CFDFD3-EF79-4492-BBBA-2DA232B76AD7}"/>
              </a:ext>
            </a:extLst>
          </p:cNvPr>
          <p:cNvSpPr>
            <a:spLocks noGrp="1"/>
          </p:cNvSpPr>
          <p:nvPr>
            <p:ph type="sldNum" sz="quarter" idx="12"/>
          </p:nvPr>
        </p:nvSpPr>
        <p:spPr/>
        <p:txBody>
          <a:bodyPr/>
          <a:lstStyle/>
          <a:p>
            <a:fld id="{13FF19C9-B5DE-4DE8-89AB-672843A0E154}" type="slidenum">
              <a:rPr lang="en-US" smtClean="0"/>
              <a:t>‹#›</a:t>
            </a:fld>
            <a:endParaRPr lang="en-US"/>
          </a:p>
        </p:txBody>
      </p:sp>
    </p:spTree>
    <p:extLst>
      <p:ext uri="{BB962C8B-B14F-4D97-AF65-F5344CB8AC3E}">
        <p14:creationId xmlns:p14="http://schemas.microsoft.com/office/powerpoint/2010/main" val="2108471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527A8-9179-4DD5-A75C-ED4088C0BC7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6BB30A-4672-4023-B63A-565F77DE0C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CC0EC0-635B-458C-BA92-C4E0D5277B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479C49-7232-45E1-A70A-0F96A70FDC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06A75D-09A4-4C67-BD1E-419F37A78C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708620-7E60-41F3-8635-8F1F27785D91}"/>
              </a:ext>
            </a:extLst>
          </p:cNvPr>
          <p:cNvSpPr>
            <a:spLocks noGrp="1"/>
          </p:cNvSpPr>
          <p:nvPr>
            <p:ph type="dt" sz="half" idx="10"/>
          </p:nvPr>
        </p:nvSpPr>
        <p:spPr/>
        <p:txBody>
          <a:bodyPr/>
          <a:lstStyle/>
          <a:p>
            <a:fld id="{F2BBB09B-D506-4AE2-B20F-0652D1439B3C}" type="datetimeFigureOut">
              <a:rPr lang="en-US" smtClean="0"/>
              <a:t>1/28/2021</a:t>
            </a:fld>
            <a:endParaRPr lang="en-US"/>
          </a:p>
        </p:txBody>
      </p:sp>
      <p:sp>
        <p:nvSpPr>
          <p:cNvPr id="8" name="Footer Placeholder 7">
            <a:extLst>
              <a:ext uri="{FF2B5EF4-FFF2-40B4-BE49-F238E27FC236}">
                <a16:creationId xmlns:a16="http://schemas.microsoft.com/office/drawing/2014/main" id="{DD92A73D-E0E9-415C-A5A0-5088C7BFDE1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740691-78A2-46B1-B136-79446F46B5A9}"/>
              </a:ext>
            </a:extLst>
          </p:cNvPr>
          <p:cNvSpPr>
            <a:spLocks noGrp="1"/>
          </p:cNvSpPr>
          <p:nvPr>
            <p:ph type="sldNum" sz="quarter" idx="12"/>
          </p:nvPr>
        </p:nvSpPr>
        <p:spPr/>
        <p:txBody>
          <a:bodyPr/>
          <a:lstStyle/>
          <a:p>
            <a:fld id="{13FF19C9-B5DE-4DE8-89AB-672843A0E154}" type="slidenum">
              <a:rPr lang="en-US" smtClean="0"/>
              <a:t>‹#›</a:t>
            </a:fld>
            <a:endParaRPr lang="en-US"/>
          </a:p>
        </p:txBody>
      </p:sp>
    </p:spTree>
    <p:extLst>
      <p:ext uri="{BB962C8B-B14F-4D97-AF65-F5344CB8AC3E}">
        <p14:creationId xmlns:p14="http://schemas.microsoft.com/office/powerpoint/2010/main" val="2076607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DC95E-E8CB-4962-A80E-FBF130C7C2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436587F-7A7C-4077-86D7-3A4399E41ABC}"/>
              </a:ext>
            </a:extLst>
          </p:cNvPr>
          <p:cNvSpPr>
            <a:spLocks noGrp="1"/>
          </p:cNvSpPr>
          <p:nvPr>
            <p:ph type="dt" sz="half" idx="10"/>
          </p:nvPr>
        </p:nvSpPr>
        <p:spPr/>
        <p:txBody>
          <a:bodyPr/>
          <a:lstStyle/>
          <a:p>
            <a:fld id="{F2BBB09B-D506-4AE2-B20F-0652D1439B3C}" type="datetimeFigureOut">
              <a:rPr lang="en-US" smtClean="0"/>
              <a:t>1/28/2021</a:t>
            </a:fld>
            <a:endParaRPr lang="en-US"/>
          </a:p>
        </p:txBody>
      </p:sp>
      <p:sp>
        <p:nvSpPr>
          <p:cNvPr id="4" name="Footer Placeholder 3">
            <a:extLst>
              <a:ext uri="{FF2B5EF4-FFF2-40B4-BE49-F238E27FC236}">
                <a16:creationId xmlns:a16="http://schemas.microsoft.com/office/drawing/2014/main" id="{B83072E0-6E93-4204-A4F5-1BA3A94DD8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530878-15FD-4B2C-8029-23C7101DFE71}"/>
              </a:ext>
            </a:extLst>
          </p:cNvPr>
          <p:cNvSpPr>
            <a:spLocks noGrp="1"/>
          </p:cNvSpPr>
          <p:nvPr>
            <p:ph type="sldNum" sz="quarter" idx="12"/>
          </p:nvPr>
        </p:nvSpPr>
        <p:spPr/>
        <p:txBody>
          <a:bodyPr/>
          <a:lstStyle/>
          <a:p>
            <a:fld id="{13FF19C9-B5DE-4DE8-89AB-672843A0E154}" type="slidenum">
              <a:rPr lang="en-US" smtClean="0"/>
              <a:t>‹#›</a:t>
            </a:fld>
            <a:endParaRPr lang="en-US"/>
          </a:p>
        </p:txBody>
      </p:sp>
    </p:spTree>
    <p:extLst>
      <p:ext uri="{BB962C8B-B14F-4D97-AF65-F5344CB8AC3E}">
        <p14:creationId xmlns:p14="http://schemas.microsoft.com/office/powerpoint/2010/main" val="3700423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682046-FF76-4158-8744-AE7CCE70549B}"/>
              </a:ext>
            </a:extLst>
          </p:cNvPr>
          <p:cNvSpPr>
            <a:spLocks noGrp="1"/>
          </p:cNvSpPr>
          <p:nvPr>
            <p:ph type="dt" sz="half" idx="10"/>
          </p:nvPr>
        </p:nvSpPr>
        <p:spPr/>
        <p:txBody>
          <a:bodyPr/>
          <a:lstStyle/>
          <a:p>
            <a:fld id="{F2BBB09B-D506-4AE2-B20F-0652D1439B3C}" type="datetimeFigureOut">
              <a:rPr lang="en-US" smtClean="0"/>
              <a:t>1/28/2021</a:t>
            </a:fld>
            <a:endParaRPr lang="en-US"/>
          </a:p>
        </p:txBody>
      </p:sp>
      <p:sp>
        <p:nvSpPr>
          <p:cNvPr id="3" name="Footer Placeholder 2">
            <a:extLst>
              <a:ext uri="{FF2B5EF4-FFF2-40B4-BE49-F238E27FC236}">
                <a16:creationId xmlns:a16="http://schemas.microsoft.com/office/drawing/2014/main" id="{39AA2557-394E-4B81-B39F-9B405A8689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856252-942F-41E7-83E5-03244BF7B165}"/>
              </a:ext>
            </a:extLst>
          </p:cNvPr>
          <p:cNvSpPr>
            <a:spLocks noGrp="1"/>
          </p:cNvSpPr>
          <p:nvPr>
            <p:ph type="sldNum" sz="quarter" idx="12"/>
          </p:nvPr>
        </p:nvSpPr>
        <p:spPr/>
        <p:txBody>
          <a:bodyPr/>
          <a:lstStyle/>
          <a:p>
            <a:fld id="{13FF19C9-B5DE-4DE8-89AB-672843A0E154}" type="slidenum">
              <a:rPr lang="en-US" smtClean="0"/>
              <a:t>‹#›</a:t>
            </a:fld>
            <a:endParaRPr lang="en-US"/>
          </a:p>
        </p:txBody>
      </p:sp>
    </p:spTree>
    <p:extLst>
      <p:ext uri="{BB962C8B-B14F-4D97-AF65-F5344CB8AC3E}">
        <p14:creationId xmlns:p14="http://schemas.microsoft.com/office/powerpoint/2010/main" val="226290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19237-158A-4D04-BBC5-1487DAD82F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132284-DFCC-4847-84A6-DF075F3C7A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991E7B-B2DB-45AA-B0B2-036231BE46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170329-6690-44E9-8868-2D804DC035B5}"/>
              </a:ext>
            </a:extLst>
          </p:cNvPr>
          <p:cNvSpPr>
            <a:spLocks noGrp="1"/>
          </p:cNvSpPr>
          <p:nvPr>
            <p:ph type="dt" sz="half" idx="10"/>
          </p:nvPr>
        </p:nvSpPr>
        <p:spPr/>
        <p:txBody>
          <a:bodyPr/>
          <a:lstStyle/>
          <a:p>
            <a:fld id="{F2BBB09B-D506-4AE2-B20F-0652D1439B3C}" type="datetimeFigureOut">
              <a:rPr lang="en-US" smtClean="0"/>
              <a:t>1/28/2021</a:t>
            </a:fld>
            <a:endParaRPr lang="en-US"/>
          </a:p>
        </p:txBody>
      </p:sp>
      <p:sp>
        <p:nvSpPr>
          <p:cNvPr id="6" name="Footer Placeholder 5">
            <a:extLst>
              <a:ext uri="{FF2B5EF4-FFF2-40B4-BE49-F238E27FC236}">
                <a16:creationId xmlns:a16="http://schemas.microsoft.com/office/drawing/2014/main" id="{16832C35-675B-4BCB-9A26-140393F2A5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F4B994-C859-4DEE-8714-7B60311582BA}"/>
              </a:ext>
            </a:extLst>
          </p:cNvPr>
          <p:cNvSpPr>
            <a:spLocks noGrp="1"/>
          </p:cNvSpPr>
          <p:nvPr>
            <p:ph type="sldNum" sz="quarter" idx="12"/>
          </p:nvPr>
        </p:nvSpPr>
        <p:spPr/>
        <p:txBody>
          <a:bodyPr/>
          <a:lstStyle/>
          <a:p>
            <a:fld id="{13FF19C9-B5DE-4DE8-89AB-672843A0E154}" type="slidenum">
              <a:rPr lang="en-US" smtClean="0"/>
              <a:t>‹#›</a:t>
            </a:fld>
            <a:endParaRPr lang="en-US"/>
          </a:p>
        </p:txBody>
      </p:sp>
    </p:spTree>
    <p:extLst>
      <p:ext uri="{BB962C8B-B14F-4D97-AF65-F5344CB8AC3E}">
        <p14:creationId xmlns:p14="http://schemas.microsoft.com/office/powerpoint/2010/main" val="1690467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52F5C-6381-4FCE-9E27-BC9B17DE18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87661F-BA89-4A4E-9FB0-888A095729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5AD35A-2E80-4B70-9DF3-6201274253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1B951C-EB51-4DC2-8DA1-73291CE7E8C6}"/>
              </a:ext>
            </a:extLst>
          </p:cNvPr>
          <p:cNvSpPr>
            <a:spLocks noGrp="1"/>
          </p:cNvSpPr>
          <p:nvPr>
            <p:ph type="dt" sz="half" idx="10"/>
          </p:nvPr>
        </p:nvSpPr>
        <p:spPr/>
        <p:txBody>
          <a:bodyPr/>
          <a:lstStyle/>
          <a:p>
            <a:fld id="{F2BBB09B-D506-4AE2-B20F-0652D1439B3C}" type="datetimeFigureOut">
              <a:rPr lang="en-US" smtClean="0"/>
              <a:t>1/28/2021</a:t>
            </a:fld>
            <a:endParaRPr lang="en-US"/>
          </a:p>
        </p:txBody>
      </p:sp>
      <p:sp>
        <p:nvSpPr>
          <p:cNvPr id="6" name="Footer Placeholder 5">
            <a:extLst>
              <a:ext uri="{FF2B5EF4-FFF2-40B4-BE49-F238E27FC236}">
                <a16:creationId xmlns:a16="http://schemas.microsoft.com/office/drawing/2014/main" id="{65A221D8-FF6B-4C11-9B1C-135AFB37C0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501C58-77DB-4063-96AB-8B66FACCAB1F}"/>
              </a:ext>
            </a:extLst>
          </p:cNvPr>
          <p:cNvSpPr>
            <a:spLocks noGrp="1"/>
          </p:cNvSpPr>
          <p:nvPr>
            <p:ph type="sldNum" sz="quarter" idx="12"/>
          </p:nvPr>
        </p:nvSpPr>
        <p:spPr/>
        <p:txBody>
          <a:bodyPr/>
          <a:lstStyle/>
          <a:p>
            <a:fld id="{13FF19C9-B5DE-4DE8-89AB-672843A0E154}" type="slidenum">
              <a:rPr lang="en-US" smtClean="0"/>
              <a:t>‹#›</a:t>
            </a:fld>
            <a:endParaRPr lang="en-US"/>
          </a:p>
        </p:txBody>
      </p:sp>
    </p:spTree>
    <p:extLst>
      <p:ext uri="{BB962C8B-B14F-4D97-AF65-F5344CB8AC3E}">
        <p14:creationId xmlns:p14="http://schemas.microsoft.com/office/powerpoint/2010/main" val="2785688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B9E94-F97B-43C0-8739-4123C259F52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8B42F0-7695-4676-B09C-31C2358199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C291CB-1884-47D3-99CE-949CD4221688}"/>
              </a:ext>
            </a:extLst>
          </p:cNvPr>
          <p:cNvSpPr>
            <a:spLocks noGrp="1"/>
          </p:cNvSpPr>
          <p:nvPr>
            <p:ph type="dt" sz="half" idx="10"/>
          </p:nvPr>
        </p:nvSpPr>
        <p:spPr/>
        <p:txBody>
          <a:bodyPr/>
          <a:lstStyle/>
          <a:p>
            <a:fld id="{F2BBB09B-D506-4AE2-B20F-0652D1439B3C}" type="datetimeFigureOut">
              <a:rPr lang="en-US" smtClean="0"/>
              <a:t>1/28/2021</a:t>
            </a:fld>
            <a:endParaRPr lang="en-US"/>
          </a:p>
        </p:txBody>
      </p:sp>
      <p:sp>
        <p:nvSpPr>
          <p:cNvPr id="5" name="Footer Placeholder 4">
            <a:extLst>
              <a:ext uri="{FF2B5EF4-FFF2-40B4-BE49-F238E27FC236}">
                <a16:creationId xmlns:a16="http://schemas.microsoft.com/office/drawing/2014/main" id="{D6AAFC11-8FCE-464B-8659-2A8400CB81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AC767-EC14-41FC-A230-D6088A045911}"/>
              </a:ext>
            </a:extLst>
          </p:cNvPr>
          <p:cNvSpPr>
            <a:spLocks noGrp="1"/>
          </p:cNvSpPr>
          <p:nvPr>
            <p:ph type="sldNum" sz="quarter" idx="12"/>
          </p:nvPr>
        </p:nvSpPr>
        <p:spPr/>
        <p:txBody>
          <a:bodyPr/>
          <a:lstStyle/>
          <a:p>
            <a:fld id="{13FF19C9-B5DE-4DE8-89AB-672843A0E154}" type="slidenum">
              <a:rPr lang="en-US" smtClean="0"/>
              <a:t>‹#›</a:t>
            </a:fld>
            <a:endParaRPr lang="en-US"/>
          </a:p>
        </p:txBody>
      </p:sp>
    </p:spTree>
    <p:extLst>
      <p:ext uri="{BB962C8B-B14F-4D97-AF65-F5344CB8AC3E}">
        <p14:creationId xmlns:p14="http://schemas.microsoft.com/office/powerpoint/2010/main" val="3772379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EA402F-F9F4-4B5B-868E-68FB31E5CFB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7308BF3-9DE0-4F0A-A516-D846FE12D6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7B50D-856C-465B-B781-524E37EAD36E}"/>
              </a:ext>
            </a:extLst>
          </p:cNvPr>
          <p:cNvSpPr>
            <a:spLocks noGrp="1"/>
          </p:cNvSpPr>
          <p:nvPr>
            <p:ph type="dt" sz="half" idx="10"/>
          </p:nvPr>
        </p:nvSpPr>
        <p:spPr/>
        <p:txBody>
          <a:bodyPr/>
          <a:lstStyle/>
          <a:p>
            <a:fld id="{F2BBB09B-D506-4AE2-B20F-0652D1439B3C}" type="datetimeFigureOut">
              <a:rPr lang="en-US" smtClean="0"/>
              <a:t>1/28/2021</a:t>
            </a:fld>
            <a:endParaRPr lang="en-US"/>
          </a:p>
        </p:txBody>
      </p:sp>
      <p:sp>
        <p:nvSpPr>
          <p:cNvPr id="5" name="Footer Placeholder 4">
            <a:extLst>
              <a:ext uri="{FF2B5EF4-FFF2-40B4-BE49-F238E27FC236}">
                <a16:creationId xmlns:a16="http://schemas.microsoft.com/office/drawing/2014/main" id="{2CA804FD-3837-4F02-BEDC-D414A4E3F1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C9678E-D16C-4F9D-BB26-9DC90258B0E5}"/>
              </a:ext>
            </a:extLst>
          </p:cNvPr>
          <p:cNvSpPr>
            <a:spLocks noGrp="1"/>
          </p:cNvSpPr>
          <p:nvPr>
            <p:ph type="sldNum" sz="quarter" idx="12"/>
          </p:nvPr>
        </p:nvSpPr>
        <p:spPr/>
        <p:txBody>
          <a:bodyPr/>
          <a:lstStyle/>
          <a:p>
            <a:fld id="{13FF19C9-B5DE-4DE8-89AB-672843A0E154}" type="slidenum">
              <a:rPr lang="en-US" smtClean="0"/>
              <a:t>‹#›</a:t>
            </a:fld>
            <a:endParaRPr lang="en-US"/>
          </a:p>
        </p:txBody>
      </p:sp>
    </p:spTree>
    <p:extLst>
      <p:ext uri="{BB962C8B-B14F-4D97-AF65-F5344CB8AC3E}">
        <p14:creationId xmlns:p14="http://schemas.microsoft.com/office/powerpoint/2010/main" val="2479547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9F47D6-ABBC-4D88-83B6-E432A3CBF9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5E2449-ED95-4AA9-BB37-86F03EBDF7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AE9A15-2434-47DB-B0C5-7710F5E766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BBB09B-D506-4AE2-B20F-0652D1439B3C}" type="datetimeFigureOut">
              <a:rPr lang="en-US" smtClean="0"/>
              <a:t>1/28/2021</a:t>
            </a:fld>
            <a:endParaRPr lang="en-US"/>
          </a:p>
        </p:txBody>
      </p:sp>
      <p:sp>
        <p:nvSpPr>
          <p:cNvPr id="5" name="Footer Placeholder 4">
            <a:extLst>
              <a:ext uri="{FF2B5EF4-FFF2-40B4-BE49-F238E27FC236}">
                <a16:creationId xmlns:a16="http://schemas.microsoft.com/office/drawing/2014/main" id="{7D87B3F5-E338-4748-8B9D-FC9E1D63B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253A32A-128B-45A1-A488-D44B50F403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FF19C9-B5DE-4DE8-89AB-672843A0E154}" type="slidenum">
              <a:rPr lang="en-US" smtClean="0"/>
              <a:t>‹#›</a:t>
            </a:fld>
            <a:endParaRPr lang="en-US"/>
          </a:p>
        </p:txBody>
      </p:sp>
    </p:spTree>
    <p:extLst>
      <p:ext uri="{BB962C8B-B14F-4D97-AF65-F5344CB8AC3E}">
        <p14:creationId xmlns:p14="http://schemas.microsoft.com/office/powerpoint/2010/main" val="41384676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4D13E-36AB-4C93-A54F-FF3E26A20E2C}"/>
              </a:ext>
            </a:extLst>
          </p:cNvPr>
          <p:cNvSpPr>
            <a:spLocks noGrp="1"/>
          </p:cNvSpPr>
          <p:nvPr>
            <p:ph type="ctrTitle"/>
          </p:nvPr>
        </p:nvSpPr>
        <p:spPr/>
        <p:txBody>
          <a:bodyPr/>
          <a:lstStyle/>
          <a:p>
            <a:r>
              <a:rPr lang="en-US" dirty="0"/>
              <a:t>Geo-Strategic Location of Pakistan</a:t>
            </a:r>
          </a:p>
        </p:txBody>
      </p:sp>
      <p:sp>
        <p:nvSpPr>
          <p:cNvPr id="3" name="Subtitle 2">
            <a:extLst>
              <a:ext uri="{FF2B5EF4-FFF2-40B4-BE49-F238E27FC236}">
                <a16:creationId xmlns:a16="http://schemas.microsoft.com/office/drawing/2014/main" id="{59157544-B95D-4F16-9267-A7427E0BA09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66605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AFEAE-C43C-42BF-B0FD-B6BE50A5722E}"/>
              </a:ext>
            </a:extLst>
          </p:cNvPr>
          <p:cNvSpPr>
            <a:spLocks noGrp="1"/>
          </p:cNvSpPr>
          <p:nvPr>
            <p:ph type="title"/>
          </p:nvPr>
        </p:nvSpPr>
        <p:spPr/>
        <p:txBody>
          <a:bodyPr/>
          <a:lstStyle/>
          <a:p>
            <a:r>
              <a:rPr lang="en-US" b="1" i="1" dirty="0"/>
              <a:t>The Most Famous Geopolitics Theorist.</a:t>
            </a:r>
            <a:br>
              <a:rPr lang="en-US" b="1" i="1" dirty="0"/>
            </a:br>
            <a:endParaRPr lang="en-US" dirty="0"/>
          </a:p>
        </p:txBody>
      </p:sp>
      <p:sp>
        <p:nvSpPr>
          <p:cNvPr id="3" name="Content Placeholder 2">
            <a:extLst>
              <a:ext uri="{FF2B5EF4-FFF2-40B4-BE49-F238E27FC236}">
                <a16:creationId xmlns:a16="http://schemas.microsoft.com/office/drawing/2014/main" id="{1F0E839B-04D5-48DC-AAC9-E805B66BE7BB}"/>
              </a:ext>
            </a:extLst>
          </p:cNvPr>
          <p:cNvSpPr>
            <a:spLocks noGrp="1"/>
          </p:cNvSpPr>
          <p:nvPr>
            <p:ph idx="1"/>
          </p:nvPr>
        </p:nvSpPr>
        <p:spPr/>
        <p:txBody>
          <a:bodyPr/>
          <a:lstStyle/>
          <a:p>
            <a:r>
              <a:rPr lang="en-US" b="1" i="1" dirty="0"/>
              <a:t>Alfred </a:t>
            </a:r>
            <a:r>
              <a:rPr lang="en-US" b="1" i="1" dirty="0" err="1"/>
              <a:t>Thayar</a:t>
            </a:r>
            <a:r>
              <a:rPr lang="en-US" b="1" i="1" dirty="0"/>
              <a:t> Mahan - Sea Power Nation</a:t>
            </a:r>
          </a:p>
          <a:p>
            <a:r>
              <a:rPr lang="en-US" b="1" i="1" dirty="0"/>
              <a:t>Sir Halford Mackinder – Heartland Theory</a:t>
            </a:r>
          </a:p>
          <a:p>
            <a:r>
              <a:rPr lang="en-US" dirty="0"/>
              <a:t> </a:t>
            </a:r>
            <a:r>
              <a:rPr lang="en-US" b="1" i="1" dirty="0"/>
              <a:t>Nicholas </a:t>
            </a:r>
            <a:r>
              <a:rPr lang="en-US" b="1" i="1" dirty="0" err="1"/>
              <a:t>Spyman</a:t>
            </a:r>
            <a:r>
              <a:rPr lang="en-US" b="1" i="1" dirty="0"/>
              <a:t> – Rimland Theory</a:t>
            </a:r>
          </a:p>
          <a:p>
            <a:r>
              <a:rPr lang="en-US" b="1" i="1" dirty="0"/>
              <a:t>Friedrich </a:t>
            </a:r>
            <a:r>
              <a:rPr lang="en-US" b="1" i="1" dirty="0" err="1"/>
              <a:t>Ratzel</a:t>
            </a:r>
            <a:r>
              <a:rPr lang="en-US" b="1" i="1" dirty="0"/>
              <a:t> – Political Geography</a:t>
            </a:r>
          </a:p>
          <a:p>
            <a:r>
              <a:rPr lang="en-US" b="1" i="1" dirty="0"/>
              <a:t>Samuel Huntington – Clash of Civilization</a:t>
            </a:r>
            <a:endParaRPr lang="en-US" dirty="0"/>
          </a:p>
        </p:txBody>
      </p:sp>
    </p:spTree>
    <p:extLst>
      <p:ext uri="{BB962C8B-B14F-4D97-AF65-F5344CB8AC3E}">
        <p14:creationId xmlns:p14="http://schemas.microsoft.com/office/powerpoint/2010/main" val="702271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4E6AA-9E42-490C-B177-FC927EC0AFF2}"/>
              </a:ext>
            </a:extLst>
          </p:cNvPr>
          <p:cNvSpPr>
            <a:spLocks noGrp="1"/>
          </p:cNvSpPr>
          <p:nvPr>
            <p:ph type="title"/>
          </p:nvPr>
        </p:nvSpPr>
        <p:spPr/>
        <p:txBody>
          <a:bodyPr/>
          <a:lstStyle/>
          <a:p>
            <a:r>
              <a:rPr lang="en-US" dirty="0"/>
              <a:t>Concept of Geo-Strategic </a:t>
            </a:r>
          </a:p>
        </p:txBody>
      </p:sp>
      <p:sp>
        <p:nvSpPr>
          <p:cNvPr id="3" name="Content Placeholder 2">
            <a:extLst>
              <a:ext uri="{FF2B5EF4-FFF2-40B4-BE49-F238E27FC236}">
                <a16:creationId xmlns:a16="http://schemas.microsoft.com/office/drawing/2014/main" id="{B117EF60-5681-4596-8D9F-E85961DD6113}"/>
              </a:ext>
            </a:extLst>
          </p:cNvPr>
          <p:cNvSpPr>
            <a:spLocks noGrp="1"/>
          </p:cNvSpPr>
          <p:nvPr>
            <p:ph idx="1"/>
          </p:nvPr>
        </p:nvSpPr>
        <p:spPr/>
        <p:txBody>
          <a:bodyPr/>
          <a:lstStyle/>
          <a:p>
            <a:r>
              <a:rPr lang="en-US" dirty="0"/>
              <a:t>In 1904, British geographer Halford Mackinder reintroduced the concept of geopolitics to international politics via his Heartland Theory. </a:t>
            </a:r>
            <a:r>
              <a:rPr lang="en-US"/>
              <a:t>In a thesis titled “The Geographical Pivot of History,” Mackinder theorized that: In the industrial age, the natural resources of Central Asia—‘the great pivot’—are so vast that it will serve as the geostrategic instrument for the state that controls it to become ‘the empire of the world.</a:t>
            </a:r>
          </a:p>
        </p:txBody>
      </p:sp>
    </p:spTree>
    <p:extLst>
      <p:ext uri="{BB962C8B-B14F-4D97-AF65-F5344CB8AC3E}">
        <p14:creationId xmlns:p14="http://schemas.microsoft.com/office/powerpoint/2010/main" val="1959429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63918-5D90-4A27-B01B-1E7F5706072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E5E16D0-FF9E-46BE-B8A8-40D5FA57EBEC}"/>
              </a:ext>
            </a:extLst>
          </p:cNvPr>
          <p:cNvSpPr>
            <a:spLocks noGrp="1"/>
          </p:cNvSpPr>
          <p:nvPr>
            <p:ph idx="1"/>
          </p:nvPr>
        </p:nvSpPr>
        <p:spPr/>
        <p:txBody>
          <a:bodyPr/>
          <a:lstStyle/>
          <a:p>
            <a:r>
              <a:rPr lang="en-US" dirty="0"/>
              <a:t>The “Heartland Theory” is essentially geographical in its outlook, thus citing a critical geostrategic link between land control and political power, i.e. geopolitical power. Mackinder makes this connection in the presentation of his thesis, </a:t>
            </a:r>
          </a:p>
          <a:p>
            <a:r>
              <a:rPr lang="en-US" dirty="0"/>
              <a:t>“The Geographical Pivot of History,” to the 1904 Royal Geographical Society meeting: The actual balance of political power at any given time is, of course, the product, on one the one hand, of geographical conditions, both economic and strategic, and, on the other hand, of the relative number, virility, equipment, and organization of the competing peoples.</a:t>
            </a:r>
          </a:p>
        </p:txBody>
      </p:sp>
    </p:spTree>
    <p:extLst>
      <p:ext uri="{BB962C8B-B14F-4D97-AF65-F5344CB8AC3E}">
        <p14:creationId xmlns:p14="http://schemas.microsoft.com/office/powerpoint/2010/main" val="1677205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F31EC-C3B5-4B62-8F37-4DCAB23A050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8675F07-7AA2-4679-A84F-C018EB715EA0}"/>
              </a:ext>
            </a:extLst>
          </p:cNvPr>
          <p:cNvSpPr>
            <a:spLocks noGrp="1"/>
          </p:cNvSpPr>
          <p:nvPr>
            <p:ph idx="1"/>
          </p:nvPr>
        </p:nvSpPr>
        <p:spPr/>
        <p:txBody>
          <a:bodyPr>
            <a:normAutofit/>
          </a:bodyPr>
          <a:lstStyle/>
          <a:p>
            <a:r>
              <a:rPr lang="en-US" b="1" i="1" dirty="0"/>
              <a:t>Relation between Politics and Territory.</a:t>
            </a:r>
          </a:p>
          <a:p>
            <a:endParaRPr lang="en-US" b="1" i="1" dirty="0"/>
          </a:p>
          <a:p>
            <a:endParaRPr lang="en-US" b="1" i="1" dirty="0"/>
          </a:p>
          <a:p>
            <a:r>
              <a:rPr lang="en-US" b="1" i="1" dirty="0"/>
              <a:t>Comprises the art and practice of analyzing , prescribing, forecasting and the using of political power over a given territory.</a:t>
            </a:r>
          </a:p>
          <a:p>
            <a:endParaRPr lang="en-US" b="1" i="1" dirty="0"/>
          </a:p>
          <a:p>
            <a:r>
              <a:rPr lang="en-US" b="1" dirty="0"/>
              <a:t>Geopolitics </a:t>
            </a:r>
            <a:r>
              <a:rPr lang="en-US" dirty="0"/>
              <a:t>is the study of the effects of geography (both human and physical) on international politics and international relation.</a:t>
            </a:r>
          </a:p>
        </p:txBody>
      </p:sp>
    </p:spTree>
    <p:extLst>
      <p:ext uri="{BB962C8B-B14F-4D97-AF65-F5344CB8AC3E}">
        <p14:creationId xmlns:p14="http://schemas.microsoft.com/office/powerpoint/2010/main" val="3253419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5783C-0EDB-47FA-8D0B-277A133BEC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E9A5FD-327A-41E8-A379-88B9B71FBBD9}"/>
              </a:ext>
            </a:extLst>
          </p:cNvPr>
          <p:cNvSpPr>
            <a:spLocks noGrp="1"/>
          </p:cNvSpPr>
          <p:nvPr>
            <p:ph idx="1"/>
          </p:nvPr>
        </p:nvSpPr>
        <p:spPr/>
        <p:txBody>
          <a:bodyPr/>
          <a:lstStyle/>
          <a:p>
            <a:r>
              <a:rPr lang="en-US" b="1" dirty="0"/>
              <a:t>Geopolitics traditionally studies the links between political power and geographic space, and examines strategic prescriptions based on the relative importance of land power and sea power in world history.</a:t>
            </a:r>
            <a:endParaRPr lang="en-US" dirty="0"/>
          </a:p>
        </p:txBody>
      </p:sp>
    </p:spTree>
    <p:extLst>
      <p:ext uri="{BB962C8B-B14F-4D97-AF65-F5344CB8AC3E}">
        <p14:creationId xmlns:p14="http://schemas.microsoft.com/office/powerpoint/2010/main" val="1696003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AECBF-254C-4A63-8D26-C070062E30CC}"/>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DFCFCD6E-B36B-47FB-A710-1C7EE185F39D}"/>
              </a:ext>
            </a:extLst>
          </p:cNvPr>
          <p:cNvPicPr>
            <a:picLocks noGrp="1" noChangeAspect="1"/>
          </p:cNvPicPr>
          <p:nvPr>
            <p:ph idx="1"/>
          </p:nvPr>
        </p:nvPicPr>
        <p:blipFill>
          <a:blip r:embed="rId2"/>
          <a:stretch>
            <a:fillRect/>
          </a:stretch>
        </p:blipFill>
        <p:spPr>
          <a:xfrm>
            <a:off x="1020416" y="596348"/>
            <a:ext cx="10333383" cy="5580615"/>
          </a:xfrm>
          <a:prstGeom prst="rect">
            <a:avLst/>
          </a:prstGeom>
        </p:spPr>
      </p:pic>
    </p:spTree>
    <p:extLst>
      <p:ext uri="{BB962C8B-B14F-4D97-AF65-F5344CB8AC3E}">
        <p14:creationId xmlns:p14="http://schemas.microsoft.com/office/powerpoint/2010/main" val="2276789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22853-DDDA-42C4-BA8A-1D206991B4F9}"/>
              </a:ext>
            </a:extLst>
          </p:cNvPr>
          <p:cNvSpPr>
            <a:spLocks noGrp="1"/>
          </p:cNvSpPr>
          <p:nvPr>
            <p:ph type="title"/>
          </p:nvPr>
        </p:nvSpPr>
        <p:spPr/>
        <p:txBody>
          <a:bodyPr/>
          <a:lstStyle/>
          <a:p>
            <a:r>
              <a:rPr lang="en-US" b="1" dirty="0"/>
              <a:t>Typical Characteristics of Geopolitics are</a:t>
            </a:r>
          </a:p>
        </p:txBody>
      </p:sp>
      <p:sp>
        <p:nvSpPr>
          <p:cNvPr id="3" name="Content Placeholder 2">
            <a:extLst>
              <a:ext uri="{FF2B5EF4-FFF2-40B4-BE49-F238E27FC236}">
                <a16:creationId xmlns:a16="http://schemas.microsoft.com/office/drawing/2014/main" id="{D064950F-8CB1-49FB-9804-C1CF2137A131}"/>
              </a:ext>
            </a:extLst>
          </p:cNvPr>
          <p:cNvSpPr>
            <a:spLocks noGrp="1"/>
          </p:cNvSpPr>
          <p:nvPr>
            <p:ph idx="1"/>
          </p:nvPr>
        </p:nvSpPr>
        <p:spPr/>
        <p:txBody>
          <a:bodyPr>
            <a:normAutofit lnSpcReduction="10000"/>
          </a:bodyPr>
          <a:lstStyle/>
          <a:p>
            <a:pPr marL="0" indent="0">
              <a:buNone/>
            </a:pPr>
            <a:endParaRPr lang="en-US" dirty="0"/>
          </a:p>
          <a:p>
            <a:r>
              <a:rPr lang="en-US" dirty="0"/>
              <a:t>- Location, </a:t>
            </a:r>
            <a:r>
              <a:rPr lang="en-US" i="1" dirty="0"/>
              <a:t>(</a:t>
            </a:r>
            <a:r>
              <a:rPr lang="en-US" i="1" dirty="0" err="1"/>
              <a:t>Esp</a:t>
            </a:r>
            <a:r>
              <a:rPr lang="en-US" i="1" dirty="0"/>
              <a:t>; Strategic Location)</a:t>
            </a:r>
          </a:p>
          <a:p>
            <a:r>
              <a:rPr lang="en-US" dirty="0"/>
              <a:t>- Size,</a:t>
            </a:r>
          </a:p>
          <a:p>
            <a:r>
              <a:rPr lang="en-US" dirty="0"/>
              <a:t>- Climate,</a:t>
            </a:r>
          </a:p>
          <a:p>
            <a:r>
              <a:rPr lang="en-US" dirty="0"/>
              <a:t>- Topography </a:t>
            </a:r>
            <a:r>
              <a:rPr lang="en-US" i="1" dirty="0"/>
              <a:t>(Study of the surface</a:t>
            </a:r>
          </a:p>
          <a:p>
            <a:r>
              <a:rPr lang="en-US" i="1" dirty="0"/>
              <a:t>shape and feature of the Earth.)</a:t>
            </a:r>
          </a:p>
          <a:p>
            <a:r>
              <a:rPr lang="en-US" dirty="0"/>
              <a:t>- Demography </a:t>
            </a:r>
            <a:r>
              <a:rPr lang="en-US" i="1" dirty="0"/>
              <a:t>(Study of Human</a:t>
            </a:r>
          </a:p>
          <a:p>
            <a:r>
              <a:rPr lang="en-US" i="1" dirty="0"/>
              <a:t>Population) </a:t>
            </a:r>
            <a:r>
              <a:rPr lang="en-US" dirty="0"/>
              <a:t>and</a:t>
            </a:r>
          </a:p>
          <a:p>
            <a:r>
              <a:rPr lang="en-US" dirty="0"/>
              <a:t>- Natural Resources .</a:t>
            </a:r>
          </a:p>
        </p:txBody>
      </p:sp>
    </p:spTree>
    <p:extLst>
      <p:ext uri="{BB962C8B-B14F-4D97-AF65-F5344CB8AC3E}">
        <p14:creationId xmlns:p14="http://schemas.microsoft.com/office/powerpoint/2010/main" val="731826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85B74-6C87-4B74-8F3F-68F15FE21F93}"/>
              </a:ext>
            </a:extLst>
          </p:cNvPr>
          <p:cNvSpPr>
            <a:spLocks noGrp="1"/>
          </p:cNvSpPr>
          <p:nvPr>
            <p:ph type="title"/>
          </p:nvPr>
        </p:nvSpPr>
        <p:spPr/>
        <p:txBody>
          <a:bodyPr/>
          <a:lstStyle/>
          <a:p>
            <a:r>
              <a:rPr lang="en-US" b="1" dirty="0"/>
              <a:t>There is the Two Types of Boundaries.</a:t>
            </a:r>
            <a:br>
              <a:rPr lang="en-US" b="1" dirty="0"/>
            </a:br>
            <a:endParaRPr lang="en-US" dirty="0"/>
          </a:p>
        </p:txBody>
      </p:sp>
      <p:sp>
        <p:nvSpPr>
          <p:cNvPr id="3" name="Content Placeholder 2">
            <a:extLst>
              <a:ext uri="{FF2B5EF4-FFF2-40B4-BE49-F238E27FC236}">
                <a16:creationId xmlns:a16="http://schemas.microsoft.com/office/drawing/2014/main" id="{FE966A36-6722-4D62-8C34-F2E896BE1DF9}"/>
              </a:ext>
            </a:extLst>
          </p:cNvPr>
          <p:cNvSpPr>
            <a:spLocks noGrp="1"/>
          </p:cNvSpPr>
          <p:nvPr>
            <p:ph idx="1"/>
          </p:nvPr>
        </p:nvSpPr>
        <p:spPr/>
        <p:txBody>
          <a:bodyPr/>
          <a:lstStyle/>
          <a:p>
            <a:r>
              <a:rPr lang="en-US" b="1" dirty="0"/>
              <a:t>1. Natural Boundary</a:t>
            </a:r>
          </a:p>
          <a:p>
            <a:r>
              <a:rPr lang="en-US" b="1" dirty="0"/>
              <a:t>2. Artificial Boundary</a:t>
            </a:r>
            <a:endParaRPr lang="en-US" dirty="0"/>
          </a:p>
        </p:txBody>
      </p:sp>
    </p:spTree>
    <p:extLst>
      <p:ext uri="{BB962C8B-B14F-4D97-AF65-F5344CB8AC3E}">
        <p14:creationId xmlns:p14="http://schemas.microsoft.com/office/powerpoint/2010/main" val="3755075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91EC8-513E-4182-962B-EC086D36F710}"/>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106566B6-01F9-4E6F-944F-1C6625680E68}"/>
              </a:ext>
            </a:extLst>
          </p:cNvPr>
          <p:cNvPicPr>
            <a:picLocks noGrp="1" noChangeAspect="1"/>
          </p:cNvPicPr>
          <p:nvPr>
            <p:ph idx="1"/>
          </p:nvPr>
        </p:nvPicPr>
        <p:blipFill>
          <a:blip r:embed="rId2"/>
          <a:stretch>
            <a:fillRect/>
          </a:stretch>
        </p:blipFill>
        <p:spPr>
          <a:xfrm>
            <a:off x="3645048" y="2651434"/>
            <a:ext cx="4901904" cy="2699719"/>
          </a:xfrm>
          <a:prstGeom prst="rect">
            <a:avLst/>
          </a:prstGeom>
        </p:spPr>
      </p:pic>
    </p:spTree>
    <p:extLst>
      <p:ext uri="{BB962C8B-B14F-4D97-AF65-F5344CB8AC3E}">
        <p14:creationId xmlns:p14="http://schemas.microsoft.com/office/powerpoint/2010/main" val="1908111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E1E3782-5424-4FBC-899C-FA653FE54366}"/>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endParaRPr lang="en-US" sz="2600">
              <a:solidFill>
                <a:srgbClr val="FFFFFF"/>
              </a:solidFill>
            </a:endParaRPr>
          </a:p>
        </p:txBody>
      </p:sp>
      <p:pic>
        <p:nvPicPr>
          <p:cNvPr id="5" name="Content Placeholder 4">
            <a:extLst>
              <a:ext uri="{FF2B5EF4-FFF2-40B4-BE49-F238E27FC236}">
                <a16:creationId xmlns:a16="http://schemas.microsoft.com/office/drawing/2014/main" id="{C238704D-88A8-4103-A929-9BF655E36062}"/>
              </a:ext>
            </a:extLst>
          </p:cNvPr>
          <p:cNvPicPr>
            <a:picLocks noChangeAspect="1"/>
          </p:cNvPicPr>
          <p:nvPr/>
        </p:nvPicPr>
        <p:blipFill>
          <a:blip r:embed="rId2"/>
          <a:stretch>
            <a:fillRect/>
          </a:stretch>
        </p:blipFill>
        <p:spPr>
          <a:xfrm>
            <a:off x="4038600" y="1313299"/>
            <a:ext cx="6260548" cy="3091146"/>
          </a:xfrm>
          <a:prstGeom prst="rect">
            <a:avLst/>
          </a:prstGeom>
        </p:spPr>
      </p:pic>
      <p:sp>
        <p:nvSpPr>
          <p:cNvPr id="9" name="Content Placeholder 8">
            <a:extLst>
              <a:ext uri="{FF2B5EF4-FFF2-40B4-BE49-F238E27FC236}">
                <a16:creationId xmlns:a16="http://schemas.microsoft.com/office/drawing/2014/main" id="{44EA17DB-DFC2-4257-B13F-560A4101A5FE}"/>
              </a:ext>
            </a:extLst>
          </p:cNvPr>
          <p:cNvSpPr>
            <a:spLocks noGrp="1"/>
          </p:cNvSpPr>
          <p:nvPr>
            <p:ph idx="1"/>
          </p:nvPr>
        </p:nvSpPr>
        <p:spPr>
          <a:xfrm>
            <a:off x="4038600" y="4884873"/>
            <a:ext cx="7188199" cy="1292090"/>
          </a:xfrm>
        </p:spPr>
        <p:txBody>
          <a:bodyPr>
            <a:normAutofit/>
          </a:bodyPr>
          <a:lstStyle/>
          <a:p>
            <a:endParaRPr lang="en-US" sz="1800"/>
          </a:p>
        </p:txBody>
      </p:sp>
    </p:spTree>
    <p:extLst>
      <p:ext uri="{BB962C8B-B14F-4D97-AF65-F5344CB8AC3E}">
        <p14:creationId xmlns:p14="http://schemas.microsoft.com/office/powerpoint/2010/main" val="2022611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55A3E-EF40-43C7-8F29-3AACD4191596}"/>
              </a:ext>
            </a:extLst>
          </p:cNvPr>
          <p:cNvSpPr>
            <a:spLocks noGrp="1"/>
          </p:cNvSpPr>
          <p:nvPr>
            <p:ph type="title"/>
          </p:nvPr>
        </p:nvSpPr>
        <p:spPr/>
        <p:txBody>
          <a:bodyPr/>
          <a:lstStyle/>
          <a:p>
            <a:r>
              <a:rPr lang="en-US" b="1" dirty="0"/>
              <a:t>Major Region</a:t>
            </a:r>
            <a:br>
              <a:rPr lang="en-US" b="1" dirty="0"/>
            </a:br>
            <a:endParaRPr lang="en-US" dirty="0"/>
          </a:p>
        </p:txBody>
      </p:sp>
      <p:sp>
        <p:nvSpPr>
          <p:cNvPr id="3" name="Content Placeholder 2">
            <a:extLst>
              <a:ext uri="{FF2B5EF4-FFF2-40B4-BE49-F238E27FC236}">
                <a16:creationId xmlns:a16="http://schemas.microsoft.com/office/drawing/2014/main" id="{06B9EE8E-E723-4E6E-AF4A-401BAE1C6F16}"/>
              </a:ext>
            </a:extLst>
          </p:cNvPr>
          <p:cNvSpPr>
            <a:spLocks noGrp="1"/>
          </p:cNvSpPr>
          <p:nvPr>
            <p:ph idx="1"/>
          </p:nvPr>
        </p:nvSpPr>
        <p:spPr/>
        <p:txBody>
          <a:bodyPr/>
          <a:lstStyle/>
          <a:p>
            <a:r>
              <a:rPr lang="en-US" b="1" dirty="0"/>
              <a:t>North America</a:t>
            </a:r>
          </a:p>
          <a:p>
            <a:r>
              <a:rPr lang="en-US" b="1" dirty="0"/>
              <a:t>Latin America</a:t>
            </a:r>
          </a:p>
          <a:p>
            <a:r>
              <a:rPr lang="en-US" b="1" dirty="0"/>
              <a:t>Asia Pacific</a:t>
            </a:r>
          </a:p>
          <a:p>
            <a:r>
              <a:rPr lang="en-US" b="1" dirty="0"/>
              <a:t>Western, Central and Eastern</a:t>
            </a:r>
          </a:p>
          <a:p>
            <a:r>
              <a:rPr lang="en-US" b="1" dirty="0"/>
              <a:t>Europe</a:t>
            </a:r>
          </a:p>
          <a:p>
            <a:r>
              <a:rPr lang="en-US" b="1" dirty="0"/>
              <a:t>Middle East</a:t>
            </a:r>
          </a:p>
          <a:p>
            <a:r>
              <a:rPr lang="en-US" b="1" dirty="0"/>
              <a:t>Africa</a:t>
            </a:r>
            <a:endParaRPr lang="en-US" dirty="0"/>
          </a:p>
        </p:txBody>
      </p:sp>
    </p:spTree>
    <p:extLst>
      <p:ext uri="{BB962C8B-B14F-4D97-AF65-F5344CB8AC3E}">
        <p14:creationId xmlns:p14="http://schemas.microsoft.com/office/powerpoint/2010/main" val="1823440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1B0EB-6AC3-4270-8952-342CB58A796D}"/>
              </a:ext>
            </a:extLst>
          </p:cNvPr>
          <p:cNvSpPr>
            <a:spLocks noGrp="1"/>
          </p:cNvSpPr>
          <p:nvPr>
            <p:ph type="title"/>
          </p:nvPr>
        </p:nvSpPr>
        <p:spPr/>
        <p:txBody>
          <a:bodyPr>
            <a:normAutofit/>
          </a:bodyPr>
          <a:lstStyle/>
          <a:p>
            <a:r>
              <a:rPr lang="en-US" b="1" dirty="0"/>
              <a:t>Determination of International Boundaries.</a:t>
            </a:r>
            <a:br>
              <a:rPr lang="en-US" b="1" dirty="0"/>
            </a:br>
            <a:endParaRPr lang="en-US" dirty="0"/>
          </a:p>
        </p:txBody>
      </p:sp>
      <p:sp>
        <p:nvSpPr>
          <p:cNvPr id="3" name="Content Placeholder 2">
            <a:extLst>
              <a:ext uri="{FF2B5EF4-FFF2-40B4-BE49-F238E27FC236}">
                <a16:creationId xmlns:a16="http://schemas.microsoft.com/office/drawing/2014/main" id="{2661C004-FA17-46A1-939E-567A06F8FCCF}"/>
              </a:ext>
            </a:extLst>
          </p:cNvPr>
          <p:cNvSpPr>
            <a:spLocks noGrp="1"/>
          </p:cNvSpPr>
          <p:nvPr>
            <p:ph idx="1"/>
          </p:nvPr>
        </p:nvSpPr>
        <p:spPr/>
        <p:txBody>
          <a:bodyPr/>
          <a:lstStyle/>
          <a:p>
            <a:pPr marL="0" indent="0" algn="ctr">
              <a:buNone/>
            </a:pPr>
            <a:r>
              <a:rPr lang="en-US" b="1" dirty="0"/>
              <a:t>3 Stages of Boundary Determination.</a:t>
            </a:r>
          </a:p>
          <a:p>
            <a:pPr marL="0" indent="0" algn="ctr">
              <a:buNone/>
            </a:pPr>
            <a:endParaRPr lang="en-US" b="1" dirty="0"/>
          </a:p>
          <a:p>
            <a:r>
              <a:rPr lang="en-US" b="1" dirty="0"/>
              <a:t>1. Definition of the Boundary</a:t>
            </a:r>
          </a:p>
          <a:p>
            <a:r>
              <a:rPr lang="en-US" b="1" dirty="0"/>
              <a:t>2. Delimitation of the Boundary and</a:t>
            </a:r>
          </a:p>
          <a:p>
            <a:r>
              <a:rPr lang="en-US" b="1" dirty="0"/>
              <a:t>3. Demarcation of the Boundary.</a:t>
            </a:r>
            <a:endParaRPr lang="en-US" dirty="0"/>
          </a:p>
        </p:txBody>
      </p:sp>
    </p:spTree>
    <p:extLst>
      <p:ext uri="{BB962C8B-B14F-4D97-AF65-F5344CB8AC3E}">
        <p14:creationId xmlns:p14="http://schemas.microsoft.com/office/powerpoint/2010/main" val="3182917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11348-400C-4F81-BDA2-15FDB666EBD2}"/>
              </a:ext>
            </a:extLst>
          </p:cNvPr>
          <p:cNvSpPr>
            <a:spLocks noGrp="1"/>
          </p:cNvSpPr>
          <p:nvPr>
            <p:ph type="title"/>
          </p:nvPr>
        </p:nvSpPr>
        <p:spPr/>
        <p:txBody>
          <a:bodyPr/>
          <a:lstStyle/>
          <a:p>
            <a:r>
              <a:rPr lang="en-US" b="1" dirty="0"/>
              <a:t>Three Concepts of Power</a:t>
            </a:r>
            <a:br>
              <a:rPr lang="en-US" b="1" dirty="0"/>
            </a:br>
            <a:endParaRPr lang="en-US" dirty="0"/>
          </a:p>
        </p:txBody>
      </p:sp>
      <p:sp>
        <p:nvSpPr>
          <p:cNvPr id="3" name="Content Placeholder 2">
            <a:extLst>
              <a:ext uri="{FF2B5EF4-FFF2-40B4-BE49-F238E27FC236}">
                <a16:creationId xmlns:a16="http://schemas.microsoft.com/office/drawing/2014/main" id="{E900E918-C1F2-47BA-9550-6EE482E70E3C}"/>
              </a:ext>
            </a:extLst>
          </p:cNvPr>
          <p:cNvSpPr>
            <a:spLocks noGrp="1"/>
          </p:cNvSpPr>
          <p:nvPr>
            <p:ph idx="1"/>
          </p:nvPr>
        </p:nvSpPr>
        <p:spPr/>
        <p:txBody>
          <a:bodyPr/>
          <a:lstStyle/>
          <a:p>
            <a:r>
              <a:rPr lang="en-US" b="1" dirty="0"/>
              <a:t>1. Land Power</a:t>
            </a:r>
          </a:p>
          <a:p>
            <a:r>
              <a:rPr lang="en-US" b="1" dirty="0"/>
              <a:t>2. Sea Power</a:t>
            </a:r>
          </a:p>
          <a:p>
            <a:r>
              <a:rPr lang="en-US" b="1" dirty="0"/>
              <a:t>3. Air Power</a:t>
            </a:r>
            <a:endParaRPr lang="en-US" dirty="0"/>
          </a:p>
        </p:txBody>
      </p:sp>
    </p:spTree>
    <p:extLst>
      <p:ext uri="{BB962C8B-B14F-4D97-AF65-F5344CB8AC3E}">
        <p14:creationId xmlns:p14="http://schemas.microsoft.com/office/powerpoint/2010/main" val="179312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1609F-0AB4-4C99-8B91-0AA45F1B6B2D}"/>
              </a:ext>
            </a:extLst>
          </p:cNvPr>
          <p:cNvSpPr>
            <a:spLocks noGrp="1"/>
          </p:cNvSpPr>
          <p:nvPr>
            <p:ph type="title"/>
          </p:nvPr>
        </p:nvSpPr>
        <p:spPr/>
        <p:txBody>
          <a:bodyPr/>
          <a:lstStyle/>
          <a:p>
            <a:r>
              <a:rPr lang="en-US" dirty="0"/>
              <a:t>Elements of national power</a:t>
            </a:r>
          </a:p>
        </p:txBody>
      </p:sp>
      <p:sp>
        <p:nvSpPr>
          <p:cNvPr id="3" name="Content Placeholder 2">
            <a:extLst>
              <a:ext uri="{FF2B5EF4-FFF2-40B4-BE49-F238E27FC236}">
                <a16:creationId xmlns:a16="http://schemas.microsoft.com/office/drawing/2014/main" id="{2A8F8828-59B8-436F-8E0F-0F34713F5830}"/>
              </a:ext>
            </a:extLst>
          </p:cNvPr>
          <p:cNvSpPr>
            <a:spLocks noGrp="1"/>
          </p:cNvSpPr>
          <p:nvPr>
            <p:ph idx="1"/>
          </p:nvPr>
        </p:nvSpPr>
        <p:spPr/>
        <p:txBody>
          <a:bodyPr>
            <a:normAutofit fontScale="62500" lnSpcReduction="20000"/>
          </a:bodyPr>
          <a:lstStyle/>
          <a:p>
            <a:pPr fontAlgn="base"/>
            <a:r>
              <a:rPr lang="en-US" dirty="0"/>
              <a:t>1. Geography</a:t>
            </a:r>
          </a:p>
          <a:p>
            <a:pPr fontAlgn="base"/>
            <a:r>
              <a:rPr lang="en-US" dirty="0"/>
              <a:t>2. Natural Resources</a:t>
            </a:r>
          </a:p>
          <a:p>
            <a:pPr fontAlgn="base"/>
            <a:r>
              <a:rPr lang="en-US" dirty="0"/>
              <a:t>(a) Raw Materials</a:t>
            </a:r>
          </a:p>
          <a:p>
            <a:pPr fontAlgn="base"/>
            <a:r>
              <a:rPr lang="en-US" dirty="0"/>
              <a:t>b) Food</a:t>
            </a:r>
          </a:p>
          <a:p>
            <a:pPr fontAlgn="base"/>
            <a:r>
              <a:rPr lang="en-US" dirty="0"/>
              <a:t>3. Population</a:t>
            </a:r>
          </a:p>
          <a:p>
            <a:pPr fontAlgn="base"/>
            <a:r>
              <a:rPr lang="en-US" dirty="0"/>
              <a:t>4. Economic Development and Industrial Capacity</a:t>
            </a:r>
          </a:p>
          <a:p>
            <a:pPr fontAlgn="base"/>
            <a:r>
              <a:rPr lang="en-US" dirty="0"/>
              <a:t>5. Technology</a:t>
            </a:r>
          </a:p>
          <a:p>
            <a:pPr fontAlgn="base"/>
            <a:r>
              <a:rPr lang="en-US" dirty="0"/>
              <a:t>6. Military Preparedness</a:t>
            </a:r>
          </a:p>
          <a:p>
            <a:pPr fontAlgn="base"/>
            <a:r>
              <a:rPr lang="en-US" dirty="0"/>
              <a:t>7. Ideology</a:t>
            </a:r>
          </a:p>
          <a:p>
            <a:pPr fontAlgn="base"/>
            <a:r>
              <a:rPr lang="en-US" dirty="0"/>
              <a:t>8. Leadership</a:t>
            </a:r>
          </a:p>
          <a:p>
            <a:pPr fontAlgn="base"/>
            <a:r>
              <a:rPr lang="en-US" dirty="0"/>
              <a:t>9. </a:t>
            </a:r>
            <a:r>
              <a:rPr lang="en-US" dirty="0" err="1"/>
              <a:t>Organisation</a:t>
            </a:r>
            <a:r>
              <a:rPr lang="en-US" dirty="0"/>
              <a:t> and Quality of Government</a:t>
            </a:r>
          </a:p>
          <a:p>
            <a:pPr fontAlgn="base"/>
            <a:r>
              <a:rPr lang="en-US" dirty="0"/>
              <a:t>10. National Character and Morale</a:t>
            </a:r>
          </a:p>
          <a:p>
            <a:pPr fontAlgn="base"/>
            <a:r>
              <a:rPr lang="en-US" dirty="0"/>
              <a:t>11. </a:t>
            </a:r>
            <a:r>
              <a:rPr lang="en-US"/>
              <a:t>Diplomacy</a:t>
            </a:r>
          </a:p>
          <a:p>
            <a:pPr fontAlgn="base"/>
            <a:endParaRPr lang="en-US" dirty="0"/>
          </a:p>
          <a:p>
            <a:endParaRPr lang="en-US" dirty="0"/>
          </a:p>
        </p:txBody>
      </p:sp>
    </p:spTree>
    <p:extLst>
      <p:ext uri="{BB962C8B-B14F-4D97-AF65-F5344CB8AC3E}">
        <p14:creationId xmlns:p14="http://schemas.microsoft.com/office/powerpoint/2010/main" val="983020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35348-A2CE-472F-A0CB-67909C07BDD4}"/>
              </a:ext>
            </a:extLst>
          </p:cNvPr>
          <p:cNvSpPr>
            <a:spLocks noGrp="1"/>
          </p:cNvSpPr>
          <p:nvPr>
            <p:ph type="title"/>
          </p:nvPr>
        </p:nvSpPr>
        <p:spPr/>
        <p:txBody>
          <a:bodyPr/>
          <a:lstStyle/>
          <a:p>
            <a:r>
              <a:rPr lang="en-US" dirty="0"/>
              <a:t>Surrounding of Pakistan</a:t>
            </a:r>
          </a:p>
        </p:txBody>
      </p:sp>
      <p:sp>
        <p:nvSpPr>
          <p:cNvPr id="3" name="Content Placeholder 2">
            <a:extLst>
              <a:ext uri="{FF2B5EF4-FFF2-40B4-BE49-F238E27FC236}">
                <a16:creationId xmlns:a16="http://schemas.microsoft.com/office/drawing/2014/main" id="{C83A0379-8EC8-4EFF-A8D0-EDAD215E07AF}"/>
              </a:ext>
            </a:extLst>
          </p:cNvPr>
          <p:cNvSpPr>
            <a:spLocks noGrp="1"/>
          </p:cNvSpPr>
          <p:nvPr>
            <p:ph idx="1"/>
          </p:nvPr>
        </p:nvSpPr>
        <p:spPr/>
        <p:txBody>
          <a:bodyPr/>
          <a:lstStyle/>
          <a:p>
            <a:r>
              <a:rPr lang="en-US" dirty="0"/>
              <a:t>Towards north apart from the state of Kashmir is China. It shares 400 km long boarder with china. </a:t>
            </a:r>
          </a:p>
          <a:p>
            <a:r>
              <a:rPr lang="en-US" dirty="0"/>
              <a:t>Towards north Tajikistan though no boarder but a narrow strip as </a:t>
            </a:r>
            <a:r>
              <a:rPr lang="en-US" dirty="0" err="1"/>
              <a:t>Wahkhan</a:t>
            </a:r>
            <a:r>
              <a:rPr lang="en-US" dirty="0"/>
              <a:t> strip separate the two.</a:t>
            </a:r>
          </a:p>
          <a:p>
            <a:r>
              <a:rPr lang="en-US" dirty="0"/>
              <a:t> Towards east, Punjab-Rajasthan boarders which is 1650 km long</a:t>
            </a:r>
          </a:p>
          <a:p>
            <a:r>
              <a:rPr lang="en-US" dirty="0"/>
              <a:t> Towards west, Afghanistan and Durand line of 2250 km. </a:t>
            </a:r>
          </a:p>
          <a:p>
            <a:r>
              <a:rPr lang="en-US" dirty="0"/>
              <a:t>Towards south, Arabian and Indian sea. Coastal belt is about 700 km.</a:t>
            </a:r>
          </a:p>
        </p:txBody>
      </p:sp>
    </p:spTree>
    <p:extLst>
      <p:ext uri="{BB962C8B-B14F-4D97-AF65-F5344CB8AC3E}">
        <p14:creationId xmlns:p14="http://schemas.microsoft.com/office/powerpoint/2010/main" val="3553742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102E7-61C4-4734-9D4D-AFEFD10BDD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D0373D-CBA3-498A-A871-A9B39B9596FA}"/>
              </a:ext>
            </a:extLst>
          </p:cNvPr>
          <p:cNvSpPr>
            <a:spLocks noGrp="1"/>
          </p:cNvSpPr>
          <p:nvPr>
            <p:ph idx="1"/>
          </p:nvPr>
        </p:nvSpPr>
        <p:spPr/>
        <p:txBody>
          <a:bodyPr/>
          <a:lstStyle/>
          <a:p>
            <a:r>
              <a:rPr lang="en-US" dirty="0"/>
              <a:t>Natural Resources Of Pakistan : Pakistan has the best natural resources of the world. Lack of technology fragile infrastructure and limited financial resources are the main hurdles in the way to explore and utilize these resources.</a:t>
            </a:r>
          </a:p>
        </p:txBody>
      </p:sp>
    </p:spTree>
    <p:extLst>
      <p:ext uri="{BB962C8B-B14F-4D97-AF65-F5344CB8AC3E}">
        <p14:creationId xmlns:p14="http://schemas.microsoft.com/office/powerpoint/2010/main" val="2823657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99BE0-1090-46D7-9483-643253466AD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CBF9802-BE7C-426A-928D-F52645018BE1}"/>
              </a:ext>
            </a:extLst>
          </p:cNvPr>
          <p:cNvSpPr>
            <a:spLocks noGrp="1"/>
          </p:cNvSpPr>
          <p:nvPr>
            <p:ph idx="1"/>
          </p:nvPr>
        </p:nvSpPr>
        <p:spPr/>
        <p:txBody>
          <a:bodyPr/>
          <a:lstStyle/>
          <a:p>
            <a:r>
              <a:rPr lang="en-US" dirty="0"/>
              <a:t>By Napoleon: “The foreign policy of a country is determined by its geography’’</a:t>
            </a:r>
          </a:p>
        </p:txBody>
      </p:sp>
    </p:spTree>
    <p:extLst>
      <p:ext uri="{BB962C8B-B14F-4D97-AF65-F5344CB8AC3E}">
        <p14:creationId xmlns:p14="http://schemas.microsoft.com/office/powerpoint/2010/main" val="4582403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9E1A3-DF9C-4A28-B983-CAC04CADE338}"/>
              </a:ext>
            </a:extLst>
          </p:cNvPr>
          <p:cNvSpPr>
            <a:spLocks noGrp="1"/>
          </p:cNvSpPr>
          <p:nvPr>
            <p:ph type="title"/>
          </p:nvPr>
        </p:nvSpPr>
        <p:spPr/>
        <p:txBody>
          <a:bodyPr/>
          <a:lstStyle/>
          <a:p>
            <a:r>
              <a:rPr lang="en-US" dirty="0"/>
              <a:t>Geographical Importance Of Pakistan:</a:t>
            </a:r>
          </a:p>
        </p:txBody>
      </p:sp>
      <p:sp>
        <p:nvSpPr>
          <p:cNvPr id="3" name="Content Placeholder 2">
            <a:extLst>
              <a:ext uri="{FF2B5EF4-FFF2-40B4-BE49-F238E27FC236}">
                <a16:creationId xmlns:a16="http://schemas.microsoft.com/office/drawing/2014/main" id="{37003DF1-6194-4C85-99F2-B36C71D02541}"/>
              </a:ext>
            </a:extLst>
          </p:cNvPr>
          <p:cNvSpPr>
            <a:spLocks noGrp="1"/>
          </p:cNvSpPr>
          <p:nvPr>
            <p:ph idx="1"/>
          </p:nvPr>
        </p:nvSpPr>
        <p:spPr/>
        <p:txBody>
          <a:bodyPr/>
          <a:lstStyle/>
          <a:p>
            <a:r>
              <a:rPr lang="en-US" dirty="0"/>
              <a:t>Location is perhaps more important than size. Location tends to make a state a </a:t>
            </a:r>
            <a:r>
              <a:rPr lang="en-US" dirty="0" err="1"/>
              <a:t>landpower</a:t>
            </a:r>
            <a:r>
              <a:rPr lang="en-US" dirty="0"/>
              <a:t> or a sea power. Pakistan has two of the largest countries of the world as its </a:t>
            </a:r>
            <a:r>
              <a:rPr lang="en-US" dirty="0" err="1"/>
              <a:t>neighbours</a:t>
            </a:r>
            <a:r>
              <a:rPr lang="en-US" dirty="0"/>
              <a:t>, china with a population of over one billion and India with nearly a billion.</a:t>
            </a:r>
          </a:p>
        </p:txBody>
      </p:sp>
    </p:spTree>
    <p:extLst>
      <p:ext uri="{BB962C8B-B14F-4D97-AF65-F5344CB8AC3E}">
        <p14:creationId xmlns:p14="http://schemas.microsoft.com/office/powerpoint/2010/main" val="4102359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7B719-9247-464D-AC60-C9F76F7F50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D88B4E-32CD-4FB3-883D-CD93D7D10208}"/>
              </a:ext>
            </a:extLst>
          </p:cNvPr>
          <p:cNvSpPr>
            <a:spLocks noGrp="1"/>
          </p:cNvSpPr>
          <p:nvPr>
            <p:ph idx="1"/>
          </p:nvPr>
        </p:nvSpPr>
        <p:spPr/>
        <p:txBody>
          <a:bodyPr/>
          <a:lstStyle/>
          <a:p>
            <a:pPr marL="0" indent="0">
              <a:buNone/>
            </a:pPr>
            <a:r>
              <a:rPr lang="en-US" dirty="0"/>
              <a:t>Pakistan’s geo-strategic importance can be best understood in the regional and global perspective. In geographical terms, it is surrounded by four countries. In one way or the other, the presence of Pakistan is vital for all neighboring countries and this raises its international importance.</a:t>
            </a:r>
          </a:p>
        </p:txBody>
      </p:sp>
    </p:spTree>
    <p:extLst>
      <p:ext uri="{BB962C8B-B14F-4D97-AF65-F5344CB8AC3E}">
        <p14:creationId xmlns:p14="http://schemas.microsoft.com/office/powerpoint/2010/main" val="1224836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23AE4-3267-4984-AE0A-22F89F09742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4C82A78-FC50-4F48-9B56-A285C37C77C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459189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1441</TotalTime>
  <Words>741</Words>
  <Application>Microsoft Office PowerPoint</Application>
  <PresentationFormat>Widescreen</PresentationFormat>
  <Paragraphs>74</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Geo-Strategic Location of Pakistan</vt:lpstr>
      <vt:lpstr>The Most Famous Geopolitics Theorist. </vt:lpstr>
      <vt:lpstr>Concept of Geo-Strategic </vt:lpstr>
      <vt:lpstr>PowerPoint Presentation</vt:lpstr>
      <vt:lpstr>PowerPoint Presentation</vt:lpstr>
      <vt:lpstr>PowerPoint Presentation</vt:lpstr>
      <vt:lpstr>PowerPoint Presentation</vt:lpstr>
      <vt:lpstr>Typical Characteristics of Geopolitics are</vt:lpstr>
      <vt:lpstr>There is the Two Types of Boundaries. </vt:lpstr>
      <vt:lpstr>PowerPoint Presentation</vt:lpstr>
      <vt:lpstr>PowerPoint Presentation</vt:lpstr>
      <vt:lpstr>Major Region </vt:lpstr>
      <vt:lpstr>Determination of International Boundaries. </vt:lpstr>
      <vt:lpstr>Three Concepts of Power </vt:lpstr>
      <vt:lpstr>Elements of national power</vt:lpstr>
      <vt:lpstr>Surrounding of Pakistan</vt:lpstr>
      <vt:lpstr>PowerPoint Presentation</vt:lpstr>
      <vt:lpstr>PowerPoint Presentation</vt:lpstr>
      <vt:lpstr>Geographical Importance Of Pakistan: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Geo-Strategic Location of Pakistan</dc:title>
  <dc:creator>tahir sial</dc:creator>
  <cp:lastModifiedBy>tahir sial</cp:lastModifiedBy>
  <cp:revision>14</cp:revision>
  <dcterms:created xsi:type="dcterms:W3CDTF">2020-04-30T05:30:35Z</dcterms:created>
  <dcterms:modified xsi:type="dcterms:W3CDTF">2021-01-28T11:36:58Z</dcterms:modified>
</cp:coreProperties>
</file>