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C9E7-B679-4E36-8205-4D02AC31BF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75F116-5520-4688-8B05-5E66963306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33A9B5-C37C-408B-BE02-D4D5651CFA41}"/>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5" name="Footer Placeholder 4">
            <a:extLst>
              <a:ext uri="{FF2B5EF4-FFF2-40B4-BE49-F238E27FC236}">
                <a16:creationId xmlns:a16="http://schemas.microsoft.com/office/drawing/2014/main" id="{E4F95950-7191-4F48-930C-18B631E43B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21422-369A-4D19-8EE2-9F66B3B40DD5}"/>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3888758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4A06F-AB3E-4C52-A4FC-92D1611A71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B5B066-CDC5-4338-9499-348956F587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FCF8D-B7D8-40AE-A81E-4C2976F12279}"/>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5" name="Footer Placeholder 4">
            <a:extLst>
              <a:ext uri="{FF2B5EF4-FFF2-40B4-BE49-F238E27FC236}">
                <a16:creationId xmlns:a16="http://schemas.microsoft.com/office/drawing/2014/main" id="{1F4ED8F0-DB5E-4C5F-AC65-45D4A3AE5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F4224A-9D7C-4424-8764-93BABA7A51A0}"/>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3197412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F51BA-461A-4EEB-B59C-1999666C22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F47365-BFC5-4154-96F2-58C1F810D3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19C211-8979-4714-B487-400CEFBA9CD5}"/>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5" name="Footer Placeholder 4">
            <a:extLst>
              <a:ext uri="{FF2B5EF4-FFF2-40B4-BE49-F238E27FC236}">
                <a16:creationId xmlns:a16="http://schemas.microsoft.com/office/drawing/2014/main" id="{34CEFEEC-01E0-4EB2-AD1D-9ED60B8599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FFA06A-AA88-44B1-B07C-ECA4118507B6}"/>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1968565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002B2-1810-489D-AD28-6E303D3B2A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C0B14C-748D-4EC3-9175-D583E2CD44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22C59A-5F4F-41C0-A27C-D1BC98B28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44BADE-5C60-43B0-A285-0F7E00262044}"/>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6" name="Footer Placeholder 5">
            <a:extLst>
              <a:ext uri="{FF2B5EF4-FFF2-40B4-BE49-F238E27FC236}">
                <a16:creationId xmlns:a16="http://schemas.microsoft.com/office/drawing/2014/main" id="{A5812803-5CAD-46A6-BB8F-211614E686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93C8B0-E4ED-4B16-BCA7-1E7E1CA0BA6D}"/>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2018596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26875-73C1-4C93-935C-11F138ACC7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35DEB5-E96B-43B8-A40A-697CA0F8A9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8048DB-9AF4-4281-913A-1393D109F9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D1D5C3-E212-466F-8D14-6E0B635290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D31105-EA95-41C4-AC5B-5361AD60C2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A58C6D-051B-4019-A752-0A36A61987E2}"/>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8" name="Footer Placeholder 7">
            <a:extLst>
              <a:ext uri="{FF2B5EF4-FFF2-40B4-BE49-F238E27FC236}">
                <a16:creationId xmlns:a16="http://schemas.microsoft.com/office/drawing/2014/main" id="{AB1E5B71-6713-4332-82BB-2E3B4F5B42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D9C034-9E95-4741-80DE-61828965AC25}"/>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1813990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8F03-8B6D-4AAA-8086-602968D929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AD11CD-CA76-4947-85E0-4262CF9DD2F7}"/>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4" name="Footer Placeholder 3">
            <a:extLst>
              <a:ext uri="{FF2B5EF4-FFF2-40B4-BE49-F238E27FC236}">
                <a16:creationId xmlns:a16="http://schemas.microsoft.com/office/drawing/2014/main" id="{C21A2EE7-FF36-44A4-AEFC-6E09151E7C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772DB3-F1FE-41B7-B1BB-546BF26B84B5}"/>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4090731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DB7DCD-24F3-4941-AA5E-34D955A50A92}"/>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3" name="Footer Placeholder 2">
            <a:extLst>
              <a:ext uri="{FF2B5EF4-FFF2-40B4-BE49-F238E27FC236}">
                <a16:creationId xmlns:a16="http://schemas.microsoft.com/office/drawing/2014/main" id="{6CACECEA-5A55-4C26-AA3E-A65802D28C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BB74B3-4F53-444F-B4E7-8A7AB7225F06}"/>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784900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C6232-3F11-443B-92BE-A73CDAC970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1C40E3-6615-4650-BE21-871A28ED45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5BEBAA-8E17-4DF1-96AA-2EF31BCD90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596FCC-0791-4277-A847-C85007988CD1}"/>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6" name="Footer Placeholder 5">
            <a:extLst>
              <a:ext uri="{FF2B5EF4-FFF2-40B4-BE49-F238E27FC236}">
                <a16:creationId xmlns:a16="http://schemas.microsoft.com/office/drawing/2014/main" id="{FFC7D05E-C823-4ABA-86A2-FF4FB8EE35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08AA5D-64CB-436C-83A0-6DA38C98532D}"/>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1092343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EA75F-0EC8-4173-BC54-3C8D353B7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FB33AD-C789-4F47-B64D-BEE1F7721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D55122-5921-4FEE-9608-26338DB933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839C3C-6465-4003-9708-609A42E391B1}"/>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6" name="Footer Placeholder 5">
            <a:extLst>
              <a:ext uri="{FF2B5EF4-FFF2-40B4-BE49-F238E27FC236}">
                <a16:creationId xmlns:a16="http://schemas.microsoft.com/office/drawing/2014/main" id="{3AE2B58C-63E6-4EC3-BE31-AA032DDC34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E28E23-5BCF-448C-AF05-B4D09311BA93}"/>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2024969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1098D-DE94-4C59-8CBD-1CF7900BAC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C89016-DE3A-4F22-AB7B-FC68775439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85957-AFED-4DD4-8248-7DD01E44E418}"/>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5" name="Footer Placeholder 4">
            <a:extLst>
              <a:ext uri="{FF2B5EF4-FFF2-40B4-BE49-F238E27FC236}">
                <a16:creationId xmlns:a16="http://schemas.microsoft.com/office/drawing/2014/main" id="{7E44E0D7-2B54-4D60-8F29-98145957C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D7067A-9979-4279-8071-D27E5450A55D}"/>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46787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309359-FD8A-4A22-9FD3-A7473510A3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00903B-A4DB-4061-ABAA-77A56D96D2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619BD2-D3FF-4F8A-8E43-9C186BA62786}"/>
              </a:ext>
            </a:extLst>
          </p:cNvPr>
          <p:cNvSpPr>
            <a:spLocks noGrp="1"/>
          </p:cNvSpPr>
          <p:nvPr>
            <p:ph type="dt" sz="half" idx="10"/>
          </p:nvPr>
        </p:nvSpPr>
        <p:spPr/>
        <p:txBody>
          <a:bodyPr/>
          <a:lstStyle/>
          <a:p>
            <a:fld id="{33A4AFF4-38B3-46A1-9ABD-A71B238B37EB}" type="datetimeFigureOut">
              <a:rPr lang="en-US" smtClean="0"/>
              <a:t>3/9/2021</a:t>
            </a:fld>
            <a:endParaRPr lang="en-US"/>
          </a:p>
        </p:txBody>
      </p:sp>
      <p:sp>
        <p:nvSpPr>
          <p:cNvPr id="5" name="Footer Placeholder 4">
            <a:extLst>
              <a:ext uri="{FF2B5EF4-FFF2-40B4-BE49-F238E27FC236}">
                <a16:creationId xmlns:a16="http://schemas.microsoft.com/office/drawing/2014/main" id="{4685FF93-F252-4566-B2D6-E55D5CA2C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1E724-E2C7-4533-9754-89A0BC91AE0E}"/>
              </a:ext>
            </a:extLst>
          </p:cNvPr>
          <p:cNvSpPr>
            <a:spLocks noGrp="1"/>
          </p:cNvSpPr>
          <p:nvPr>
            <p:ph type="sldNum" sz="quarter" idx="12"/>
          </p:nvPr>
        </p:nvSpPr>
        <p:spPr/>
        <p:txBody>
          <a:bodyPr/>
          <a:lstStyle/>
          <a:p>
            <a:fld id="{C64CB9F4-E24F-40C1-8F0B-E9408B22CD0F}" type="slidenum">
              <a:rPr lang="en-US" smtClean="0"/>
              <a:t>‹#›</a:t>
            </a:fld>
            <a:endParaRPr lang="en-US"/>
          </a:p>
        </p:txBody>
      </p:sp>
    </p:spTree>
    <p:extLst>
      <p:ext uri="{BB962C8B-B14F-4D97-AF65-F5344CB8AC3E}">
        <p14:creationId xmlns:p14="http://schemas.microsoft.com/office/powerpoint/2010/main" val="4270170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257C39-7F68-4DB5-8BBE-ABF8C6325A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EDCDC1-0621-4A3D-8140-32C39302C1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CE1055-C778-4326-BE52-DC9AC717E1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A4AFF4-38B3-46A1-9ABD-A71B238B37EB}" type="datetimeFigureOut">
              <a:rPr lang="en-US" smtClean="0"/>
              <a:t>3/9/2021</a:t>
            </a:fld>
            <a:endParaRPr lang="en-US"/>
          </a:p>
        </p:txBody>
      </p:sp>
      <p:sp>
        <p:nvSpPr>
          <p:cNvPr id="5" name="Footer Placeholder 4">
            <a:extLst>
              <a:ext uri="{FF2B5EF4-FFF2-40B4-BE49-F238E27FC236}">
                <a16:creationId xmlns:a16="http://schemas.microsoft.com/office/drawing/2014/main" id="{E545757E-43EF-4CC4-AE9A-027E2967B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9A05E10-1FD9-4AE7-BBD9-5087F2986B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4CB9F4-E24F-40C1-8F0B-E9408B22CD0F}" type="slidenum">
              <a:rPr lang="en-US" smtClean="0"/>
              <a:t>‹#›</a:t>
            </a:fld>
            <a:endParaRPr lang="en-US"/>
          </a:p>
        </p:txBody>
      </p:sp>
    </p:spTree>
    <p:extLst>
      <p:ext uri="{BB962C8B-B14F-4D97-AF65-F5344CB8AC3E}">
        <p14:creationId xmlns:p14="http://schemas.microsoft.com/office/powerpoint/2010/main" val="3413311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41539-E9D0-4DF3-B1BA-369ECE133E41}"/>
              </a:ext>
            </a:extLst>
          </p:cNvPr>
          <p:cNvSpPr>
            <a:spLocks noGrp="1"/>
          </p:cNvSpPr>
          <p:nvPr>
            <p:ph type="ctrTitle"/>
          </p:nvPr>
        </p:nvSpPr>
        <p:spPr/>
        <p:txBody>
          <a:bodyPr/>
          <a:lstStyle/>
          <a:p>
            <a:r>
              <a:rPr lang="en-US" dirty="0"/>
              <a:t>Hard Power and Soft Power</a:t>
            </a:r>
          </a:p>
        </p:txBody>
      </p:sp>
      <p:sp>
        <p:nvSpPr>
          <p:cNvPr id="3" name="Subtitle 2">
            <a:extLst>
              <a:ext uri="{FF2B5EF4-FFF2-40B4-BE49-F238E27FC236}">
                <a16:creationId xmlns:a16="http://schemas.microsoft.com/office/drawing/2014/main" id="{F6E5F5D9-24E2-4464-A3F9-3FF75A25565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267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7A892-FD99-4C7E-8C40-6F244F333E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FCEBFC-4529-4727-B7BD-E35537EB77C9}"/>
              </a:ext>
            </a:extLst>
          </p:cNvPr>
          <p:cNvSpPr>
            <a:spLocks noGrp="1"/>
          </p:cNvSpPr>
          <p:nvPr>
            <p:ph idx="1"/>
          </p:nvPr>
        </p:nvSpPr>
        <p:spPr/>
        <p:txBody>
          <a:bodyPr/>
          <a:lstStyle/>
          <a:p>
            <a:r>
              <a:rPr lang="en-US" dirty="0"/>
              <a:t>The idea to distinguish between hard power and soft power was first introduced by Nye more than two decades ago (1990). In general, he defines power as the “ability to affect others to get the outcomes one wants” (2009, p. 61) and command or hard power as coercive power wielded through inducements or threats (2009, p. 63). </a:t>
            </a:r>
          </a:p>
        </p:txBody>
      </p:sp>
    </p:spTree>
    <p:extLst>
      <p:ext uri="{BB962C8B-B14F-4D97-AF65-F5344CB8AC3E}">
        <p14:creationId xmlns:p14="http://schemas.microsoft.com/office/powerpoint/2010/main" val="3295100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0E0A-457F-435C-8A67-0634DFEC21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2D9040-B041-4872-BDE5-FB85240DD2D0}"/>
              </a:ext>
            </a:extLst>
          </p:cNvPr>
          <p:cNvSpPr>
            <a:spLocks noGrp="1"/>
          </p:cNvSpPr>
          <p:nvPr>
            <p:ph idx="1"/>
          </p:nvPr>
        </p:nvSpPr>
        <p:spPr/>
        <p:txBody>
          <a:bodyPr/>
          <a:lstStyle/>
          <a:p>
            <a:r>
              <a:rPr lang="en-US" dirty="0"/>
              <a:t>Hard power is based on military intervention, coercive diplomacy and economic sanctions (Wilson, 2008, p. 114) and relies on tangible power resources such as armed forces or economic means (</a:t>
            </a:r>
            <a:r>
              <a:rPr lang="en-US" dirty="0" err="1"/>
              <a:t>Gallarotti</a:t>
            </a:r>
            <a:r>
              <a:rPr lang="en-US" dirty="0"/>
              <a:t>, 2011, p. 29). Thus, the German invasion into Poland in 1939 and the UN economic sanctions against Iraq in 1991 following the first Gulf War are examples for the use of hard power.</a:t>
            </a:r>
          </a:p>
        </p:txBody>
      </p:sp>
    </p:spTree>
    <p:extLst>
      <p:ext uri="{BB962C8B-B14F-4D97-AF65-F5344CB8AC3E}">
        <p14:creationId xmlns:p14="http://schemas.microsoft.com/office/powerpoint/2010/main" val="917855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73F8B-9E92-4119-9DB3-DD51E8C6F6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9797A5-CDBD-42CA-8903-364ED4699D35}"/>
              </a:ext>
            </a:extLst>
          </p:cNvPr>
          <p:cNvSpPr>
            <a:spLocks noGrp="1"/>
          </p:cNvSpPr>
          <p:nvPr>
            <p:ph idx="1"/>
          </p:nvPr>
        </p:nvSpPr>
        <p:spPr/>
        <p:txBody>
          <a:bodyPr/>
          <a:lstStyle/>
          <a:p>
            <a:r>
              <a:rPr lang="en-US" dirty="0"/>
              <a:t>In contrast, co-</a:t>
            </a:r>
            <a:r>
              <a:rPr lang="en-US" dirty="0" err="1"/>
              <a:t>optive</a:t>
            </a:r>
            <a:r>
              <a:rPr lang="en-US" dirty="0"/>
              <a:t> or “soft power is the capacity to persuade others to do what one wants” (Wilson, 2008, p. 114). According to Nye, persuasive power is based on attraction and emulation and “associated with intangible power resources such as culture, ideology, and institutions” (2009, p. 63). Cooper </a:t>
            </a:r>
            <a:r>
              <a:rPr lang="en-US" dirty="0" err="1"/>
              <a:t>emphasises</a:t>
            </a:r>
            <a:r>
              <a:rPr lang="en-US" dirty="0"/>
              <a:t> the importance of legitimacy for the concept of soft power (2004, p. 173). State activities need to be perceived as legitimate in order to enhance soft power. The dispersion of American culture within the Eastern bloc during the Cold War indicate the existence of American soft power and more recent processes of EU enlargement are indices for soft power possessed by the EU (cf. Nye, 2009, pp. 63-64).</a:t>
            </a:r>
          </a:p>
        </p:txBody>
      </p:sp>
    </p:spTree>
    <p:extLst>
      <p:ext uri="{BB962C8B-B14F-4D97-AF65-F5344CB8AC3E}">
        <p14:creationId xmlns:p14="http://schemas.microsoft.com/office/powerpoint/2010/main" val="3227143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296</Words>
  <Application>Microsoft Office PowerPoint</Application>
  <PresentationFormat>Widescreen</PresentationFormat>
  <Paragraphs>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Hard Power and Soft Power</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 Power and Soft Power</dc:title>
  <dc:creator>tahir sial</dc:creator>
  <cp:lastModifiedBy>tahir sial</cp:lastModifiedBy>
  <cp:revision>1</cp:revision>
  <dcterms:created xsi:type="dcterms:W3CDTF">2021-03-09T04:56:50Z</dcterms:created>
  <dcterms:modified xsi:type="dcterms:W3CDTF">2021-03-09T04:58:56Z</dcterms:modified>
</cp:coreProperties>
</file>