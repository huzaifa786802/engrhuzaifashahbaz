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BE965-A953-4D23-A7A6-1BD487373F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381E04-9202-4E65-8374-0DFDC9A867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589C24-6823-4B48-B449-81241D5F8CCF}"/>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5" name="Footer Placeholder 4">
            <a:extLst>
              <a:ext uri="{FF2B5EF4-FFF2-40B4-BE49-F238E27FC236}">
                <a16:creationId xmlns:a16="http://schemas.microsoft.com/office/drawing/2014/main" id="{002A56E2-6B47-4A0E-9E2F-183785BE9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636441-4D46-45D0-8359-6F9670B5AF06}"/>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1601069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30912-3A57-49E7-B6FA-01F94F5562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FC0F67-7442-4E87-9D35-BAD9D91949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BBBEEA-021B-4BFB-B008-8B7168A45986}"/>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5" name="Footer Placeholder 4">
            <a:extLst>
              <a:ext uri="{FF2B5EF4-FFF2-40B4-BE49-F238E27FC236}">
                <a16:creationId xmlns:a16="http://schemas.microsoft.com/office/drawing/2014/main" id="{C452F60C-3D23-45B2-A71B-E95D232996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C0F3B-8A6B-4B3E-A8E9-09CF43FDA635}"/>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3216394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8AEE2-052B-4AB6-9448-17F413E7A8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6A37E6-1921-4F64-ABFF-83F05947CE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FFE7B5-9F83-497B-9475-E5C259945D81}"/>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5" name="Footer Placeholder 4">
            <a:extLst>
              <a:ext uri="{FF2B5EF4-FFF2-40B4-BE49-F238E27FC236}">
                <a16:creationId xmlns:a16="http://schemas.microsoft.com/office/drawing/2014/main" id="{C17995E9-A8DC-4D6F-B1EC-8E0F73B9BD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5271BB-6016-406A-8D47-0F1499CEC783}"/>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424701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EC506-5BA5-465D-8280-99845E25D9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A8C8AE-3DF1-4727-B723-C2F2A8E11B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511457-84B7-4A94-86FC-16B1F72881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1517DB-AA22-4B69-B560-8DE80239BBF7}"/>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6" name="Footer Placeholder 5">
            <a:extLst>
              <a:ext uri="{FF2B5EF4-FFF2-40B4-BE49-F238E27FC236}">
                <a16:creationId xmlns:a16="http://schemas.microsoft.com/office/drawing/2014/main" id="{E2FE1002-4F08-4BA2-B56D-B4DF6FEB1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01B60B-592F-4897-A695-B6A3B1D375DE}"/>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2001367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FA174-2938-4D61-9161-899B3A4D1F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F984B1-99A3-4D75-8585-507481E5AB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CCBC42-CFD0-405E-989A-525A6CB426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4996C3-CA03-405E-905F-3B4C58FEB3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3F6BC6-87A1-4957-B1D0-F142369A0D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30E59A-9816-40DE-879F-B4D37B3C55A4}"/>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8" name="Footer Placeholder 7">
            <a:extLst>
              <a:ext uri="{FF2B5EF4-FFF2-40B4-BE49-F238E27FC236}">
                <a16:creationId xmlns:a16="http://schemas.microsoft.com/office/drawing/2014/main" id="{FC1443E1-A650-461F-8982-12F644CE73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2006AF-266E-4477-AD39-8769AEB232EE}"/>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1651731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D2BC2-9CD0-4F28-A4DD-088344C784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A9F88F-0C0F-479A-A56A-AB33F21E5586}"/>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4" name="Footer Placeholder 3">
            <a:extLst>
              <a:ext uri="{FF2B5EF4-FFF2-40B4-BE49-F238E27FC236}">
                <a16:creationId xmlns:a16="http://schemas.microsoft.com/office/drawing/2014/main" id="{97468AEB-126A-4AEF-B294-2B10202769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8BDA5B-C4E9-410F-AE5B-89651EC19D35}"/>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1177547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08AAD1-5CD8-4DD1-BED4-94AEA189DA1C}"/>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3" name="Footer Placeholder 2">
            <a:extLst>
              <a:ext uri="{FF2B5EF4-FFF2-40B4-BE49-F238E27FC236}">
                <a16:creationId xmlns:a16="http://schemas.microsoft.com/office/drawing/2014/main" id="{66EC7EE4-5E87-460E-8824-49DB67E247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8D0F70-8F5D-42F0-88FD-DF64DEEA3F91}"/>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3138784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23558-A2BD-4A2A-8598-0C9AB8206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2964C0-515B-478D-8B11-170CA79EBB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657DFA-A2CF-4EB7-8326-B70A1E752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8FEDC6-BC3A-416F-86B3-24ED71768B70}"/>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6" name="Footer Placeholder 5">
            <a:extLst>
              <a:ext uri="{FF2B5EF4-FFF2-40B4-BE49-F238E27FC236}">
                <a16:creationId xmlns:a16="http://schemas.microsoft.com/office/drawing/2014/main" id="{36698376-DD94-4B73-B1BD-EB2FB50B22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B9B5F0-4F18-48EE-BE72-7BF076C9C0DC}"/>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2090235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A2A9-6C56-464C-84E0-7E544C754C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81FBBE-360B-42D1-8034-F38575429A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B51A29-20D3-49D6-A527-5B2952A45F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025018-1046-4D48-9511-383861C39C56}"/>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6" name="Footer Placeholder 5">
            <a:extLst>
              <a:ext uri="{FF2B5EF4-FFF2-40B4-BE49-F238E27FC236}">
                <a16:creationId xmlns:a16="http://schemas.microsoft.com/office/drawing/2014/main" id="{F810D266-F597-4A28-B48C-46EE42874F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6FA567-F707-40E1-8F72-1EEF06095416}"/>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3878217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FAD50-64BF-4BBF-B075-9823A8BA12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5C875C-9817-4DD1-B015-2D970F5DEC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5732EE-5E65-4C1E-B011-F54E5F124F12}"/>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5" name="Footer Placeholder 4">
            <a:extLst>
              <a:ext uri="{FF2B5EF4-FFF2-40B4-BE49-F238E27FC236}">
                <a16:creationId xmlns:a16="http://schemas.microsoft.com/office/drawing/2014/main" id="{3DBA78E4-6333-4F2E-9B21-6DDE27D66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4C648-9D1C-4994-ADD6-DE2F8C43787C}"/>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2566282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CC7462-C26D-474C-BAAE-E9DC5B56B8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DCBC70-043A-4421-A120-44352042A1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B4BE2B-66EE-4976-B9E4-8C6B6C0CA953}"/>
              </a:ext>
            </a:extLst>
          </p:cNvPr>
          <p:cNvSpPr>
            <a:spLocks noGrp="1"/>
          </p:cNvSpPr>
          <p:nvPr>
            <p:ph type="dt" sz="half" idx="10"/>
          </p:nvPr>
        </p:nvSpPr>
        <p:spPr/>
        <p:txBody>
          <a:bodyPr/>
          <a:lstStyle/>
          <a:p>
            <a:fld id="{742383F5-A4DC-4FB3-84DF-5D2255D64F0F}" type="datetimeFigureOut">
              <a:rPr lang="en-US" smtClean="0"/>
              <a:t>1/1/2021</a:t>
            </a:fld>
            <a:endParaRPr lang="en-US"/>
          </a:p>
        </p:txBody>
      </p:sp>
      <p:sp>
        <p:nvSpPr>
          <p:cNvPr id="5" name="Footer Placeholder 4">
            <a:extLst>
              <a:ext uri="{FF2B5EF4-FFF2-40B4-BE49-F238E27FC236}">
                <a16:creationId xmlns:a16="http://schemas.microsoft.com/office/drawing/2014/main" id="{A897A9E2-1A2D-411E-8B42-D20C560574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D4F7F-2B65-4930-8DF5-EBD4226D62CB}"/>
              </a:ext>
            </a:extLst>
          </p:cNvPr>
          <p:cNvSpPr>
            <a:spLocks noGrp="1"/>
          </p:cNvSpPr>
          <p:nvPr>
            <p:ph type="sldNum" sz="quarter" idx="12"/>
          </p:nvPr>
        </p:nvSpPr>
        <p:spPr/>
        <p:txBody>
          <a:bodyPr/>
          <a:lstStyle/>
          <a:p>
            <a:fld id="{BBDD7735-0214-43CB-9DB4-A3210A8161B8}" type="slidenum">
              <a:rPr lang="en-US" smtClean="0"/>
              <a:t>‹#›</a:t>
            </a:fld>
            <a:endParaRPr lang="en-US"/>
          </a:p>
        </p:txBody>
      </p:sp>
    </p:spTree>
    <p:extLst>
      <p:ext uri="{BB962C8B-B14F-4D97-AF65-F5344CB8AC3E}">
        <p14:creationId xmlns:p14="http://schemas.microsoft.com/office/powerpoint/2010/main" val="91118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43102F-4614-44F7-AF9F-AABF29EAD9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A7248D-79BA-4FC5-A9D4-A3BDD50F6F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37517E-D99B-4928-A271-021F0E8603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2383F5-A4DC-4FB3-84DF-5D2255D64F0F}" type="datetimeFigureOut">
              <a:rPr lang="en-US" smtClean="0"/>
              <a:t>1/1/2021</a:t>
            </a:fld>
            <a:endParaRPr lang="en-US"/>
          </a:p>
        </p:txBody>
      </p:sp>
      <p:sp>
        <p:nvSpPr>
          <p:cNvPr id="5" name="Footer Placeholder 4">
            <a:extLst>
              <a:ext uri="{FF2B5EF4-FFF2-40B4-BE49-F238E27FC236}">
                <a16:creationId xmlns:a16="http://schemas.microsoft.com/office/drawing/2014/main" id="{7C9C761C-165B-4343-A081-771F2DB4E4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149BBA-851A-453E-A67A-E7BBB6CABC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DD7735-0214-43CB-9DB4-A3210A8161B8}" type="slidenum">
              <a:rPr lang="en-US" smtClean="0"/>
              <a:t>‹#›</a:t>
            </a:fld>
            <a:endParaRPr lang="en-US"/>
          </a:p>
        </p:txBody>
      </p:sp>
    </p:spTree>
    <p:extLst>
      <p:ext uri="{BB962C8B-B14F-4D97-AF65-F5344CB8AC3E}">
        <p14:creationId xmlns:p14="http://schemas.microsoft.com/office/powerpoint/2010/main" val="388076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18763-049F-41C7-B79B-2338C6B4CE93}"/>
              </a:ext>
            </a:extLst>
          </p:cNvPr>
          <p:cNvSpPr>
            <a:spLocks noGrp="1"/>
          </p:cNvSpPr>
          <p:nvPr>
            <p:ph type="ctrTitle"/>
          </p:nvPr>
        </p:nvSpPr>
        <p:spPr/>
        <p:txBody>
          <a:bodyPr/>
          <a:lstStyle/>
          <a:p>
            <a:r>
              <a:rPr lang="en-US" dirty="0"/>
              <a:t>Indian Independence Act 1947</a:t>
            </a:r>
          </a:p>
        </p:txBody>
      </p:sp>
      <p:sp>
        <p:nvSpPr>
          <p:cNvPr id="3" name="Subtitle 2">
            <a:extLst>
              <a:ext uri="{FF2B5EF4-FFF2-40B4-BE49-F238E27FC236}">
                <a16:creationId xmlns:a16="http://schemas.microsoft.com/office/drawing/2014/main" id="{07B04330-6061-40A8-9A5A-2E0A18E95E8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388759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198A-D7E2-4A38-A726-596352F8E560}"/>
              </a:ext>
            </a:extLst>
          </p:cNvPr>
          <p:cNvSpPr>
            <a:spLocks noGrp="1"/>
          </p:cNvSpPr>
          <p:nvPr>
            <p:ph type="title"/>
          </p:nvPr>
        </p:nvSpPr>
        <p:spPr/>
        <p:txBody>
          <a:bodyPr/>
          <a:lstStyle/>
          <a:p>
            <a:r>
              <a:rPr lang="en-US" dirty="0"/>
              <a:t>Background</a:t>
            </a:r>
            <a:br>
              <a:rPr lang="en-US" dirty="0"/>
            </a:br>
            <a:endParaRPr lang="en-US" dirty="0"/>
          </a:p>
        </p:txBody>
      </p:sp>
      <p:sp>
        <p:nvSpPr>
          <p:cNvPr id="3" name="Content Placeholder 2">
            <a:extLst>
              <a:ext uri="{FF2B5EF4-FFF2-40B4-BE49-F238E27FC236}">
                <a16:creationId xmlns:a16="http://schemas.microsoft.com/office/drawing/2014/main" id="{55FAEA7C-E9C0-4167-8451-6F1AB9BE3A89}"/>
              </a:ext>
            </a:extLst>
          </p:cNvPr>
          <p:cNvSpPr>
            <a:spLocks noGrp="1"/>
          </p:cNvSpPr>
          <p:nvPr>
            <p:ph idx="1"/>
          </p:nvPr>
        </p:nvSpPr>
        <p:spPr/>
        <p:txBody>
          <a:bodyPr/>
          <a:lstStyle/>
          <a:p>
            <a:r>
              <a:rPr lang="en-US" dirty="0"/>
              <a:t>The Prime Minister of the United Kingdom announced on 20 February 1947 that:</a:t>
            </a:r>
          </a:p>
          <a:p>
            <a:r>
              <a:rPr lang="en-US" dirty="0"/>
              <a:t>The British Government would grant full self-government to British India by 3 June 1948 at the latest,</a:t>
            </a:r>
          </a:p>
          <a:p>
            <a:r>
              <a:rPr lang="en-US" dirty="0"/>
              <a:t>The future of the Princely States would be decided after the date of final transfer is decided.</a:t>
            </a:r>
          </a:p>
          <a:p>
            <a:endParaRPr lang="en-US" dirty="0"/>
          </a:p>
        </p:txBody>
      </p:sp>
    </p:spTree>
    <p:extLst>
      <p:ext uri="{BB962C8B-B14F-4D97-AF65-F5344CB8AC3E}">
        <p14:creationId xmlns:p14="http://schemas.microsoft.com/office/powerpoint/2010/main" val="3672140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F3DAB-B1B0-418C-AEB9-D2AAEE2F5A9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A4C36F4-F900-47FF-B851-99D377219A06}"/>
              </a:ext>
            </a:extLst>
          </p:cNvPr>
          <p:cNvSpPr>
            <a:spLocks noGrp="1"/>
          </p:cNvSpPr>
          <p:nvPr>
            <p:ph idx="1"/>
          </p:nvPr>
        </p:nvSpPr>
        <p:spPr/>
        <p:txBody>
          <a:bodyPr>
            <a:normAutofit fontScale="92500" lnSpcReduction="10000"/>
          </a:bodyPr>
          <a:lstStyle/>
          <a:p>
            <a:pPr algn="just"/>
            <a:r>
              <a:rPr lang="en-US" dirty="0" err="1"/>
              <a:t>Aattlee</a:t>
            </a:r>
            <a:r>
              <a:rPr lang="en-US" dirty="0"/>
              <a:t> wrote to Mountbatten on 18 March 1947: "It is, of course, important that the Indian States should adjust their relations with the authorities to whom it is intended to hand over power in British India; but as was explicitly stated by the Cabinet Mission His Majesty's Government do not intend to hand over their powers and obligations under paramountcy to any successor Government. </a:t>
            </a:r>
          </a:p>
          <a:p>
            <a:pPr algn="just"/>
            <a:r>
              <a:rPr lang="en-US" dirty="0"/>
              <a:t>It is not intended to bring paramountcy as a system to a conclusion earlier than the date of the final transfer of power, but you are authorized, at such time as you think appropriate, to enter into negotiations with individual States for adjusting their relations with the Crown. The princely states would be free from orders and treaties of British Rule in India. They can either join the two dominions or stay separate"</a:t>
            </a:r>
          </a:p>
        </p:txBody>
      </p:sp>
    </p:spTree>
    <p:extLst>
      <p:ext uri="{BB962C8B-B14F-4D97-AF65-F5344CB8AC3E}">
        <p14:creationId xmlns:p14="http://schemas.microsoft.com/office/powerpoint/2010/main" val="3851574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C361-1DB9-4020-80DF-1734F4CFCA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6070D1-3AA5-489C-82C0-0679D835FC00}"/>
              </a:ext>
            </a:extLst>
          </p:cNvPr>
          <p:cNvSpPr>
            <a:spLocks noGrp="1"/>
          </p:cNvSpPr>
          <p:nvPr>
            <p:ph idx="1"/>
          </p:nvPr>
        </p:nvSpPr>
        <p:spPr/>
        <p:txBody>
          <a:bodyPr>
            <a:normAutofit lnSpcReduction="10000"/>
          </a:bodyPr>
          <a:lstStyle/>
          <a:p>
            <a:pPr algn="just"/>
            <a:r>
              <a:rPr lang="en-US" dirty="0"/>
              <a:t>June 3 plan was also known as the Mountbatten Plan. The British government proposed a plan, announced on 3 June 1947, that included these principles:</a:t>
            </a:r>
          </a:p>
          <a:p>
            <a:pPr algn="just"/>
            <a:r>
              <a:rPr lang="en-US" dirty="0"/>
              <a:t>Principle of the partition of British India was accepted by the British Government</a:t>
            </a:r>
          </a:p>
          <a:p>
            <a:pPr algn="just"/>
            <a:r>
              <a:rPr lang="en-US" dirty="0"/>
              <a:t>Successor governments would be given dominion status</a:t>
            </a:r>
          </a:p>
          <a:p>
            <a:pPr algn="just"/>
            <a:r>
              <a:rPr lang="en-US" dirty="0"/>
              <a:t>autonomy and sovereignty to both countries</a:t>
            </a:r>
          </a:p>
          <a:p>
            <a:pPr algn="just"/>
            <a:r>
              <a:rPr lang="en-US" dirty="0"/>
              <a:t>can make their own constitution</a:t>
            </a:r>
          </a:p>
          <a:p>
            <a:pPr algn="just"/>
            <a:r>
              <a:rPr lang="en-US" dirty="0"/>
              <a:t>Princely States were given the right to either join Pakistan or India</a:t>
            </a:r>
          </a:p>
          <a:p>
            <a:pPr algn="just"/>
            <a:r>
              <a:rPr lang="en-US" dirty="0"/>
              <a:t>Provinces can become a separate nation other than Pakistan or India</a:t>
            </a:r>
          </a:p>
          <a:p>
            <a:endParaRPr lang="en-US" dirty="0"/>
          </a:p>
        </p:txBody>
      </p:sp>
    </p:spTree>
    <p:extLst>
      <p:ext uri="{BB962C8B-B14F-4D97-AF65-F5344CB8AC3E}">
        <p14:creationId xmlns:p14="http://schemas.microsoft.com/office/powerpoint/2010/main" val="2874469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EAD5F-38A7-4A6F-AEC2-0980F69D7615}"/>
              </a:ext>
            </a:extLst>
          </p:cNvPr>
          <p:cNvSpPr>
            <a:spLocks noGrp="1"/>
          </p:cNvSpPr>
          <p:nvPr>
            <p:ph type="title"/>
          </p:nvPr>
        </p:nvSpPr>
        <p:spPr/>
        <p:txBody>
          <a:bodyPr/>
          <a:lstStyle/>
          <a:p>
            <a:r>
              <a:rPr lang="en-US" dirty="0"/>
              <a:t>Salient features</a:t>
            </a:r>
          </a:p>
        </p:txBody>
      </p:sp>
      <p:sp>
        <p:nvSpPr>
          <p:cNvPr id="3" name="Content Placeholder 2">
            <a:extLst>
              <a:ext uri="{FF2B5EF4-FFF2-40B4-BE49-F238E27FC236}">
                <a16:creationId xmlns:a16="http://schemas.microsoft.com/office/drawing/2014/main" id="{60613A63-E0E3-43C2-B4B2-B74DCF33E76F}"/>
              </a:ext>
            </a:extLst>
          </p:cNvPr>
          <p:cNvSpPr>
            <a:spLocks noGrp="1"/>
          </p:cNvSpPr>
          <p:nvPr>
            <p:ph idx="1"/>
          </p:nvPr>
        </p:nvSpPr>
        <p:spPr/>
        <p:txBody>
          <a:bodyPr>
            <a:normAutofit/>
          </a:bodyPr>
          <a:lstStyle/>
          <a:p>
            <a:pPr algn="just"/>
            <a:r>
              <a:rPr lang="en-US" dirty="0"/>
              <a:t>Two new dominion states: Two new dominions were to emerge from the Indian empire: Pakistan and India.</a:t>
            </a:r>
          </a:p>
          <a:p>
            <a:pPr algn="just"/>
            <a:r>
              <a:rPr lang="en-US" dirty="0"/>
              <a:t>Appointed Date: 15 August 1947 was declared as the appointed date for the partition.</a:t>
            </a:r>
          </a:p>
          <a:p>
            <a:pPr algn="just"/>
            <a:r>
              <a:rPr lang="en-US" dirty="0"/>
              <a:t>Territories:</a:t>
            </a:r>
          </a:p>
          <a:p>
            <a:pPr lvl="1" algn="just"/>
            <a:r>
              <a:rPr lang="en-US" dirty="0"/>
              <a:t>Pakistan: East Bengal, West Punjab, Sind, and Chief Commissioner’s Province of Baluchistan.</a:t>
            </a:r>
          </a:p>
          <a:p>
            <a:endParaRPr lang="en-US" dirty="0"/>
          </a:p>
        </p:txBody>
      </p:sp>
    </p:spTree>
    <p:extLst>
      <p:ext uri="{BB962C8B-B14F-4D97-AF65-F5344CB8AC3E}">
        <p14:creationId xmlns:p14="http://schemas.microsoft.com/office/powerpoint/2010/main" val="4282443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F667-1548-4675-8C67-0C821F340C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5758CB-E143-446A-826D-A0913D3A7508}"/>
              </a:ext>
            </a:extLst>
          </p:cNvPr>
          <p:cNvSpPr>
            <a:spLocks noGrp="1"/>
          </p:cNvSpPr>
          <p:nvPr>
            <p:ph idx="1"/>
          </p:nvPr>
        </p:nvSpPr>
        <p:spPr/>
        <p:txBody>
          <a:bodyPr/>
          <a:lstStyle/>
          <a:p>
            <a:pPr lvl="1"/>
            <a:r>
              <a:rPr lang="en-US" dirty="0"/>
              <a:t>The fate of North West Frontier Province (now Pakhtunkhwa) was subject to the result of a referendum.</a:t>
            </a:r>
          </a:p>
          <a:p>
            <a:pPr lvl="1"/>
            <a:r>
              <a:rPr lang="en-US" dirty="0"/>
              <a:t>Bengal &amp; Assam:</a:t>
            </a:r>
          </a:p>
          <a:p>
            <a:pPr lvl="2"/>
            <a:r>
              <a:rPr lang="en-US" dirty="0"/>
              <a:t>The province of Bengal as constituted under the Government of India Act 1935 ceased to exist.</a:t>
            </a:r>
          </a:p>
          <a:p>
            <a:pPr lvl="2"/>
            <a:r>
              <a:rPr lang="en-US" dirty="0"/>
              <a:t>In lieu thereof two new provinces were to be constituted, to be known respectively as East Bengal and West Bengal.</a:t>
            </a:r>
          </a:p>
          <a:p>
            <a:pPr lvl="2"/>
            <a:r>
              <a:rPr lang="en-US" dirty="0"/>
              <a:t>The fate of District Sylhet, in the province of Assam, was to be decided in a referendum.</a:t>
            </a:r>
          </a:p>
          <a:p>
            <a:endParaRPr lang="en-US" dirty="0"/>
          </a:p>
        </p:txBody>
      </p:sp>
    </p:spTree>
    <p:extLst>
      <p:ext uri="{BB962C8B-B14F-4D97-AF65-F5344CB8AC3E}">
        <p14:creationId xmlns:p14="http://schemas.microsoft.com/office/powerpoint/2010/main" val="3380722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0AD8C-61A8-4C36-8B43-65BC8D591B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6485AB-883F-4063-917B-F076E202A326}"/>
              </a:ext>
            </a:extLst>
          </p:cNvPr>
          <p:cNvSpPr>
            <a:spLocks noGrp="1"/>
          </p:cNvSpPr>
          <p:nvPr>
            <p:ph idx="1"/>
          </p:nvPr>
        </p:nvSpPr>
        <p:spPr/>
        <p:txBody>
          <a:bodyPr>
            <a:normAutofit lnSpcReduction="10000"/>
          </a:bodyPr>
          <a:lstStyle/>
          <a:p>
            <a:pPr algn="just"/>
            <a:endParaRPr lang="en-US" dirty="0"/>
          </a:p>
          <a:p>
            <a:pPr lvl="1" algn="just"/>
            <a:r>
              <a:rPr lang="en-US" dirty="0"/>
              <a:t>Punjab:</a:t>
            </a:r>
          </a:p>
          <a:p>
            <a:pPr lvl="2" algn="just"/>
            <a:r>
              <a:rPr lang="en-US" dirty="0"/>
              <a:t>The province as constituted under the Government of India Act 1935 ceased to exist.</a:t>
            </a:r>
          </a:p>
          <a:p>
            <a:pPr lvl="2" algn="just"/>
            <a:r>
              <a:rPr lang="en-US" dirty="0"/>
              <a:t>Two new provinces were to be constituted, to be known respectively as West Punjab and East Punjab.</a:t>
            </a:r>
          </a:p>
          <a:p>
            <a:pPr algn="just"/>
            <a:r>
              <a:rPr lang="en-US" dirty="0"/>
              <a:t>The boundaries of the new provinces were to be determined, whether before or after the appointed date, by the award of a boundary commission to be appointed by the Governor General.</a:t>
            </a:r>
          </a:p>
          <a:p>
            <a:pPr algn="just"/>
            <a:r>
              <a:rPr lang="en-US" dirty="0"/>
              <a:t>Constitution for the New Dominions: until the time of making of the new constitution, the new dominions and the provinces thereof were to be governed by the Government of India Act 1935. (Temporary Provisions as to the Government of Each New Dominion).</a:t>
            </a:r>
          </a:p>
          <a:p>
            <a:endParaRPr lang="en-US" dirty="0"/>
          </a:p>
        </p:txBody>
      </p:sp>
    </p:spTree>
    <p:extLst>
      <p:ext uri="{BB962C8B-B14F-4D97-AF65-F5344CB8AC3E}">
        <p14:creationId xmlns:p14="http://schemas.microsoft.com/office/powerpoint/2010/main" val="583248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17A14-E4BB-422E-B750-8E6C8722F4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01196B-CEFD-485A-A35F-1BD0753CCB85}"/>
              </a:ext>
            </a:extLst>
          </p:cNvPr>
          <p:cNvSpPr>
            <a:spLocks noGrp="1"/>
          </p:cNvSpPr>
          <p:nvPr>
            <p:ph idx="1"/>
          </p:nvPr>
        </p:nvSpPr>
        <p:spPr/>
        <p:txBody>
          <a:bodyPr>
            <a:normAutofit fontScale="85000" lnSpcReduction="20000"/>
          </a:bodyPr>
          <a:lstStyle/>
          <a:p>
            <a:pPr algn="just"/>
            <a:r>
              <a:rPr lang="en-US" dirty="0"/>
              <a:t>The Governors General of the new dominions:</a:t>
            </a:r>
          </a:p>
          <a:p>
            <a:pPr lvl="1" algn="just"/>
            <a:r>
              <a:rPr lang="en-US" dirty="0"/>
              <a:t>For each of the new dominion a new Governor-General was to be appointed by the Crown, subject to the law of the legislature of either of the new dominions.</a:t>
            </a:r>
          </a:p>
          <a:p>
            <a:pPr lvl="1" algn="just"/>
            <a:r>
              <a:rPr lang="en-US" dirty="0"/>
              <a:t>Same person as Governor General of both dominions: if unless and until provision to the contrary was made by a law of the legislature of either of the new dominions, the same person could be the Governor General of both.</a:t>
            </a:r>
          </a:p>
          <a:p>
            <a:pPr algn="just"/>
            <a:r>
              <a:rPr lang="en-US" dirty="0"/>
              <a:t>Powers of Governor General: (Section-9)</a:t>
            </a:r>
          </a:p>
          <a:p>
            <a:pPr lvl="1" algn="just"/>
            <a:r>
              <a:rPr lang="en-US" dirty="0"/>
              <a:t>The Governor General was empowered to bring this Act in force.</a:t>
            </a:r>
          </a:p>
          <a:p>
            <a:pPr lvl="1" algn="just"/>
            <a:r>
              <a:rPr lang="en-US" dirty="0"/>
              <a:t>Division of territories, powers, duties, rights, assets, liabilities, etc., was the responsibility of Governor General.</a:t>
            </a:r>
          </a:p>
          <a:p>
            <a:pPr lvl="1" algn="just"/>
            <a:r>
              <a:rPr lang="en-US" dirty="0"/>
              <a:t>To adopt, amend, Government of India Act 1935, as the Governor-General may consider it necessary.</a:t>
            </a:r>
          </a:p>
          <a:p>
            <a:pPr lvl="1" algn="just"/>
            <a:r>
              <a:rPr lang="en-US" dirty="0"/>
              <a:t>power to introduce any change was until 31 March 1948, after that it was open to the constituent assembly to modify or adopt the same Act. (Temporary Provisions as to the Government of Each New Dominion.)</a:t>
            </a:r>
          </a:p>
          <a:p>
            <a:pPr lvl="1" algn="just"/>
            <a:r>
              <a:rPr lang="en-US" dirty="0"/>
              <a:t>Governor-General had full powers to give assent to any law.</a:t>
            </a:r>
          </a:p>
          <a:p>
            <a:pPr lvl="1" algn="just"/>
            <a:endParaRPr lang="en-US" dirty="0"/>
          </a:p>
          <a:p>
            <a:endParaRPr lang="en-US" dirty="0"/>
          </a:p>
        </p:txBody>
      </p:sp>
    </p:spTree>
    <p:extLst>
      <p:ext uri="{BB962C8B-B14F-4D97-AF65-F5344CB8AC3E}">
        <p14:creationId xmlns:p14="http://schemas.microsoft.com/office/powerpoint/2010/main" val="2594787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61FC1-8BCC-4717-9B6E-04EDEF6B3D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AAB89E-CB2F-49FA-853F-9BC28101BF86}"/>
              </a:ext>
            </a:extLst>
          </p:cNvPr>
          <p:cNvSpPr>
            <a:spLocks noGrp="1"/>
          </p:cNvSpPr>
          <p:nvPr>
            <p:ph idx="1"/>
          </p:nvPr>
        </p:nvSpPr>
        <p:spPr/>
        <p:txBody>
          <a:bodyPr>
            <a:normAutofit fontScale="85000" lnSpcReduction="10000"/>
          </a:bodyPr>
          <a:lstStyle/>
          <a:p>
            <a:pPr algn="just"/>
            <a:r>
              <a:rPr lang="en-US" dirty="0"/>
              <a:t>Legislation for the new dominions:</a:t>
            </a:r>
          </a:p>
          <a:p>
            <a:pPr lvl="1" algn="just"/>
            <a:r>
              <a:rPr lang="en-US" dirty="0"/>
              <a:t>The existing legislative setup was allowed to continue as Constitution making body as well as a legislature. (Temporary Provisions as to the Government of Each New Dominion.)</a:t>
            </a:r>
          </a:p>
          <a:p>
            <a:pPr lvl="1" algn="just"/>
            <a:r>
              <a:rPr lang="en-US" dirty="0"/>
              <a:t>The legislature of each dominion was given full powers to make laws for that dominion, including laws having extraterritorial operation.</a:t>
            </a:r>
          </a:p>
          <a:p>
            <a:pPr lvl="1" algn="just"/>
            <a:r>
              <a:rPr lang="en-US" dirty="0"/>
              <a:t>No Act of Parliament of UK passed after the appointed date would be extended to the territories of new dominions.</a:t>
            </a:r>
          </a:p>
          <a:p>
            <a:pPr lvl="1" algn="just"/>
            <a:r>
              <a:rPr lang="en-US" dirty="0"/>
              <a:t>No law and provision of any law made by the legislature of the new dominions shall be void or inoperative on the ground that it is repugnant to the law of England.</a:t>
            </a:r>
          </a:p>
          <a:p>
            <a:pPr lvl="1" algn="just"/>
            <a:r>
              <a:rPr lang="en-US" dirty="0"/>
              <a:t>The Governor-General of each dominion had full powers to give assent in His Majesty’s name to any law of the legislature. [Configuration of Pakistan’s Constitution Assembly (CAP I): 69 members of the central legislature + 10 immigrant members= 79].</a:t>
            </a:r>
          </a:p>
          <a:p>
            <a:br>
              <a:rPr lang="en-US" dirty="0"/>
            </a:br>
            <a:endParaRPr lang="en-US" dirty="0"/>
          </a:p>
        </p:txBody>
      </p:sp>
    </p:spTree>
    <p:extLst>
      <p:ext uri="{BB962C8B-B14F-4D97-AF65-F5344CB8AC3E}">
        <p14:creationId xmlns:p14="http://schemas.microsoft.com/office/powerpoint/2010/main" val="1053868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7EEC3-0B30-41E1-A92C-144A687AB447}"/>
              </a:ext>
            </a:extLst>
          </p:cNvPr>
          <p:cNvSpPr>
            <a:spLocks noGrp="1"/>
          </p:cNvSpPr>
          <p:nvPr>
            <p:ph type="title"/>
          </p:nvPr>
        </p:nvSpPr>
        <p:spPr/>
        <p:txBody>
          <a:bodyPr/>
          <a:lstStyle/>
          <a:p>
            <a:r>
              <a:rPr lang="en-US" dirty="0"/>
              <a:t>International on water</a:t>
            </a:r>
            <a:br>
              <a:rPr lang="en-US" dirty="0"/>
            </a:br>
            <a:endParaRPr lang="en-US" dirty="0"/>
          </a:p>
        </p:txBody>
      </p:sp>
      <p:sp>
        <p:nvSpPr>
          <p:cNvPr id="3" name="Content Placeholder 2">
            <a:extLst>
              <a:ext uri="{FF2B5EF4-FFF2-40B4-BE49-F238E27FC236}">
                <a16:creationId xmlns:a16="http://schemas.microsoft.com/office/drawing/2014/main" id="{BF61DE0A-FEB5-444C-9346-32FA79F7E915}"/>
              </a:ext>
            </a:extLst>
          </p:cNvPr>
          <p:cNvSpPr>
            <a:spLocks noGrp="1"/>
          </p:cNvSpPr>
          <p:nvPr>
            <p:ph idx="1"/>
          </p:nvPr>
        </p:nvSpPr>
        <p:spPr/>
        <p:txBody>
          <a:bodyPr/>
          <a:lstStyle/>
          <a:p>
            <a:r>
              <a:rPr lang="en-US" dirty="0"/>
              <a:t>Upper riparian: </a:t>
            </a:r>
            <a:r>
              <a:rPr lang="en-US" dirty="0" err="1"/>
              <a:t>Flw</a:t>
            </a:r>
            <a:r>
              <a:rPr lang="en-US" dirty="0"/>
              <a:t> of water cannot altered/course</a:t>
            </a:r>
          </a:p>
          <a:p>
            <a:r>
              <a:rPr lang="en-US" dirty="0"/>
              <a:t>Lower riparian:</a:t>
            </a:r>
          </a:p>
        </p:txBody>
      </p:sp>
    </p:spTree>
    <p:extLst>
      <p:ext uri="{BB962C8B-B14F-4D97-AF65-F5344CB8AC3E}">
        <p14:creationId xmlns:p14="http://schemas.microsoft.com/office/powerpoint/2010/main" val="253424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D9E7-95E7-43E8-957E-BC9536D93E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8759DC-590B-4ED1-A268-2E9132CE12D7}"/>
              </a:ext>
            </a:extLst>
          </p:cNvPr>
          <p:cNvSpPr>
            <a:spLocks noGrp="1"/>
          </p:cNvSpPr>
          <p:nvPr>
            <p:ph idx="1"/>
          </p:nvPr>
        </p:nvSpPr>
        <p:spPr/>
        <p:txBody>
          <a:bodyPr>
            <a:normAutofit fontScale="92500"/>
          </a:bodyPr>
          <a:lstStyle/>
          <a:p>
            <a:pPr algn="just"/>
            <a:r>
              <a:rPr lang="en-US" dirty="0"/>
              <a:t>Consequences of setting up of the new </a:t>
            </a:r>
            <a:r>
              <a:rPr lang="en-US" dirty="0" err="1"/>
              <a:t>dominions:His</a:t>
            </a:r>
            <a:r>
              <a:rPr lang="en-US" dirty="0"/>
              <a:t> Majesty’s Government lost all the responsibility to the new dominions.</a:t>
            </a:r>
          </a:p>
          <a:p>
            <a:pPr algn="just"/>
            <a:r>
              <a:rPr lang="en-US" dirty="0"/>
              <a:t>The suzerainty of His Majesty’s Government over the Indian States lapsed.</a:t>
            </a:r>
          </a:p>
          <a:p>
            <a:pPr algn="just"/>
            <a:r>
              <a:rPr lang="en-US" dirty="0"/>
              <a:t>All the treaties or agreements with the Indian States and the tribal areas that were in force at the passing of the act lapsed.</a:t>
            </a:r>
          </a:p>
          <a:p>
            <a:pPr algn="just"/>
            <a:r>
              <a:rPr lang="en-US" dirty="0"/>
              <a:t>The title of "Emperor of India" was dropped from the titles of British Crown.</a:t>
            </a:r>
          </a:p>
          <a:p>
            <a:pPr algn="just"/>
            <a:r>
              <a:rPr lang="en-US" dirty="0"/>
              <a:t>The office of Secretary of State for India was abolished and the provisions of GOI Act 1935 relating to the appointments to the civil service or civil posts under the crown by the secretary of the state ceased to operate.</a:t>
            </a:r>
          </a:p>
          <a:p>
            <a:endParaRPr lang="en-US" dirty="0"/>
          </a:p>
        </p:txBody>
      </p:sp>
    </p:spTree>
    <p:extLst>
      <p:ext uri="{BB962C8B-B14F-4D97-AF65-F5344CB8AC3E}">
        <p14:creationId xmlns:p14="http://schemas.microsoft.com/office/powerpoint/2010/main" val="761041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B4DEB-587C-424D-8577-40DADA636E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FA6E9B-175F-45C0-B8B7-3A403CEB6072}"/>
              </a:ext>
            </a:extLst>
          </p:cNvPr>
          <p:cNvSpPr>
            <a:spLocks noGrp="1"/>
          </p:cNvSpPr>
          <p:nvPr>
            <p:ph idx="1"/>
          </p:nvPr>
        </p:nvSpPr>
        <p:spPr/>
        <p:txBody>
          <a:bodyPr/>
          <a:lstStyle/>
          <a:p>
            <a:pPr algn="just"/>
            <a:r>
              <a:rPr lang="en-US" dirty="0"/>
              <a:t>Civil servants: Section 10 provided for the continuance of service of the government servants appointed on or before 15 August 1947 under the Governments of new Dominions with full benefits.</a:t>
            </a:r>
          </a:p>
          <a:p>
            <a:pPr algn="just"/>
            <a:r>
              <a:rPr lang="en-US" dirty="0"/>
              <a:t>Armed Forces: Sections 11, 12, and 13 dealt with the future of the Indian armed forces. A Partition Committee was formed on 7 June 1947, with two representatives from each side and the viceroy in the chair, to decide about the division thereof. As soon as the process of partition was to start it was to be replaced by a Partition Council with a similar structure.</a:t>
            </a:r>
          </a:p>
          <a:p>
            <a:endParaRPr lang="en-US" dirty="0"/>
          </a:p>
        </p:txBody>
      </p:sp>
    </p:spTree>
    <p:extLst>
      <p:ext uri="{BB962C8B-B14F-4D97-AF65-F5344CB8AC3E}">
        <p14:creationId xmlns:p14="http://schemas.microsoft.com/office/powerpoint/2010/main" val="3900527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3A9AD-9F05-4D51-A0DA-E03CEA5055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FE4254-331A-4B34-BB64-1BAF7FA47D8F}"/>
              </a:ext>
            </a:extLst>
          </p:cNvPr>
          <p:cNvSpPr>
            <a:spLocks noGrp="1"/>
          </p:cNvSpPr>
          <p:nvPr>
            <p:ph idx="1"/>
          </p:nvPr>
        </p:nvSpPr>
        <p:spPr/>
        <p:txBody>
          <a:bodyPr/>
          <a:lstStyle/>
          <a:p>
            <a:pPr algn="just"/>
            <a:r>
              <a:rPr lang="en-US" dirty="0"/>
              <a:t>First and Second Schedules: First Schedule listed the districts provisionally included in the new province of East Bengal:</a:t>
            </a:r>
          </a:p>
          <a:p>
            <a:pPr lvl="1" algn="just"/>
            <a:r>
              <a:rPr lang="en-US" dirty="0"/>
              <a:t>Chittagong Division: Districts of Chittagong, Chittagong Hill Tracts, Noakhali and </a:t>
            </a:r>
            <a:r>
              <a:rPr lang="en-US" dirty="0" err="1"/>
              <a:t>Tipperah</a:t>
            </a:r>
            <a:r>
              <a:rPr lang="en-US" dirty="0"/>
              <a:t>.</a:t>
            </a:r>
          </a:p>
          <a:p>
            <a:pPr lvl="1" algn="just"/>
            <a:r>
              <a:rPr lang="en-US" dirty="0"/>
              <a:t>Dacca Division: Districts of </a:t>
            </a:r>
            <a:r>
              <a:rPr lang="en-US" dirty="0" err="1"/>
              <a:t>Bakarganj</a:t>
            </a:r>
            <a:r>
              <a:rPr lang="en-US" dirty="0"/>
              <a:t>, Dacca, Faridpur, and Mymensingh.</a:t>
            </a:r>
          </a:p>
          <a:p>
            <a:pPr lvl="1" algn="just"/>
            <a:r>
              <a:rPr lang="en-US" dirty="0"/>
              <a:t>Presidency Division: Districts of Jessore (except </a:t>
            </a:r>
            <a:r>
              <a:rPr lang="en-US" dirty="0" err="1"/>
              <a:t>Bangaon</a:t>
            </a:r>
            <a:r>
              <a:rPr lang="en-US" dirty="0"/>
              <a:t> Tehsil), and </a:t>
            </a:r>
            <a:r>
              <a:rPr lang="en-US" dirty="0" err="1"/>
              <a:t>Kustia</a:t>
            </a:r>
            <a:r>
              <a:rPr lang="en-US" dirty="0"/>
              <a:t> and </a:t>
            </a:r>
            <a:r>
              <a:rPr lang="en-US" dirty="0" err="1"/>
              <a:t>Meherpur</a:t>
            </a:r>
            <a:r>
              <a:rPr lang="en-US" dirty="0"/>
              <a:t> Tehsils (of Nadia district).</a:t>
            </a:r>
          </a:p>
          <a:p>
            <a:pPr lvl="1" algn="just"/>
            <a:r>
              <a:rPr lang="en-US" dirty="0" err="1"/>
              <a:t>Rajshahi</a:t>
            </a:r>
            <a:r>
              <a:rPr lang="en-US" dirty="0"/>
              <a:t> </a:t>
            </a:r>
            <a:r>
              <a:rPr lang="en-US" dirty="0" err="1"/>
              <a:t>Division:Districts</a:t>
            </a:r>
            <a:r>
              <a:rPr lang="en-US" dirty="0"/>
              <a:t> of </a:t>
            </a:r>
            <a:r>
              <a:rPr lang="en-US" dirty="0" err="1"/>
              <a:t>Bogra</a:t>
            </a:r>
            <a:r>
              <a:rPr lang="en-US" dirty="0"/>
              <a:t>, Dinajpur (except </a:t>
            </a:r>
            <a:r>
              <a:rPr lang="en-US" dirty="0" err="1"/>
              <a:t>Raiganj</a:t>
            </a:r>
            <a:r>
              <a:rPr lang="en-US" dirty="0"/>
              <a:t> and </a:t>
            </a:r>
            <a:r>
              <a:rPr lang="en-US" dirty="0" err="1"/>
              <a:t>Balurghat</a:t>
            </a:r>
            <a:r>
              <a:rPr lang="en-US" dirty="0"/>
              <a:t> Tehsil), </a:t>
            </a:r>
            <a:r>
              <a:rPr lang="en-US" dirty="0" err="1"/>
              <a:t>Rajshahi</a:t>
            </a:r>
            <a:r>
              <a:rPr lang="en-US" dirty="0"/>
              <a:t>, Rangpur and Nawabganj Tehsil (of </a:t>
            </a:r>
            <a:r>
              <a:rPr lang="en-US" dirty="0" err="1"/>
              <a:t>Malda</a:t>
            </a:r>
            <a:r>
              <a:rPr lang="en-US" dirty="0"/>
              <a:t> district)</a:t>
            </a:r>
          </a:p>
          <a:p>
            <a:endParaRPr lang="en-US" dirty="0"/>
          </a:p>
        </p:txBody>
      </p:sp>
    </p:spTree>
    <p:extLst>
      <p:ext uri="{BB962C8B-B14F-4D97-AF65-F5344CB8AC3E}">
        <p14:creationId xmlns:p14="http://schemas.microsoft.com/office/powerpoint/2010/main" val="4165716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1920-D429-4DC5-B637-E32E47069B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8E3BB6-56CB-4648-87CC-0C5750B0319B}"/>
              </a:ext>
            </a:extLst>
          </p:cNvPr>
          <p:cNvSpPr>
            <a:spLocks noGrp="1"/>
          </p:cNvSpPr>
          <p:nvPr>
            <p:ph idx="1"/>
          </p:nvPr>
        </p:nvSpPr>
        <p:spPr/>
        <p:txBody>
          <a:bodyPr/>
          <a:lstStyle/>
          <a:p>
            <a:pPr algn="just"/>
            <a:r>
              <a:rPr lang="en-US" dirty="0"/>
              <a:t>Second Schedule listed the districts provisionally included in the new province of West Punjab: Lahore Division: Districts of Gujranwala, Lahore (except Patti Tehsil), Sheikhupura, Sialkot and </a:t>
            </a:r>
            <a:r>
              <a:rPr lang="en-US" dirty="0" err="1"/>
              <a:t>Shakargarh</a:t>
            </a:r>
            <a:r>
              <a:rPr lang="en-US" dirty="0"/>
              <a:t> Tehsil (of Gurdaspur district).</a:t>
            </a:r>
          </a:p>
          <a:p>
            <a:pPr algn="just"/>
            <a:r>
              <a:rPr lang="en-US" dirty="0"/>
              <a:t>Rawalpindi Division: Districts of </a:t>
            </a:r>
            <a:r>
              <a:rPr lang="en-US" dirty="0" err="1"/>
              <a:t>Attock</a:t>
            </a:r>
            <a:r>
              <a:rPr lang="en-US" dirty="0"/>
              <a:t>, Gujrat, </a:t>
            </a:r>
            <a:r>
              <a:rPr lang="en-US" dirty="0" err="1"/>
              <a:t>Jehlum</a:t>
            </a:r>
            <a:r>
              <a:rPr lang="en-US" dirty="0"/>
              <a:t>, Rawalpindi and Shahpur.</a:t>
            </a:r>
          </a:p>
          <a:p>
            <a:pPr algn="just"/>
            <a:r>
              <a:rPr lang="en-US" dirty="0"/>
              <a:t>Multan Division: Districts of </a:t>
            </a:r>
            <a:r>
              <a:rPr lang="en-US" dirty="0" err="1"/>
              <a:t>Dera</a:t>
            </a:r>
            <a:r>
              <a:rPr lang="en-US" dirty="0"/>
              <a:t> Ghazi Khan, </a:t>
            </a:r>
            <a:r>
              <a:rPr lang="en-US" dirty="0" err="1"/>
              <a:t>Jhang</a:t>
            </a:r>
            <a:r>
              <a:rPr lang="en-US" dirty="0"/>
              <a:t>, Lyallpur, Montgomery, Multan and Muzaffargarh</a:t>
            </a:r>
          </a:p>
          <a:p>
            <a:endParaRPr lang="en-US" dirty="0"/>
          </a:p>
        </p:txBody>
      </p:sp>
    </p:spTree>
    <p:extLst>
      <p:ext uri="{BB962C8B-B14F-4D97-AF65-F5344CB8AC3E}">
        <p14:creationId xmlns:p14="http://schemas.microsoft.com/office/powerpoint/2010/main" val="3452127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1305</Words>
  <Application>Microsoft Office PowerPoint</Application>
  <PresentationFormat>Widescreen</PresentationFormat>
  <Paragraphs>64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Indian Independence Act 1947</vt:lpstr>
      <vt:lpstr>Background </vt:lpstr>
      <vt:lpstr>PowerPoint Presentation</vt:lpstr>
      <vt:lpstr>PowerPoint Presentation</vt:lpstr>
      <vt:lpstr>Salient features</vt:lpstr>
      <vt:lpstr>PowerPoint Presentation</vt:lpstr>
      <vt:lpstr>PowerPoint Presentation</vt:lpstr>
      <vt:lpstr>PowerPoint Presentation</vt:lpstr>
      <vt:lpstr>PowerPoint Presentation</vt:lpstr>
      <vt:lpstr>International on water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Independence Act 1947</dc:title>
  <dc:creator>tahir sial</dc:creator>
  <cp:lastModifiedBy>tahir sial</cp:lastModifiedBy>
  <cp:revision>7</cp:revision>
  <dcterms:created xsi:type="dcterms:W3CDTF">2020-04-23T08:35:42Z</dcterms:created>
  <dcterms:modified xsi:type="dcterms:W3CDTF">2021-01-01T09:52:11Z</dcterms:modified>
</cp:coreProperties>
</file>