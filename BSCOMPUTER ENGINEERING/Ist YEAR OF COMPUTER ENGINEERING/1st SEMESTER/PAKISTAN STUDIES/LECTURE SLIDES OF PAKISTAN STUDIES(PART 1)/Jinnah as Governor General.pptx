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01966-4AA4-47C5-A09E-9546FE2BB8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A57DCA-BD26-4277-80E0-3160C35AF6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DE1F4D-DA1D-4E40-9AAA-E9B51A4CF262}"/>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5" name="Footer Placeholder 4">
            <a:extLst>
              <a:ext uri="{FF2B5EF4-FFF2-40B4-BE49-F238E27FC236}">
                <a16:creationId xmlns:a16="http://schemas.microsoft.com/office/drawing/2014/main" id="{EAC39780-44A4-4134-BFE5-6D8E18B7C0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C1C728-E953-4B8E-9316-6DB2B91C324F}"/>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4059631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6470-3F47-4CFE-ACD2-730B72CDE5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7B3028-1B20-4A0F-A48F-B5E6F84F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A11BF2-3001-4B8A-89D0-21FF2EB3198D}"/>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5" name="Footer Placeholder 4">
            <a:extLst>
              <a:ext uri="{FF2B5EF4-FFF2-40B4-BE49-F238E27FC236}">
                <a16:creationId xmlns:a16="http://schemas.microsoft.com/office/drawing/2014/main" id="{749B695F-D1E0-405B-A88E-53F92B6C22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782745-73B7-4646-B541-32475B7795DA}"/>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790445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E2513-F1BF-4788-8782-982FE1B2CC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C4CC01-32AD-4EC8-BEA5-FDF86D2FF5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E401E4-582A-42CE-9582-6F5B71CF2E32}"/>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5" name="Footer Placeholder 4">
            <a:extLst>
              <a:ext uri="{FF2B5EF4-FFF2-40B4-BE49-F238E27FC236}">
                <a16:creationId xmlns:a16="http://schemas.microsoft.com/office/drawing/2014/main" id="{F53DB189-55BB-4FC5-B0C4-3BD05B011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C6356-3B51-4AC2-9F6B-1ED41D2DF8D0}"/>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4262058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D34D-99BA-442C-B9EB-5DD24CC3A7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F59A41-B412-4DE8-B237-B150CD97A8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0BC99D-33C4-4E7D-BA52-6CAEFEE0B7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85B556-37DD-402F-89F5-10980FE7BF4C}"/>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6" name="Footer Placeholder 5">
            <a:extLst>
              <a:ext uri="{FF2B5EF4-FFF2-40B4-BE49-F238E27FC236}">
                <a16:creationId xmlns:a16="http://schemas.microsoft.com/office/drawing/2014/main" id="{CEDBD508-D397-4010-8ABE-0B174AF38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C8C685-BB13-4F20-BA5D-9A8038C38586}"/>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1354146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9784E-13E0-4543-B3EB-18C76826FE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0483CA-556B-4CC0-9BA0-9EA0B8B0DD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D19613-1BAB-48B0-9815-5C401327DB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68BF43-E52E-46C7-8A47-B0E179027B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4D0B9-CC7F-4A11-8C8C-E4AE3B00D1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868753-72D1-4F7D-8398-8D62A2EE23B0}"/>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8" name="Footer Placeholder 7">
            <a:extLst>
              <a:ext uri="{FF2B5EF4-FFF2-40B4-BE49-F238E27FC236}">
                <a16:creationId xmlns:a16="http://schemas.microsoft.com/office/drawing/2014/main" id="{9986050C-5176-4F52-B896-C5BC1E39AD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0C1218-8B0F-414F-A323-AC90D73C5E92}"/>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247646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E56A-AA85-44A1-A617-D0B5ADBACD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DDD6BF-FA04-4BE2-8831-9D121CD6E643}"/>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4" name="Footer Placeholder 3">
            <a:extLst>
              <a:ext uri="{FF2B5EF4-FFF2-40B4-BE49-F238E27FC236}">
                <a16:creationId xmlns:a16="http://schemas.microsoft.com/office/drawing/2014/main" id="{363393F2-0863-48B2-A2FA-A9334DA59D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A15DCA-3747-4952-ABDF-B7F395C8C2F4}"/>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2072984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C36208-A5AF-44D4-B258-BA9E83DB6AAC}"/>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3" name="Footer Placeholder 2">
            <a:extLst>
              <a:ext uri="{FF2B5EF4-FFF2-40B4-BE49-F238E27FC236}">
                <a16:creationId xmlns:a16="http://schemas.microsoft.com/office/drawing/2014/main" id="{CDC8C8EC-6751-4A6F-B11C-374E25062B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3F48FC-576C-4B51-B27C-7A2EC14094BB}"/>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981243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E12CE-53A6-45B6-A9D5-776BF2E92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37BEE9-9F7E-4732-9CC4-11BC227752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3426F5-2CA5-491E-AB44-6645BE149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ACCEDD-6646-4E42-8563-5AB704A333FC}"/>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6" name="Footer Placeholder 5">
            <a:extLst>
              <a:ext uri="{FF2B5EF4-FFF2-40B4-BE49-F238E27FC236}">
                <a16:creationId xmlns:a16="http://schemas.microsoft.com/office/drawing/2014/main" id="{53D5F3DD-F2B2-42D3-A996-4019B0B5AA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6341FF-0252-4957-B545-D6845B5FB4D7}"/>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3820113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B55CD-5D05-4B8F-9AFF-1D19B9650E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5601F3-BE94-44E0-B6E2-0FEA708FE9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CCCC3E-31DD-4F35-96A2-6E87191BD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40717B-EE60-4B25-B0EA-B1BB4F0F59C9}"/>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6" name="Footer Placeholder 5">
            <a:extLst>
              <a:ext uri="{FF2B5EF4-FFF2-40B4-BE49-F238E27FC236}">
                <a16:creationId xmlns:a16="http://schemas.microsoft.com/office/drawing/2014/main" id="{36C8A5F6-48E6-459E-BB34-5767B21AEF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F574CD-0E88-498C-B172-8E177DB396AA}"/>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3490458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4254C-D9A3-4E2C-9530-449B770F2B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9F5A3B-F58C-49DF-9C20-05025CB933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B8AE71-DF5A-44B4-B2E8-B7CAC5FFA18C}"/>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5" name="Footer Placeholder 4">
            <a:extLst>
              <a:ext uri="{FF2B5EF4-FFF2-40B4-BE49-F238E27FC236}">
                <a16:creationId xmlns:a16="http://schemas.microsoft.com/office/drawing/2014/main" id="{022DE5DE-4834-4ECB-ADDE-B1122EF93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34C02-5A6B-4263-9E9E-94C32AD046A5}"/>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2780843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4B252E-A6D4-441B-BE2F-7D65024CD5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06CC4F-9F24-43F1-9975-6D015514F8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61D957-8D76-425B-862B-523E157B0074}"/>
              </a:ext>
            </a:extLst>
          </p:cNvPr>
          <p:cNvSpPr>
            <a:spLocks noGrp="1"/>
          </p:cNvSpPr>
          <p:nvPr>
            <p:ph type="dt" sz="half" idx="10"/>
          </p:nvPr>
        </p:nvSpPr>
        <p:spPr/>
        <p:txBody>
          <a:bodyPr/>
          <a:lstStyle/>
          <a:p>
            <a:fld id="{439CF354-31C2-423C-93C1-0912FFF0F4A2}" type="datetimeFigureOut">
              <a:rPr lang="en-US" smtClean="0"/>
              <a:t>5/4/2020</a:t>
            </a:fld>
            <a:endParaRPr lang="en-US"/>
          </a:p>
        </p:txBody>
      </p:sp>
      <p:sp>
        <p:nvSpPr>
          <p:cNvPr id="5" name="Footer Placeholder 4">
            <a:extLst>
              <a:ext uri="{FF2B5EF4-FFF2-40B4-BE49-F238E27FC236}">
                <a16:creationId xmlns:a16="http://schemas.microsoft.com/office/drawing/2014/main" id="{A62E7F8E-0B22-4791-BCAD-769D8CCE1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47F184-3324-4491-9F10-FB4746D9CADB}"/>
              </a:ext>
            </a:extLst>
          </p:cNvPr>
          <p:cNvSpPr>
            <a:spLocks noGrp="1"/>
          </p:cNvSpPr>
          <p:nvPr>
            <p:ph type="sldNum" sz="quarter" idx="12"/>
          </p:nvPr>
        </p:nvSpPr>
        <p:spPr/>
        <p:txBody>
          <a:bodyPr/>
          <a:lstStyle/>
          <a:p>
            <a:fld id="{A2BC79CA-F5A6-449D-8A3D-C62156D64C3C}" type="slidenum">
              <a:rPr lang="en-US" smtClean="0"/>
              <a:t>‹#›</a:t>
            </a:fld>
            <a:endParaRPr lang="en-US"/>
          </a:p>
        </p:txBody>
      </p:sp>
    </p:spTree>
    <p:extLst>
      <p:ext uri="{BB962C8B-B14F-4D97-AF65-F5344CB8AC3E}">
        <p14:creationId xmlns:p14="http://schemas.microsoft.com/office/powerpoint/2010/main" val="2705201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7CD825-D4E9-4269-A288-0540322F74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097D7B-A54A-41A0-8A3C-3414A94494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7F74B1-7C8C-44E0-B6A3-E751E5F757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9CF354-31C2-423C-93C1-0912FFF0F4A2}" type="datetimeFigureOut">
              <a:rPr lang="en-US" smtClean="0"/>
              <a:t>5/4/2020</a:t>
            </a:fld>
            <a:endParaRPr lang="en-US"/>
          </a:p>
        </p:txBody>
      </p:sp>
      <p:sp>
        <p:nvSpPr>
          <p:cNvPr id="5" name="Footer Placeholder 4">
            <a:extLst>
              <a:ext uri="{FF2B5EF4-FFF2-40B4-BE49-F238E27FC236}">
                <a16:creationId xmlns:a16="http://schemas.microsoft.com/office/drawing/2014/main" id="{FD38D9CF-9179-49CA-9E72-B9E09F4892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E4504E-113D-4AED-AC62-D003F78799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BC79CA-F5A6-449D-8A3D-C62156D64C3C}" type="slidenum">
              <a:rPr lang="en-US" smtClean="0"/>
              <a:t>‹#›</a:t>
            </a:fld>
            <a:endParaRPr lang="en-US"/>
          </a:p>
        </p:txBody>
      </p:sp>
    </p:spTree>
    <p:extLst>
      <p:ext uri="{BB962C8B-B14F-4D97-AF65-F5344CB8AC3E}">
        <p14:creationId xmlns:p14="http://schemas.microsoft.com/office/powerpoint/2010/main" val="3520177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FEFD8-4704-41CD-ACE8-9B640417E8ED}"/>
              </a:ext>
            </a:extLst>
          </p:cNvPr>
          <p:cNvSpPr>
            <a:spLocks noGrp="1"/>
          </p:cNvSpPr>
          <p:nvPr>
            <p:ph type="ctrTitle"/>
          </p:nvPr>
        </p:nvSpPr>
        <p:spPr/>
        <p:txBody>
          <a:bodyPr/>
          <a:lstStyle/>
          <a:p>
            <a:r>
              <a:rPr lang="en-US" b="1" dirty="0"/>
              <a:t>Jinnah as Governor General</a:t>
            </a:r>
          </a:p>
        </p:txBody>
      </p:sp>
      <p:sp>
        <p:nvSpPr>
          <p:cNvPr id="3" name="Subtitle 2">
            <a:extLst>
              <a:ext uri="{FF2B5EF4-FFF2-40B4-BE49-F238E27FC236}">
                <a16:creationId xmlns:a16="http://schemas.microsoft.com/office/drawing/2014/main" id="{2E1196D9-4F83-4D67-9A12-8E54EC9301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7293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49569-E699-4CB3-937D-FFD19D764F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C26929-ABA9-433C-BD3A-CF5650B60B06}"/>
              </a:ext>
            </a:extLst>
          </p:cNvPr>
          <p:cNvSpPr>
            <a:spLocks noGrp="1"/>
          </p:cNvSpPr>
          <p:nvPr>
            <p:ph idx="1"/>
          </p:nvPr>
        </p:nvSpPr>
        <p:spPr/>
        <p:txBody>
          <a:bodyPr>
            <a:normAutofit lnSpcReduction="10000"/>
          </a:bodyPr>
          <a:lstStyle/>
          <a:p>
            <a:pPr algn="just"/>
            <a:r>
              <a:rPr lang="en-US" dirty="0"/>
              <a:t>At the request of the Muslim League and with the approval of the King, on August 3, 1947, Mr. Jinnah, was appointed Governor-General of Pakistan. </a:t>
            </a:r>
          </a:p>
          <a:p>
            <a:pPr algn="just"/>
            <a:r>
              <a:rPr lang="en-US" dirty="0"/>
              <a:t>These issues are the Jammu and Kashmir; </a:t>
            </a:r>
            <a:r>
              <a:rPr lang="en-US" dirty="0" err="1"/>
              <a:t>Pakhtunistan</a:t>
            </a:r>
            <a:r>
              <a:rPr lang="en-US" dirty="0"/>
              <a:t>; accession of princely states to Pakistan, influx of Refugees into Pakistan from India; administration of the new state; financial resources of the new state; division of assets between India and Pakistan; division of armed forces between the two states; setting up new trends for Pakistan’s foreign policy including opening of foreign missions in various countries; framing of a new constitution for the State and setting up of the provincial governments according to the Muslim League policy especially in NWFP. </a:t>
            </a:r>
          </a:p>
        </p:txBody>
      </p:sp>
    </p:spTree>
    <p:extLst>
      <p:ext uri="{BB962C8B-B14F-4D97-AF65-F5344CB8AC3E}">
        <p14:creationId xmlns:p14="http://schemas.microsoft.com/office/powerpoint/2010/main" val="3688073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1E652-2E6E-4835-AC17-AB2653178D8D}"/>
              </a:ext>
            </a:extLst>
          </p:cNvPr>
          <p:cNvSpPr>
            <a:spLocks noGrp="1"/>
          </p:cNvSpPr>
          <p:nvPr>
            <p:ph type="title"/>
          </p:nvPr>
        </p:nvSpPr>
        <p:spPr>
          <a:xfrm>
            <a:off x="838200" y="365125"/>
            <a:ext cx="10515600" cy="1325563"/>
          </a:xfrm>
        </p:spPr>
        <p:txBody>
          <a:bodyPr>
            <a:normAutofit fontScale="90000"/>
          </a:bodyPr>
          <a:lstStyle/>
          <a:p>
            <a:r>
              <a:rPr lang="en-US" b="1" dirty="0"/>
              <a:t>One of the first challenges he faced was ‘minorities’</a:t>
            </a:r>
            <a:br>
              <a:rPr lang="en-US" b="1" dirty="0"/>
            </a:br>
            <a:endParaRPr lang="en-US" b="1" dirty="0"/>
          </a:p>
        </p:txBody>
      </p:sp>
      <p:sp>
        <p:nvSpPr>
          <p:cNvPr id="3" name="Content Placeholder 2">
            <a:extLst>
              <a:ext uri="{FF2B5EF4-FFF2-40B4-BE49-F238E27FC236}">
                <a16:creationId xmlns:a16="http://schemas.microsoft.com/office/drawing/2014/main" id="{1A1806C3-1C1F-498A-AA7B-A7AB05947522}"/>
              </a:ext>
            </a:extLst>
          </p:cNvPr>
          <p:cNvSpPr>
            <a:spLocks noGrp="1"/>
          </p:cNvSpPr>
          <p:nvPr>
            <p:ph idx="1"/>
          </p:nvPr>
        </p:nvSpPr>
        <p:spPr/>
        <p:txBody>
          <a:bodyPr>
            <a:normAutofit/>
          </a:bodyPr>
          <a:lstStyle/>
          <a:p>
            <a:pPr algn="just"/>
            <a:r>
              <a:rPr lang="en-US" dirty="0"/>
              <a:t>On 13 July addressing the first press conference in New Delhi after being designated as Pakistan’s first Governor-General the Quaid “assured the minorities in Pakistan that their religion, faith, life, property and culture would be fully protected.</a:t>
            </a:r>
          </a:p>
          <a:p>
            <a:pPr algn="just"/>
            <a:r>
              <a:rPr lang="en-US" dirty="0"/>
              <a:t>11</a:t>
            </a:r>
            <a:r>
              <a:rPr lang="en-US" baseline="30000" dirty="0"/>
              <a:t>th</a:t>
            </a:r>
            <a:r>
              <a:rPr lang="en-US" dirty="0"/>
              <a:t> August </a:t>
            </a:r>
          </a:p>
          <a:p>
            <a:pPr marL="0" indent="0" algn="just">
              <a:buNone/>
            </a:pPr>
            <a:r>
              <a:rPr lang="en-US" dirty="0"/>
              <a:t>Now I think we should keep that in front of us as our ideal and you will find that in course of time Hindus would cease to be Hindus and Muslims would cease to be Muslims, not in the religious sense, because that is the personal faith of each individual, but in the political sense as citizens of the State.</a:t>
            </a:r>
          </a:p>
          <a:p>
            <a:endParaRPr lang="en-US" dirty="0"/>
          </a:p>
          <a:p>
            <a:endParaRPr lang="en-US" dirty="0"/>
          </a:p>
        </p:txBody>
      </p:sp>
    </p:spTree>
    <p:extLst>
      <p:ext uri="{BB962C8B-B14F-4D97-AF65-F5344CB8AC3E}">
        <p14:creationId xmlns:p14="http://schemas.microsoft.com/office/powerpoint/2010/main" val="1647334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E9D2F-91C1-449E-8EE7-194C148FDD1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4BBC283-9317-4967-8369-DEB653BB041C}"/>
              </a:ext>
            </a:extLst>
          </p:cNvPr>
          <p:cNvSpPr>
            <a:spLocks noGrp="1"/>
          </p:cNvSpPr>
          <p:nvPr>
            <p:ph idx="1"/>
          </p:nvPr>
        </p:nvSpPr>
        <p:spPr/>
        <p:txBody>
          <a:bodyPr/>
          <a:lstStyle/>
          <a:p>
            <a:pPr algn="just"/>
            <a:r>
              <a:rPr lang="en-US" dirty="0"/>
              <a:t>18</a:t>
            </a:r>
            <a:r>
              <a:rPr lang="en-US" baseline="30000" dirty="0"/>
              <a:t>th</a:t>
            </a:r>
            <a:r>
              <a:rPr lang="en-US" dirty="0"/>
              <a:t> August Eid ul </a:t>
            </a:r>
            <a:r>
              <a:rPr lang="en-US" dirty="0" err="1"/>
              <a:t>Fitr</a:t>
            </a:r>
            <a:endParaRPr lang="en-US" dirty="0"/>
          </a:p>
          <a:p>
            <a:pPr algn="just"/>
            <a:r>
              <a:rPr lang="en-US" dirty="0"/>
              <a:t>“Those of our brethren who are minorities in Hindustan may rest assured that we shall never neglect or forget them. Our hearts go to them, and we shall consider no effort too great to help them and secure their well-being, for I recognize that it is the Muslim minority provinces in this sub-continent who were the pioneers and carried the banner aloft for the achievement of our cherished goal of Pakistan.”</a:t>
            </a:r>
          </a:p>
          <a:p>
            <a:endParaRPr lang="en-US" dirty="0"/>
          </a:p>
        </p:txBody>
      </p:sp>
    </p:spTree>
    <p:extLst>
      <p:ext uri="{BB962C8B-B14F-4D97-AF65-F5344CB8AC3E}">
        <p14:creationId xmlns:p14="http://schemas.microsoft.com/office/powerpoint/2010/main" val="2056405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03B6A-C5AB-4366-B6F4-10C38ECFF94A}"/>
              </a:ext>
            </a:extLst>
          </p:cNvPr>
          <p:cNvSpPr>
            <a:spLocks noGrp="1"/>
          </p:cNvSpPr>
          <p:nvPr>
            <p:ph type="title"/>
          </p:nvPr>
        </p:nvSpPr>
        <p:spPr/>
        <p:txBody>
          <a:bodyPr/>
          <a:lstStyle/>
          <a:p>
            <a:r>
              <a:rPr lang="en-US" b="1" dirty="0"/>
              <a:t>Concern on events in NWFP</a:t>
            </a:r>
          </a:p>
        </p:txBody>
      </p:sp>
      <p:sp>
        <p:nvSpPr>
          <p:cNvPr id="3" name="Content Placeholder 2">
            <a:extLst>
              <a:ext uri="{FF2B5EF4-FFF2-40B4-BE49-F238E27FC236}">
                <a16:creationId xmlns:a16="http://schemas.microsoft.com/office/drawing/2014/main" id="{72075366-2A4D-4C26-BA16-40AE7056E117}"/>
              </a:ext>
            </a:extLst>
          </p:cNvPr>
          <p:cNvSpPr>
            <a:spLocks noGrp="1"/>
          </p:cNvSpPr>
          <p:nvPr>
            <p:ph idx="1"/>
          </p:nvPr>
        </p:nvSpPr>
        <p:spPr/>
        <p:txBody>
          <a:bodyPr>
            <a:normAutofit fontScale="92500" lnSpcReduction="20000"/>
          </a:bodyPr>
          <a:lstStyle/>
          <a:p>
            <a:pPr algn="just"/>
            <a:r>
              <a:rPr lang="en-US" dirty="0"/>
              <a:t>Upon a direction from Quaid-</a:t>
            </a:r>
            <a:r>
              <a:rPr lang="en-US" dirty="0" err="1"/>
              <a:t>i</a:t>
            </a:r>
            <a:r>
              <a:rPr lang="en-US" dirty="0"/>
              <a:t>-Azam, the Governor-General, the Frontier Ministry headed by Dr. Khan Sahib was dismissed by an order of the NWFP Governor Sir George </a:t>
            </a:r>
            <a:r>
              <a:rPr lang="en-US" dirty="0" err="1"/>
              <a:t>Cunningam</a:t>
            </a:r>
            <a:r>
              <a:rPr lang="en-US" dirty="0"/>
              <a:t> on 22 August 1947. This action was considered necessary because of the Referendum in the NWFP in July 1947 by which the overwhelming majority of the NWFP had voted for Pakistan.</a:t>
            </a:r>
          </a:p>
          <a:p>
            <a:pPr algn="just"/>
            <a:r>
              <a:rPr lang="en-US" dirty="0"/>
              <a:t> The Muslim League had launched agitation against this Congress government but was suspended on the orders from the Quaid. However, following the birth of Pakistan when Dr. Khan Sahib’s Ministry refused to salute Pakistan flag it became necessary to dismiss it in the interest of Pakistan.</a:t>
            </a:r>
          </a:p>
          <a:p>
            <a:pPr algn="just"/>
            <a:r>
              <a:rPr lang="en-US" dirty="0"/>
              <a:t>Khan Abdul Qayyum Khan, the opposition leader belonging to Muslim League, was invited to form new provincial Ministry. Thus the provincial affairs of NWFP were set toward the right direction. </a:t>
            </a:r>
          </a:p>
        </p:txBody>
      </p:sp>
    </p:spTree>
    <p:extLst>
      <p:ext uri="{BB962C8B-B14F-4D97-AF65-F5344CB8AC3E}">
        <p14:creationId xmlns:p14="http://schemas.microsoft.com/office/powerpoint/2010/main" val="137483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1DACF-5F22-48D7-ADE0-3083655F3A1E}"/>
              </a:ext>
            </a:extLst>
          </p:cNvPr>
          <p:cNvSpPr>
            <a:spLocks noGrp="1"/>
          </p:cNvSpPr>
          <p:nvPr>
            <p:ph type="title"/>
          </p:nvPr>
        </p:nvSpPr>
        <p:spPr/>
        <p:txBody>
          <a:bodyPr/>
          <a:lstStyle/>
          <a:p>
            <a:r>
              <a:rPr lang="en-US" b="1" dirty="0"/>
              <a:t>Radcliff Award</a:t>
            </a:r>
          </a:p>
        </p:txBody>
      </p:sp>
      <p:sp>
        <p:nvSpPr>
          <p:cNvPr id="3" name="Content Placeholder 2">
            <a:extLst>
              <a:ext uri="{FF2B5EF4-FFF2-40B4-BE49-F238E27FC236}">
                <a16:creationId xmlns:a16="http://schemas.microsoft.com/office/drawing/2014/main" id="{D14B5521-FE89-41CB-83CF-C57660600F7B}"/>
              </a:ext>
            </a:extLst>
          </p:cNvPr>
          <p:cNvSpPr>
            <a:spLocks noGrp="1"/>
          </p:cNvSpPr>
          <p:nvPr>
            <p:ph idx="1"/>
          </p:nvPr>
        </p:nvSpPr>
        <p:spPr/>
        <p:txBody>
          <a:bodyPr/>
          <a:lstStyle/>
          <a:p>
            <a:pPr algn="just"/>
            <a:r>
              <a:rPr lang="en-US" dirty="0"/>
              <a:t>After the Radcliff Award was announced, there was great agitation in the minds of the Muslim League workers of the Punjab. Speaking in this connection on Radio Pakistan, Lahore station on 31 August 1947, the Quaid maintained that the Award “may be wrong, unjust, and perverse, and it may be not a judicial but political award, but we agreed to abide by it and it is binding upon us”. Thus the agitation subsided under the Quaid’s guidance for peace and order in the Punjab which helped a lot in preparing the Punjab Government to look after the thousands of Refugees coming from the Indian Punjab These refugees were mostly settled in various cities of the Punjab</a:t>
            </a:r>
          </a:p>
        </p:txBody>
      </p:sp>
    </p:spTree>
    <p:extLst>
      <p:ext uri="{BB962C8B-B14F-4D97-AF65-F5344CB8AC3E}">
        <p14:creationId xmlns:p14="http://schemas.microsoft.com/office/powerpoint/2010/main" val="1764758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20C8E-9CE7-48BB-BD03-AADBE6E4E893}"/>
              </a:ext>
            </a:extLst>
          </p:cNvPr>
          <p:cNvSpPr>
            <a:spLocks noGrp="1"/>
          </p:cNvSpPr>
          <p:nvPr>
            <p:ph type="title"/>
          </p:nvPr>
        </p:nvSpPr>
        <p:spPr/>
        <p:txBody>
          <a:bodyPr/>
          <a:lstStyle/>
          <a:p>
            <a:r>
              <a:rPr lang="en-US" b="1" dirty="0"/>
              <a:t>UN membership</a:t>
            </a:r>
          </a:p>
        </p:txBody>
      </p:sp>
      <p:sp>
        <p:nvSpPr>
          <p:cNvPr id="3" name="Content Placeholder 2">
            <a:extLst>
              <a:ext uri="{FF2B5EF4-FFF2-40B4-BE49-F238E27FC236}">
                <a16:creationId xmlns:a16="http://schemas.microsoft.com/office/drawing/2014/main" id="{C928A7B1-36B7-4F37-9252-2BF53DD121FA}"/>
              </a:ext>
            </a:extLst>
          </p:cNvPr>
          <p:cNvSpPr>
            <a:spLocks noGrp="1"/>
          </p:cNvSpPr>
          <p:nvPr>
            <p:ph idx="1"/>
          </p:nvPr>
        </p:nvSpPr>
        <p:spPr/>
        <p:txBody>
          <a:bodyPr/>
          <a:lstStyle/>
          <a:p>
            <a:pPr algn="just"/>
            <a:r>
              <a:rPr lang="en-US" dirty="0"/>
              <a:t>The Quaid was deeply interested to get full membership of the United Nations for Pakistan. For this purpose Muslim League Representative M.O.A. </a:t>
            </a:r>
            <a:r>
              <a:rPr lang="en-US" dirty="0" err="1"/>
              <a:t>Baig</a:t>
            </a:r>
            <a:r>
              <a:rPr lang="en-US" dirty="0"/>
              <a:t> was sent to Lake Success in U.S.A. On 13 August he conveyed to the U.N. Secretary-General Mr. Trygve Lie, the Pakistan’s designated Governor-General’s wish to get UN membership. On this basis the UNO Security Council in its meeting on 19 August unanimously recommended to the September Session of the General Assembly of the U.N. to admit the new British Commonwealth member Pakistan.</a:t>
            </a:r>
          </a:p>
        </p:txBody>
      </p:sp>
    </p:spTree>
    <p:extLst>
      <p:ext uri="{BB962C8B-B14F-4D97-AF65-F5344CB8AC3E}">
        <p14:creationId xmlns:p14="http://schemas.microsoft.com/office/powerpoint/2010/main" val="227625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20C5E-3986-4999-BA2C-665083839B3E}"/>
              </a:ext>
            </a:extLst>
          </p:cNvPr>
          <p:cNvSpPr>
            <a:spLocks noGrp="1"/>
          </p:cNvSpPr>
          <p:nvPr>
            <p:ph type="title"/>
          </p:nvPr>
        </p:nvSpPr>
        <p:spPr/>
        <p:txBody>
          <a:bodyPr/>
          <a:lstStyle/>
          <a:p>
            <a:r>
              <a:rPr lang="en-US" b="1" dirty="0"/>
              <a:t>Kashmir</a:t>
            </a:r>
          </a:p>
        </p:txBody>
      </p:sp>
      <p:sp>
        <p:nvSpPr>
          <p:cNvPr id="3" name="Content Placeholder 2">
            <a:extLst>
              <a:ext uri="{FF2B5EF4-FFF2-40B4-BE49-F238E27FC236}">
                <a16:creationId xmlns:a16="http://schemas.microsoft.com/office/drawing/2014/main" id="{49C3485F-2B5C-4BAF-A8C4-39A07223112C}"/>
              </a:ext>
            </a:extLst>
          </p:cNvPr>
          <p:cNvSpPr>
            <a:spLocks noGrp="1"/>
          </p:cNvSpPr>
          <p:nvPr>
            <p:ph idx="1"/>
          </p:nvPr>
        </p:nvSpPr>
        <p:spPr/>
        <p:txBody>
          <a:bodyPr/>
          <a:lstStyle/>
          <a:p>
            <a:pPr algn="just"/>
            <a:r>
              <a:rPr lang="en-US" dirty="0"/>
              <a:t>On 1 January 1948 India complained to President of the U.N. Security Council against Pakistan of sending Pakistani nationals and tribesmen for operation in Jammu and Kashmir. This complaint was lodged by P.P. Pillai, India’s Permanent Representative to the U.N. for the purpose of asking UN to take a quick action. Pakistan pleaded with U.N. Commission to consult with Azad Kashmir Government for solution of Kashmir issue in which the Pakistan Government was ready to assist. This was said on 6 September 1948 in reply to U.N. Commission’s Resolution of 13 August 1948.</a:t>
            </a:r>
          </a:p>
        </p:txBody>
      </p:sp>
    </p:spTree>
    <p:extLst>
      <p:ext uri="{BB962C8B-B14F-4D97-AF65-F5344CB8AC3E}">
        <p14:creationId xmlns:p14="http://schemas.microsoft.com/office/powerpoint/2010/main" val="271114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9BADD-0478-438D-A2C3-512134A8F2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87DE0F-A4F7-47A0-B8EC-B05997954813}"/>
              </a:ext>
            </a:extLst>
          </p:cNvPr>
          <p:cNvSpPr>
            <a:spLocks noGrp="1"/>
          </p:cNvSpPr>
          <p:nvPr>
            <p:ph idx="1"/>
          </p:nvPr>
        </p:nvSpPr>
        <p:spPr/>
        <p:txBody>
          <a:bodyPr>
            <a:normAutofit lnSpcReduction="10000"/>
          </a:bodyPr>
          <a:lstStyle/>
          <a:p>
            <a:r>
              <a:rPr lang="en-US" dirty="0"/>
              <a:t>Apart from the Kashmir issue, the issue of accession of 10 states within the boundaries of Pakistan was causing tension especially the Khan of Kalat. They needed to be convinced about the details of joining. </a:t>
            </a:r>
          </a:p>
          <a:p>
            <a:r>
              <a:rPr lang="en-US" dirty="0"/>
              <a:t>These states were: </a:t>
            </a:r>
            <a:r>
              <a:rPr lang="en-US" b="1" dirty="0"/>
              <a:t>Chitral, </a:t>
            </a:r>
            <a:r>
              <a:rPr lang="en-US" b="1" dirty="0" err="1"/>
              <a:t>Amb</a:t>
            </a:r>
            <a:r>
              <a:rPr lang="en-US" b="1" dirty="0"/>
              <a:t>, Swat, Dir, </a:t>
            </a:r>
            <a:r>
              <a:rPr lang="en-US" b="1" dirty="0" err="1"/>
              <a:t>Makran</a:t>
            </a:r>
            <a:r>
              <a:rPr lang="en-US" b="1" dirty="0"/>
              <a:t>, </a:t>
            </a:r>
            <a:r>
              <a:rPr lang="en-US" b="1" dirty="0" err="1"/>
              <a:t>Kharan</a:t>
            </a:r>
            <a:r>
              <a:rPr lang="en-US" b="1" dirty="0"/>
              <a:t>, </a:t>
            </a:r>
            <a:r>
              <a:rPr lang="en-US" b="1" dirty="0" err="1"/>
              <a:t>Lasbella</a:t>
            </a:r>
            <a:r>
              <a:rPr lang="en-US" b="1" dirty="0"/>
              <a:t>, Kalat, Khairpur</a:t>
            </a:r>
            <a:r>
              <a:rPr lang="en-US" dirty="0"/>
              <a:t>, and </a:t>
            </a:r>
            <a:r>
              <a:rPr lang="en-US" b="1" dirty="0"/>
              <a:t>Bahawalpur</a:t>
            </a:r>
            <a:r>
              <a:rPr lang="en-US" dirty="0"/>
              <a:t>. Largest of these states was Bahawalpur. The Quaid played very important role in convincing the Rulers of these states to accede to Pakistan. These states acceded to Pakistan between 3 October 1947 and 31 March 1948.50 Thus this issue of great importance was settled during the life-time of Quaid-</a:t>
            </a:r>
            <a:r>
              <a:rPr lang="en-US" dirty="0" err="1"/>
              <a:t>i</a:t>
            </a:r>
            <a:r>
              <a:rPr lang="en-US" dirty="0"/>
              <a:t>-Azam</a:t>
            </a:r>
          </a:p>
        </p:txBody>
      </p:sp>
    </p:spTree>
    <p:extLst>
      <p:ext uri="{BB962C8B-B14F-4D97-AF65-F5344CB8AC3E}">
        <p14:creationId xmlns:p14="http://schemas.microsoft.com/office/powerpoint/2010/main" val="2700544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AA0E-D8DD-49C8-AC89-ED8405EC4F6E}"/>
              </a:ext>
            </a:extLst>
          </p:cNvPr>
          <p:cNvSpPr>
            <a:spLocks noGrp="1"/>
          </p:cNvSpPr>
          <p:nvPr>
            <p:ph type="title"/>
          </p:nvPr>
        </p:nvSpPr>
        <p:spPr/>
        <p:txBody>
          <a:bodyPr/>
          <a:lstStyle/>
          <a:p>
            <a:r>
              <a:rPr lang="en-US" b="1" dirty="0"/>
              <a:t>State Bank</a:t>
            </a:r>
          </a:p>
        </p:txBody>
      </p:sp>
      <p:sp>
        <p:nvSpPr>
          <p:cNvPr id="3" name="Content Placeholder 2">
            <a:extLst>
              <a:ext uri="{FF2B5EF4-FFF2-40B4-BE49-F238E27FC236}">
                <a16:creationId xmlns:a16="http://schemas.microsoft.com/office/drawing/2014/main" id="{6AD43A77-5DA0-48E6-B63A-2B3D0CB5D002}"/>
              </a:ext>
            </a:extLst>
          </p:cNvPr>
          <p:cNvSpPr>
            <a:spLocks noGrp="1"/>
          </p:cNvSpPr>
          <p:nvPr>
            <p:ph idx="1"/>
          </p:nvPr>
        </p:nvSpPr>
        <p:spPr/>
        <p:txBody>
          <a:bodyPr>
            <a:normAutofit fontScale="92500" lnSpcReduction="10000"/>
          </a:bodyPr>
          <a:lstStyle/>
          <a:p>
            <a:pPr algn="just"/>
            <a:r>
              <a:rPr lang="en-US" dirty="0"/>
              <a:t>on 1 July 1948 that the State Bank of Pakistan was established in Karachi. The opening ceremony was presided over by the Quaid. On this occasion the Quaid said: I need hardly dilate on the important role that the State Bank will have to play in regulating the economic life of our country. The monetary policy of the bank will have a direct bearing on our trade and commerce, both inside Pakistan as well as with the outside world and it is only to be desired that your policy should encourage maximum production and a free flow of trade. </a:t>
            </a:r>
          </a:p>
          <a:p>
            <a:pPr algn="just"/>
            <a:r>
              <a:rPr lang="en-US" dirty="0"/>
              <a:t>The monetary policy pursued during the war years contributed, in no small measures, to our present day economic problems. The abnormal rise in the cost of living has hit the poorer sections of society including those with fixed incomes very hard indeed and is responsible to a great extent for the prevailing unrest in the country.</a:t>
            </a:r>
          </a:p>
        </p:txBody>
      </p:sp>
    </p:spTree>
    <p:extLst>
      <p:ext uri="{BB962C8B-B14F-4D97-AF65-F5344CB8AC3E}">
        <p14:creationId xmlns:p14="http://schemas.microsoft.com/office/powerpoint/2010/main" val="244679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8E9B3-9A9A-441D-B0DE-721AD222FDB7}"/>
              </a:ext>
            </a:extLst>
          </p:cNvPr>
          <p:cNvSpPr>
            <a:spLocks noGrp="1"/>
          </p:cNvSpPr>
          <p:nvPr>
            <p:ph type="title"/>
          </p:nvPr>
        </p:nvSpPr>
        <p:spPr/>
        <p:txBody>
          <a:bodyPr/>
          <a:lstStyle/>
          <a:p>
            <a:r>
              <a:rPr lang="en-US" b="1" dirty="0"/>
              <a:t>Foreign Policy</a:t>
            </a:r>
          </a:p>
        </p:txBody>
      </p:sp>
      <p:sp>
        <p:nvSpPr>
          <p:cNvPr id="3" name="Content Placeholder 2">
            <a:extLst>
              <a:ext uri="{FF2B5EF4-FFF2-40B4-BE49-F238E27FC236}">
                <a16:creationId xmlns:a16="http://schemas.microsoft.com/office/drawing/2014/main" id="{C1D70AA9-56FE-4876-8591-2D66C37C0921}"/>
              </a:ext>
            </a:extLst>
          </p:cNvPr>
          <p:cNvSpPr>
            <a:spLocks noGrp="1"/>
          </p:cNvSpPr>
          <p:nvPr>
            <p:ph idx="1"/>
          </p:nvPr>
        </p:nvSpPr>
        <p:spPr/>
        <p:txBody>
          <a:bodyPr/>
          <a:lstStyle/>
          <a:p>
            <a:pPr algn="just"/>
            <a:r>
              <a:rPr lang="en-US" dirty="0"/>
              <a:t>The basic principle on which Quaid-</a:t>
            </a:r>
            <a:r>
              <a:rPr lang="en-US" dirty="0" err="1"/>
              <a:t>i</a:t>
            </a:r>
            <a:r>
              <a:rPr lang="en-US" dirty="0"/>
              <a:t>-Azam wanted Pakistan to build up its relations with the foreign countries was to pursue the goal of peace, both within and outside the country. </a:t>
            </a:r>
          </a:p>
          <a:p>
            <a:pPr algn="just"/>
            <a:r>
              <a:rPr lang="en-US" dirty="0"/>
              <a:t>This could not be done, he believed, unless we create a spirit of goodwill. That could he done only if we were sympathetic towards all the human beings and work for the solution of problems of any nation suffering in any part of the world. </a:t>
            </a:r>
          </a:p>
          <a:p>
            <a:pPr algn="just"/>
            <a:r>
              <a:rPr lang="en-US" dirty="0"/>
              <a:t>These were the Islamic principles on which Quaid-</a:t>
            </a:r>
            <a:r>
              <a:rPr lang="en-US" dirty="0" err="1"/>
              <a:t>i</a:t>
            </a:r>
            <a:r>
              <a:rPr lang="en-US" dirty="0"/>
              <a:t>-Azam desired the Government of Pakistan to act.</a:t>
            </a:r>
          </a:p>
        </p:txBody>
      </p:sp>
    </p:spTree>
    <p:extLst>
      <p:ext uri="{BB962C8B-B14F-4D97-AF65-F5344CB8AC3E}">
        <p14:creationId xmlns:p14="http://schemas.microsoft.com/office/powerpoint/2010/main" val="2231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36A41-2289-488D-A2EC-E894B79F7B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89C133-7608-4B02-A3AF-EC747DD7A881}"/>
              </a:ext>
            </a:extLst>
          </p:cNvPr>
          <p:cNvSpPr>
            <a:spLocks noGrp="1"/>
          </p:cNvSpPr>
          <p:nvPr>
            <p:ph idx="1"/>
          </p:nvPr>
        </p:nvSpPr>
        <p:spPr/>
        <p:txBody>
          <a:bodyPr>
            <a:normAutofit fontScale="92500" lnSpcReduction="10000"/>
          </a:bodyPr>
          <a:lstStyle/>
          <a:p>
            <a:pPr algn="just"/>
            <a:r>
              <a:rPr lang="en-US" dirty="0"/>
              <a:t>It was a matter of priorities and need of the people of Pakistan that they wanted to establish good relations with their neighboring countries, especially the Muslim block, the world powers and other humanities living anywhere in the world.</a:t>
            </a:r>
          </a:p>
          <a:p>
            <a:pPr algn="just"/>
            <a:r>
              <a:rPr lang="en-US" dirty="0"/>
              <a:t>Our foreign policy is one of friendliness and goodwill towards all the nations of the world. We do not cherish aggressive designs against any country or nation. We believe in the principle of honesty and </a:t>
            </a:r>
            <a:r>
              <a:rPr lang="en-US" dirty="0" err="1"/>
              <a:t>fairplay</a:t>
            </a:r>
            <a:r>
              <a:rPr lang="en-US" dirty="0"/>
              <a:t> in national and international dealings and are prepared to make our utmost contribution to the promotion of peace and prosperity among the nations of the world. Pakistan will never be found lacking in extending its material and moral support to the oppressed and suppressed peoples of the world and in upholding the principles of the United Nations Charter.</a:t>
            </a:r>
          </a:p>
        </p:txBody>
      </p:sp>
    </p:spTree>
    <p:extLst>
      <p:ext uri="{BB962C8B-B14F-4D97-AF65-F5344CB8AC3E}">
        <p14:creationId xmlns:p14="http://schemas.microsoft.com/office/powerpoint/2010/main" val="2347150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C894D-47D3-4008-8E92-538FF565EBFD}"/>
              </a:ext>
            </a:extLst>
          </p:cNvPr>
          <p:cNvSpPr>
            <a:spLocks noGrp="1"/>
          </p:cNvSpPr>
          <p:nvPr>
            <p:ph type="title"/>
          </p:nvPr>
        </p:nvSpPr>
        <p:spPr/>
        <p:txBody>
          <a:bodyPr/>
          <a:lstStyle/>
          <a:p>
            <a:r>
              <a:rPr lang="en-US" b="1" dirty="0"/>
              <a:t>Language Issue </a:t>
            </a:r>
          </a:p>
        </p:txBody>
      </p:sp>
      <p:sp>
        <p:nvSpPr>
          <p:cNvPr id="3" name="Content Placeholder 2">
            <a:extLst>
              <a:ext uri="{FF2B5EF4-FFF2-40B4-BE49-F238E27FC236}">
                <a16:creationId xmlns:a16="http://schemas.microsoft.com/office/drawing/2014/main" id="{29A805CA-801B-41B0-91E1-4FA5BFFD9433}"/>
              </a:ext>
            </a:extLst>
          </p:cNvPr>
          <p:cNvSpPr>
            <a:spLocks noGrp="1"/>
          </p:cNvSpPr>
          <p:nvPr>
            <p:ph idx="1"/>
          </p:nvPr>
        </p:nvSpPr>
        <p:spPr/>
        <p:txBody>
          <a:bodyPr/>
          <a:lstStyle/>
          <a:p>
            <a:r>
              <a:rPr lang="en-US" dirty="0"/>
              <a:t>March 1948 Protests at Dhaka university</a:t>
            </a:r>
          </a:p>
        </p:txBody>
      </p:sp>
    </p:spTree>
    <p:extLst>
      <p:ext uri="{BB962C8B-B14F-4D97-AF65-F5344CB8AC3E}">
        <p14:creationId xmlns:p14="http://schemas.microsoft.com/office/powerpoint/2010/main" val="978690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781</TotalTime>
  <Words>1363</Words>
  <Application>Microsoft Office PowerPoint</Application>
  <PresentationFormat>Widescreen</PresentationFormat>
  <Paragraphs>32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Jinnah as Governor General</vt:lpstr>
      <vt:lpstr>PowerPoint Presentation</vt:lpstr>
      <vt:lpstr>One of the first challenges he faced was ‘minorities’ </vt:lpstr>
      <vt:lpstr>PowerPoint Presentation</vt:lpstr>
      <vt:lpstr>Concern on events in NWFP</vt:lpstr>
      <vt:lpstr>Radcliff Award</vt:lpstr>
      <vt:lpstr>UN membership</vt:lpstr>
      <vt:lpstr>Kashmir</vt:lpstr>
      <vt:lpstr>PowerPoint Presentation</vt:lpstr>
      <vt:lpstr>State Bank</vt:lpstr>
      <vt:lpstr>Foreign Policy</vt:lpstr>
      <vt:lpstr>PowerPoint Presentation</vt:lpstr>
      <vt:lpstr>Language Issue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Jinnah as Governor General</dc:title>
  <dc:creator>tahir sial</dc:creator>
  <cp:lastModifiedBy>tahir sial</cp:lastModifiedBy>
  <cp:revision>15</cp:revision>
  <dcterms:created xsi:type="dcterms:W3CDTF">2020-04-23T08:42:44Z</dcterms:created>
  <dcterms:modified xsi:type="dcterms:W3CDTF">2020-05-04T11:34:48Z</dcterms:modified>
</cp:coreProperties>
</file>