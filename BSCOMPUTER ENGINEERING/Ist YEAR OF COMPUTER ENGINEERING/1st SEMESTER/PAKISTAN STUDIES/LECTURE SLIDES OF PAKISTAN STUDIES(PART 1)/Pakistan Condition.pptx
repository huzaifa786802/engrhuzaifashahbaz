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1" r:id="rId3"/>
    <p:sldId id="257" r:id="rId4"/>
    <p:sldId id="258" r:id="rId5"/>
    <p:sldId id="259" r:id="rId6"/>
    <p:sldId id="283" r:id="rId7"/>
    <p:sldId id="282" r:id="rId8"/>
    <p:sldId id="260"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8" d="100"/>
          <a:sy n="68" d="100"/>
        </p:scale>
        <p:origin x="792"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0110B3-8600-4E4D-9576-234ED6415D6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AC18EF3-BF67-45B2-98FA-067C9529C2B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C6D494C-A79B-4C09-B90B-0D4F3A40F84B}"/>
              </a:ext>
            </a:extLst>
          </p:cNvPr>
          <p:cNvSpPr>
            <a:spLocks noGrp="1"/>
          </p:cNvSpPr>
          <p:nvPr>
            <p:ph type="dt" sz="half" idx="10"/>
          </p:nvPr>
        </p:nvSpPr>
        <p:spPr/>
        <p:txBody>
          <a:bodyPr/>
          <a:lstStyle/>
          <a:p>
            <a:fld id="{CA3178D5-45DD-4809-BDE3-48D4066C29C7}" type="datetimeFigureOut">
              <a:rPr lang="en-US" smtClean="0"/>
              <a:t>3/9/2021</a:t>
            </a:fld>
            <a:endParaRPr lang="en-US"/>
          </a:p>
        </p:txBody>
      </p:sp>
      <p:sp>
        <p:nvSpPr>
          <p:cNvPr id="5" name="Footer Placeholder 4">
            <a:extLst>
              <a:ext uri="{FF2B5EF4-FFF2-40B4-BE49-F238E27FC236}">
                <a16:creationId xmlns:a16="http://schemas.microsoft.com/office/drawing/2014/main" id="{B9798DB1-C1FA-49AD-B603-1FFD47345E8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0C583FD-70CA-4BA3-8F2A-436B63E30025}"/>
              </a:ext>
            </a:extLst>
          </p:cNvPr>
          <p:cNvSpPr>
            <a:spLocks noGrp="1"/>
          </p:cNvSpPr>
          <p:nvPr>
            <p:ph type="sldNum" sz="quarter" idx="12"/>
          </p:nvPr>
        </p:nvSpPr>
        <p:spPr/>
        <p:txBody>
          <a:bodyPr/>
          <a:lstStyle/>
          <a:p>
            <a:fld id="{5B208F79-DF8C-4899-B5C2-00812ABD3262}" type="slidenum">
              <a:rPr lang="en-US" smtClean="0"/>
              <a:t>‹#›</a:t>
            </a:fld>
            <a:endParaRPr lang="en-US"/>
          </a:p>
        </p:txBody>
      </p:sp>
    </p:spTree>
    <p:extLst>
      <p:ext uri="{BB962C8B-B14F-4D97-AF65-F5344CB8AC3E}">
        <p14:creationId xmlns:p14="http://schemas.microsoft.com/office/powerpoint/2010/main" val="9703116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EDD977-1313-4E5B-A50F-303CDA0C14D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4EB7E8D-92E3-4767-82DD-857CC93B339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DEA10A3-B764-4494-AC73-D55572A32F6F}"/>
              </a:ext>
            </a:extLst>
          </p:cNvPr>
          <p:cNvSpPr>
            <a:spLocks noGrp="1"/>
          </p:cNvSpPr>
          <p:nvPr>
            <p:ph type="dt" sz="half" idx="10"/>
          </p:nvPr>
        </p:nvSpPr>
        <p:spPr/>
        <p:txBody>
          <a:bodyPr/>
          <a:lstStyle/>
          <a:p>
            <a:fld id="{CA3178D5-45DD-4809-BDE3-48D4066C29C7}" type="datetimeFigureOut">
              <a:rPr lang="en-US" smtClean="0"/>
              <a:t>3/9/2021</a:t>
            </a:fld>
            <a:endParaRPr lang="en-US"/>
          </a:p>
        </p:txBody>
      </p:sp>
      <p:sp>
        <p:nvSpPr>
          <p:cNvPr id="5" name="Footer Placeholder 4">
            <a:extLst>
              <a:ext uri="{FF2B5EF4-FFF2-40B4-BE49-F238E27FC236}">
                <a16:creationId xmlns:a16="http://schemas.microsoft.com/office/drawing/2014/main" id="{6291EF0A-9B34-424B-8021-DF984A9498C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B66DE97-C592-4AEA-A431-2CF5739D4F2A}"/>
              </a:ext>
            </a:extLst>
          </p:cNvPr>
          <p:cNvSpPr>
            <a:spLocks noGrp="1"/>
          </p:cNvSpPr>
          <p:nvPr>
            <p:ph type="sldNum" sz="quarter" idx="12"/>
          </p:nvPr>
        </p:nvSpPr>
        <p:spPr/>
        <p:txBody>
          <a:bodyPr/>
          <a:lstStyle/>
          <a:p>
            <a:fld id="{5B208F79-DF8C-4899-B5C2-00812ABD3262}" type="slidenum">
              <a:rPr lang="en-US" smtClean="0"/>
              <a:t>‹#›</a:t>
            </a:fld>
            <a:endParaRPr lang="en-US"/>
          </a:p>
        </p:txBody>
      </p:sp>
    </p:spTree>
    <p:extLst>
      <p:ext uri="{BB962C8B-B14F-4D97-AF65-F5344CB8AC3E}">
        <p14:creationId xmlns:p14="http://schemas.microsoft.com/office/powerpoint/2010/main" val="14303008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3DBDC2-A735-47FB-BACB-2FBCDD58A11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9FB7A2A-ED86-4615-B860-7A6BDABD571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5E28F65-E2EC-4010-8D09-01851B86A74C}"/>
              </a:ext>
            </a:extLst>
          </p:cNvPr>
          <p:cNvSpPr>
            <a:spLocks noGrp="1"/>
          </p:cNvSpPr>
          <p:nvPr>
            <p:ph type="dt" sz="half" idx="10"/>
          </p:nvPr>
        </p:nvSpPr>
        <p:spPr/>
        <p:txBody>
          <a:bodyPr/>
          <a:lstStyle/>
          <a:p>
            <a:fld id="{CA3178D5-45DD-4809-BDE3-48D4066C29C7}" type="datetimeFigureOut">
              <a:rPr lang="en-US" smtClean="0"/>
              <a:t>3/9/2021</a:t>
            </a:fld>
            <a:endParaRPr lang="en-US"/>
          </a:p>
        </p:txBody>
      </p:sp>
      <p:sp>
        <p:nvSpPr>
          <p:cNvPr id="5" name="Footer Placeholder 4">
            <a:extLst>
              <a:ext uri="{FF2B5EF4-FFF2-40B4-BE49-F238E27FC236}">
                <a16:creationId xmlns:a16="http://schemas.microsoft.com/office/drawing/2014/main" id="{9A5639EB-2EB9-44F5-8EE2-6A8E95E6363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CED83AD-1DC2-486A-87FA-A2708085C1D6}"/>
              </a:ext>
            </a:extLst>
          </p:cNvPr>
          <p:cNvSpPr>
            <a:spLocks noGrp="1"/>
          </p:cNvSpPr>
          <p:nvPr>
            <p:ph type="sldNum" sz="quarter" idx="12"/>
          </p:nvPr>
        </p:nvSpPr>
        <p:spPr/>
        <p:txBody>
          <a:bodyPr/>
          <a:lstStyle/>
          <a:p>
            <a:fld id="{5B208F79-DF8C-4899-B5C2-00812ABD3262}" type="slidenum">
              <a:rPr lang="en-US" smtClean="0"/>
              <a:t>‹#›</a:t>
            </a:fld>
            <a:endParaRPr lang="en-US"/>
          </a:p>
        </p:txBody>
      </p:sp>
    </p:spTree>
    <p:extLst>
      <p:ext uri="{BB962C8B-B14F-4D97-AF65-F5344CB8AC3E}">
        <p14:creationId xmlns:p14="http://schemas.microsoft.com/office/powerpoint/2010/main" val="3948983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719D85-37D3-4D31-AA7D-C8E7A19DECD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1E98132-33FC-4653-9999-60FC7B0D8F0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C027A02-6B95-48EB-849D-793A66CF911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7D02620-FAAC-436C-97F9-939CF55D994E}"/>
              </a:ext>
            </a:extLst>
          </p:cNvPr>
          <p:cNvSpPr>
            <a:spLocks noGrp="1"/>
          </p:cNvSpPr>
          <p:nvPr>
            <p:ph type="dt" sz="half" idx="10"/>
          </p:nvPr>
        </p:nvSpPr>
        <p:spPr/>
        <p:txBody>
          <a:bodyPr/>
          <a:lstStyle/>
          <a:p>
            <a:fld id="{CA3178D5-45DD-4809-BDE3-48D4066C29C7}" type="datetimeFigureOut">
              <a:rPr lang="en-US" smtClean="0"/>
              <a:t>3/9/2021</a:t>
            </a:fld>
            <a:endParaRPr lang="en-US"/>
          </a:p>
        </p:txBody>
      </p:sp>
      <p:sp>
        <p:nvSpPr>
          <p:cNvPr id="6" name="Footer Placeholder 5">
            <a:extLst>
              <a:ext uri="{FF2B5EF4-FFF2-40B4-BE49-F238E27FC236}">
                <a16:creationId xmlns:a16="http://schemas.microsoft.com/office/drawing/2014/main" id="{726AF47B-081D-4CCC-B80C-C5C27C5ADB1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3281273-E9B8-4B3F-8A67-05D55D8AA746}"/>
              </a:ext>
            </a:extLst>
          </p:cNvPr>
          <p:cNvSpPr>
            <a:spLocks noGrp="1"/>
          </p:cNvSpPr>
          <p:nvPr>
            <p:ph type="sldNum" sz="quarter" idx="12"/>
          </p:nvPr>
        </p:nvSpPr>
        <p:spPr/>
        <p:txBody>
          <a:bodyPr/>
          <a:lstStyle/>
          <a:p>
            <a:fld id="{5B208F79-DF8C-4899-B5C2-00812ABD3262}" type="slidenum">
              <a:rPr lang="en-US" smtClean="0"/>
              <a:t>‹#›</a:t>
            </a:fld>
            <a:endParaRPr lang="en-US"/>
          </a:p>
        </p:txBody>
      </p:sp>
    </p:spTree>
    <p:extLst>
      <p:ext uri="{BB962C8B-B14F-4D97-AF65-F5344CB8AC3E}">
        <p14:creationId xmlns:p14="http://schemas.microsoft.com/office/powerpoint/2010/main" val="30311649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5DA493-3006-41C2-B3E4-5AD89054237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0C6EFD9-CA4B-49B4-9146-23E9927158D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3D2308B-7577-4D11-A68B-26785485432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C779FFE-4050-4B29-8B0B-32C6B6AB1DC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612D4BC-AA5C-4C42-B6D3-59D35ED89FA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52D2C922-FC18-4610-B13C-10D9CF55CF91}"/>
              </a:ext>
            </a:extLst>
          </p:cNvPr>
          <p:cNvSpPr>
            <a:spLocks noGrp="1"/>
          </p:cNvSpPr>
          <p:nvPr>
            <p:ph type="dt" sz="half" idx="10"/>
          </p:nvPr>
        </p:nvSpPr>
        <p:spPr/>
        <p:txBody>
          <a:bodyPr/>
          <a:lstStyle/>
          <a:p>
            <a:fld id="{CA3178D5-45DD-4809-BDE3-48D4066C29C7}" type="datetimeFigureOut">
              <a:rPr lang="en-US" smtClean="0"/>
              <a:t>3/9/2021</a:t>
            </a:fld>
            <a:endParaRPr lang="en-US"/>
          </a:p>
        </p:txBody>
      </p:sp>
      <p:sp>
        <p:nvSpPr>
          <p:cNvPr id="8" name="Footer Placeholder 7">
            <a:extLst>
              <a:ext uri="{FF2B5EF4-FFF2-40B4-BE49-F238E27FC236}">
                <a16:creationId xmlns:a16="http://schemas.microsoft.com/office/drawing/2014/main" id="{4B356D38-FCB3-4E4B-B32A-E60E0C57230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F5F1AB8-EFB0-4BCA-A08C-98D332F7852C}"/>
              </a:ext>
            </a:extLst>
          </p:cNvPr>
          <p:cNvSpPr>
            <a:spLocks noGrp="1"/>
          </p:cNvSpPr>
          <p:nvPr>
            <p:ph type="sldNum" sz="quarter" idx="12"/>
          </p:nvPr>
        </p:nvSpPr>
        <p:spPr/>
        <p:txBody>
          <a:bodyPr/>
          <a:lstStyle/>
          <a:p>
            <a:fld id="{5B208F79-DF8C-4899-B5C2-00812ABD3262}" type="slidenum">
              <a:rPr lang="en-US" smtClean="0"/>
              <a:t>‹#›</a:t>
            </a:fld>
            <a:endParaRPr lang="en-US"/>
          </a:p>
        </p:txBody>
      </p:sp>
    </p:spTree>
    <p:extLst>
      <p:ext uri="{BB962C8B-B14F-4D97-AF65-F5344CB8AC3E}">
        <p14:creationId xmlns:p14="http://schemas.microsoft.com/office/powerpoint/2010/main" val="21467266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345217-DB1E-4ED2-AC19-B39FBA36DAF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219B628-0C37-4B8D-973D-C946C2CE485D}"/>
              </a:ext>
            </a:extLst>
          </p:cNvPr>
          <p:cNvSpPr>
            <a:spLocks noGrp="1"/>
          </p:cNvSpPr>
          <p:nvPr>
            <p:ph type="dt" sz="half" idx="10"/>
          </p:nvPr>
        </p:nvSpPr>
        <p:spPr/>
        <p:txBody>
          <a:bodyPr/>
          <a:lstStyle/>
          <a:p>
            <a:fld id="{CA3178D5-45DD-4809-BDE3-48D4066C29C7}" type="datetimeFigureOut">
              <a:rPr lang="en-US" smtClean="0"/>
              <a:t>3/9/2021</a:t>
            </a:fld>
            <a:endParaRPr lang="en-US"/>
          </a:p>
        </p:txBody>
      </p:sp>
      <p:sp>
        <p:nvSpPr>
          <p:cNvPr id="4" name="Footer Placeholder 3">
            <a:extLst>
              <a:ext uri="{FF2B5EF4-FFF2-40B4-BE49-F238E27FC236}">
                <a16:creationId xmlns:a16="http://schemas.microsoft.com/office/drawing/2014/main" id="{053997B4-9ED7-4ECB-880E-AF34BCFC705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B4BF02D-C5DC-456C-A52E-30F526BAE85A}"/>
              </a:ext>
            </a:extLst>
          </p:cNvPr>
          <p:cNvSpPr>
            <a:spLocks noGrp="1"/>
          </p:cNvSpPr>
          <p:nvPr>
            <p:ph type="sldNum" sz="quarter" idx="12"/>
          </p:nvPr>
        </p:nvSpPr>
        <p:spPr/>
        <p:txBody>
          <a:bodyPr/>
          <a:lstStyle/>
          <a:p>
            <a:fld id="{5B208F79-DF8C-4899-B5C2-00812ABD3262}" type="slidenum">
              <a:rPr lang="en-US" smtClean="0"/>
              <a:t>‹#›</a:t>
            </a:fld>
            <a:endParaRPr lang="en-US"/>
          </a:p>
        </p:txBody>
      </p:sp>
    </p:spTree>
    <p:extLst>
      <p:ext uri="{BB962C8B-B14F-4D97-AF65-F5344CB8AC3E}">
        <p14:creationId xmlns:p14="http://schemas.microsoft.com/office/powerpoint/2010/main" val="36577846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025BE1B-1417-4BC3-9BD3-36A79B86DFE2}"/>
              </a:ext>
            </a:extLst>
          </p:cNvPr>
          <p:cNvSpPr>
            <a:spLocks noGrp="1"/>
          </p:cNvSpPr>
          <p:nvPr>
            <p:ph type="dt" sz="half" idx="10"/>
          </p:nvPr>
        </p:nvSpPr>
        <p:spPr/>
        <p:txBody>
          <a:bodyPr/>
          <a:lstStyle/>
          <a:p>
            <a:fld id="{CA3178D5-45DD-4809-BDE3-48D4066C29C7}" type="datetimeFigureOut">
              <a:rPr lang="en-US" smtClean="0"/>
              <a:t>3/9/2021</a:t>
            </a:fld>
            <a:endParaRPr lang="en-US"/>
          </a:p>
        </p:txBody>
      </p:sp>
      <p:sp>
        <p:nvSpPr>
          <p:cNvPr id="3" name="Footer Placeholder 2">
            <a:extLst>
              <a:ext uri="{FF2B5EF4-FFF2-40B4-BE49-F238E27FC236}">
                <a16:creationId xmlns:a16="http://schemas.microsoft.com/office/drawing/2014/main" id="{6E467D64-2D1E-412A-84E0-603E84EF0D9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1CA2981-F7F0-4E43-9FDA-7DEC710FE6FE}"/>
              </a:ext>
            </a:extLst>
          </p:cNvPr>
          <p:cNvSpPr>
            <a:spLocks noGrp="1"/>
          </p:cNvSpPr>
          <p:nvPr>
            <p:ph type="sldNum" sz="quarter" idx="12"/>
          </p:nvPr>
        </p:nvSpPr>
        <p:spPr/>
        <p:txBody>
          <a:bodyPr/>
          <a:lstStyle/>
          <a:p>
            <a:fld id="{5B208F79-DF8C-4899-B5C2-00812ABD3262}" type="slidenum">
              <a:rPr lang="en-US" smtClean="0"/>
              <a:t>‹#›</a:t>
            </a:fld>
            <a:endParaRPr lang="en-US"/>
          </a:p>
        </p:txBody>
      </p:sp>
    </p:spTree>
    <p:extLst>
      <p:ext uri="{BB962C8B-B14F-4D97-AF65-F5344CB8AC3E}">
        <p14:creationId xmlns:p14="http://schemas.microsoft.com/office/powerpoint/2010/main" val="12283000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920FE0-7A55-4BAD-BAD4-65D858AC8FF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6125DEC-AD43-4943-A6D5-1BE2C28C434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5338B21-D937-4E78-8CA0-2472AC4A2C5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B549316-2E88-4C1B-9610-C00A446FB4E9}"/>
              </a:ext>
            </a:extLst>
          </p:cNvPr>
          <p:cNvSpPr>
            <a:spLocks noGrp="1"/>
          </p:cNvSpPr>
          <p:nvPr>
            <p:ph type="dt" sz="half" idx="10"/>
          </p:nvPr>
        </p:nvSpPr>
        <p:spPr/>
        <p:txBody>
          <a:bodyPr/>
          <a:lstStyle/>
          <a:p>
            <a:fld id="{CA3178D5-45DD-4809-BDE3-48D4066C29C7}" type="datetimeFigureOut">
              <a:rPr lang="en-US" smtClean="0"/>
              <a:t>3/9/2021</a:t>
            </a:fld>
            <a:endParaRPr lang="en-US"/>
          </a:p>
        </p:txBody>
      </p:sp>
      <p:sp>
        <p:nvSpPr>
          <p:cNvPr id="6" name="Footer Placeholder 5">
            <a:extLst>
              <a:ext uri="{FF2B5EF4-FFF2-40B4-BE49-F238E27FC236}">
                <a16:creationId xmlns:a16="http://schemas.microsoft.com/office/drawing/2014/main" id="{53776DEC-3ECB-4E9E-8478-591DDE1701B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EECA010-8E22-4C8C-8788-CDE60A320832}"/>
              </a:ext>
            </a:extLst>
          </p:cNvPr>
          <p:cNvSpPr>
            <a:spLocks noGrp="1"/>
          </p:cNvSpPr>
          <p:nvPr>
            <p:ph type="sldNum" sz="quarter" idx="12"/>
          </p:nvPr>
        </p:nvSpPr>
        <p:spPr/>
        <p:txBody>
          <a:bodyPr/>
          <a:lstStyle/>
          <a:p>
            <a:fld id="{5B208F79-DF8C-4899-B5C2-00812ABD3262}" type="slidenum">
              <a:rPr lang="en-US" smtClean="0"/>
              <a:t>‹#›</a:t>
            </a:fld>
            <a:endParaRPr lang="en-US"/>
          </a:p>
        </p:txBody>
      </p:sp>
    </p:spTree>
    <p:extLst>
      <p:ext uri="{BB962C8B-B14F-4D97-AF65-F5344CB8AC3E}">
        <p14:creationId xmlns:p14="http://schemas.microsoft.com/office/powerpoint/2010/main" val="29521577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F16E37-8A3A-4F08-A596-9A14B7083A9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2879A62-2234-4C77-9F56-0171DF106C2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C88D439-C6F1-4D51-909B-D151694DF05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86BE7C1-F741-4923-B904-649BBA3333AC}"/>
              </a:ext>
            </a:extLst>
          </p:cNvPr>
          <p:cNvSpPr>
            <a:spLocks noGrp="1"/>
          </p:cNvSpPr>
          <p:nvPr>
            <p:ph type="dt" sz="half" idx="10"/>
          </p:nvPr>
        </p:nvSpPr>
        <p:spPr/>
        <p:txBody>
          <a:bodyPr/>
          <a:lstStyle/>
          <a:p>
            <a:fld id="{CA3178D5-45DD-4809-BDE3-48D4066C29C7}" type="datetimeFigureOut">
              <a:rPr lang="en-US" smtClean="0"/>
              <a:t>3/9/2021</a:t>
            </a:fld>
            <a:endParaRPr lang="en-US"/>
          </a:p>
        </p:txBody>
      </p:sp>
      <p:sp>
        <p:nvSpPr>
          <p:cNvPr id="6" name="Footer Placeholder 5">
            <a:extLst>
              <a:ext uri="{FF2B5EF4-FFF2-40B4-BE49-F238E27FC236}">
                <a16:creationId xmlns:a16="http://schemas.microsoft.com/office/drawing/2014/main" id="{9DA8EE34-1143-4E91-B327-96F3D15DC53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6CD9B8B-2064-4A98-977C-1A5472F10850}"/>
              </a:ext>
            </a:extLst>
          </p:cNvPr>
          <p:cNvSpPr>
            <a:spLocks noGrp="1"/>
          </p:cNvSpPr>
          <p:nvPr>
            <p:ph type="sldNum" sz="quarter" idx="12"/>
          </p:nvPr>
        </p:nvSpPr>
        <p:spPr/>
        <p:txBody>
          <a:bodyPr/>
          <a:lstStyle/>
          <a:p>
            <a:fld id="{5B208F79-DF8C-4899-B5C2-00812ABD3262}" type="slidenum">
              <a:rPr lang="en-US" smtClean="0"/>
              <a:t>‹#›</a:t>
            </a:fld>
            <a:endParaRPr lang="en-US"/>
          </a:p>
        </p:txBody>
      </p:sp>
    </p:spTree>
    <p:extLst>
      <p:ext uri="{BB962C8B-B14F-4D97-AF65-F5344CB8AC3E}">
        <p14:creationId xmlns:p14="http://schemas.microsoft.com/office/powerpoint/2010/main" val="33961481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65B6E8-6075-4C35-9E9E-74B0AC1B635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D3F17FB-3FD5-4F53-81C4-6820F130BE5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07B3D01-C409-4296-AD15-9CFF9F7AAFC4}"/>
              </a:ext>
            </a:extLst>
          </p:cNvPr>
          <p:cNvSpPr>
            <a:spLocks noGrp="1"/>
          </p:cNvSpPr>
          <p:nvPr>
            <p:ph type="dt" sz="half" idx="10"/>
          </p:nvPr>
        </p:nvSpPr>
        <p:spPr/>
        <p:txBody>
          <a:bodyPr/>
          <a:lstStyle/>
          <a:p>
            <a:fld id="{CA3178D5-45DD-4809-BDE3-48D4066C29C7}" type="datetimeFigureOut">
              <a:rPr lang="en-US" smtClean="0"/>
              <a:t>3/9/2021</a:t>
            </a:fld>
            <a:endParaRPr lang="en-US"/>
          </a:p>
        </p:txBody>
      </p:sp>
      <p:sp>
        <p:nvSpPr>
          <p:cNvPr id="5" name="Footer Placeholder 4">
            <a:extLst>
              <a:ext uri="{FF2B5EF4-FFF2-40B4-BE49-F238E27FC236}">
                <a16:creationId xmlns:a16="http://schemas.microsoft.com/office/drawing/2014/main" id="{AD610C3D-F58F-481C-8D55-B233CA5D9AA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300E888-87B0-4976-A50D-1A4FDF9FF806}"/>
              </a:ext>
            </a:extLst>
          </p:cNvPr>
          <p:cNvSpPr>
            <a:spLocks noGrp="1"/>
          </p:cNvSpPr>
          <p:nvPr>
            <p:ph type="sldNum" sz="quarter" idx="12"/>
          </p:nvPr>
        </p:nvSpPr>
        <p:spPr/>
        <p:txBody>
          <a:bodyPr/>
          <a:lstStyle/>
          <a:p>
            <a:fld id="{5B208F79-DF8C-4899-B5C2-00812ABD3262}" type="slidenum">
              <a:rPr lang="en-US" smtClean="0"/>
              <a:t>‹#›</a:t>
            </a:fld>
            <a:endParaRPr lang="en-US"/>
          </a:p>
        </p:txBody>
      </p:sp>
    </p:spTree>
    <p:extLst>
      <p:ext uri="{BB962C8B-B14F-4D97-AF65-F5344CB8AC3E}">
        <p14:creationId xmlns:p14="http://schemas.microsoft.com/office/powerpoint/2010/main" val="39205069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6529892-B5A3-4EAD-AA16-917A928343A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76A47647-CA66-4514-B777-22BD4127F25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85CE088-61F4-4A61-9ED7-64826FADF0D8}"/>
              </a:ext>
            </a:extLst>
          </p:cNvPr>
          <p:cNvSpPr>
            <a:spLocks noGrp="1"/>
          </p:cNvSpPr>
          <p:nvPr>
            <p:ph type="dt" sz="half" idx="10"/>
          </p:nvPr>
        </p:nvSpPr>
        <p:spPr/>
        <p:txBody>
          <a:bodyPr/>
          <a:lstStyle/>
          <a:p>
            <a:fld id="{CA3178D5-45DD-4809-BDE3-48D4066C29C7}" type="datetimeFigureOut">
              <a:rPr lang="en-US" smtClean="0"/>
              <a:t>3/9/2021</a:t>
            </a:fld>
            <a:endParaRPr lang="en-US"/>
          </a:p>
        </p:txBody>
      </p:sp>
      <p:sp>
        <p:nvSpPr>
          <p:cNvPr id="5" name="Footer Placeholder 4">
            <a:extLst>
              <a:ext uri="{FF2B5EF4-FFF2-40B4-BE49-F238E27FC236}">
                <a16:creationId xmlns:a16="http://schemas.microsoft.com/office/drawing/2014/main" id="{E0F5CCAE-F8B3-49CA-8C66-2AC45D96480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290677D-8A77-4B01-B146-0AB590E7CACE}"/>
              </a:ext>
            </a:extLst>
          </p:cNvPr>
          <p:cNvSpPr>
            <a:spLocks noGrp="1"/>
          </p:cNvSpPr>
          <p:nvPr>
            <p:ph type="sldNum" sz="quarter" idx="12"/>
          </p:nvPr>
        </p:nvSpPr>
        <p:spPr/>
        <p:txBody>
          <a:bodyPr/>
          <a:lstStyle/>
          <a:p>
            <a:fld id="{5B208F79-DF8C-4899-B5C2-00812ABD3262}" type="slidenum">
              <a:rPr lang="en-US" smtClean="0"/>
              <a:t>‹#›</a:t>
            </a:fld>
            <a:endParaRPr lang="en-US"/>
          </a:p>
        </p:txBody>
      </p:sp>
    </p:spTree>
    <p:extLst>
      <p:ext uri="{BB962C8B-B14F-4D97-AF65-F5344CB8AC3E}">
        <p14:creationId xmlns:p14="http://schemas.microsoft.com/office/powerpoint/2010/main" val="42223434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0BF81CF-F736-4134-A4FA-30B3F9DC5DB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9ACC9BB-EA1B-4E90-A8CB-490FBF6ACD8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443EDE6-31F1-4529-9FCE-17301945E27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A3178D5-45DD-4809-BDE3-48D4066C29C7}" type="datetimeFigureOut">
              <a:rPr lang="en-US" smtClean="0"/>
              <a:t>3/9/2021</a:t>
            </a:fld>
            <a:endParaRPr lang="en-US"/>
          </a:p>
        </p:txBody>
      </p:sp>
      <p:sp>
        <p:nvSpPr>
          <p:cNvPr id="5" name="Footer Placeholder 4">
            <a:extLst>
              <a:ext uri="{FF2B5EF4-FFF2-40B4-BE49-F238E27FC236}">
                <a16:creationId xmlns:a16="http://schemas.microsoft.com/office/drawing/2014/main" id="{E4858185-0115-4E0E-A508-A3FF4C43D26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F1A0DD71-674E-4A6E-A97E-BDCFA25094A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B208F79-DF8C-4899-B5C2-00812ABD3262}" type="slidenum">
              <a:rPr lang="en-US" smtClean="0"/>
              <a:t>‹#›</a:t>
            </a:fld>
            <a:endParaRPr lang="en-US"/>
          </a:p>
        </p:txBody>
      </p:sp>
    </p:spTree>
    <p:extLst>
      <p:ext uri="{BB962C8B-B14F-4D97-AF65-F5344CB8AC3E}">
        <p14:creationId xmlns:p14="http://schemas.microsoft.com/office/powerpoint/2010/main" val="196662465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0CEA3A-708F-4DF2-A679-DD6F321D8A77}"/>
              </a:ext>
            </a:extLst>
          </p:cNvPr>
          <p:cNvSpPr>
            <a:spLocks noGrp="1"/>
          </p:cNvSpPr>
          <p:nvPr>
            <p:ph type="ctrTitle"/>
          </p:nvPr>
        </p:nvSpPr>
        <p:spPr/>
        <p:txBody>
          <a:bodyPr/>
          <a:lstStyle/>
          <a:p>
            <a:r>
              <a:rPr lang="en-US" dirty="0"/>
              <a:t>Political Condition</a:t>
            </a:r>
          </a:p>
        </p:txBody>
      </p:sp>
      <p:sp>
        <p:nvSpPr>
          <p:cNvPr id="3" name="Subtitle 2">
            <a:extLst>
              <a:ext uri="{FF2B5EF4-FFF2-40B4-BE49-F238E27FC236}">
                <a16:creationId xmlns:a16="http://schemas.microsoft.com/office/drawing/2014/main" id="{1BAD6E1A-C3B6-412E-998D-A667991EA656}"/>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15957223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C22EC1-2E50-447F-8072-5A9DF8AD0EF4}"/>
              </a:ext>
            </a:extLst>
          </p:cNvPr>
          <p:cNvSpPr>
            <a:spLocks noGrp="1"/>
          </p:cNvSpPr>
          <p:nvPr>
            <p:ph type="title"/>
          </p:nvPr>
        </p:nvSpPr>
        <p:spPr/>
        <p:txBody>
          <a:bodyPr/>
          <a:lstStyle/>
          <a:p>
            <a:r>
              <a:rPr lang="en-US" dirty="0"/>
              <a:t>Why political parties are important?</a:t>
            </a:r>
          </a:p>
        </p:txBody>
      </p:sp>
      <p:sp>
        <p:nvSpPr>
          <p:cNvPr id="3" name="Content Placeholder 2">
            <a:extLst>
              <a:ext uri="{FF2B5EF4-FFF2-40B4-BE49-F238E27FC236}">
                <a16:creationId xmlns:a16="http://schemas.microsoft.com/office/drawing/2014/main" id="{EAF8AFFC-E0A7-4805-AFDC-A201CF98E3E4}"/>
              </a:ext>
            </a:extLst>
          </p:cNvPr>
          <p:cNvSpPr>
            <a:spLocks noGrp="1"/>
          </p:cNvSpPr>
          <p:nvPr>
            <p:ph idx="1"/>
          </p:nvPr>
        </p:nvSpPr>
        <p:spPr/>
        <p:txBody>
          <a:bodyPr>
            <a:normAutofit fontScale="77500" lnSpcReduction="20000"/>
          </a:bodyPr>
          <a:lstStyle/>
          <a:p>
            <a:r>
              <a:rPr lang="en-US" dirty="0"/>
              <a:t>Political parties are one of the most important vehicles of nation building in post-colonial states . With few exceptions all modern nation states in their present form are artificial entities containing multiple ethnic, racial, religious and linguistic entities in their respective folds. It is a daunting job of gelling these disparate groups, majority of whom are at daggers drawn for various reasons, with strong loyalties to their own entities into a nation .</a:t>
            </a:r>
          </a:p>
          <a:p>
            <a:r>
              <a:rPr lang="en-US" dirty="0"/>
              <a:t> Every state and non-state institution plays its part in this process; role of political parties particularly those with cross cutting membership cannot be overemphasized. They create common threshold of nationhood by giving them voice, representation and solving their genuine grievances through multiple channels at their disposal. The destabilizing forces of localism, regionalism, sectional interests and geographical situations are tackled by political parties by the political process known as interest aggregation. </a:t>
            </a:r>
          </a:p>
          <a:p>
            <a:r>
              <a:rPr lang="en-US" dirty="0"/>
              <a:t>They accommodate the diverse demands of the various interest groups of the party by incorporating them in their respective manifestos after appropriate amendments through compromises. This process of interest aggregation helps pacifying the disintegrating forces and fortifying cohesion.</a:t>
            </a:r>
          </a:p>
        </p:txBody>
      </p:sp>
    </p:spTree>
    <p:extLst>
      <p:ext uri="{BB962C8B-B14F-4D97-AF65-F5344CB8AC3E}">
        <p14:creationId xmlns:p14="http://schemas.microsoft.com/office/powerpoint/2010/main" val="23482306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6ED75D-E6EB-4FD1-A0D2-2C6FCA3098AF}"/>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21F4BB78-7EEA-4977-A00D-8B984C13EAD1}"/>
              </a:ext>
            </a:extLst>
          </p:cNvPr>
          <p:cNvSpPr>
            <a:spLocks noGrp="1"/>
          </p:cNvSpPr>
          <p:nvPr>
            <p:ph idx="1"/>
          </p:nvPr>
        </p:nvSpPr>
        <p:spPr/>
        <p:txBody>
          <a:bodyPr/>
          <a:lstStyle/>
          <a:p>
            <a:r>
              <a:rPr lang="en-US" dirty="0"/>
              <a:t>One Party</a:t>
            </a:r>
          </a:p>
          <a:p>
            <a:r>
              <a:rPr lang="en-US" dirty="0"/>
              <a:t>Two Party</a:t>
            </a:r>
          </a:p>
          <a:p>
            <a:r>
              <a:rPr lang="en-US" dirty="0"/>
              <a:t>Multi-Party</a:t>
            </a:r>
          </a:p>
          <a:p>
            <a:pPr algn="ctr"/>
            <a:endParaRPr lang="en-US" dirty="0"/>
          </a:p>
          <a:p>
            <a:pPr algn="ctr"/>
            <a:r>
              <a:rPr lang="en-US" b="1" dirty="0"/>
              <a:t>Types of Parties</a:t>
            </a:r>
          </a:p>
          <a:p>
            <a:pPr marL="0" indent="0">
              <a:buNone/>
            </a:pPr>
            <a:r>
              <a:rPr lang="en-US" dirty="0"/>
              <a:t>Right wing</a:t>
            </a:r>
          </a:p>
          <a:p>
            <a:pPr marL="0" indent="0">
              <a:buNone/>
            </a:pPr>
            <a:r>
              <a:rPr lang="en-US" dirty="0"/>
              <a:t>Left wing</a:t>
            </a:r>
          </a:p>
          <a:p>
            <a:pPr marL="0" indent="0">
              <a:buNone/>
            </a:pPr>
            <a:r>
              <a:rPr lang="en-US" dirty="0"/>
              <a:t>Centralist </a:t>
            </a:r>
          </a:p>
        </p:txBody>
      </p:sp>
    </p:spTree>
    <p:extLst>
      <p:ext uri="{BB962C8B-B14F-4D97-AF65-F5344CB8AC3E}">
        <p14:creationId xmlns:p14="http://schemas.microsoft.com/office/powerpoint/2010/main" val="2545576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DE8048-808E-4815-8790-59D66BC9F7E7}"/>
              </a:ext>
            </a:extLst>
          </p:cNvPr>
          <p:cNvSpPr>
            <a:spLocks noGrp="1"/>
          </p:cNvSpPr>
          <p:nvPr>
            <p:ph type="title"/>
          </p:nvPr>
        </p:nvSpPr>
        <p:spPr/>
        <p:txBody>
          <a:bodyPr/>
          <a:lstStyle/>
          <a:p>
            <a:r>
              <a:rPr lang="en-US" dirty="0"/>
              <a:t>Parties in Pakistan</a:t>
            </a:r>
          </a:p>
        </p:txBody>
      </p:sp>
      <p:sp>
        <p:nvSpPr>
          <p:cNvPr id="3" name="Content Placeholder 2">
            <a:extLst>
              <a:ext uri="{FF2B5EF4-FFF2-40B4-BE49-F238E27FC236}">
                <a16:creationId xmlns:a16="http://schemas.microsoft.com/office/drawing/2014/main" id="{A2707F6B-5D2B-4019-8DC8-E71F148A0096}"/>
              </a:ext>
            </a:extLst>
          </p:cNvPr>
          <p:cNvSpPr>
            <a:spLocks noGrp="1"/>
          </p:cNvSpPr>
          <p:nvPr>
            <p:ph idx="1"/>
          </p:nvPr>
        </p:nvSpPr>
        <p:spPr/>
        <p:txBody>
          <a:bodyPr>
            <a:normAutofit fontScale="85000" lnSpcReduction="20000"/>
          </a:bodyPr>
          <a:lstStyle/>
          <a:p>
            <a:r>
              <a:rPr lang="en-US" dirty="0"/>
              <a:t>PTI</a:t>
            </a:r>
          </a:p>
          <a:p>
            <a:r>
              <a:rPr lang="en-US" dirty="0"/>
              <a:t>PPP</a:t>
            </a:r>
          </a:p>
          <a:p>
            <a:r>
              <a:rPr lang="en-US" dirty="0"/>
              <a:t>PML-N</a:t>
            </a:r>
          </a:p>
          <a:p>
            <a:r>
              <a:rPr lang="en-US" dirty="0"/>
              <a:t>PML-Q</a:t>
            </a:r>
          </a:p>
          <a:p>
            <a:r>
              <a:rPr lang="en-US" dirty="0"/>
              <a:t>PML-F</a:t>
            </a:r>
          </a:p>
          <a:p>
            <a:r>
              <a:rPr lang="en-US" dirty="0"/>
              <a:t>ANP</a:t>
            </a:r>
          </a:p>
          <a:p>
            <a:r>
              <a:rPr lang="en-US" dirty="0"/>
              <a:t>JI</a:t>
            </a:r>
          </a:p>
          <a:p>
            <a:r>
              <a:rPr lang="en-US" dirty="0"/>
              <a:t>JUI-F</a:t>
            </a:r>
          </a:p>
          <a:p>
            <a:r>
              <a:rPr lang="en-US" dirty="0"/>
              <a:t>BNP (M)</a:t>
            </a:r>
          </a:p>
          <a:p>
            <a:r>
              <a:rPr lang="en-US" dirty="0" err="1"/>
              <a:t>Pkmap</a:t>
            </a:r>
            <a:endParaRPr lang="en-US" dirty="0"/>
          </a:p>
          <a:p>
            <a:r>
              <a:rPr lang="en-US" dirty="0"/>
              <a:t>MQM</a:t>
            </a:r>
          </a:p>
          <a:p>
            <a:endParaRPr lang="en-US" dirty="0"/>
          </a:p>
        </p:txBody>
      </p:sp>
    </p:spTree>
    <p:extLst>
      <p:ext uri="{BB962C8B-B14F-4D97-AF65-F5344CB8AC3E}">
        <p14:creationId xmlns:p14="http://schemas.microsoft.com/office/powerpoint/2010/main" val="34737738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AAD054-7CFA-456B-B799-51E0B51207D0}"/>
              </a:ext>
            </a:extLst>
          </p:cNvPr>
          <p:cNvSpPr>
            <a:spLocks noGrp="1"/>
          </p:cNvSpPr>
          <p:nvPr>
            <p:ph type="title"/>
          </p:nvPr>
        </p:nvSpPr>
        <p:spPr/>
        <p:txBody>
          <a:bodyPr/>
          <a:lstStyle/>
          <a:p>
            <a:r>
              <a:rPr lang="en-US" dirty="0"/>
              <a:t>Characteristics of political parties</a:t>
            </a:r>
          </a:p>
        </p:txBody>
      </p:sp>
      <p:sp>
        <p:nvSpPr>
          <p:cNvPr id="3" name="Content Placeholder 2">
            <a:extLst>
              <a:ext uri="{FF2B5EF4-FFF2-40B4-BE49-F238E27FC236}">
                <a16:creationId xmlns:a16="http://schemas.microsoft.com/office/drawing/2014/main" id="{B7EDF553-4206-4F87-B455-4ED61CCC361F}"/>
              </a:ext>
            </a:extLst>
          </p:cNvPr>
          <p:cNvSpPr>
            <a:spLocks noGrp="1"/>
          </p:cNvSpPr>
          <p:nvPr>
            <p:ph idx="1"/>
          </p:nvPr>
        </p:nvSpPr>
        <p:spPr/>
        <p:txBody>
          <a:bodyPr>
            <a:normAutofit/>
          </a:bodyPr>
          <a:lstStyle/>
          <a:p>
            <a:r>
              <a:rPr lang="en-US" dirty="0"/>
              <a:t>Highly Centralized: One figure/family</a:t>
            </a:r>
          </a:p>
          <a:p>
            <a:r>
              <a:rPr lang="en-US" dirty="0"/>
              <a:t>Adhere to non-democratic values: The inter-party democracy is an essential ingredient for strengthening national democracy. Any weakness in the former inevitably leads to weakness in the latter. There are three key roles that the parties are required to serve. First is mobilizing, i.e., formulating agendas and structuring coalitions around specific social issues; second is campaigning; and third is governance if they assume office.</a:t>
            </a:r>
          </a:p>
          <a:p>
            <a:endParaRPr lang="en-US" dirty="0"/>
          </a:p>
          <a:p>
            <a:endParaRPr lang="en-US" dirty="0"/>
          </a:p>
          <a:p>
            <a:endParaRPr lang="en-US" dirty="0"/>
          </a:p>
        </p:txBody>
      </p:sp>
    </p:spTree>
    <p:extLst>
      <p:ext uri="{BB962C8B-B14F-4D97-AF65-F5344CB8AC3E}">
        <p14:creationId xmlns:p14="http://schemas.microsoft.com/office/powerpoint/2010/main" val="10100253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49683C-F1A5-4B9A-B7E3-EAC36FCBEBD5}"/>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CE4108FC-FDC4-4945-8823-7BB733945560}"/>
              </a:ext>
            </a:extLst>
          </p:cNvPr>
          <p:cNvSpPr>
            <a:spLocks noGrp="1"/>
          </p:cNvSpPr>
          <p:nvPr>
            <p:ph idx="1"/>
          </p:nvPr>
        </p:nvSpPr>
        <p:spPr/>
        <p:txBody>
          <a:bodyPr/>
          <a:lstStyle/>
          <a:p>
            <a:r>
              <a:rPr lang="en-US" dirty="0"/>
              <a:t>Parties have two differences that define them, namely organizational differences and agenda-wise differences. Pertaining to the former, they differ first in whether the party leader’s way of making decisions is personalized or bureaucratized. Personalized parties are formed around one charming leader and are often dynastic. Bureaucratized parties are based on merit. Another major organizational difference is related to party structures. While some parties have a structure that is mass based with deep roots in their voting areas, others have haggard structures which limit their abilities to mobilize their voting areas significantly.</a:t>
            </a:r>
          </a:p>
          <a:p>
            <a:endParaRPr lang="en-US" dirty="0"/>
          </a:p>
        </p:txBody>
      </p:sp>
    </p:spTree>
    <p:extLst>
      <p:ext uri="{BB962C8B-B14F-4D97-AF65-F5344CB8AC3E}">
        <p14:creationId xmlns:p14="http://schemas.microsoft.com/office/powerpoint/2010/main" val="22222445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0654C3-BAFD-416A-B944-690213EBF32D}"/>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CFA50B08-0E4F-46CC-9545-9768945C60C8}"/>
              </a:ext>
            </a:extLst>
          </p:cNvPr>
          <p:cNvSpPr>
            <a:spLocks noGrp="1"/>
          </p:cNvSpPr>
          <p:nvPr>
            <p:ph idx="1"/>
          </p:nvPr>
        </p:nvSpPr>
        <p:spPr/>
        <p:txBody>
          <a:bodyPr>
            <a:normAutofit fontScale="92500" lnSpcReduction="10000"/>
          </a:bodyPr>
          <a:lstStyle/>
          <a:p>
            <a:r>
              <a:rPr lang="en-US" dirty="0"/>
              <a:t> when a party gets majority, it tends to become and absolutist and dictatorial government and it cannot digest criticism by the opposition parties</a:t>
            </a:r>
          </a:p>
          <a:p>
            <a:r>
              <a:rPr lang="en-US" dirty="0"/>
              <a:t> opposition is termed as  an enemy of the country and also its development.</a:t>
            </a:r>
          </a:p>
          <a:p>
            <a:r>
              <a:rPr lang="en-US" dirty="0"/>
              <a:t>Allegation of corruption, nepotism. </a:t>
            </a:r>
          </a:p>
          <a:p>
            <a:r>
              <a:rPr lang="en-US" dirty="0"/>
              <a:t> Intra-party elections are mere eyewash as they are held just for fulfilling the requirement of the Election Commission of Pakistan. Political parties in Pakistan are, in essence, authoritarian in nature.</a:t>
            </a:r>
          </a:p>
          <a:p>
            <a:r>
              <a:rPr lang="en-US" dirty="0"/>
              <a:t> Parties blatantly opposed to each other during the election campaign may enter into alliances to defeat a major party. </a:t>
            </a:r>
          </a:p>
        </p:txBody>
      </p:sp>
    </p:spTree>
    <p:extLst>
      <p:ext uri="{BB962C8B-B14F-4D97-AF65-F5344CB8AC3E}">
        <p14:creationId xmlns:p14="http://schemas.microsoft.com/office/powerpoint/2010/main" val="2306525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59F655-7080-4B9B-8894-49F5AA7424A1}"/>
              </a:ext>
            </a:extLst>
          </p:cNvPr>
          <p:cNvSpPr>
            <a:spLocks noGrp="1"/>
          </p:cNvSpPr>
          <p:nvPr>
            <p:ph type="title"/>
          </p:nvPr>
        </p:nvSpPr>
        <p:spPr/>
        <p:txBody>
          <a:bodyPr/>
          <a:lstStyle/>
          <a:p>
            <a:r>
              <a:rPr lang="en-US" dirty="0"/>
              <a:t>The Current run of democracy</a:t>
            </a:r>
            <a:br>
              <a:rPr lang="en-US" dirty="0"/>
            </a:br>
            <a:r>
              <a:rPr lang="en-US" dirty="0"/>
              <a:t>PPP (20008-2013)</a:t>
            </a:r>
          </a:p>
        </p:txBody>
      </p:sp>
      <p:sp>
        <p:nvSpPr>
          <p:cNvPr id="3" name="Content Placeholder 2">
            <a:extLst>
              <a:ext uri="{FF2B5EF4-FFF2-40B4-BE49-F238E27FC236}">
                <a16:creationId xmlns:a16="http://schemas.microsoft.com/office/drawing/2014/main" id="{BCD6B873-1066-4EAB-BA5C-92EC3AAC10F8}"/>
              </a:ext>
            </a:extLst>
          </p:cNvPr>
          <p:cNvSpPr>
            <a:spLocks noGrp="1"/>
          </p:cNvSpPr>
          <p:nvPr>
            <p:ph idx="1"/>
          </p:nvPr>
        </p:nvSpPr>
        <p:spPr/>
        <p:txBody>
          <a:bodyPr/>
          <a:lstStyle/>
          <a:p>
            <a:r>
              <a:rPr lang="en-US" b="1" dirty="0"/>
              <a:t>February 18, 2008: </a:t>
            </a:r>
            <a:r>
              <a:rPr lang="en-US" dirty="0"/>
              <a:t>A general election was held in the country with the PPP and PML-N heading for a comeback.</a:t>
            </a:r>
          </a:p>
          <a:p>
            <a:r>
              <a:rPr lang="en-US" b="1" dirty="0"/>
              <a:t>February 21, 2008:</a:t>
            </a:r>
            <a:r>
              <a:rPr lang="en-US" dirty="0"/>
              <a:t> PPP, PML-N and ANP agree to form a coalition to govern at the center and in provinces. Coalition government (compromised)</a:t>
            </a:r>
          </a:p>
          <a:p>
            <a:r>
              <a:rPr lang="en-US" b="1" dirty="0"/>
              <a:t>March 17, 2008:</a:t>
            </a:r>
            <a:r>
              <a:rPr lang="en-US" dirty="0"/>
              <a:t> The oath-taking by 329 newly-elected law-makers marked the beginning of a five-year term of the 342-seat lower house</a:t>
            </a:r>
          </a:p>
        </p:txBody>
      </p:sp>
    </p:spTree>
    <p:extLst>
      <p:ext uri="{BB962C8B-B14F-4D97-AF65-F5344CB8AC3E}">
        <p14:creationId xmlns:p14="http://schemas.microsoft.com/office/powerpoint/2010/main" val="19261511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6570FD-14C6-4F17-AF7B-EFC498F663C3}"/>
              </a:ext>
            </a:extLst>
          </p:cNvPr>
          <p:cNvSpPr>
            <a:spLocks noGrp="1"/>
          </p:cNvSpPr>
          <p:nvPr>
            <p:ph type="title"/>
          </p:nvPr>
        </p:nvSpPr>
        <p:spPr/>
        <p:txBody>
          <a:bodyPr/>
          <a:lstStyle/>
          <a:p>
            <a:r>
              <a:rPr lang="en-US" dirty="0"/>
              <a:t>PPP (20008-2013)</a:t>
            </a:r>
          </a:p>
        </p:txBody>
      </p:sp>
      <p:sp>
        <p:nvSpPr>
          <p:cNvPr id="3" name="Content Placeholder 2">
            <a:extLst>
              <a:ext uri="{FF2B5EF4-FFF2-40B4-BE49-F238E27FC236}">
                <a16:creationId xmlns:a16="http://schemas.microsoft.com/office/drawing/2014/main" id="{7B0D24E9-4E34-4998-BB79-B071D79FE2D5}"/>
              </a:ext>
            </a:extLst>
          </p:cNvPr>
          <p:cNvSpPr>
            <a:spLocks noGrp="1"/>
          </p:cNvSpPr>
          <p:nvPr>
            <p:ph idx="1"/>
          </p:nvPr>
        </p:nvSpPr>
        <p:spPr/>
        <p:txBody>
          <a:bodyPr/>
          <a:lstStyle/>
          <a:p>
            <a:r>
              <a:rPr lang="en-US" b="1" dirty="0"/>
              <a:t>March 24, 2008:</a:t>
            </a:r>
            <a:r>
              <a:rPr lang="en-US" dirty="0"/>
              <a:t> The new National Assembly elected Yousuf Raza Gilani prime minister by more than two-thirds majority to put a coalition of Musharraf’s opponents in power, which the new leader used immediately to order the release of deposed judges of superior courts kept under detention for over four and a half months.</a:t>
            </a:r>
          </a:p>
          <a:p>
            <a:r>
              <a:rPr lang="en-US" b="1" dirty="0"/>
              <a:t>August 25, 2008: </a:t>
            </a:r>
            <a:r>
              <a:rPr lang="en-US" dirty="0"/>
              <a:t>The Pakistan Muslim League-N quit the five-month-old ruling coalition because of differences with the Pakistan Peoples Party on the issues of reinstatement of the deposed judges and unilateral nomination of Asif </a:t>
            </a:r>
            <a:r>
              <a:rPr lang="en-US" dirty="0" err="1"/>
              <a:t>Zardari</a:t>
            </a:r>
            <a:r>
              <a:rPr lang="en-US" dirty="0"/>
              <a:t> as a presidential candidate.</a:t>
            </a:r>
          </a:p>
        </p:txBody>
      </p:sp>
    </p:spTree>
    <p:extLst>
      <p:ext uri="{BB962C8B-B14F-4D97-AF65-F5344CB8AC3E}">
        <p14:creationId xmlns:p14="http://schemas.microsoft.com/office/powerpoint/2010/main" val="41872083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773C46-5163-4D83-9EDD-DCE74D3CD7EF}"/>
              </a:ext>
            </a:extLst>
          </p:cNvPr>
          <p:cNvSpPr>
            <a:spLocks noGrp="1"/>
          </p:cNvSpPr>
          <p:nvPr>
            <p:ph type="title"/>
          </p:nvPr>
        </p:nvSpPr>
        <p:spPr/>
        <p:txBody>
          <a:bodyPr/>
          <a:lstStyle/>
          <a:p>
            <a:r>
              <a:rPr lang="en-US" dirty="0"/>
              <a:t>PPP (20008-2013)</a:t>
            </a:r>
          </a:p>
        </p:txBody>
      </p:sp>
      <p:sp>
        <p:nvSpPr>
          <p:cNvPr id="3" name="Content Placeholder 2">
            <a:extLst>
              <a:ext uri="{FF2B5EF4-FFF2-40B4-BE49-F238E27FC236}">
                <a16:creationId xmlns:a16="http://schemas.microsoft.com/office/drawing/2014/main" id="{ED72048A-8338-447B-822C-D52CF36EB118}"/>
              </a:ext>
            </a:extLst>
          </p:cNvPr>
          <p:cNvSpPr>
            <a:spLocks noGrp="1"/>
          </p:cNvSpPr>
          <p:nvPr>
            <p:ph idx="1"/>
          </p:nvPr>
        </p:nvSpPr>
        <p:spPr/>
        <p:txBody>
          <a:bodyPr/>
          <a:lstStyle/>
          <a:p>
            <a:r>
              <a:rPr lang="en-US" b="1" dirty="0"/>
              <a:t>September 9, 2008:</a:t>
            </a:r>
            <a:r>
              <a:rPr lang="en-US" dirty="0"/>
              <a:t> PPP Co-Chairman Asif Ali </a:t>
            </a:r>
            <a:r>
              <a:rPr lang="en-US" dirty="0" err="1"/>
              <a:t>Zardari</a:t>
            </a:r>
            <a:r>
              <a:rPr lang="en-US" dirty="0"/>
              <a:t> takes oath as the head of state. The oath was administered by Chief Justice Abdul Hameed </a:t>
            </a:r>
            <a:r>
              <a:rPr lang="en-US" dirty="0" err="1"/>
              <a:t>Dogar</a:t>
            </a:r>
            <a:r>
              <a:rPr lang="en-US" dirty="0"/>
              <a:t> at the </a:t>
            </a:r>
            <a:r>
              <a:rPr lang="en-US" dirty="0" err="1"/>
              <a:t>Aiwan</a:t>
            </a:r>
            <a:r>
              <a:rPr lang="en-US" dirty="0"/>
              <a:t>-</a:t>
            </a:r>
            <a:r>
              <a:rPr lang="en-US" dirty="0" err="1"/>
              <a:t>i</a:t>
            </a:r>
            <a:r>
              <a:rPr lang="en-US" dirty="0"/>
              <a:t>-Sadr.</a:t>
            </a:r>
          </a:p>
          <a:p>
            <a:r>
              <a:rPr lang="en-US" b="1" dirty="0"/>
              <a:t>May 2009:</a:t>
            </a:r>
            <a:r>
              <a:rPr lang="en-US" dirty="0"/>
              <a:t> The military launched an operation in Swat against the Pakistani Taliban following orders of the government. The operation followed a consensus within the country’s political leadership. Later in June, another operation was launched, this time in the South Waziristan tribal region </a:t>
            </a:r>
            <a:r>
              <a:rPr lang="en-US" dirty="0" err="1"/>
              <a:t>agains</a:t>
            </a:r>
            <a:r>
              <a:rPr lang="en-US" dirty="0"/>
              <a:t> the </a:t>
            </a:r>
            <a:r>
              <a:rPr lang="en-US" dirty="0" err="1"/>
              <a:t>Tehrik</a:t>
            </a:r>
            <a:r>
              <a:rPr lang="en-US" dirty="0"/>
              <a:t>-</a:t>
            </a:r>
            <a:r>
              <a:rPr lang="en-US" dirty="0" err="1"/>
              <a:t>i</a:t>
            </a:r>
            <a:r>
              <a:rPr lang="en-US" dirty="0"/>
              <a:t>-Taliban Pakistan (TTP)</a:t>
            </a:r>
          </a:p>
        </p:txBody>
      </p:sp>
    </p:spTree>
    <p:extLst>
      <p:ext uri="{BB962C8B-B14F-4D97-AF65-F5344CB8AC3E}">
        <p14:creationId xmlns:p14="http://schemas.microsoft.com/office/powerpoint/2010/main" val="218624235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C247AA-512F-4C27-9DCB-B9C8A7F1918D}"/>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D47A6CDB-F21F-4C01-9B83-055AAB8546DF}"/>
              </a:ext>
            </a:extLst>
          </p:cNvPr>
          <p:cNvSpPr>
            <a:spLocks noGrp="1"/>
          </p:cNvSpPr>
          <p:nvPr>
            <p:ph idx="1"/>
          </p:nvPr>
        </p:nvSpPr>
        <p:spPr/>
        <p:txBody>
          <a:bodyPr>
            <a:normAutofit lnSpcReduction="10000"/>
          </a:bodyPr>
          <a:lstStyle/>
          <a:p>
            <a:r>
              <a:rPr lang="en-US" b="1" dirty="0"/>
              <a:t>October 7, 2009:</a:t>
            </a:r>
            <a:r>
              <a:rPr lang="en-US" dirty="0"/>
              <a:t> The </a:t>
            </a:r>
            <a:r>
              <a:rPr lang="en-US" dirty="0" err="1"/>
              <a:t>the</a:t>
            </a:r>
            <a:r>
              <a:rPr lang="en-US" dirty="0"/>
              <a:t> army’s top commanders expressed their ‘serious concerns’ on some of the clauses of the so-called Kerry-Lugar bill which they believed would affect ‘national security’.</a:t>
            </a:r>
          </a:p>
          <a:p>
            <a:r>
              <a:rPr lang="en-US" dirty="0"/>
              <a:t>The bill was aimed at releasing 1.5 billion US dollars per year to the Pakistani government as non-military aid from the period of 2010 to 2014.</a:t>
            </a:r>
          </a:p>
          <a:p>
            <a:r>
              <a:rPr lang="en-US" b="1" dirty="0"/>
              <a:t>November 2009: </a:t>
            </a:r>
            <a:r>
              <a:rPr lang="en-US" dirty="0"/>
              <a:t>The government unveiled a conciliation package with an offer of dialogue with the Baloch. The package called </a:t>
            </a:r>
            <a:r>
              <a:rPr lang="en-US" dirty="0" err="1"/>
              <a:t>Aghaz-i-Huqooq-i-Balochistan</a:t>
            </a:r>
            <a:r>
              <a:rPr lang="en-US" dirty="0"/>
              <a:t> promised of probes into political murders, halting of new cantonments as well as more local control on resources.</a:t>
            </a:r>
          </a:p>
        </p:txBody>
      </p:sp>
    </p:spTree>
    <p:extLst>
      <p:ext uri="{BB962C8B-B14F-4D97-AF65-F5344CB8AC3E}">
        <p14:creationId xmlns:p14="http://schemas.microsoft.com/office/powerpoint/2010/main" val="35148450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FDC7C8-B63E-45B7-B498-531C577632BF}"/>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C72039FE-C21E-4BAE-8DC2-3CF133E964D3}"/>
              </a:ext>
            </a:extLst>
          </p:cNvPr>
          <p:cNvSpPr>
            <a:spLocks noGrp="1"/>
          </p:cNvSpPr>
          <p:nvPr>
            <p:ph idx="1"/>
          </p:nvPr>
        </p:nvSpPr>
        <p:spPr/>
        <p:txBody>
          <a:bodyPr/>
          <a:lstStyle/>
          <a:p>
            <a:r>
              <a:rPr lang="en-US" b="1" dirty="0"/>
              <a:t>December 16, 2009: </a:t>
            </a:r>
            <a:r>
              <a:rPr lang="en-US" dirty="0"/>
              <a:t>The Supreme Court declared the controversial NRO as never to have existed and against the Constitution by reviving all cases and reversing acquittals of its beneficiaries, thus putting the PPP parliamentarians and cabinet members and President </a:t>
            </a:r>
            <a:r>
              <a:rPr lang="en-US" dirty="0" err="1"/>
              <a:t>Zardari</a:t>
            </a:r>
            <a:r>
              <a:rPr lang="en-US" dirty="0"/>
              <a:t> in a quandary.</a:t>
            </a:r>
          </a:p>
          <a:p>
            <a:r>
              <a:rPr lang="en-US" dirty="0"/>
              <a:t>It was a controversial ordinance issued by Pervez Musharraf and granted amnesty to politicians and bureaucrats accused of corruption, money laundering and other crimes between  January 1, 1986, and October 12, 1999.</a:t>
            </a:r>
          </a:p>
          <a:p>
            <a:endParaRPr lang="en-US" dirty="0"/>
          </a:p>
        </p:txBody>
      </p:sp>
    </p:spTree>
    <p:extLst>
      <p:ext uri="{BB962C8B-B14F-4D97-AF65-F5344CB8AC3E}">
        <p14:creationId xmlns:p14="http://schemas.microsoft.com/office/powerpoint/2010/main" val="29365892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EC277A-2475-426A-AB2F-77EE48DFECA1}"/>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50E966AE-1BA4-45DF-BB03-D6E622D1151B}"/>
              </a:ext>
            </a:extLst>
          </p:cNvPr>
          <p:cNvSpPr>
            <a:spLocks noGrp="1"/>
          </p:cNvSpPr>
          <p:nvPr>
            <p:ph idx="1"/>
          </p:nvPr>
        </p:nvSpPr>
        <p:spPr/>
        <p:txBody>
          <a:bodyPr/>
          <a:lstStyle/>
          <a:p>
            <a:r>
              <a:rPr lang="en-US" b="1" dirty="0"/>
              <a:t>December 30, 2009:</a:t>
            </a:r>
            <a:r>
              <a:rPr lang="en-US" dirty="0"/>
              <a:t> Finance ministers of the four provinces and the federal government signed the Seventh National Finance Commission Award. The agreement was hailed as the first step towards the provinces’ financial autonomy and a philosophical shift in government policy to enhance the provinces’ shares.</a:t>
            </a:r>
          </a:p>
          <a:p>
            <a:r>
              <a:rPr lang="en-US" b="1" dirty="0"/>
              <a:t>March 9, 2010: </a:t>
            </a:r>
            <a:r>
              <a:rPr lang="en-US" dirty="0"/>
              <a:t>President </a:t>
            </a:r>
            <a:r>
              <a:rPr lang="en-US" dirty="0" err="1"/>
              <a:t>Zardari</a:t>
            </a:r>
            <a:r>
              <a:rPr lang="en-US" dirty="0"/>
              <a:t> signed the Protection Against Harassment of Women at Workplace Bill, 2010, aimed at providing a safe working environment to women. He reiterated the government's commitment to ensuring equal rights for men and women in accordance with the Constitution.</a:t>
            </a:r>
          </a:p>
        </p:txBody>
      </p:sp>
    </p:spTree>
    <p:extLst>
      <p:ext uri="{BB962C8B-B14F-4D97-AF65-F5344CB8AC3E}">
        <p14:creationId xmlns:p14="http://schemas.microsoft.com/office/powerpoint/2010/main" val="295485848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7594E8-C093-4291-BCD3-64C1E6BC3ADE}"/>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A0D943A1-A8E5-4322-913F-C59EE7355315}"/>
              </a:ext>
            </a:extLst>
          </p:cNvPr>
          <p:cNvSpPr>
            <a:spLocks noGrp="1"/>
          </p:cNvSpPr>
          <p:nvPr>
            <p:ph idx="1"/>
          </p:nvPr>
        </p:nvSpPr>
        <p:spPr/>
        <p:txBody>
          <a:bodyPr>
            <a:normAutofit fontScale="92500" lnSpcReduction="10000"/>
          </a:bodyPr>
          <a:lstStyle/>
          <a:p>
            <a:r>
              <a:rPr lang="en-US" b="1" dirty="0"/>
              <a:t>April 8, 2010: </a:t>
            </a:r>
            <a:r>
              <a:rPr lang="en-US" dirty="0"/>
              <a:t>The National Assembly passed the 18th Amendment to the Constitution of Pakistan, abolishing the president’s power to unilaterally dissolve the Parliament. The amendment also renamed North West Frontier Province to Khyber Pakhtunkhwa. It went through the Senate on April 15, 2010 and became an act of parliament after being signed by President Asif Ali </a:t>
            </a:r>
            <a:r>
              <a:rPr lang="en-US" dirty="0" err="1"/>
              <a:t>Zardari</a:t>
            </a:r>
            <a:r>
              <a:rPr lang="en-US" dirty="0"/>
              <a:t> the same month.</a:t>
            </a:r>
          </a:p>
          <a:p>
            <a:r>
              <a:rPr lang="en-US" b="1" dirty="0"/>
              <a:t>January 4, 2011: </a:t>
            </a:r>
            <a:r>
              <a:rPr lang="en-US" dirty="0"/>
              <a:t>Salman </a:t>
            </a:r>
            <a:r>
              <a:rPr lang="en-US" dirty="0" err="1"/>
              <a:t>Taseer</a:t>
            </a:r>
            <a:r>
              <a:rPr lang="en-US" dirty="0"/>
              <a:t> was gunned down in Islamabad by one of his security guards. The guard, Mumtaz </a:t>
            </a:r>
            <a:r>
              <a:rPr lang="en-US" dirty="0" err="1"/>
              <a:t>Qadri</a:t>
            </a:r>
            <a:r>
              <a:rPr lang="en-US" dirty="0"/>
              <a:t> of the Punjab Elite Force, yelled out ‘Allah-o-Akbar’ and emptied two magazines of an SMG on </a:t>
            </a:r>
            <a:r>
              <a:rPr lang="en-US" dirty="0" err="1"/>
              <a:t>Taseer</a:t>
            </a:r>
            <a:r>
              <a:rPr lang="en-US" dirty="0"/>
              <a:t>, who was the governor of Punjab, before surrendering himself. </a:t>
            </a:r>
            <a:r>
              <a:rPr lang="en-US" dirty="0" err="1"/>
              <a:t>Qadri</a:t>
            </a:r>
            <a:r>
              <a:rPr lang="en-US" dirty="0"/>
              <a:t> later said he had killed </a:t>
            </a:r>
            <a:r>
              <a:rPr lang="en-US" dirty="0" err="1"/>
              <a:t>Taseer</a:t>
            </a:r>
            <a:r>
              <a:rPr lang="en-US" dirty="0"/>
              <a:t> because of his criticism of the blasphemy law.</a:t>
            </a:r>
          </a:p>
        </p:txBody>
      </p:sp>
    </p:spTree>
    <p:extLst>
      <p:ext uri="{BB962C8B-B14F-4D97-AF65-F5344CB8AC3E}">
        <p14:creationId xmlns:p14="http://schemas.microsoft.com/office/powerpoint/2010/main" val="270369618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1A0080-A6D7-4DED-B86F-07227BBE269A}"/>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077120F9-A45F-4D86-B11C-757E0CACD82C}"/>
              </a:ext>
            </a:extLst>
          </p:cNvPr>
          <p:cNvSpPr>
            <a:spLocks noGrp="1"/>
          </p:cNvSpPr>
          <p:nvPr>
            <p:ph idx="1"/>
          </p:nvPr>
        </p:nvSpPr>
        <p:spPr/>
        <p:txBody>
          <a:bodyPr>
            <a:normAutofit fontScale="92500"/>
          </a:bodyPr>
          <a:lstStyle/>
          <a:p>
            <a:r>
              <a:rPr lang="en-US" b="1" dirty="0"/>
              <a:t>May 2, 2011:</a:t>
            </a:r>
            <a:r>
              <a:rPr lang="en-US" dirty="0"/>
              <a:t> Al Qaeda leader Osama bin Laden was killed in a firefight with US forces in Abbottabad, ending a nearly 10-year worldwide hunt for the mastermind of the September 11 attacks.</a:t>
            </a:r>
          </a:p>
          <a:p>
            <a:r>
              <a:rPr lang="en-US" b="1" dirty="0"/>
              <a:t>November 17, 2011:</a:t>
            </a:r>
            <a:r>
              <a:rPr lang="en-US" dirty="0"/>
              <a:t> Mansoor Ijaz, a Pakistani-American businessman, named Husain Haqqani, the then Pakistani ambassador to the US, as the source to the memo sent to the then American military chief days after the May 2 US raid on Osama bin Laden’s compound, seeking his help to avert a possible military coup in Pakistan.</a:t>
            </a:r>
          </a:p>
          <a:p>
            <a:r>
              <a:rPr lang="en-US" dirty="0"/>
              <a:t>Haqqani denied the allegation and resigned from his position on </a:t>
            </a:r>
            <a:r>
              <a:rPr lang="en-US" dirty="0" err="1"/>
              <a:t>Novermber</a:t>
            </a:r>
            <a:r>
              <a:rPr lang="en-US" dirty="0"/>
              <a:t> 22ndsaying he was ”happy to face an inquiry” into the affair.</a:t>
            </a:r>
          </a:p>
          <a:p>
            <a:endParaRPr lang="en-US" dirty="0"/>
          </a:p>
        </p:txBody>
      </p:sp>
    </p:spTree>
    <p:extLst>
      <p:ext uri="{BB962C8B-B14F-4D97-AF65-F5344CB8AC3E}">
        <p14:creationId xmlns:p14="http://schemas.microsoft.com/office/powerpoint/2010/main" val="372686930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F0AB5D-53D4-48FD-8B37-5B68A158F269}"/>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C4C45D97-8D20-48CD-9CED-80438390BD38}"/>
              </a:ext>
            </a:extLst>
          </p:cNvPr>
          <p:cNvSpPr>
            <a:spLocks noGrp="1"/>
          </p:cNvSpPr>
          <p:nvPr>
            <p:ph idx="1"/>
          </p:nvPr>
        </p:nvSpPr>
        <p:spPr/>
        <p:txBody>
          <a:bodyPr/>
          <a:lstStyle/>
          <a:p>
            <a:r>
              <a:rPr lang="en-US" b="1" dirty="0"/>
              <a:t>November 26, 2011:</a:t>
            </a:r>
            <a:r>
              <a:rPr lang="en-US" dirty="0"/>
              <a:t> </a:t>
            </a:r>
            <a:r>
              <a:rPr lang="en-US" dirty="0" err="1"/>
              <a:t>Nato</a:t>
            </a:r>
            <a:r>
              <a:rPr lang="en-US" dirty="0"/>
              <a:t> fighters killed 25 Pakistani military personnel in air strikes on two Pakistani positions in the northwestern tribal region of Mohmand. The strikes were followed by tensions between the US and Pakistan with the latter blocking supply routes to </a:t>
            </a:r>
            <a:r>
              <a:rPr lang="en-US" dirty="0" err="1"/>
              <a:t>Nato</a:t>
            </a:r>
            <a:r>
              <a:rPr lang="en-US" dirty="0"/>
              <a:t> in Afghanistan. In July 2012, Pakistan decided to reopen the route after US Secretary of State Hillary Clinton said she was sorry for the loss of life in a botched air raid.</a:t>
            </a:r>
          </a:p>
        </p:txBody>
      </p:sp>
    </p:spTree>
    <p:extLst>
      <p:ext uri="{BB962C8B-B14F-4D97-AF65-F5344CB8AC3E}">
        <p14:creationId xmlns:p14="http://schemas.microsoft.com/office/powerpoint/2010/main" val="120780063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F42912-1759-433B-A38A-42D92ADBFCCE}"/>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4F6D6300-FA15-4374-AFC5-D30F52F39C32}"/>
              </a:ext>
            </a:extLst>
          </p:cNvPr>
          <p:cNvSpPr>
            <a:spLocks noGrp="1"/>
          </p:cNvSpPr>
          <p:nvPr>
            <p:ph idx="1"/>
          </p:nvPr>
        </p:nvSpPr>
        <p:spPr/>
        <p:txBody>
          <a:bodyPr/>
          <a:lstStyle/>
          <a:p>
            <a:r>
              <a:rPr lang="en-US" b="1" dirty="0"/>
              <a:t>January 11, 2012: </a:t>
            </a:r>
            <a:r>
              <a:rPr lang="en-US" dirty="0"/>
              <a:t>Prime Minister Yousuf Raza Gilani sacked Secretary </a:t>
            </a:r>
            <a:r>
              <a:rPr lang="en-US" dirty="0" err="1"/>
              <a:t>Defence</a:t>
            </a:r>
            <a:r>
              <a:rPr lang="en-US" dirty="0"/>
              <a:t> Khalid Naeem Lodhi for "gross misconduct and illegal action which created misunderstanding" between state institutions. The sacking came after a crisis began to develop in the wake of Gilani’s statement which said the affidavits submitted to the Supreme Court by Chief of Army Staff General Ashfaq Parvez </a:t>
            </a:r>
            <a:r>
              <a:rPr lang="en-US" dirty="0" err="1"/>
              <a:t>Kayani</a:t>
            </a:r>
            <a:r>
              <a:rPr lang="en-US" dirty="0"/>
              <a:t> and ISI chief Lt Gen Ahmad </a:t>
            </a:r>
            <a:r>
              <a:rPr lang="en-US" dirty="0" err="1"/>
              <a:t>Shuja</a:t>
            </a:r>
            <a:r>
              <a:rPr lang="en-US" dirty="0"/>
              <a:t> Pasha on ‘</a:t>
            </a:r>
            <a:r>
              <a:rPr lang="en-US" dirty="0" err="1"/>
              <a:t>memogate</a:t>
            </a:r>
            <a:r>
              <a:rPr lang="en-US" dirty="0"/>
              <a:t>’ were ’unconstitutional and illegal’. The statement was retracted later.</a:t>
            </a:r>
          </a:p>
        </p:txBody>
      </p:sp>
    </p:spTree>
    <p:extLst>
      <p:ext uri="{BB962C8B-B14F-4D97-AF65-F5344CB8AC3E}">
        <p14:creationId xmlns:p14="http://schemas.microsoft.com/office/powerpoint/2010/main" val="418620435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D18319-E5AA-46FB-AF55-47F9CF0BD70E}"/>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A9BB922F-46ED-4C57-B961-9EAEB081B9C7}"/>
              </a:ext>
            </a:extLst>
          </p:cNvPr>
          <p:cNvSpPr>
            <a:spLocks noGrp="1"/>
          </p:cNvSpPr>
          <p:nvPr>
            <p:ph idx="1"/>
          </p:nvPr>
        </p:nvSpPr>
        <p:spPr/>
        <p:txBody>
          <a:bodyPr/>
          <a:lstStyle/>
          <a:p>
            <a:r>
              <a:rPr lang="en-US" b="1" dirty="0"/>
              <a:t>June 19, 2012:</a:t>
            </a:r>
            <a:r>
              <a:rPr lang="en-US" dirty="0"/>
              <a:t> The Supreme Court declared Yousuf Raza Gilani disqualified from holding a seat in the parliament from the date of his conviction on April 26, 2012 by a seven-member bench for contempt of court.</a:t>
            </a:r>
          </a:p>
          <a:p>
            <a:r>
              <a:rPr lang="en-US" dirty="0"/>
              <a:t>Gilani was convicted for contempt over not implementing the Supreme Court’s ruling on the National Reconciliation Ordinance (NRO).</a:t>
            </a:r>
          </a:p>
          <a:p>
            <a:endParaRPr lang="en-US" dirty="0"/>
          </a:p>
        </p:txBody>
      </p:sp>
    </p:spTree>
    <p:extLst>
      <p:ext uri="{BB962C8B-B14F-4D97-AF65-F5344CB8AC3E}">
        <p14:creationId xmlns:p14="http://schemas.microsoft.com/office/powerpoint/2010/main" val="250540012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8FB1F7-F913-49DC-A35A-ADF85A2612FE}"/>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81D522D9-6174-4CDA-8A1D-BE123D155B5E}"/>
              </a:ext>
            </a:extLst>
          </p:cNvPr>
          <p:cNvSpPr>
            <a:spLocks noGrp="1"/>
          </p:cNvSpPr>
          <p:nvPr>
            <p:ph idx="1"/>
          </p:nvPr>
        </p:nvSpPr>
        <p:spPr/>
        <p:txBody>
          <a:bodyPr/>
          <a:lstStyle/>
          <a:p>
            <a:r>
              <a:rPr lang="en-US" b="1" dirty="0"/>
              <a:t>January 15, 2013: </a:t>
            </a:r>
            <a:r>
              <a:rPr lang="en-US" dirty="0"/>
              <a:t>The Supreme Court directed the authorities to arrest all those accused in the rental power projects case. Raja Pervez Ashraf is among the accused. He was accused of receiving kickbacks and commission in the case as minister for water and power. </a:t>
            </a:r>
            <a:r>
              <a:rPr lang="en-US" b="1" dirty="0"/>
              <a:t>January 14, 2013:</a:t>
            </a:r>
            <a:r>
              <a:rPr lang="en-US" dirty="0"/>
              <a:t> The </a:t>
            </a:r>
            <a:r>
              <a:rPr lang="en-US" dirty="0" err="1"/>
              <a:t>Balochistan</a:t>
            </a:r>
            <a:r>
              <a:rPr lang="en-US" dirty="0"/>
              <a:t> government was dismissed and governor’s rule was imposed in the province. The measure was taken days after the bombings in Quetta that killed over 100 people, most of them Hazaras.</a:t>
            </a:r>
          </a:p>
        </p:txBody>
      </p:sp>
    </p:spTree>
    <p:extLst>
      <p:ext uri="{BB962C8B-B14F-4D97-AF65-F5344CB8AC3E}">
        <p14:creationId xmlns:p14="http://schemas.microsoft.com/office/powerpoint/2010/main" val="292994787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569B8D-EB5C-4690-AC14-6DAF21E44C77}"/>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991302A9-A827-4566-ACFE-A3F5065D2045}"/>
              </a:ext>
            </a:extLst>
          </p:cNvPr>
          <p:cNvSpPr>
            <a:spLocks noGrp="1"/>
          </p:cNvSpPr>
          <p:nvPr>
            <p:ph idx="1"/>
          </p:nvPr>
        </p:nvSpPr>
        <p:spPr/>
        <p:txBody>
          <a:bodyPr/>
          <a:lstStyle/>
          <a:p>
            <a:r>
              <a:rPr lang="en-US" b="1" dirty="0"/>
              <a:t>February 18, 2013:</a:t>
            </a:r>
            <a:r>
              <a:rPr lang="en-US" dirty="0"/>
              <a:t> The government formally awarded a multi-billion dollars contract for construction and operation of Gwadar Port to China. The port’s development is expected to open up new vistas of progress in Pakistan, particularly </a:t>
            </a:r>
            <a:r>
              <a:rPr lang="en-US" dirty="0" err="1"/>
              <a:t>Balochistan</a:t>
            </a:r>
            <a:r>
              <a:rPr lang="en-US" dirty="0"/>
              <a:t>.</a:t>
            </a:r>
          </a:p>
          <a:p>
            <a:r>
              <a:rPr lang="en-US" b="1" dirty="0"/>
              <a:t>March 11, 2013:</a:t>
            </a:r>
            <a:r>
              <a:rPr lang="en-US" dirty="0"/>
              <a:t> President Asif Ali </a:t>
            </a:r>
            <a:r>
              <a:rPr lang="en-US" dirty="0" err="1"/>
              <a:t>Zardari</a:t>
            </a:r>
            <a:r>
              <a:rPr lang="en-US" dirty="0"/>
              <a:t> and Iranian President Mahmoud </a:t>
            </a:r>
            <a:r>
              <a:rPr lang="en-US" dirty="0" err="1"/>
              <a:t>Ahmedinijad</a:t>
            </a:r>
            <a:r>
              <a:rPr lang="en-US" dirty="0"/>
              <a:t> officially inaugurated construction work of a delayed $7.5 billion gas pipeline from Iran to Pakistan. The inauguration took place despite strong opposition from the US and warnings of economic sanctions.</a:t>
            </a:r>
          </a:p>
        </p:txBody>
      </p:sp>
    </p:spTree>
    <p:extLst>
      <p:ext uri="{BB962C8B-B14F-4D97-AF65-F5344CB8AC3E}">
        <p14:creationId xmlns:p14="http://schemas.microsoft.com/office/powerpoint/2010/main" val="369366964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37F5BD-0854-447C-B75A-24849A359C17}"/>
              </a:ext>
            </a:extLst>
          </p:cNvPr>
          <p:cNvSpPr>
            <a:spLocks noGrp="1"/>
          </p:cNvSpPr>
          <p:nvPr>
            <p:ph type="title"/>
          </p:nvPr>
        </p:nvSpPr>
        <p:spPr/>
        <p:txBody>
          <a:bodyPr/>
          <a:lstStyle/>
          <a:p>
            <a:r>
              <a:rPr lang="en-US" dirty="0"/>
              <a:t>PML-N (2013-2018)</a:t>
            </a:r>
          </a:p>
        </p:txBody>
      </p:sp>
      <p:sp>
        <p:nvSpPr>
          <p:cNvPr id="3" name="Content Placeholder 2">
            <a:extLst>
              <a:ext uri="{FF2B5EF4-FFF2-40B4-BE49-F238E27FC236}">
                <a16:creationId xmlns:a16="http://schemas.microsoft.com/office/drawing/2014/main" id="{EC646A5E-476E-40C8-A757-547D1867CDDC}"/>
              </a:ext>
            </a:extLst>
          </p:cNvPr>
          <p:cNvSpPr>
            <a:spLocks noGrp="1"/>
          </p:cNvSpPr>
          <p:nvPr>
            <p:ph idx="1"/>
          </p:nvPr>
        </p:nvSpPr>
        <p:spPr/>
        <p:txBody>
          <a:bodyPr/>
          <a:lstStyle/>
          <a:p>
            <a:r>
              <a:rPr lang="en-US" dirty="0"/>
              <a:t>Pakistan achieved 5.8% growth in gross domestic product (GDP) in fiscal 2017-18, the highest in the last 13 years.  Many long delayed projects ranging from roads, ports, dams and irrigation projects to power plants were finally completed.  Examples of such long delayed projects include M8 and M9 motorways, </a:t>
            </a:r>
            <a:r>
              <a:rPr lang="en-US" dirty="0" err="1"/>
              <a:t>Lyari</a:t>
            </a:r>
            <a:r>
              <a:rPr lang="en-US" dirty="0"/>
              <a:t> Expressway, New Islamabad Airport, </a:t>
            </a:r>
            <a:r>
              <a:rPr lang="en-US" dirty="0" err="1"/>
              <a:t>Neelum</a:t>
            </a:r>
            <a:r>
              <a:rPr lang="en-US" dirty="0"/>
              <a:t>-Jhelum Hydroelectric Project and </a:t>
            </a:r>
            <a:r>
              <a:rPr lang="en-US" dirty="0" err="1"/>
              <a:t>Kachhi</a:t>
            </a:r>
            <a:r>
              <a:rPr lang="en-US" dirty="0"/>
              <a:t> Canal. </a:t>
            </a:r>
          </a:p>
        </p:txBody>
      </p:sp>
    </p:spTree>
    <p:extLst>
      <p:ext uri="{BB962C8B-B14F-4D97-AF65-F5344CB8AC3E}">
        <p14:creationId xmlns:p14="http://schemas.microsoft.com/office/powerpoint/2010/main" val="280100951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DE5F0D-8EAF-4418-8F71-92ADA879FB89}"/>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2F754B0E-D8B2-42C2-B9DB-23E9347DE83B}"/>
              </a:ext>
            </a:extLst>
          </p:cNvPr>
          <p:cNvSpPr>
            <a:spLocks noGrp="1"/>
          </p:cNvSpPr>
          <p:nvPr>
            <p:ph idx="1"/>
          </p:nvPr>
        </p:nvSpPr>
        <p:spPr/>
        <p:txBody>
          <a:bodyPr/>
          <a:lstStyle/>
          <a:p>
            <a:r>
              <a:rPr lang="en-US" dirty="0"/>
              <a:t>Pakistan Army's anti-terror operations </a:t>
            </a:r>
            <a:r>
              <a:rPr lang="en-US" dirty="0" err="1"/>
              <a:t>Zarb</a:t>
            </a:r>
            <a:r>
              <a:rPr lang="en-US" dirty="0"/>
              <a:t> e </a:t>
            </a:r>
            <a:r>
              <a:rPr lang="en-US" dirty="0" err="1"/>
              <a:t>Azb</a:t>
            </a:r>
            <a:r>
              <a:rPr lang="en-US" dirty="0"/>
              <a:t> and </a:t>
            </a:r>
            <a:r>
              <a:rPr lang="en-US" dirty="0" err="1"/>
              <a:t>Radd</a:t>
            </a:r>
            <a:r>
              <a:rPr lang="en-US" dirty="0"/>
              <a:t> ul </a:t>
            </a:r>
            <a:r>
              <a:rPr lang="en-US" dirty="0" err="1"/>
              <a:t>Fasad</a:t>
            </a:r>
            <a:r>
              <a:rPr lang="en-US" dirty="0"/>
              <a:t> dramatically reduced the level of violence and significantly improved security in the country. It resulted in increased confidence of businesses, investors and consumers in the economy. </a:t>
            </a:r>
          </a:p>
          <a:p>
            <a:r>
              <a:rPr lang="en-US" dirty="0"/>
              <a:t> Growth of Chinese investment in China Pakistan Economic Corridor (CPEC) related infrastructure and energy projects. Ongoing execution of CPEC projects is transforming some of the least developed areas of Pakistan and creating hundreds of thousands of new jobs.</a:t>
            </a:r>
          </a:p>
        </p:txBody>
      </p:sp>
    </p:spTree>
    <p:extLst>
      <p:ext uri="{BB962C8B-B14F-4D97-AF65-F5344CB8AC3E}">
        <p14:creationId xmlns:p14="http://schemas.microsoft.com/office/powerpoint/2010/main" val="174000969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8698AA-30AE-41A9-8222-0DD413096B84}"/>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D1344BB2-66F1-440D-91B8-4A975FB48CB0}"/>
              </a:ext>
            </a:extLst>
          </p:cNvPr>
          <p:cNvSpPr>
            <a:spLocks noGrp="1"/>
          </p:cNvSpPr>
          <p:nvPr>
            <p:ph idx="1"/>
          </p:nvPr>
        </p:nvSpPr>
        <p:spPr/>
        <p:txBody>
          <a:bodyPr/>
          <a:lstStyle/>
          <a:p>
            <a:r>
              <a:rPr lang="en-US" dirty="0"/>
              <a:t>Major decline in energy prices, particularly prices of liquified natural gas (LNG), helped boost the energy and the power sector which in turn helped increase industrial production and transport sectors.  Pakistan is now among the world's fastest growing LNG markets. </a:t>
            </a:r>
          </a:p>
        </p:txBody>
      </p:sp>
    </p:spTree>
    <p:extLst>
      <p:ext uri="{BB962C8B-B14F-4D97-AF65-F5344CB8AC3E}">
        <p14:creationId xmlns:p14="http://schemas.microsoft.com/office/powerpoint/2010/main" val="347629160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B4C0F8-FE6B-481D-BFFC-BAAC48F38762}"/>
              </a:ext>
            </a:extLst>
          </p:cNvPr>
          <p:cNvSpPr>
            <a:spLocks noGrp="1"/>
          </p:cNvSpPr>
          <p:nvPr>
            <p:ph type="title"/>
          </p:nvPr>
        </p:nvSpPr>
        <p:spPr/>
        <p:txBody>
          <a:bodyPr/>
          <a:lstStyle/>
          <a:p>
            <a:r>
              <a:rPr lang="en-US" dirty="0"/>
              <a:t>However;</a:t>
            </a:r>
          </a:p>
        </p:txBody>
      </p:sp>
      <p:sp>
        <p:nvSpPr>
          <p:cNvPr id="3" name="Content Placeholder 2">
            <a:extLst>
              <a:ext uri="{FF2B5EF4-FFF2-40B4-BE49-F238E27FC236}">
                <a16:creationId xmlns:a16="http://schemas.microsoft.com/office/drawing/2014/main" id="{A11B185E-FC23-4162-B958-562EFFC5525D}"/>
              </a:ext>
            </a:extLst>
          </p:cNvPr>
          <p:cNvSpPr>
            <a:spLocks noGrp="1"/>
          </p:cNvSpPr>
          <p:nvPr>
            <p:ph idx="1"/>
          </p:nvPr>
        </p:nvSpPr>
        <p:spPr/>
        <p:txBody>
          <a:bodyPr>
            <a:normAutofit/>
          </a:bodyPr>
          <a:lstStyle/>
          <a:p>
            <a:r>
              <a:rPr lang="en-US" dirty="0"/>
              <a:t>Structural problems in Pakistan's economy remained unaddressed. Current account deficits widened as exports declined and imports jumped, putting pressure on the nation's foreign exchange reserves. Increased deficit spending resulted in bigger budget deficit and heavy borrowing. Public debt and debt service costs climbed. School enrollment and literacy rates remained essentially flat in the last 5 years and Pakistan continued to rank low on human development indices. Here are some of the details:</a:t>
            </a:r>
          </a:p>
          <a:p>
            <a:pPr marL="0" indent="0">
              <a:buNone/>
            </a:pPr>
            <a:br>
              <a:rPr lang="en-US" dirty="0"/>
            </a:br>
            <a:endParaRPr lang="en-US" dirty="0"/>
          </a:p>
        </p:txBody>
      </p:sp>
    </p:spTree>
    <p:extLst>
      <p:ext uri="{BB962C8B-B14F-4D97-AF65-F5344CB8AC3E}">
        <p14:creationId xmlns:p14="http://schemas.microsoft.com/office/powerpoint/2010/main" val="189749472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1EC56F-876A-4D85-A051-02F506B80D7B}"/>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3F267DE8-3B1D-443A-B0A8-071DE36DEAD7}"/>
              </a:ext>
            </a:extLst>
          </p:cNvPr>
          <p:cNvSpPr>
            <a:spLocks noGrp="1"/>
          </p:cNvSpPr>
          <p:nvPr>
            <p:ph idx="1"/>
          </p:nvPr>
        </p:nvSpPr>
        <p:spPr/>
        <p:txBody>
          <a:bodyPr/>
          <a:lstStyle/>
          <a:p>
            <a:r>
              <a:rPr lang="en-US" dirty="0"/>
              <a:t>Pakistan's exports have plummeted from about $25 billion in 2013-14 to about $20 billion in 2016-17 under PMLN government.  Exports in first 9 months of current fiscal year 2017-18 have been recorded at $17 billion.  The trade deficit for the first nine months of fiscal 2017-18 reached $27.3 billion.  This situation has forced the government to borrow more in international debt markets at commercial rates. The country now faces the prospect of going back to the International Monetary Fund (IMF) for yet another bailout.</a:t>
            </a:r>
          </a:p>
          <a:p>
            <a:endParaRPr lang="en-US" dirty="0"/>
          </a:p>
        </p:txBody>
      </p:sp>
    </p:spTree>
    <p:extLst>
      <p:ext uri="{BB962C8B-B14F-4D97-AF65-F5344CB8AC3E}">
        <p14:creationId xmlns:p14="http://schemas.microsoft.com/office/powerpoint/2010/main" val="404771824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DB574C-5AE0-447D-A54A-98FA7683AC3D}"/>
              </a:ext>
            </a:extLst>
          </p:cNvPr>
          <p:cNvSpPr>
            <a:spLocks noGrp="1"/>
          </p:cNvSpPr>
          <p:nvPr>
            <p:ph type="title"/>
          </p:nvPr>
        </p:nvSpPr>
        <p:spPr/>
        <p:txBody>
          <a:bodyPr/>
          <a:lstStyle/>
          <a:p>
            <a:endParaRPr lang="en-US"/>
          </a:p>
        </p:txBody>
      </p:sp>
      <p:pic>
        <p:nvPicPr>
          <p:cNvPr id="1026" name="Picture 2">
            <a:extLst>
              <a:ext uri="{FF2B5EF4-FFF2-40B4-BE49-F238E27FC236}">
                <a16:creationId xmlns:a16="http://schemas.microsoft.com/office/drawing/2014/main" id="{CBE5580E-55F6-4140-83DC-437D0CE84077}"/>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097280" y="1825625"/>
            <a:ext cx="10367889" cy="43513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3941555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998844-26DF-4132-AD3E-B9B002FD37F5}"/>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0627A4A0-8ECD-437D-9127-AE37992B3FDC}"/>
              </a:ext>
            </a:extLst>
          </p:cNvPr>
          <p:cNvSpPr>
            <a:spLocks noGrp="1"/>
          </p:cNvSpPr>
          <p:nvPr>
            <p:ph idx="1"/>
          </p:nvPr>
        </p:nvSpPr>
        <p:spPr/>
        <p:txBody>
          <a:bodyPr>
            <a:normAutofit lnSpcReduction="10000"/>
          </a:bodyPr>
          <a:lstStyle/>
          <a:p>
            <a:r>
              <a:rPr lang="en-US" dirty="0"/>
              <a:t>The last five years of Pakistan's outgoing government of the Pakistan Muslim League (Nawaz) have seen the revival of Pakistan's economy and completion of many long delayed infrastructure and energy projects. Mr. Nawaz Sharif deserves full credit for it.  At the same time, the PML government is responsible for slow progress on human development indicators, major decline in exports, growing twin deficits of budget and external accounts, mounting public debt and lack of transparency in financial matters.  It is the lack of transparency that has been brought in sharp focus with the removal of Prime Minister Nawaz Sharif by the nation's Supreme Court in the aftermath of Panama Papers. The leak of these papers revealed his family's ownership of undeclared and unexplained substantial assets abroad.</a:t>
            </a:r>
          </a:p>
        </p:txBody>
      </p:sp>
    </p:spTree>
    <p:extLst>
      <p:ext uri="{BB962C8B-B14F-4D97-AF65-F5344CB8AC3E}">
        <p14:creationId xmlns:p14="http://schemas.microsoft.com/office/powerpoint/2010/main" val="20946972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321</TotalTime>
  <Words>2274</Words>
  <Application>Microsoft Office PowerPoint</Application>
  <PresentationFormat>Widescreen</PresentationFormat>
  <Paragraphs>74</Paragraphs>
  <Slides>27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27</vt:i4>
      </vt:variant>
    </vt:vector>
  </HeadingPairs>
  <TitlesOfParts>
    <vt:vector size="31" baseType="lpstr">
      <vt:lpstr>Arial</vt:lpstr>
      <vt:lpstr>Calibri</vt:lpstr>
      <vt:lpstr>Calibri Light</vt:lpstr>
      <vt:lpstr>Office Theme</vt:lpstr>
      <vt:lpstr>Political Condition</vt:lpstr>
      <vt:lpstr>Why political parties are important?</vt:lpstr>
      <vt:lpstr>PowerPoint Presentation</vt:lpstr>
      <vt:lpstr>Parties in Pakistan</vt:lpstr>
      <vt:lpstr>Characteristics of political parties</vt:lpstr>
      <vt:lpstr>PowerPoint Presentation</vt:lpstr>
      <vt:lpstr>PowerPoint Presentation</vt:lpstr>
      <vt:lpstr>The Current run of democracy PPP (20008-2013)</vt:lpstr>
      <vt:lpstr>PPP (20008-2013)</vt:lpstr>
      <vt:lpstr>PPP (20008-2013)</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PML-N (2013-2018)</vt:lpstr>
      <vt:lpstr>PowerPoint Presentation</vt:lpstr>
      <vt:lpstr>PowerPoint Presentation</vt:lpstr>
      <vt:lpstr>However;</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Political Condition</dc:title>
  <dc:creator>tahir sial</dc:creator>
  <cp:lastModifiedBy>tahir sial</cp:lastModifiedBy>
  <cp:revision>18</cp:revision>
  <dcterms:created xsi:type="dcterms:W3CDTF">2020-07-02T05:13:12Z</dcterms:created>
  <dcterms:modified xsi:type="dcterms:W3CDTF">2021-03-09T05:06:30Z</dcterms:modified>
</cp:coreProperties>
</file>