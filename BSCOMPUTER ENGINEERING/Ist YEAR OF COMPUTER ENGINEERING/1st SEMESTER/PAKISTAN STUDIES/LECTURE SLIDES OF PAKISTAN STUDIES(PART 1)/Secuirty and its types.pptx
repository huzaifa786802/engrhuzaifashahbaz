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425" r:id="rId3"/>
    <p:sldId id="262" r:id="rId4"/>
    <p:sldId id="263" r:id="rId5"/>
    <p:sldId id="264" r:id="rId6"/>
    <p:sldId id="265" r:id="rId7"/>
    <p:sldId id="266" r:id="rId8"/>
    <p:sldId id="267" r:id="rId9"/>
    <p:sldId id="268" r:id="rId10"/>
    <p:sldId id="269" r:id="rId11"/>
    <p:sldId id="270" r:id="rId12"/>
    <p:sldId id="271" r:id="rId13"/>
    <p:sldId id="426" r:id="rId14"/>
    <p:sldId id="427" r:id="rId15"/>
    <p:sldId id="42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9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B2337-C0D1-421E-AFB1-C34BACB5EE2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F2C1567-35B9-4C06-A9F0-C5F7037CD84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C7C730F-F8E7-4BC6-BDB2-0FE8BF3708CE}"/>
              </a:ext>
            </a:extLst>
          </p:cNvPr>
          <p:cNvSpPr>
            <a:spLocks noGrp="1"/>
          </p:cNvSpPr>
          <p:nvPr>
            <p:ph type="dt" sz="half" idx="10"/>
          </p:nvPr>
        </p:nvSpPr>
        <p:spPr/>
        <p:txBody>
          <a:bodyPr/>
          <a:lstStyle/>
          <a:p>
            <a:fld id="{A295E70F-5AC5-4CEB-BF01-6B6AB62E6AE2}" type="datetimeFigureOut">
              <a:rPr lang="en-US" smtClean="0"/>
              <a:t>1/13/2021</a:t>
            </a:fld>
            <a:endParaRPr lang="en-US"/>
          </a:p>
        </p:txBody>
      </p:sp>
      <p:sp>
        <p:nvSpPr>
          <p:cNvPr id="5" name="Footer Placeholder 4">
            <a:extLst>
              <a:ext uri="{FF2B5EF4-FFF2-40B4-BE49-F238E27FC236}">
                <a16:creationId xmlns:a16="http://schemas.microsoft.com/office/drawing/2014/main" id="{E32DD178-130F-40B8-BC69-42A84EFAD8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06572A-1EE4-4DD3-A397-0D4AC0EBEB08}"/>
              </a:ext>
            </a:extLst>
          </p:cNvPr>
          <p:cNvSpPr>
            <a:spLocks noGrp="1"/>
          </p:cNvSpPr>
          <p:nvPr>
            <p:ph type="sldNum" sz="quarter" idx="12"/>
          </p:nvPr>
        </p:nvSpPr>
        <p:spPr/>
        <p:txBody>
          <a:bodyPr/>
          <a:lstStyle/>
          <a:p>
            <a:fld id="{BF96FD17-4C9E-4A30-98AB-CC120DB6912D}" type="slidenum">
              <a:rPr lang="en-US" smtClean="0"/>
              <a:t>‹#›</a:t>
            </a:fld>
            <a:endParaRPr lang="en-US"/>
          </a:p>
        </p:txBody>
      </p:sp>
    </p:spTree>
    <p:extLst>
      <p:ext uri="{BB962C8B-B14F-4D97-AF65-F5344CB8AC3E}">
        <p14:creationId xmlns:p14="http://schemas.microsoft.com/office/powerpoint/2010/main" val="2522401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6AABB-4F7F-49DB-B068-62F002A2EB5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C500A70-3907-47FF-9938-7CDB8B4B590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120016-8443-421C-8E7F-AEFA90FB734F}"/>
              </a:ext>
            </a:extLst>
          </p:cNvPr>
          <p:cNvSpPr>
            <a:spLocks noGrp="1"/>
          </p:cNvSpPr>
          <p:nvPr>
            <p:ph type="dt" sz="half" idx="10"/>
          </p:nvPr>
        </p:nvSpPr>
        <p:spPr/>
        <p:txBody>
          <a:bodyPr/>
          <a:lstStyle/>
          <a:p>
            <a:fld id="{A295E70F-5AC5-4CEB-BF01-6B6AB62E6AE2}" type="datetimeFigureOut">
              <a:rPr lang="en-US" smtClean="0"/>
              <a:t>1/13/2021</a:t>
            </a:fld>
            <a:endParaRPr lang="en-US"/>
          </a:p>
        </p:txBody>
      </p:sp>
      <p:sp>
        <p:nvSpPr>
          <p:cNvPr id="5" name="Footer Placeholder 4">
            <a:extLst>
              <a:ext uri="{FF2B5EF4-FFF2-40B4-BE49-F238E27FC236}">
                <a16:creationId xmlns:a16="http://schemas.microsoft.com/office/drawing/2014/main" id="{0F2BBAC0-34C0-4E44-9AFF-D602EDDBD6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BAA8B6-926F-414C-8F87-365366179E71}"/>
              </a:ext>
            </a:extLst>
          </p:cNvPr>
          <p:cNvSpPr>
            <a:spLocks noGrp="1"/>
          </p:cNvSpPr>
          <p:nvPr>
            <p:ph type="sldNum" sz="quarter" idx="12"/>
          </p:nvPr>
        </p:nvSpPr>
        <p:spPr/>
        <p:txBody>
          <a:bodyPr/>
          <a:lstStyle/>
          <a:p>
            <a:fld id="{BF96FD17-4C9E-4A30-98AB-CC120DB6912D}" type="slidenum">
              <a:rPr lang="en-US" smtClean="0"/>
              <a:t>‹#›</a:t>
            </a:fld>
            <a:endParaRPr lang="en-US"/>
          </a:p>
        </p:txBody>
      </p:sp>
    </p:spTree>
    <p:extLst>
      <p:ext uri="{BB962C8B-B14F-4D97-AF65-F5344CB8AC3E}">
        <p14:creationId xmlns:p14="http://schemas.microsoft.com/office/powerpoint/2010/main" val="19046685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E9D8C-2110-4AC9-9F1D-7DE7371BA3E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DBB4308-1E21-4E21-9E6D-36D5AB05EB0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CB9E0E7-1970-491B-A94A-2BEFF8BD33E2}"/>
              </a:ext>
            </a:extLst>
          </p:cNvPr>
          <p:cNvSpPr>
            <a:spLocks noGrp="1"/>
          </p:cNvSpPr>
          <p:nvPr>
            <p:ph type="dt" sz="half" idx="10"/>
          </p:nvPr>
        </p:nvSpPr>
        <p:spPr/>
        <p:txBody>
          <a:bodyPr/>
          <a:lstStyle/>
          <a:p>
            <a:fld id="{A295E70F-5AC5-4CEB-BF01-6B6AB62E6AE2}" type="datetimeFigureOut">
              <a:rPr lang="en-US" smtClean="0"/>
              <a:t>1/13/2021</a:t>
            </a:fld>
            <a:endParaRPr lang="en-US"/>
          </a:p>
        </p:txBody>
      </p:sp>
      <p:sp>
        <p:nvSpPr>
          <p:cNvPr id="5" name="Footer Placeholder 4">
            <a:extLst>
              <a:ext uri="{FF2B5EF4-FFF2-40B4-BE49-F238E27FC236}">
                <a16:creationId xmlns:a16="http://schemas.microsoft.com/office/drawing/2014/main" id="{5346CF75-4E4B-47A1-91A5-8C775E8B7D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4F2537-F49B-4B43-9822-E987300822C6}"/>
              </a:ext>
            </a:extLst>
          </p:cNvPr>
          <p:cNvSpPr>
            <a:spLocks noGrp="1"/>
          </p:cNvSpPr>
          <p:nvPr>
            <p:ph type="sldNum" sz="quarter" idx="12"/>
          </p:nvPr>
        </p:nvSpPr>
        <p:spPr/>
        <p:txBody>
          <a:bodyPr/>
          <a:lstStyle/>
          <a:p>
            <a:fld id="{BF96FD17-4C9E-4A30-98AB-CC120DB6912D}" type="slidenum">
              <a:rPr lang="en-US" smtClean="0"/>
              <a:t>‹#›</a:t>
            </a:fld>
            <a:endParaRPr lang="en-US"/>
          </a:p>
        </p:txBody>
      </p:sp>
    </p:spTree>
    <p:extLst>
      <p:ext uri="{BB962C8B-B14F-4D97-AF65-F5344CB8AC3E}">
        <p14:creationId xmlns:p14="http://schemas.microsoft.com/office/powerpoint/2010/main" val="42026957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2F026-7F39-4F04-9F97-E9905BD7716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4313DEA-B5D7-4D71-9E38-7E86264E6D2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04AF89C-D20C-47CC-B73A-AFBB5470916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9DC0AF8-0EAA-4868-99EA-42624D306798}"/>
              </a:ext>
            </a:extLst>
          </p:cNvPr>
          <p:cNvSpPr>
            <a:spLocks noGrp="1"/>
          </p:cNvSpPr>
          <p:nvPr>
            <p:ph type="dt" sz="half" idx="10"/>
          </p:nvPr>
        </p:nvSpPr>
        <p:spPr/>
        <p:txBody>
          <a:bodyPr/>
          <a:lstStyle/>
          <a:p>
            <a:fld id="{A295E70F-5AC5-4CEB-BF01-6B6AB62E6AE2}" type="datetimeFigureOut">
              <a:rPr lang="en-US" smtClean="0"/>
              <a:t>1/13/2021</a:t>
            </a:fld>
            <a:endParaRPr lang="en-US"/>
          </a:p>
        </p:txBody>
      </p:sp>
      <p:sp>
        <p:nvSpPr>
          <p:cNvPr id="6" name="Footer Placeholder 5">
            <a:extLst>
              <a:ext uri="{FF2B5EF4-FFF2-40B4-BE49-F238E27FC236}">
                <a16:creationId xmlns:a16="http://schemas.microsoft.com/office/drawing/2014/main" id="{BBBAA6EF-87E6-46DB-9F9E-DBCFAFBE9A0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56F11D-6A58-4FDD-BB13-67FB54538B7D}"/>
              </a:ext>
            </a:extLst>
          </p:cNvPr>
          <p:cNvSpPr>
            <a:spLocks noGrp="1"/>
          </p:cNvSpPr>
          <p:nvPr>
            <p:ph type="sldNum" sz="quarter" idx="12"/>
          </p:nvPr>
        </p:nvSpPr>
        <p:spPr/>
        <p:txBody>
          <a:bodyPr/>
          <a:lstStyle/>
          <a:p>
            <a:fld id="{BF96FD17-4C9E-4A30-98AB-CC120DB6912D}" type="slidenum">
              <a:rPr lang="en-US" smtClean="0"/>
              <a:t>‹#›</a:t>
            </a:fld>
            <a:endParaRPr lang="en-US"/>
          </a:p>
        </p:txBody>
      </p:sp>
    </p:spTree>
    <p:extLst>
      <p:ext uri="{BB962C8B-B14F-4D97-AF65-F5344CB8AC3E}">
        <p14:creationId xmlns:p14="http://schemas.microsoft.com/office/powerpoint/2010/main" val="12551949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F4C55-3F2C-414A-84F5-AAD2E92F7A9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58E511E-B5BB-4406-A7D6-8670A431F1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9A168C9-1882-4CC5-BB99-1E3EC14009C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39596C3-B1A1-431A-A1AB-BF6A25F5DD2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807E34B-C9B5-4E7C-9889-DBC052B799C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2CACAA1-76BE-41C8-9584-5DC002C8185B}"/>
              </a:ext>
            </a:extLst>
          </p:cNvPr>
          <p:cNvSpPr>
            <a:spLocks noGrp="1"/>
          </p:cNvSpPr>
          <p:nvPr>
            <p:ph type="dt" sz="half" idx="10"/>
          </p:nvPr>
        </p:nvSpPr>
        <p:spPr/>
        <p:txBody>
          <a:bodyPr/>
          <a:lstStyle/>
          <a:p>
            <a:fld id="{A295E70F-5AC5-4CEB-BF01-6B6AB62E6AE2}" type="datetimeFigureOut">
              <a:rPr lang="en-US" smtClean="0"/>
              <a:t>1/13/2021</a:t>
            </a:fld>
            <a:endParaRPr lang="en-US"/>
          </a:p>
        </p:txBody>
      </p:sp>
      <p:sp>
        <p:nvSpPr>
          <p:cNvPr id="8" name="Footer Placeholder 7">
            <a:extLst>
              <a:ext uri="{FF2B5EF4-FFF2-40B4-BE49-F238E27FC236}">
                <a16:creationId xmlns:a16="http://schemas.microsoft.com/office/drawing/2014/main" id="{B7D9D79E-D152-43BE-A931-869FA5D1242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4EF7761-3E5B-4F07-9315-0C4D60C89328}"/>
              </a:ext>
            </a:extLst>
          </p:cNvPr>
          <p:cNvSpPr>
            <a:spLocks noGrp="1"/>
          </p:cNvSpPr>
          <p:nvPr>
            <p:ph type="sldNum" sz="quarter" idx="12"/>
          </p:nvPr>
        </p:nvSpPr>
        <p:spPr/>
        <p:txBody>
          <a:bodyPr/>
          <a:lstStyle/>
          <a:p>
            <a:fld id="{BF96FD17-4C9E-4A30-98AB-CC120DB6912D}" type="slidenum">
              <a:rPr lang="en-US" smtClean="0"/>
              <a:t>‹#›</a:t>
            </a:fld>
            <a:endParaRPr lang="en-US"/>
          </a:p>
        </p:txBody>
      </p:sp>
    </p:spTree>
    <p:extLst>
      <p:ext uri="{BB962C8B-B14F-4D97-AF65-F5344CB8AC3E}">
        <p14:creationId xmlns:p14="http://schemas.microsoft.com/office/powerpoint/2010/main" val="5582118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D5343-68F9-4ACB-BCAB-8DCAA35231A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8ED608B-B7A3-410B-82EB-C76CCD5EB3A5}"/>
              </a:ext>
            </a:extLst>
          </p:cNvPr>
          <p:cNvSpPr>
            <a:spLocks noGrp="1"/>
          </p:cNvSpPr>
          <p:nvPr>
            <p:ph type="dt" sz="half" idx="10"/>
          </p:nvPr>
        </p:nvSpPr>
        <p:spPr/>
        <p:txBody>
          <a:bodyPr/>
          <a:lstStyle/>
          <a:p>
            <a:fld id="{A295E70F-5AC5-4CEB-BF01-6B6AB62E6AE2}" type="datetimeFigureOut">
              <a:rPr lang="en-US" smtClean="0"/>
              <a:t>1/13/2021</a:t>
            </a:fld>
            <a:endParaRPr lang="en-US"/>
          </a:p>
        </p:txBody>
      </p:sp>
      <p:sp>
        <p:nvSpPr>
          <p:cNvPr id="4" name="Footer Placeholder 3">
            <a:extLst>
              <a:ext uri="{FF2B5EF4-FFF2-40B4-BE49-F238E27FC236}">
                <a16:creationId xmlns:a16="http://schemas.microsoft.com/office/drawing/2014/main" id="{D082159B-6AD9-48C1-ADE4-A72FFB8CD50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5AEA2BA-66D6-4FFA-B3CF-050761E44354}"/>
              </a:ext>
            </a:extLst>
          </p:cNvPr>
          <p:cNvSpPr>
            <a:spLocks noGrp="1"/>
          </p:cNvSpPr>
          <p:nvPr>
            <p:ph type="sldNum" sz="quarter" idx="12"/>
          </p:nvPr>
        </p:nvSpPr>
        <p:spPr/>
        <p:txBody>
          <a:bodyPr/>
          <a:lstStyle/>
          <a:p>
            <a:fld id="{BF96FD17-4C9E-4A30-98AB-CC120DB6912D}" type="slidenum">
              <a:rPr lang="en-US" smtClean="0"/>
              <a:t>‹#›</a:t>
            </a:fld>
            <a:endParaRPr lang="en-US"/>
          </a:p>
        </p:txBody>
      </p:sp>
    </p:spTree>
    <p:extLst>
      <p:ext uri="{BB962C8B-B14F-4D97-AF65-F5344CB8AC3E}">
        <p14:creationId xmlns:p14="http://schemas.microsoft.com/office/powerpoint/2010/main" val="3693326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D320A52-B019-442D-960C-9674F9CE6053}"/>
              </a:ext>
            </a:extLst>
          </p:cNvPr>
          <p:cNvSpPr>
            <a:spLocks noGrp="1"/>
          </p:cNvSpPr>
          <p:nvPr>
            <p:ph type="dt" sz="half" idx="10"/>
          </p:nvPr>
        </p:nvSpPr>
        <p:spPr/>
        <p:txBody>
          <a:bodyPr/>
          <a:lstStyle/>
          <a:p>
            <a:fld id="{A295E70F-5AC5-4CEB-BF01-6B6AB62E6AE2}" type="datetimeFigureOut">
              <a:rPr lang="en-US" smtClean="0"/>
              <a:t>1/13/2021</a:t>
            </a:fld>
            <a:endParaRPr lang="en-US"/>
          </a:p>
        </p:txBody>
      </p:sp>
      <p:sp>
        <p:nvSpPr>
          <p:cNvPr id="3" name="Footer Placeholder 2">
            <a:extLst>
              <a:ext uri="{FF2B5EF4-FFF2-40B4-BE49-F238E27FC236}">
                <a16:creationId xmlns:a16="http://schemas.microsoft.com/office/drawing/2014/main" id="{5EC9221A-C31D-46E2-817C-A6271B39C8B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66F2B64-85B8-4D1C-9D9E-DC9A0ECC0FAC}"/>
              </a:ext>
            </a:extLst>
          </p:cNvPr>
          <p:cNvSpPr>
            <a:spLocks noGrp="1"/>
          </p:cNvSpPr>
          <p:nvPr>
            <p:ph type="sldNum" sz="quarter" idx="12"/>
          </p:nvPr>
        </p:nvSpPr>
        <p:spPr/>
        <p:txBody>
          <a:bodyPr/>
          <a:lstStyle/>
          <a:p>
            <a:fld id="{BF96FD17-4C9E-4A30-98AB-CC120DB6912D}" type="slidenum">
              <a:rPr lang="en-US" smtClean="0"/>
              <a:t>‹#›</a:t>
            </a:fld>
            <a:endParaRPr lang="en-US"/>
          </a:p>
        </p:txBody>
      </p:sp>
    </p:spTree>
    <p:extLst>
      <p:ext uri="{BB962C8B-B14F-4D97-AF65-F5344CB8AC3E}">
        <p14:creationId xmlns:p14="http://schemas.microsoft.com/office/powerpoint/2010/main" val="1214316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70C8D-74CF-46DA-9537-7FB2FF837E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81DACB4-AE48-4282-9B38-41767D3F08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1609D21-85C6-43A7-B1CB-E9E5801B79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D61472-ABF3-4DF2-BE69-4B66A146D35A}"/>
              </a:ext>
            </a:extLst>
          </p:cNvPr>
          <p:cNvSpPr>
            <a:spLocks noGrp="1"/>
          </p:cNvSpPr>
          <p:nvPr>
            <p:ph type="dt" sz="half" idx="10"/>
          </p:nvPr>
        </p:nvSpPr>
        <p:spPr/>
        <p:txBody>
          <a:bodyPr/>
          <a:lstStyle/>
          <a:p>
            <a:fld id="{A295E70F-5AC5-4CEB-BF01-6B6AB62E6AE2}" type="datetimeFigureOut">
              <a:rPr lang="en-US" smtClean="0"/>
              <a:t>1/13/2021</a:t>
            </a:fld>
            <a:endParaRPr lang="en-US"/>
          </a:p>
        </p:txBody>
      </p:sp>
      <p:sp>
        <p:nvSpPr>
          <p:cNvPr id="6" name="Footer Placeholder 5">
            <a:extLst>
              <a:ext uri="{FF2B5EF4-FFF2-40B4-BE49-F238E27FC236}">
                <a16:creationId xmlns:a16="http://schemas.microsoft.com/office/drawing/2014/main" id="{7A3A50A1-0DEE-40F9-9AC3-317C1A3DBB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DDEF08D-AAF0-4A9F-B2D7-2A06E476F09D}"/>
              </a:ext>
            </a:extLst>
          </p:cNvPr>
          <p:cNvSpPr>
            <a:spLocks noGrp="1"/>
          </p:cNvSpPr>
          <p:nvPr>
            <p:ph type="sldNum" sz="quarter" idx="12"/>
          </p:nvPr>
        </p:nvSpPr>
        <p:spPr/>
        <p:txBody>
          <a:bodyPr/>
          <a:lstStyle/>
          <a:p>
            <a:fld id="{BF96FD17-4C9E-4A30-98AB-CC120DB6912D}" type="slidenum">
              <a:rPr lang="en-US" smtClean="0"/>
              <a:t>‹#›</a:t>
            </a:fld>
            <a:endParaRPr lang="en-US"/>
          </a:p>
        </p:txBody>
      </p:sp>
    </p:spTree>
    <p:extLst>
      <p:ext uri="{BB962C8B-B14F-4D97-AF65-F5344CB8AC3E}">
        <p14:creationId xmlns:p14="http://schemas.microsoft.com/office/powerpoint/2010/main" val="7110790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3C3A6-5968-4C5A-B626-1B329C1CC9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8095422-1E9F-44E9-AD96-8834E1BEF3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D8BF052-FE6F-44B2-AB5D-F95A5FFD5B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14BFD3-7ACB-4952-93BF-44E1F610E26B}"/>
              </a:ext>
            </a:extLst>
          </p:cNvPr>
          <p:cNvSpPr>
            <a:spLocks noGrp="1"/>
          </p:cNvSpPr>
          <p:nvPr>
            <p:ph type="dt" sz="half" idx="10"/>
          </p:nvPr>
        </p:nvSpPr>
        <p:spPr/>
        <p:txBody>
          <a:bodyPr/>
          <a:lstStyle/>
          <a:p>
            <a:fld id="{A295E70F-5AC5-4CEB-BF01-6B6AB62E6AE2}" type="datetimeFigureOut">
              <a:rPr lang="en-US" smtClean="0"/>
              <a:t>1/13/2021</a:t>
            </a:fld>
            <a:endParaRPr lang="en-US"/>
          </a:p>
        </p:txBody>
      </p:sp>
      <p:sp>
        <p:nvSpPr>
          <p:cNvPr id="6" name="Footer Placeholder 5">
            <a:extLst>
              <a:ext uri="{FF2B5EF4-FFF2-40B4-BE49-F238E27FC236}">
                <a16:creationId xmlns:a16="http://schemas.microsoft.com/office/drawing/2014/main" id="{B4A22405-0617-4F25-BCA4-A46454CA42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B94C9BB-4D8E-4ADD-BD31-4C448DCC5EC7}"/>
              </a:ext>
            </a:extLst>
          </p:cNvPr>
          <p:cNvSpPr>
            <a:spLocks noGrp="1"/>
          </p:cNvSpPr>
          <p:nvPr>
            <p:ph type="sldNum" sz="quarter" idx="12"/>
          </p:nvPr>
        </p:nvSpPr>
        <p:spPr/>
        <p:txBody>
          <a:bodyPr/>
          <a:lstStyle/>
          <a:p>
            <a:fld id="{BF96FD17-4C9E-4A30-98AB-CC120DB6912D}" type="slidenum">
              <a:rPr lang="en-US" smtClean="0"/>
              <a:t>‹#›</a:t>
            </a:fld>
            <a:endParaRPr lang="en-US"/>
          </a:p>
        </p:txBody>
      </p:sp>
    </p:spTree>
    <p:extLst>
      <p:ext uri="{BB962C8B-B14F-4D97-AF65-F5344CB8AC3E}">
        <p14:creationId xmlns:p14="http://schemas.microsoft.com/office/powerpoint/2010/main" val="10225592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9390F-8B0C-401A-BCE4-EB706B79CD1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0D361D5-3BD1-47BC-94A4-B965B68486D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014332-0100-44FF-A461-3B0336836BD2}"/>
              </a:ext>
            </a:extLst>
          </p:cNvPr>
          <p:cNvSpPr>
            <a:spLocks noGrp="1"/>
          </p:cNvSpPr>
          <p:nvPr>
            <p:ph type="dt" sz="half" idx="10"/>
          </p:nvPr>
        </p:nvSpPr>
        <p:spPr/>
        <p:txBody>
          <a:bodyPr/>
          <a:lstStyle/>
          <a:p>
            <a:fld id="{A295E70F-5AC5-4CEB-BF01-6B6AB62E6AE2}" type="datetimeFigureOut">
              <a:rPr lang="en-US" smtClean="0"/>
              <a:t>1/13/2021</a:t>
            </a:fld>
            <a:endParaRPr lang="en-US"/>
          </a:p>
        </p:txBody>
      </p:sp>
      <p:sp>
        <p:nvSpPr>
          <p:cNvPr id="5" name="Footer Placeholder 4">
            <a:extLst>
              <a:ext uri="{FF2B5EF4-FFF2-40B4-BE49-F238E27FC236}">
                <a16:creationId xmlns:a16="http://schemas.microsoft.com/office/drawing/2014/main" id="{F070610A-F963-4B41-B660-266A60FFC7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CC9E98-2300-4C28-9497-DE01FAC8A01F}"/>
              </a:ext>
            </a:extLst>
          </p:cNvPr>
          <p:cNvSpPr>
            <a:spLocks noGrp="1"/>
          </p:cNvSpPr>
          <p:nvPr>
            <p:ph type="sldNum" sz="quarter" idx="12"/>
          </p:nvPr>
        </p:nvSpPr>
        <p:spPr/>
        <p:txBody>
          <a:bodyPr/>
          <a:lstStyle/>
          <a:p>
            <a:fld id="{BF96FD17-4C9E-4A30-98AB-CC120DB6912D}" type="slidenum">
              <a:rPr lang="en-US" smtClean="0"/>
              <a:t>‹#›</a:t>
            </a:fld>
            <a:endParaRPr lang="en-US"/>
          </a:p>
        </p:txBody>
      </p:sp>
    </p:spTree>
    <p:extLst>
      <p:ext uri="{BB962C8B-B14F-4D97-AF65-F5344CB8AC3E}">
        <p14:creationId xmlns:p14="http://schemas.microsoft.com/office/powerpoint/2010/main" val="26564029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DA17796-0674-40A8-AD60-333FFBE6EA0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52B19B6-FC75-416D-A14E-6679B9F4D8C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96CCEC-DBD0-4792-87B7-4E1E6FB2C441}"/>
              </a:ext>
            </a:extLst>
          </p:cNvPr>
          <p:cNvSpPr>
            <a:spLocks noGrp="1"/>
          </p:cNvSpPr>
          <p:nvPr>
            <p:ph type="dt" sz="half" idx="10"/>
          </p:nvPr>
        </p:nvSpPr>
        <p:spPr/>
        <p:txBody>
          <a:bodyPr/>
          <a:lstStyle/>
          <a:p>
            <a:fld id="{A295E70F-5AC5-4CEB-BF01-6B6AB62E6AE2}" type="datetimeFigureOut">
              <a:rPr lang="en-US" smtClean="0"/>
              <a:t>1/13/2021</a:t>
            </a:fld>
            <a:endParaRPr lang="en-US"/>
          </a:p>
        </p:txBody>
      </p:sp>
      <p:sp>
        <p:nvSpPr>
          <p:cNvPr id="5" name="Footer Placeholder 4">
            <a:extLst>
              <a:ext uri="{FF2B5EF4-FFF2-40B4-BE49-F238E27FC236}">
                <a16:creationId xmlns:a16="http://schemas.microsoft.com/office/drawing/2014/main" id="{31EA2CDA-190E-4459-8DC5-B048B74A1B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6FEAA5-C431-4659-A47B-4A42A0163695}"/>
              </a:ext>
            </a:extLst>
          </p:cNvPr>
          <p:cNvSpPr>
            <a:spLocks noGrp="1"/>
          </p:cNvSpPr>
          <p:nvPr>
            <p:ph type="sldNum" sz="quarter" idx="12"/>
          </p:nvPr>
        </p:nvSpPr>
        <p:spPr/>
        <p:txBody>
          <a:bodyPr/>
          <a:lstStyle/>
          <a:p>
            <a:fld id="{BF96FD17-4C9E-4A30-98AB-CC120DB6912D}" type="slidenum">
              <a:rPr lang="en-US" smtClean="0"/>
              <a:t>‹#›</a:t>
            </a:fld>
            <a:endParaRPr lang="en-US"/>
          </a:p>
        </p:txBody>
      </p:sp>
    </p:spTree>
    <p:extLst>
      <p:ext uri="{BB962C8B-B14F-4D97-AF65-F5344CB8AC3E}">
        <p14:creationId xmlns:p14="http://schemas.microsoft.com/office/powerpoint/2010/main" val="28815466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7A7E7AC-DF0C-4AA1-9936-0A7CA10BD3B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D231918-E1B9-48E0-A96A-0844411F806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951B39-9395-42A6-8C2D-4D0F2F794F5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95E70F-5AC5-4CEB-BF01-6B6AB62E6AE2}" type="datetimeFigureOut">
              <a:rPr lang="en-US" smtClean="0"/>
              <a:t>1/13/2021</a:t>
            </a:fld>
            <a:endParaRPr lang="en-US"/>
          </a:p>
        </p:txBody>
      </p:sp>
      <p:sp>
        <p:nvSpPr>
          <p:cNvPr id="5" name="Footer Placeholder 4">
            <a:extLst>
              <a:ext uri="{FF2B5EF4-FFF2-40B4-BE49-F238E27FC236}">
                <a16:creationId xmlns:a16="http://schemas.microsoft.com/office/drawing/2014/main" id="{F70E6E8A-D252-4C19-80DD-98DB943315A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8A9A14-8F4D-4F5E-B665-4FA4E1E7F6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96FD17-4C9E-4A30-98AB-CC120DB6912D}" type="slidenum">
              <a:rPr lang="en-US" smtClean="0"/>
              <a:t>‹#›</a:t>
            </a:fld>
            <a:endParaRPr lang="en-US"/>
          </a:p>
        </p:txBody>
      </p:sp>
    </p:spTree>
    <p:extLst>
      <p:ext uri="{BB962C8B-B14F-4D97-AF65-F5344CB8AC3E}">
        <p14:creationId xmlns:p14="http://schemas.microsoft.com/office/powerpoint/2010/main" val="34374195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E6539-9488-4650-A3F0-0F72C110DF1F}"/>
              </a:ext>
            </a:extLst>
          </p:cNvPr>
          <p:cNvSpPr>
            <a:spLocks noGrp="1"/>
          </p:cNvSpPr>
          <p:nvPr>
            <p:ph type="ctrTitle"/>
          </p:nvPr>
        </p:nvSpPr>
        <p:spPr/>
        <p:txBody>
          <a:bodyPr/>
          <a:lstStyle/>
          <a:p>
            <a:r>
              <a:rPr lang="en-US" dirty="0"/>
              <a:t>Lecture # 1</a:t>
            </a:r>
          </a:p>
        </p:txBody>
      </p:sp>
      <p:sp>
        <p:nvSpPr>
          <p:cNvPr id="3" name="Subtitle 2">
            <a:extLst>
              <a:ext uri="{FF2B5EF4-FFF2-40B4-BE49-F238E27FC236}">
                <a16:creationId xmlns:a16="http://schemas.microsoft.com/office/drawing/2014/main" id="{BFDA7E28-F31C-417F-874D-EEC0690C365C}"/>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7185584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A164E-12BB-46D2-AC3C-900B95D360A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0C1F4FE-C939-4DA6-8CFC-CD8AF51BF597}"/>
              </a:ext>
            </a:extLst>
          </p:cNvPr>
          <p:cNvSpPr>
            <a:spLocks noGrp="1"/>
          </p:cNvSpPr>
          <p:nvPr>
            <p:ph idx="1"/>
          </p:nvPr>
        </p:nvSpPr>
        <p:spPr/>
        <p:txBody>
          <a:bodyPr>
            <a:normAutofit fontScale="92500" lnSpcReduction="10000"/>
          </a:bodyPr>
          <a:lstStyle/>
          <a:p>
            <a:r>
              <a:rPr lang="en-US" b="1" dirty="0"/>
              <a:t>500 to 400 </a:t>
            </a:r>
            <a:r>
              <a:rPr lang="en-US" b="1" dirty="0" err="1"/>
              <a:t>Bc</a:t>
            </a:r>
            <a:r>
              <a:rPr lang="en-US" b="1" dirty="0"/>
              <a:t> Greek city states </a:t>
            </a:r>
          </a:p>
          <a:p>
            <a:r>
              <a:rPr lang="en-US" b="1" dirty="0"/>
              <a:t>1648  treaty of Westphalia </a:t>
            </a:r>
          </a:p>
          <a:p>
            <a:endParaRPr lang="en-US" b="1" dirty="0"/>
          </a:p>
          <a:p>
            <a:r>
              <a:rPr lang="en-US" b="1" dirty="0"/>
              <a:t>Modern-Nation state </a:t>
            </a:r>
          </a:p>
          <a:p>
            <a:r>
              <a:rPr lang="en-US" b="1" dirty="0"/>
              <a:t>Social contract between individual and the state </a:t>
            </a:r>
          </a:p>
          <a:p>
            <a:endParaRPr lang="en-US" b="1" dirty="0"/>
          </a:p>
          <a:p>
            <a:r>
              <a:rPr lang="en-US" b="1" dirty="0"/>
              <a:t>External sources who threatened the sovereignty and territory of the state. (Traditional security) </a:t>
            </a:r>
          </a:p>
          <a:p>
            <a:r>
              <a:rPr lang="en-US" b="1" dirty="0"/>
              <a:t>Unit of concern: state has moved towards individual</a:t>
            </a:r>
          </a:p>
          <a:p>
            <a:r>
              <a:rPr lang="en-US" b="1" dirty="0" err="1"/>
              <a:t>Faultlines</a:t>
            </a:r>
            <a:r>
              <a:rPr lang="en-US" b="1" dirty="0"/>
              <a:t> </a:t>
            </a:r>
          </a:p>
        </p:txBody>
      </p:sp>
      <p:cxnSp>
        <p:nvCxnSpPr>
          <p:cNvPr id="5" name="Straight Arrow Connector 4">
            <a:extLst>
              <a:ext uri="{FF2B5EF4-FFF2-40B4-BE49-F238E27FC236}">
                <a16:creationId xmlns:a16="http://schemas.microsoft.com/office/drawing/2014/main" id="{D9189DD9-BBE2-41FE-8949-F679C93FCE4B}"/>
              </a:ext>
            </a:extLst>
          </p:cNvPr>
          <p:cNvCxnSpPr/>
          <p:nvPr/>
        </p:nvCxnSpPr>
        <p:spPr>
          <a:xfrm>
            <a:off x="3502855" y="3066757"/>
            <a:ext cx="90033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69109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1A5CA-61D3-494F-9192-79A6BF6C78F7}"/>
              </a:ext>
            </a:extLst>
          </p:cNvPr>
          <p:cNvSpPr>
            <a:spLocks noGrp="1"/>
          </p:cNvSpPr>
          <p:nvPr>
            <p:ph type="title"/>
          </p:nvPr>
        </p:nvSpPr>
        <p:spPr/>
        <p:txBody>
          <a:bodyPr/>
          <a:lstStyle/>
          <a:p>
            <a:r>
              <a:rPr lang="en-US" dirty="0"/>
              <a:t>Understanding Security</a:t>
            </a:r>
          </a:p>
        </p:txBody>
      </p:sp>
      <p:sp>
        <p:nvSpPr>
          <p:cNvPr id="3" name="Content Placeholder 2">
            <a:extLst>
              <a:ext uri="{FF2B5EF4-FFF2-40B4-BE49-F238E27FC236}">
                <a16:creationId xmlns:a16="http://schemas.microsoft.com/office/drawing/2014/main" id="{00008307-BE20-4595-B287-395D7847FB8C}"/>
              </a:ext>
            </a:extLst>
          </p:cNvPr>
          <p:cNvSpPr>
            <a:spLocks noGrp="1"/>
          </p:cNvSpPr>
          <p:nvPr>
            <p:ph idx="1"/>
          </p:nvPr>
        </p:nvSpPr>
        <p:spPr/>
        <p:txBody>
          <a:bodyPr/>
          <a:lstStyle/>
          <a:p>
            <a:pPr algn="just"/>
            <a:r>
              <a:rPr lang="en-US" dirty="0"/>
              <a:t>Security itself is a relative freedom from war, coupled with a relatively high expectation that defeat will not be a consequence of any war that should occur.   (Bellamy, 1981).</a:t>
            </a:r>
          </a:p>
          <a:p>
            <a:pPr marL="0" indent="0">
              <a:buNone/>
            </a:pPr>
            <a:endParaRPr lang="en-US" dirty="0"/>
          </a:p>
          <a:p>
            <a:pPr marL="0" indent="0">
              <a:buNone/>
            </a:pPr>
            <a:r>
              <a:rPr lang="en-US" b="1" dirty="0"/>
              <a:t>State centric, war and a high degree of assurance that war would not happen in the future.</a:t>
            </a:r>
          </a:p>
          <a:p>
            <a:pPr marL="0" indent="0">
              <a:buNone/>
            </a:pPr>
            <a:r>
              <a:rPr lang="en-US" b="1" dirty="0"/>
              <a:t>Hegemonic discourses</a:t>
            </a:r>
          </a:p>
          <a:p>
            <a:pPr marL="0" indent="0">
              <a:buNone/>
            </a:pPr>
            <a:endParaRPr lang="en-US" b="1" dirty="0"/>
          </a:p>
        </p:txBody>
      </p:sp>
    </p:spTree>
    <p:extLst>
      <p:ext uri="{BB962C8B-B14F-4D97-AF65-F5344CB8AC3E}">
        <p14:creationId xmlns:p14="http://schemas.microsoft.com/office/powerpoint/2010/main" val="4173496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CB864-09D2-45C4-96FE-D3906AE5E1E3}"/>
              </a:ext>
            </a:extLst>
          </p:cNvPr>
          <p:cNvSpPr>
            <a:spLocks noGrp="1"/>
          </p:cNvSpPr>
          <p:nvPr>
            <p:ph type="title"/>
          </p:nvPr>
        </p:nvSpPr>
        <p:spPr/>
        <p:txBody>
          <a:bodyPr/>
          <a:lstStyle/>
          <a:p>
            <a:r>
              <a:rPr lang="en-US" dirty="0"/>
              <a:t>Walter Lippman (1991)</a:t>
            </a:r>
          </a:p>
        </p:txBody>
      </p:sp>
      <p:sp>
        <p:nvSpPr>
          <p:cNvPr id="3" name="Content Placeholder 2">
            <a:extLst>
              <a:ext uri="{FF2B5EF4-FFF2-40B4-BE49-F238E27FC236}">
                <a16:creationId xmlns:a16="http://schemas.microsoft.com/office/drawing/2014/main" id="{092A494B-9F6A-4504-82B5-60DB2C319A1C}"/>
              </a:ext>
            </a:extLst>
          </p:cNvPr>
          <p:cNvSpPr>
            <a:spLocks noGrp="1"/>
          </p:cNvSpPr>
          <p:nvPr>
            <p:ph idx="1"/>
          </p:nvPr>
        </p:nvSpPr>
        <p:spPr/>
        <p:txBody>
          <a:bodyPr/>
          <a:lstStyle/>
          <a:p>
            <a:pPr algn="just"/>
            <a:r>
              <a:rPr lang="en-US" dirty="0"/>
              <a:t>A nation is secure to the extent to which it is not in danger having to sacrifice core values if it wishes to avoid war, and is able, if challenged, to maintain them by victory in such a war.</a:t>
            </a:r>
          </a:p>
          <a:p>
            <a:endParaRPr lang="en-US" dirty="0"/>
          </a:p>
          <a:p>
            <a:r>
              <a:rPr lang="en-US" b="1" dirty="0"/>
              <a:t>Defend and maintain core values: Liberal values, democracy</a:t>
            </a:r>
          </a:p>
        </p:txBody>
      </p:sp>
    </p:spTree>
    <p:extLst>
      <p:ext uri="{BB962C8B-B14F-4D97-AF65-F5344CB8AC3E}">
        <p14:creationId xmlns:p14="http://schemas.microsoft.com/office/powerpoint/2010/main" val="3067481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E91B1-4D35-4691-9B0C-C0B7D1F449E3}"/>
              </a:ext>
            </a:extLst>
          </p:cNvPr>
          <p:cNvSpPr>
            <a:spLocks noGrp="1"/>
          </p:cNvSpPr>
          <p:nvPr>
            <p:ph type="title"/>
          </p:nvPr>
        </p:nvSpPr>
        <p:spPr/>
        <p:txBody>
          <a:bodyPr/>
          <a:lstStyle/>
          <a:p>
            <a:r>
              <a:rPr lang="en-US" dirty="0" err="1"/>
              <a:t>Luciani</a:t>
            </a:r>
            <a:r>
              <a:rPr lang="en-US" dirty="0"/>
              <a:t> (1989)</a:t>
            </a:r>
          </a:p>
        </p:txBody>
      </p:sp>
      <p:sp>
        <p:nvSpPr>
          <p:cNvPr id="3" name="Content Placeholder 2">
            <a:extLst>
              <a:ext uri="{FF2B5EF4-FFF2-40B4-BE49-F238E27FC236}">
                <a16:creationId xmlns:a16="http://schemas.microsoft.com/office/drawing/2014/main" id="{37254D11-23A9-47DD-8343-43D8DA542047}"/>
              </a:ext>
            </a:extLst>
          </p:cNvPr>
          <p:cNvSpPr>
            <a:spLocks noGrp="1"/>
          </p:cNvSpPr>
          <p:nvPr>
            <p:ph idx="1"/>
          </p:nvPr>
        </p:nvSpPr>
        <p:spPr/>
        <p:txBody>
          <a:bodyPr/>
          <a:lstStyle/>
          <a:p>
            <a:pPr algn="just"/>
            <a:r>
              <a:rPr lang="en-US" dirty="0"/>
              <a:t>National security may be defined as the ability to withstand aggression from aboard.</a:t>
            </a:r>
          </a:p>
          <a:p>
            <a:endParaRPr lang="en-US" dirty="0"/>
          </a:p>
          <a:p>
            <a:r>
              <a:rPr lang="en-US" b="1" dirty="0"/>
              <a:t>Able to ensure territorial sovereignty </a:t>
            </a:r>
          </a:p>
        </p:txBody>
      </p:sp>
    </p:spTree>
    <p:extLst>
      <p:ext uri="{BB962C8B-B14F-4D97-AF65-F5344CB8AC3E}">
        <p14:creationId xmlns:p14="http://schemas.microsoft.com/office/powerpoint/2010/main" val="3382065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DC62B-8AD2-4FC7-8EDF-0C6718CFFF4D}"/>
              </a:ext>
            </a:extLst>
          </p:cNvPr>
          <p:cNvSpPr>
            <a:spLocks noGrp="1"/>
          </p:cNvSpPr>
          <p:nvPr>
            <p:ph type="title"/>
          </p:nvPr>
        </p:nvSpPr>
        <p:spPr/>
        <p:txBody>
          <a:bodyPr/>
          <a:lstStyle/>
          <a:p>
            <a:r>
              <a:rPr lang="en-US" dirty="0"/>
              <a:t>Ullman (1983)</a:t>
            </a:r>
          </a:p>
        </p:txBody>
      </p:sp>
      <p:sp>
        <p:nvSpPr>
          <p:cNvPr id="3" name="Content Placeholder 2">
            <a:extLst>
              <a:ext uri="{FF2B5EF4-FFF2-40B4-BE49-F238E27FC236}">
                <a16:creationId xmlns:a16="http://schemas.microsoft.com/office/drawing/2014/main" id="{9F9388FB-EDC5-42B3-BA19-8B02168E6710}"/>
              </a:ext>
            </a:extLst>
          </p:cNvPr>
          <p:cNvSpPr>
            <a:spLocks noGrp="1"/>
          </p:cNvSpPr>
          <p:nvPr>
            <p:ph idx="1"/>
          </p:nvPr>
        </p:nvSpPr>
        <p:spPr/>
        <p:txBody>
          <a:bodyPr/>
          <a:lstStyle/>
          <a:p>
            <a:pPr algn="just"/>
            <a:r>
              <a:rPr lang="en-US" dirty="0"/>
              <a:t>A threat to national security is an action or sequence of events that (1) threatens drastically and over a relatively brief span of time to degrade the quality of life for the inhabitants of a state, or </a:t>
            </a:r>
          </a:p>
          <a:p>
            <a:pPr marL="0" indent="0" algn="just">
              <a:buNone/>
            </a:pPr>
            <a:r>
              <a:rPr lang="en-US" dirty="0"/>
              <a:t>(2) Threatens significantly to narrow the range of policy choices available to the government of a state or to a private, nongovernmental entities (persons, groups, corporations) within the state.</a:t>
            </a:r>
          </a:p>
          <a:p>
            <a:pPr marL="0" indent="0" algn="just">
              <a:buNone/>
            </a:pPr>
            <a:endParaRPr lang="en-US" b="1" dirty="0"/>
          </a:p>
          <a:p>
            <a:pPr marL="0" indent="0">
              <a:buNone/>
            </a:pPr>
            <a:r>
              <a:rPr lang="en-US" b="1" dirty="0"/>
              <a:t>Quality of life under threat</a:t>
            </a:r>
          </a:p>
          <a:p>
            <a:pPr marL="0" indent="0">
              <a:buNone/>
            </a:pPr>
            <a:r>
              <a:rPr lang="en-US" b="1" dirty="0"/>
              <a:t>Caps options available to government and private entities.   </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968200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54019-0B6E-42DE-A275-672F556597CC}"/>
              </a:ext>
            </a:extLst>
          </p:cNvPr>
          <p:cNvSpPr>
            <a:spLocks noGrp="1"/>
          </p:cNvSpPr>
          <p:nvPr>
            <p:ph type="title"/>
          </p:nvPr>
        </p:nvSpPr>
        <p:spPr/>
        <p:txBody>
          <a:bodyPr/>
          <a:lstStyle/>
          <a:p>
            <a:r>
              <a:rPr lang="en-US" dirty="0"/>
              <a:t>Wolfers (1962)</a:t>
            </a:r>
          </a:p>
        </p:txBody>
      </p:sp>
      <p:sp>
        <p:nvSpPr>
          <p:cNvPr id="3" name="Content Placeholder 2">
            <a:extLst>
              <a:ext uri="{FF2B5EF4-FFF2-40B4-BE49-F238E27FC236}">
                <a16:creationId xmlns:a16="http://schemas.microsoft.com/office/drawing/2014/main" id="{D0CA97FC-15C9-4F55-A076-5C00E8B932D6}"/>
              </a:ext>
            </a:extLst>
          </p:cNvPr>
          <p:cNvSpPr>
            <a:spLocks noGrp="1"/>
          </p:cNvSpPr>
          <p:nvPr>
            <p:ph idx="1"/>
          </p:nvPr>
        </p:nvSpPr>
        <p:spPr/>
        <p:txBody>
          <a:bodyPr/>
          <a:lstStyle/>
          <a:p>
            <a:pPr algn="just"/>
            <a:r>
              <a:rPr lang="en-US" dirty="0"/>
              <a:t>Security, in any objective sense, measures the absence of threats to acquired values, in a subjective sense, the absence of fear that such values will be attacked.</a:t>
            </a:r>
          </a:p>
          <a:p>
            <a:pPr algn="just"/>
            <a:endParaRPr lang="en-US" dirty="0"/>
          </a:p>
          <a:p>
            <a:r>
              <a:rPr lang="en-US" b="1" dirty="0"/>
              <a:t>Absence of threat (unit of concern is values).</a:t>
            </a:r>
          </a:p>
          <a:p>
            <a:r>
              <a:rPr lang="en-US" b="1" dirty="0"/>
              <a:t>Absence of fear.</a:t>
            </a:r>
          </a:p>
          <a:p>
            <a:r>
              <a:rPr lang="en-US" b="1" dirty="0"/>
              <a:t>Bi-polarity during the cold war. 1945-1991. </a:t>
            </a:r>
            <a:r>
              <a:rPr lang="en-US" b="1"/>
              <a:t>Between </a:t>
            </a:r>
            <a:r>
              <a:rPr lang="en-US" b="1" dirty="0"/>
              <a:t>USSR AND THE US CAMPS. </a:t>
            </a:r>
          </a:p>
        </p:txBody>
      </p:sp>
    </p:spTree>
    <p:extLst>
      <p:ext uri="{BB962C8B-B14F-4D97-AF65-F5344CB8AC3E}">
        <p14:creationId xmlns:p14="http://schemas.microsoft.com/office/powerpoint/2010/main" val="3489958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95EEBA-C129-4D6A-B2D5-9B2C032B00DD}"/>
              </a:ext>
            </a:extLst>
          </p:cNvPr>
          <p:cNvSpPr>
            <a:spLocks noGrp="1"/>
          </p:cNvSpPr>
          <p:nvPr>
            <p:ph type="title"/>
          </p:nvPr>
        </p:nvSpPr>
        <p:spPr/>
        <p:txBody>
          <a:bodyPr/>
          <a:lstStyle/>
          <a:p>
            <a:r>
              <a:rPr lang="en-US" dirty="0" err="1"/>
              <a:t>Ayoob</a:t>
            </a:r>
            <a:r>
              <a:rPr lang="en-US" dirty="0"/>
              <a:t> (1995)</a:t>
            </a:r>
          </a:p>
        </p:txBody>
      </p:sp>
      <p:sp>
        <p:nvSpPr>
          <p:cNvPr id="3" name="Content Placeholder 2">
            <a:extLst>
              <a:ext uri="{FF2B5EF4-FFF2-40B4-BE49-F238E27FC236}">
                <a16:creationId xmlns:a16="http://schemas.microsoft.com/office/drawing/2014/main" id="{E089EA24-2A61-4D36-8574-B3F703F6A871}"/>
              </a:ext>
            </a:extLst>
          </p:cNvPr>
          <p:cNvSpPr>
            <a:spLocks noGrp="1"/>
          </p:cNvSpPr>
          <p:nvPr>
            <p:ph idx="1"/>
          </p:nvPr>
        </p:nvSpPr>
        <p:spPr/>
        <p:txBody>
          <a:bodyPr/>
          <a:lstStyle/>
          <a:p>
            <a:pPr algn="just"/>
            <a:r>
              <a:rPr lang="en-US" dirty="0"/>
              <a:t>Security-insecurity is defined in relation to vulnerabilities- both internal and external-that threaten or have the potential to bring down or weaken state structures, both territorial and institutional and governing regimes.</a:t>
            </a:r>
          </a:p>
          <a:p>
            <a:pPr marL="0" indent="0">
              <a:buNone/>
            </a:pPr>
            <a:endParaRPr lang="en-US" dirty="0"/>
          </a:p>
          <a:p>
            <a:pPr marL="0" indent="0">
              <a:buNone/>
            </a:pPr>
            <a:r>
              <a:rPr lang="en-US" b="1" dirty="0"/>
              <a:t>Binary: Security-Insecurity</a:t>
            </a:r>
          </a:p>
          <a:p>
            <a:pPr marL="0" indent="0">
              <a:buNone/>
            </a:pPr>
            <a:r>
              <a:rPr lang="en-US" b="1" dirty="0"/>
              <a:t>              Internal-External              </a:t>
            </a:r>
          </a:p>
          <a:p>
            <a:pPr marL="0" indent="0">
              <a:buNone/>
            </a:pPr>
            <a:r>
              <a:rPr lang="en-US" b="1" dirty="0"/>
              <a:t>Unit of Concern: state structures, territorial, institutional &amp; governing regime.</a:t>
            </a:r>
          </a:p>
        </p:txBody>
      </p:sp>
    </p:spTree>
    <p:extLst>
      <p:ext uri="{BB962C8B-B14F-4D97-AF65-F5344CB8AC3E}">
        <p14:creationId xmlns:p14="http://schemas.microsoft.com/office/powerpoint/2010/main" val="557709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EC712-1659-4249-84CE-3021136DAC1A}"/>
              </a:ext>
            </a:extLst>
          </p:cNvPr>
          <p:cNvSpPr>
            <a:spLocks noGrp="1"/>
          </p:cNvSpPr>
          <p:nvPr>
            <p:ph type="title"/>
          </p:nvPr>
        </p:nvSpPr>
        <p:spPr/>
        <p:txBody>
          <a:bodyPr/>
          <a:lstStyle/>
          <a:p>
            <a:r>
              <a:rPr lang="en-US" dirty="0"/>
              <a:t> Ken Booth (1991)</a:t>
            </a:r>
          </a:p>
        </p:txBody>
      </p:sp>
      <p:sp>
        <p:nvSpPr>
          <p:cNvPr id="3" name="Content Placeholder 2">
            <a:extLst>
              <a:ext uri="{FF2B5EF4-FFF2-40B4-BE49-F238E27FC236}">
                <a16:creationId xmlns:a16="http://schemas.microsoft.com/office/drawing/2014/main" id="{06A3002E-33F7-42F1-B9E2-E06153D9C3D4}"/>
              </a:ext>
            </a:extLst>
          </p:cNvPr>
          <p:cNvSpPr>
            <a:spLocks noGrp="1"/>
          </p:cNvSpPr>
          <p:nvPr>
            <p:ph idx="1"/>
          </p:nvPr>
        </p:nvSpPr>
        <p:spPr/>
        <p:txBody>
          <a:bodyPr/>
          <a:lstStyle/>
          <a:p>
            <a:pPr algn="just"/>
            <a:r>
              <a:rPr lang="en-US" dirty="0"/>
              <a:t>Emancipation is the freeing of people (as individuals and groups) from the physical and human constraints which stop them carrying out what they would freely choose to do.. Security and emancipation are two sides of the same coin. Emancipation, not power or order, produces true security. Emancipation, theoretically is security. </a:t>
            </a:r>
          </a:p>
          <a:p>
            <a:endParaRPr lang="en-US" dirty="0"/>
          </a:p>
          <a:p>
            <a:r>
              <a:rPr lang="en-US" dirty="0"/>
              <a:t>Emancipation (Unit of focus/concern- Individuals and limitations on choices available to them. </a:t>
            </a:r>
          </a:p>
        </p:txBody>
      </p:sp>
    </p:spTree>
    <p:extLst>
      <p:ext uri="{BB962C8B-B14F-4D97-AF65-F5344CB8AC3E}">
        <p14:creationId xmlns:p14="http://schemas.microsoft.com/office/powerpoint/2010/main" val="2746612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AD288-A851-438D-B54F-674757E4AB66}"/>
              </a:ext>
            </a:extLst>
          </p:cNvPr>
          <p:cNvSpPr>
            <a:spLocks noGrp="1"/>
          </p:cNvSpPr>
          <p:nvPr>
            <p:ph type="title"/>
          </p:nvPr>
        </p:nvSpPr>
        <p:spPr/>
        <p:txBody>
          <a:bodyPr/>
          <a:lstStyle/>
          <a:p>
            <a:r>
              <a:rPr lang="en-US" dirty="0"/>
              <a:t>Hough (2008)</a:t>
            </a:r>
          </a:p>
        </p:txBody>
      </p:sp>
      <p:sp>
        <p:nvSpPr>
          <p:cNvPr id="3" name="Content Placeholder 2">
            <a:extLst>
              <a:ext uri="{FF2B5EF4-FFF2-40B4-BE49-F238E27FC236}">
                <a16:creationId xmlns:a16="http://schemas.microsoft.com/office/drawing/2014/main" id="{A6D40E6D-2485-46FE-A405-FA8180D758BA}"/>
              </a:ext>
            </a:extLst>
          </p:cNvPr>
          <p:cNvSpPr>
            <a:spLocks noGrp="1"/>
          </p:cNvSpPr>
          <p:nvPr>
            <p:ph idx="1"/>
          </p:nvPr>
        </p:nvSpPr>
        <p:spPr/>
        <p:txBody>
          <a:bodyPr/>
          <a:lstStyle/>
          <a:p>
            <a:pPr algn="just"/>
            <a:r>
              <a:rPr lang="en-US" dirty="0"/>
              <a:t>If people, be they government ministers or private individuals, perceive an issue to threaten their lives in some way and respond politically to this, then that issue should be deemed to be a security issue</a:t>
            </a:r>
          </a:p>
          <a:p>
            <a:endParaRPr lang="en-US" dirty="0"/>
          </a:p>
          <a:p>
            <a:r>
              <a:rPr lang="en-US" dirty="0"/>
              <a:t>Identification of threat by government or individuals, symmetry of emancipation and security.</a:t>
            </a:r>
          </a:p>
        </p:txBody>
      </p:sp>
    </p:spTree>
    <p:extLst>
      <p:ext uri="{BB962C8B-B14F-4D97-AF65-F5344CB8AC3E}">
        <p14:creationId xmlns:p14="http://schemas.microsoft.com/office/powerpoint/2010/main" val="2233517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7A5F4-4895-4402-959C-D24BF65F250F}"/>
              </a:ext>
            </a:extLst>
          </p:cNvPr>
          <p:cNvSpPr>
            <a:spLocks noGrp="1"/>
          </p:cNvSpPr>
          <p:nvPr>
            <p:ph type="title"/>
          </p:nvPr>
        </p:nvSpPr>
        <p:spPr/>
        <p:txBody>
          <a:bodyPr/>
          <a:lstStyle/>
          <a:p>
            <a:r>
              <a:rPr lang="en-US" dirty="0"/>
              <a:t> </a:t>
            </a:r>
            <a:r>
              <a:rPr lang="en-US" dirty="0" err="1"/>
              <a:t>Kolodziej</a:t>
            </a:r>
            <a:r>
              <a:rPr lang="en-US" dirty="0"/>
              <a:t> (2005)</a:t>
            </a:r>
          </a:p>
        </p:txBody>
      </p:sp>
      <p:sp>
        <p:nvSpPr>
          <p:cNvPr id="3" name="Content Placeholder 2">
            <a:extLst>
              <a:ext uri="{FF2B5EF4-FFF2-40B4-BE49-F238E27FC236}">
                <a16:creationId xmlns:a16="http://schemas.microsoft.com/office/drawing/2014/main" id="{D1947C32-BE89-46B3-AB2F-46146590E33B}"/>
              </a:ext>
            </a:extLst>
          </p:cNvPr>
          <p:cNvSpPr>
            <a:spLocks noGrp="1"/>
          </p:cNvSpPr>
          <p:nvPr>
            <p:ph idx="1"/>
          </p:nvPr>
        </p:nvSpPr>
        <p:spPr/>
        <p:txBody>
          <a:bodyPr/>
          <a:lstStyle/>
          <a:p>
            <a:pPr algn="just"/>
            <a:r>
              <a:rPr lang="en-US" dirty="0"/>
              <a:t>Security…implies both coercive means to check an aggressor and all manner of persuasion, bolstered by the protest of mutually shared benefits, to transform hostility into cooperation. </a:t>
            </a:r>
          </a:p>
          <a:p>
            <a:endParaRPr lang="en-US" dirty="0"/>
          </a:p>
          <a:p>
            <a:r>
              <a:rPr lang="en-US" dirty="0"/>
              <a:t>Application of coercion to keep in check: aggression and transformation of hostility into persuasion, cooperation. </a:t>
            </a:r>
          </a:p>
        </p:txBody>
      </p:sp>
    </p:spTree>
    <p:extLst>
      <p:ext uri="{BB962C8B-B14F-4D97-AF65-F5344CB8AC3E}">
        <p14:creationId xmlns:p14="http://schemas.microsoft.com/office/powerpoint/2010/main" val="1349072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65E94-2598-4F26-9E3D-5D5D2FDBA533}"/>
              </a:ext>
            </a:extLst>
          </p:cNvPr>
          <p:cNvSpPr>
            <a:spLocks noGrp="1"/>
          </p:cNvSpPr>
          <p:nvPr>
            <p:ph type="title"/>
          </p:nvPr>
        </p:nvSpPr>
        <p:spPr/>
        <p:txBody>
          <a:bodyPr/>
          <a:lstStyle/>
          <a:p>
            <a:r>
              <a:rPr lang="en-US" dirty="0"/>
              <a:t>Smith (2010)</a:t>
            </a:r>
          </a:p>
        </p:txBody>
      </p:sp>
      <p:sp>
        <p:nvSpPr>
          <p:cNvPr id="3" name="Content Placeholder 2">
            <a:extLst>
              <a:ext uri="{FF2B5EF4-FFF2-40B4-BE49-F238E27FC236}">
                <a16:creationId xmlns:a16="http://schemas.microsoft.com/office/drawing/2014/main" id="{5F741CE8-B833-4D8E-84B3-EBBB984FDBC8}"/>
              </a:ext>
            </a:extLst>
          </p:cNvPr>
          <p:cNvSpPr>
            <a:spLocks noGrp="1"/>
          </p:cNvSpPr>
          <p:nvPr>
            <p:ph idx="1"/>
          </p:nvPr>
        </p:nvSpPr>
        <p:spPr/>
        <p:txBody>
          <a:bodyPr/>
          <a:lstStyle/>
          <a:p>
            <a:pPr algn="just"/>
            <a:r>
              <a:rPr lang="en-US" dirty="0"/>
              <a:t>Security is not just a social concept or topic to be studied or analyzed: it is also a problem to be managed or otherwise controlled by human communities on a regular basis if they hope to survive. </a:t>
            </a:r>
          </a:p>
          <a:p>
            <a:pPr algn="just"/>
            <a:endParaRPr lang="en-US" dirty="0"/>
          </a:p>
          <a:p>
            <a:r>
              <a:rPr lang="en-US" dirty="0"/>
              <a:t>A continuous effort to ensure survival (manage &amp; control). </a:t>
            </a:r>
          </a:p>
        </p:txBody>
      </p:sp>
    </p:spTree>
    <p:extLst>
      <p:ext uri="{BB962C8B-B14F-4D97-AF65-F5344CB8AC3E}">
        <p14:creationId xmlns:p14="http://schemas.microsoft.com/office/powerpoint/2010/main" val="3621604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05AFB-902F-4EB9-8186-8B0E97FA2FF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73C69B0-BA22-4D38-9694-9E0853494414}"/>
              </a:ext>
            </a:extLst>
          </p:cNvPr>
          <p:cNvSpPr>
            <a:spLocks noGrp="1"/>
          </p:cNvSpPr>
          <p:nvPr>
            <p:ph idx="1"/>
          </p:nvPr>
        </p:nvSpPr>
        <p:spPr/>
        <p:txBody>
          <a:bodyPr>
            <a:normAutofit lnSpcReduction="10000"/>
          </a:bodyPr>
          <a:lstStyle/>
          <a:p>
            <a:r>
              <a:rPr lang="en-US" dirty="0"/>
              <a:t>Security as a core value of human life.(Secure from any danger or fear)</a:t>
            </a:r>
          </a:p>
          <a:p>
            <a:r>
              <a:rPr lang="en-US" dirty="0"/>
              <a:t>The desire for security is a defensive (Self-protecting response from others)</a:t>
            </a:r>
          </a:p>
          <a:p>
            <a:r>
              <a:rPr lang="en-US" dirty="0"/>
              <a:t>If there were no threatening people, the need to guarantee</a:t>
            </a:r>
          </a:p>
          <a:p>
            <a:r>
              <a:rPr lang="en-US" dirty="0"/>
              <a:t>security would disappear. </a:t>
            </a:r>
          </a:p>
          <a:p>
            <a:r>
              <a:rPr lang="en-US" dirty="0"/>
              <a:t>The four key assumptions underlying the idea of security − security in (or of) what, from what, for what, and by what</a:t>
            </a:r>
          </a:p>
          <a:p>
            <a:r>
              <a:rPr lang="en-US" dirty="0"/>
              <a:t>means – are each discussed and analyzed. Normative and instrumental.</a:t>
            </a:r>
          </a:p>
        </p:txBody>
      </p:sp>
    </p:spTree>
    <p:extLst>
      <p:ext uri="{BB962C8B-B14F-4D97-AF65-F5344CB8AC3E}">
        <p14:creationId xmlns:p14="http://schemas.microsoft.com/office/powerpoint/2010/main" val="14659296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8EEA7-74E8-436B-B08E-B765DAA4FA2B}"/>
              </a:ext>
            </a:extLst>
          </p:cNvPr>
          <p:cNvSpPr>
            <a:spLocks noGrp="1"/>
          </p:cNvSpPr>
          <p:nvPr>
            <p:ph type="title"/>
          </p:nvPr>
        </p:nvSpPr>
        <p:spPr/>
        <p:txBody>
          <a:bodyPr/>
          <a:lstStyle/>
          <a:p>
            <a:r>
              <a:rPr lang="en-US" b="1" dirty="0"/>
              <a:t>Broadening the concept</a:t>
            </a:r>
            <a:br>
              <a:rPr lang="en-US" b="1" dirty="0"/>
            </a:br>
            <a:r>
              <a:rPr lang="en-US" b="1" dirty="0"/>
              <a:t>Traditional and non-traditional </a:t>
            </a:r>
          </a:p>
        </p:txBody>
      </p:sp>
      <p:sp>
        <p:nvSpPr>
          <p:cNvPr id="3" name="Content Placeholder 2">
            <a:extLst>
              <a:ext uri="{FF2B5EF4-FFF2-40B4-BE49-F238E27FC236}">
                <a16:creationId xmlns:a16="http://schemas.microsoft.com/office/drawing/2014/main" id="{20CCF212-D32D-4A8A-8E17-12A34EB83784}"/>
              </a:ext>
            </a:extLst>
          </p:cNvPr>
          <p:cNvSpPr>
            <a:spLocks noGrp="1"/>
          </p:cNvSpPr>
          <p:nvPr>
            <p:ph idx="1"/>
          </p:nvPr>
        </p:nvSpPr>
        <p:spPr/>
        <p:txBody>
          <a:bodyPr/>
          <a:lstStyle/>
          <a:p>
            <a:r>
              <a:rPr lang="en-US" dirty="0"/>
              <a:t>Military security</a:t>
            </a:r>
          </a:p>
          <a:p>
            <a:r>
              <a:rPr lang="en-US" dirty="0"/>
              <a:t>Regime/political security: Presence or absence of extreme of discourses</a:t>
            </a:r>
          </a:p>
          <a:p>
            <a:r>
              <a:rPr lang="en-US" dirty="0"/>
              <a:t>Societal security </a:t>
            </a:r>
          </a:p>
          <a:p>
            <a:r>
              <a:rPr lang="en-US" dirty="0"/>
              <a:t>Environmental security</a:t>
            </a:r>
          </a:p>
          <a:p>
            <a:r>
              <a:rPr lang="en-US" dirty="0"/>
              <a:t>Energy security</a:t>
            </a:r>
          </a:p>
          <a:p>
            <a:r>
              <a:rPr lang="en-US" dirty="0"/>
              <a:t>Cyber security</a:t>
            </a:r>
          </a:p>
          <a:p>
            <a:r>
              <a:rPr lang="en-US" dirty="0"/>
              <a:t>Health security</a:t>
            </a:r>
          </a:p>
        </p:txBody>
      </p:sp>
    </p:spTree>
    <p:extLst>
      <p:ext uri="{BB962C8B-B14F-4D97-AF65-F5344CB8AC3E}">
        <p14:creationId xmlns:p14="http://schemas.microsoft.com/office/powerpoint/2010/main" val="27459044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EC8D2-E431-472C-981C-9CAB10440651}"/>
              </a:ext>
            </a:extLst>
          </p:cNvPr>
          <p:cNvSpPr>
            <a:spLocks noGrp="1"/>
          </p:cNvSpPr>
          <p:nvPr>
            <p:ph type="title"/>
          </p:nvPr>
        </p:nvSpPr>
        <p:spPr/>
        <p:txBody>
          <a:bodyPr/>
          <a:lstStyle/>
          <a:p>
            <a:r>
              <a:rPr lang="en-US" b="1" dirty="0"/>
              <a:t>Military security</a:t>
            </a:r>
            <a:br>
              <a:rPr lang="en-US" dirty="0"/>
            </a:br>
            <a:endParaRPr lang="en-US" dirty="0"/>
          </a:p>
        </p:txBody>
      </p:sp>
      <p:sp>
        <p:nvSpPr>
          <p:cNvPr id="3" name="Content Placeholder 2">
            <a:extLst>
              <a:ext uri="{FF2B5EF4-FFF2-40B4-BE49-F238E27FC236}">
                <a16:creationId xmlns:a16="http://schemas.microsoft.com/office/drawing/2014/main" id="{CDAC6FC3-4A09-49D3-AEF8-0B6517F9656C}"/>
              </a:ext>
            </a:extLst>
          </p:cNvPr>
          <p:cNvSpPr>
            <a:spLocks noGrp="1"/>
          </p:cNvSpPr>
          <p:nvPr>
            <p:ph idx="1"/>
          </p:nvPr>
        </p:nvSpPr>
        <p:spPr/>
        <p:txBody>
          <a:bodyPr/>
          <a:lstStyle/>
          <a:p>
            <a:pPr algn="just"/>
            <a:r>
              <a:rPr lang="en-US" dirty="0"/>
              <a:t>In a traditional military approach, security is a military phenomenon, military capabilities take priorities in government’s budgetary allocations and the projection and deterrence of military force is central.</a:t>
            </a:r>
          </a:p>
          <a:p>
            <a:pPr algn="just"/>
            <a:endParaRPr lang="en-US" dirty="0"/>
          </a:p>
        </p:txBody>
      </p:sp>
    </p:spTree>
    <p:extLst>
      <p:ext uri="{BB962C8B-B14F-4D97-AF65-F5344CB8AC3E}">
        <p14:creationId xmlns:p14="http://schemas.microsoft.com/office/powerpoint/2010/main" val="20666365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648</TotalTime>
  <Words>795</Words>
  <Application>Microsoft Office PowerPoint</Application>
  <PresentationFormat>Widescreen</PresentationFormat>
  <Paragraphs>73</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Calibri Light</vt:lpstr>
      <vt:lpstr>Office Theme</vt:lpstr>
      <vt:lpstr>Lecture # 1</vt:lpstr>
      <vt:lpstr>PowerPoint Presentation</vt:lpstr>
      <vt:lpstr>Understanding Security</vt:lpstr>
      <vt:lpstr>Walter Lippman (1991)</vt:lpstr>
      <vt:lpstr>Luciani (1989)</vt:lpstr>
      <vt:lpstr>Ullman (1983)</vt:lpstr>
      <vt:lpstr>Wolfers (1962)</vt:lpstr>
      <vt:lpstr>Ayoob (1995)</vt:lpstr>
      <vt:lpstr> Ken Booth (1991)</vt:lpstr>
      <vt:lpstr>Hough (2008)</vt:lpstr>
      <vt:lpstr> Kolodziej (2005)</vt:lpstr>
      <vt:lpstr>Smith (2010)</vt:lpstr>
      <vt:lpstr>PowerPoint Presentation</vt:lpstr>
      <vt:lpstr>Broadening the concept Traditional and non-traditional </vt:lpstr>
      <vt:lpstr>Military security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 1</dc:title>
  <dc:creator>tahir sial</dc:creator>
  <cp:lastModifiedBy>tahir sial</cp:lastModifiedBy>
  <cp:revision>5</cp:revision>
  <dcterms:created xsi:type="dcterms:W3CDTF">2021-01-13T17:35:11Z</dcterms:created>
  <dcterms:modified xsi:type="dcterms:W3CDTF">2021-01-14T04:23:56Z</dcterms:modified>
</cp:coreProperties>
</file>