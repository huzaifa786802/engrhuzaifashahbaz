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72B3BC-1D39-48CC-AD44-46B690FC15BB}" type="datetimeFigureOut">
              <a:rPr lang="en-US" smtClean="0"/>
              <a:t>10/15/2020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67B4F3-7B12-4113-A8F9-75E1FEA847FE}" type="slidenum">
              <a:rPr lang="en-US" smtClean="0"/>
              <a:t>‹#›</a:t>
            </a:fld>
            <a:endParaRPr lang="en-US"/>
          </a:p>
        </p:txBody>
      </p:sp>
    </p:spTree>
    <p:extLst>
      <p:ext uri="{BB962C8B-B14F-4D97-AF65-F5344CB8AC3E}">
        <p14:creationId xmlns:p14="http://schemas.microsoft.com/office/powerpoint/2010/main" val="3716951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Muslims and Hindus were equally jubilant to study in the above mentioned institutes.</a:t>
            </a:r>
            <a:r>
              <a:rPr lang="en-US" baseline="0" dirty="0"/>
              <a:t> The scientific consisted of both Hindu and Muslims.</a:t>
            </a:r>
            <a:endParaRPr lang="en-US" dirty="0"/>
          </a:p>
        </p:txBody>
      </p:sp>
      <p:sp>
        <p:nvSpPr>
          <p:cNvPr id="4" name="Slide Number Placeholder 3"/>
          <p:cNvSpPr>
            <a:spLocks noGrp="1"/>
          </p:cNvSpPr>
          <p:nvPr>
            <p:ph type="sldNum" sz="quarter" idx="10"/>
          </p:nvPr>
        </p:nvSpPr>
        <p:spPr/>
        <p:txBody>
          <a:bodyPr/>
          <a:lstStyle/>
          <a:p>
            <a:fld id="{34F0ED25-3C78-4C6A-862E-CA720CF25055}" type="slidenum">
              <a:rPr lang="en-US" smtClean="0"/>
              <a:t>5</a:t>
            </a:fld>
            <a:endParaRPr lang="en-US"/>
          </a:p>
        </p:txBody>
      </p:sp>
    </p:spTree>
    <p:extLst>
      <p:ext uri="{BB962C8B-B14F-4D97-AF65-F5344CB8AC3E}">
        <p14:creationId xmlns:p14="http://schemas.microsoft.com/office/powerpoint/2010/main" val="3029989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BAF11-091B-4EF2-85D5-8248CF3D99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696ED3-DD32-49EC-86C6-727664F3C0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11E684-773C-4EF9-A25B-F90B3904C865}"/>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5" name="Footer Placeholder 4">
            <a:extLst>
              <a:ext uri="{FF2B5EF4-FFF2-40B4-BE49-F238E27FC236}">
                <a16:creationId xmlns:a16="http://schemas.microsoft.com/office/drawing/2014/main" id="{925DB997-BB67-4634-90A6-56B05E28C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FEBD34-4B69-4F46-8C5C-B80F20880E9D}"/>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375835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0437F-9FA8-458E-A2D9-A746A5B8B7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0E81E3-3E2E-4157-B782-7377B86D08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D6DF32-5498-43B5-97F7-C1791F69AACA}"/>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5" name="Footer Placeholder 4">
            <a:extLst>
              <a:ext uri="{FF2B5EF4-FFF2-40B4-BE49-F238E27FC236}">
                <a16:creationId xmlns:a16="http://schemas.microsoft.com/office/drawing/2014/main" id="{4A162FA1-E898-40EE-895D-3A2A4BD74F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D07B7E-0008-4324-8E9F-36F4227EA055}"/>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537944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71BF1-8C50-47B2-B1AE-9FCD7DF1F3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31DA78-8C60-4992-A8A4-61260E476B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0716CD-ACBA-4226-A3D2-FE6CC5EAF51C}"/>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5" name="Footer Placeholder 4">
            <a:extLst>
              <a:ext uri="{FF2B5EF4-FFF2-40B4-BE49-F238E27FC236}">
                <a16:creationId xmlns:a16="http://schemas.microsoft.com/office/drawing/2014/main" id="{85ABAFDE-1A1B-4E0B-85B2-560A6DA755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CA2C4E-5F20-419B-9197-AE289FB1C314}"/>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182317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6DF46-5087-4E05-98C5-613191EF6C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BBFD88-A125-4A82-931A-D0D8B7AAD7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D16739-A56F-4523-97FE-4F9045B9F1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74FBC0-50D4-4300-B2A5-4484F09BE06D}"/>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6" name="Footer Placeholder 5">
            <a:extLst>
              <a:ext uri="{FF2B5EF4-FFF2-40B4-BE49-F238E27FC236}">
                <a16:creationId xmlns:a16="http://schemas.microsoft.com/office/drawing/2014/main" id="{71B16EF6-87CF-4D83-A632-590C0574D9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6E2204-A938-45C7-B0EB-FBFC0E224B5D}"/>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331692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0E7A-AE10-4CF1-AC87-7042136A52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E2B51A-AB6B-449B-8C6D-71BF0C2C2E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FDB7C7-DBF4-4699-9EAF-358D19D66C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345202-D61A-48EB-BC0D-2BB049B1E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8A539A-8D87-43CC-ACBA-2096D66BF2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BC2F14-85EF-4E0B-9E09-D09E76D8BC19}"/>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8" name="Footer Placeholder 7">
            <a:extLst>
              <a:ext uri="{FF2B5EF4-FFF2-40B4-BE49-F238E27FC236}">
                <a16:creationId xmlns:a16="http://schemas.microsoft.com/office/drawing/2014/main" id="{6C1DC22F-63C6-4DB8-9CAB-6E6096DECD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06DF53-0F3C-4841-A191-CB5D661279B8}"/>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688927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CD20-ED45-46A1-8979-B53ABA2318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30FB97-1823-4ADA-919B-4873A88EFBD0}"/>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4" name="Footer Placeholder 3">
            <a:extLst>
              <a:ext uri="{FF2B5EF4-FFF2-40B4-BE49-F238E27FC236}">
                <a16:creationId xmlns:a16="http://schemas.microsoft.com/office/drawing/2014/main" id="{FC9D8BF2-C324-42FB-B4CF-B25DF8F9F9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83FAC2-E364-4EA9-B16E-E102D941959B}"/>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662821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02EC3B-C1CE-46DB-ABD4-1472B0C7BCDA}"/>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3" name="Footer Placeholder 2">
            <a:extLst>
              <a:ext uri="{FF2B5EF4-FFF2-40B4-BE49-F238E27FC236}">
                <a16:creationId xmlns:a16="http://schemas.microsoft.com/office/drawing/2014/main" id="{2FF477D8-72BD-4CBA-ABFB-BA0B2A690C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B2D519-761F-4B98-9C04-CAC318868677}"/>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480989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625CC-4109-484C-9C5A-8D74D3CC73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4DB031-DF9F-419F-9030-699F25D6B0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B8A76E-96F3-4427-AF39-965F46B17E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6DF472-0C73-4BFC-93F5-5C658DB86749}"/>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6" name="Footer Placeholder 5">
            <a:extLst>
              <a:ext uri="{FF2B5EF4-FFF2-40B4-BE49-F238E27FC236}">
                <a16:creationId xmlns:a16="http://schemas.microsoft.com/office/drawing/2014/main" id="{201BD5F0-CE88-4EB4-BA9C-272B0852B7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D85AC-EE7A-477D-B853-53517069039F}"/>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211730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F895A-6D95-42D7-8CD8-FE6A502FA4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1DC950-A944-424F-A504-C333D71462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CECA1A-A662-4B9D-938C-7981FD150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F586EF-3ACE-46C9-9B06-6CC8F66D2A66}"/>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6" name="Footer Placeholder 5">
            <a:extLst>
              <a:ext uri="{FF2B5EF4-FFF2-40B4-BE49-F238E27FC236}">
                <a16:creationId xmlns:a16="http://schemas.microsoft.com/office/drawing/2014/main" id="{706FA8FC-E52C-4040-876B-7AE543894D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CE72E5-A025-4E77-BC17-DB877E4B8D32}"/>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1087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CFFA8-05E8-4929-87BC-BE378FA1E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56BEF8-9DCE-4D3F-A7E0-EAC9F72A32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AB6D3-FD0C-4DE4-B7D8-2895E17D6C5E}"/>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5" name="Footer Placeholder 4">
            <a:extLst>
              <a:ext uri="{FF2B5EF4-FFF2-40B4-BE49-F238E27FC236}">
                <a16:creationId xmlns:a16="http://schemas.microsoft.com/office/drawing/2014/main" id="{5A1521B4-01FA-4858-868D-7F15682058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6EAE1-1B58-41B5-A2A9-584422913E59}"/>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054273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9CFC43-02CB-4511-9FA2-95FD18031D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0AF573-155A-4BCD-A80F-B4AE455F44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3ADD54-5AE2-4C82-990E-3A269BDE956F}"/>
              </a:ext>
            </a:extLst>
          </p:cNvPr>
          <p:cNvSpPr>
            <a:spLocks noGrp="1"/>
          </p:cNvSpPr>
          <p:nvPr>
            <p:ph type="dt" sz="half" idx="10"/>
          </p:nvPr>
        </p:nvSpPr>
        <p:spPr/>
        <p:txBody>
          <a:bodyPr/>
          <a:lstStyle/>
          <a:p>
            <a:fld id="{28E38E5D-186A-48CF-89E5-9AC48729DD19}" type="datetimeFigureOut">
              <a:rPr lang="en-US" smtClean="0"/>
              <a:t>10/15/2020</a:t>
            </a:fld>
            <a:endParaRPr lang="en-US"/>
          </a:p>
        </p:txBody>
      </p:sp>
      <p:sp>
        <p:nvSpPr>
          <p:cNvPr id="5" name="Footer Placeholder 4">
            <a:extLst>
              <a:ext uri="{FF2B5EF4-FFF2-40B4-BE49-F238E27FC236}">
                <a16:creationId xmlns:a16="http://schemas.microsoft.com/office/drawing/2014/main" id="{2AA4CC0F-B5AB-40A2-8034-C795A68428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C6D19-6AD9-417A-BE26-457C1356176F}"/>
              </a:ext>
            </a:extLst>
          </p:cNvPr>
          <p:cNvSpPr>
            <a:spLocks noGrp="1"/>
          </p:cNvSpPr>
          <p:nvPr>
            <p:ph type="sldNum" sz="quarter" idx="12"/>
          </p:nvPr>
        </p:nvSpPr>
        <p:spPr/>
        <p:txBody>
          <a:bodyPr/>
          <a:lstStyle/>
          <a:p>
            <a:fld id="{DF597D19-923C-44D5-88AE-5EB859A64C28}" type="slidenum">
              <a:rPr lang="en-US" smtClean="0"/>
              <a:t>‹#›</a:t>
            </a:fld>
            <a:endParaRPr lang="en-US"/>
          </a:p>
        </p:txBody>
      </p:sp>
    </p:spTree>
    <p:extLst>
      <p:ext uri="{BB962C8B-B14F-4D97-AF65-F5344CB8AC3E}">
        <p14:creationId xmlns:p14="http://schemas.microsoft.com/office/powerpoint/2010/main" val="2484619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A705C8-E62C-4C9F-AEAC-A8559B879D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1FFB71-BA17-429C-9127-0D6CC58F22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29F0B2-869F-4899-93A5-EAC95B669A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E38E5D-186A-48CF-89E5-9AC48729DD19}" type="datetimeFigureOut">
              <a:rPr lang="en-US" smtClean="0"/>
              <a:t>10/15/2020</a:t>
            </a:fld>
            <a:endParaRPr lang="en-US"/>
          </a:p>
        </p:txBody>
      </p:sp>
      <p:sp>
        <p:nvSpPr>
          <p:cNvPr id="5" name="Footer Placeholder 4">
            <a:extLst>
              <a:ext uri="{FF2B5EF4-FFF2-40B4-BE49-F238E27FC236}">
                <a16:creationId xmlns:a16="http://schemas.microsoft.com/office/drawing/2014/main" id="{72C42094-A710-4433-9FAE-0E39D846B4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345AC2-E7EE-4E9D-9E54-874981AE50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597D19-923C-44D5-88AE-5EB859A64C28}" type="slidenum">
              <a:rPr lang="en-US" smtClean="0"/>
              <a:t>‹#›</a:t>
            </a:fld>
            <a:endParaRPr lang="en-US"/>
          </a:p>
        </p:txBody>
      </p:sp>
    </p:spTree>
    <p:extLst>
      <p:ext uri="{BB962C8B-B14F-4D97-AF65-F5344CB8AC3E}">
        <p14:creationId xmlns:p14="http://schemas.microsoft.com/office/powerpoint/2010/main" val="3321455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76200"/>
            <a:ext cx="7010400" cy="1143000"/>
          </a:xfrm>
        </p:spPr>
        <p:txBody>
          <a:bodyPr>
            <a:normAutofit fontScale="90000"/>
          </a:bodyPr>
          <a:lstStyle/>
          <a:p>
            <a:br>
              <a:rPr lang="en-US" dirty="0"/>
            </a:br>
            <a:r>
              <a:rPr lang="en-US" dirty="0"/>
              <a:t>Sir Syed Ahmed Khan</a:t>
            </a:r>
            <a:br>
              <a:rPr lang="en-US" dirty="0"/>
            </a:br>
            <a:endParaRPr lang="en-US" dirty="0"/>
          </a:p>
        </p:txBody>
      </p:sp>
      <p:sp>
        <p:nvSpPr>
          <p:cNvPr id="3" name="Content Placeholder 2"/>
          <p:cNvSpPr>
            <a:spLocks noGrp="1"/>
          </p:cNvSpPr>
          <p:nvPr>
            <p:ph idx="1"/>
          </p:nvPr>
        </p:nvSpPr>
        <p:spPr/>
        <p:txBody>
          <a:bodyPr>
            <a:normAutofit/>
          </a:bodyPr>
          <a:lstStyle/>
          <a:p>
            <a:r>
              <a:rPr lang="en-US" dirty="0"/>
              <a:t>Sir Syed was born on 17</a:t>
            </a:r>
            <a:r>
              <a:rPr lang="en-US" baseline="30000" dirty="0"/>
              <a:t>th</a:t>
            </a:r>
            <a:r>
              <a:rPr lang="en-US" dirty="0"/>
              <a:t> October 1817 at Delhi.</a:t>
            </a:r>
          </a:p>
          <a:p>
            <a:r>
              <a:rPr lang="en-US" dirty="0"/>
              <a:t>His father passed away in 1838.</a:t>
            </a:r>
          </a:p>
          <a:p>
            <a:r>
              <a:rPr lang="en-US" dirty="0"/>
              <a:t>He first worked as clerk in the East India Company.</a:t>
            </a:r>
          </a:p>
          <a:p>
            <a:r>
              <a:rPr lang="en-US" dirty="0"/>
              <a:t>In 1841 he got appointed as </a:t>
            </a:r>
            <a:r>
              <a:rPr lang="en-US" dirty="0" err="1"/>
              <a:t>Munsif</a:t>
            </a:r>
            <a:r>
              <a:rPr lang="en-US" dirty="0"/>
              <a:t> (Sub-Judge) and was posted at </a:t>
            </a:r>
            <a:r>
              <a:rPr lang="en-US" dirty="0" err="1"/>
              <a:t>Fatehpur</a:t>
            </a:r>
            <a:r>
              <a:rPr lang="en-US" dirty="0"/>
              <a:t> </a:t>
            </a:r>
            <a:r>
              <a:rPr lang="en-US" dirty="0" err="1"/>
              <a:t>Sikri</a:t>
            </a:r>
            <a:r>
              <a:rPr lang="en-US" dirty="0"/>
              <a:t>.</a:t>
            </a:r>
          </a:p>
          <a:p>
            <a:r>
              <a:rPr lang="en-US" dirty="0"/>
              <a:t>From 1846-1855 Sir Syed remained at Delhi because of his brother’s death, to look after his family affairs.</a:t>
            </a:r>
          </a:p>
          <a:p>
            <a:r>
              <a:rPr lang="en-US" dirty="0"/>
              <a:t> In 1855 he was transferred to </a:t>
            </a:r>
            <a:r>
              <a:rPr lang="en-US" dirty="0" err="1"/>
              <a:t>Bijnore</a:t>
            </a:r>
            <a:r>
              <a:rPr lang="en-US" dirty="0"/>
              <a:t>.</a:t>
            </a:r>
          </a:p>
          <a:p>
            <a:endParaRPr lang="en-US" dirty="0"/>
          </a:p>
        </p:txBody>
      </p:sp>
    </p:spTree>
    <p:extLst>
      <p:ext uri="{BB962C8B-B14F-4D97-AF65-F5344CB8AC3E}">
        <p14:creationId xmlns:p14="http://schemas.microsoft.com/office/powerpoint/2010/main" val="4176472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Recall the event which brought him close to the British.</a:t>
            </a:r>
          </a:p>
          <a:p>
            <a:r>
              <a:rPr lang="en-US" dirty="0"/>
              <a:t>Soon after the war ended sir </a:t>
            </a:r>
            <a:r>
              <a:rPr lang="en-US" dirty="0" err="1"/>
              <a:t>syed</a:t>
            </a:r>
            <a:r>
              <a:rPr lang="en-US" dirty="0"/>
              <a:t> wrote the following book</a:t>
            </a:r>
          </a:p>
          <a:p>
            <a:pPr marL="0" indent="0">
              <a:buNone/>
            </a:pPr>
            <a:r>
              <a:rPr lang="en-US" dirty="0"/>
              <a:t>     “The Causes of Indian Munity”</a:t>
            </a:r>
          </a:p>
          <a:p>
            <a:pPr marL="0" indent="0">
              <a:buNone/>
            </a:pPr>
            <a:r>
              <a:rPr lang="en-US" dirty="0"/>
              <a:t>      “ </a:t>
            </a:r>
            <a:r>
              <a:rPr lang="en-US" dirty="0" err="1"/>
              <a:t>Asbab</a:t>
            </a:r>
            <a:r>
              <a:rPr lang="en-US" dirty="0"/>
              <a:t> e </a:t>
            </a:r>
            <a:r>
              <a:rPr lang="en-US" dirty="0" err="1"/>
              <a:t>Baghawat</a:t>
            </a:r>
            <a:r>
              <a:rPr lang="en-US" dirty="0"/>
              <a:t> e Hind”</a:t>
            </a:r>
          </a:p>
          <a:p>
            <a:r>
              <a:rPr lang="en-US" dirty="0"/>
              <a:t>The first English publication of the book was prepared in 1873 by Sir </a:t>
            </a:r>
            <a:r>
              <a:rPr lang="en-US" dirty="0" err="1"/>
              <a:t>Aucland</a:t>
            </a:r>
            <a:r>
              <a:rPr lang="en-US" dirty="0"/>
              <a:t> </a:t>
            </a:r>
            <a:r>
              <a:rPr lang="en-US" dirty="0" err="1"/>
              <a:t>Golvin</a:t>
            </a:r>
            <a:r>
              <a:rPr lang="en-US" dirty="0"/>
              <a:t>.</a:t>
            </a:r>
          </a:p>
          <a:p>
            <a:pPr marL="0" indent="0">
              <a:buNone/>
            </a:pPr>
            <a:endParaRPr lang="en-US" dirty="0"/>
          </a:p>
        </p:txBody>
      </p:sp>
    </p:spTree>
    <p:extLst>
      <p:ext uri="{BB962C8B-B14F-4D97-AF65-F5344CB8AC3E}">
        <p14:creationId xmlns:p14="http://schemas.microsoft.com/office/powerpoint/2010/main" val="1047051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9801"/>
            <a:ext cx="8229600" cy="1143000"/>
          </a:xfrm>
        </p:spPr>
        <p:txBody>
          <a:bodyPr>
            <a:normAutofit/>
          </a:bodyPr>
          <a:lstStyle/>
          <a:p>
            <a:r>
              <a:rPr lang="en-US" dirty="0"/>
              <a:t>        </a:t>
            </a:r>
            <a:r>
              <a:rPr lang="en-US" dirty="0" err="1"/>
              <a:t>Asbab</a:t>
            </a:r>
            <a:r>
              <a:rPr lang="en-US" dirty="0"/>
              <a:t> e </a:t>
            </a:r>
            <a:r>
              <a:rPr lang="en-US" dirty="0" err="1"/>
              <a:t>Baghawat</a:t>
            </a:r>
            <a:r>
              <a:rPr lang="en-US" dirty="0"/>
              <a:t> e Hind</a:t>
            </a:r>
          </a:p>
        </p:txBody>
      </p:sp>
      <p:sp>
        <p:nvSpPr>
          <p:cNvPr id="3" name="Content Placeholder 2"/>
          <p:cNvSpPr>
            <a:spLocks noGrp="1"/>
          </p:cNvSpPr>
          <p:nvPr>
            <p:ph idx="1"/>
          </p:nvPr>
        </p:nvSpPr>
        <p:spPr/>
        <p:txBody>
          <a:bodyPr/>
          <a:lstStyle/>
          <a:p>
            <a:endParaRPr lang="en-US" dirty="0"/>
          </a:p>
          <a:p>
            <a:endParaRPr lang="en-US" dirty="0"/>
          </a:p>
          <a:p>
            <a:r>
              <a:rPr lang="en-US" dirty="0"/>
              <a:t>Muslims were not the only ones who </a:t>
            </a:r>
          </a:p>
          <a:p>
            <a:pPr marL="0" indent="0">
              <a:buNone/>
            </a:pPr>
            <a:r>
              <a:rPr lang="en-US" dirty="0"/>
              <a:t>    participated in the war, Hindus were equally in it.</a:t>
            </a:r>
          </a:p>
          <a:p>
            <a:r>
              <a:rPr lang="en-US" dirty="0"/>
              <a:t>The British are mainly responsible for the war.</a:t>
            </a:r>
          </a:p>
          <a:p>
            <a:pPr marL="0" indent="0">
              <a:buNone/>
            </a:pPr>
            <a:endParaRPr lang="en-US" dirty="0"/>
          </a:p>
        </p:txBody>
      </p:sp>
    </p:spTree>
    <p:extLst>
      <p:ext uri="{BB962C8B-B14F-4D97-AF65-F5344CB8AC3E}">
        <p14:creationId xmlns:p14="http://schemas.microsoft.com/office/powerpoint/2010/main" val="3067162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9801"/>
            <a:ext cx="8839200" cy="1143000"/>
          </a:xfrm>
        </p:spPr>
        <p:txBody>
          <a:bodyPr>
            <a:normAutofit fontScale="90000"/>
          </a:bodyPr>
          <a:lstStyle/>
          <a:p>
            <a:r>
              <a:rPr lang="en-US" dirty="0"/>
              <a:t>What was the immediate concern for sir Syed about the Muslims after the war</a:t>
            </a:r>
          </a:p>
        </p:txBody>
      </p:sp>
      <p:sp>
        <p:nvSpPr>
          <p:cNvPr id="3" name="Content Placeholder 2"/>
          <p:cNvSpPr>
            <a:spLocks noGrp="1"/>
          </p:cNvSpPr>
          <p:nvPr>
            <p:ph idx="1"/>
          </p:nvPr>
        </p:nvSpPr>
        <p:spPr/>
        <p:txBody>
          <a:bodyPr>
            <a:normAutofit/>
          </a:bodyPr>
          <a:lstStyle/>
          <a:p>
            <a:r>
              <a:rPr lang="en-US" dirty="0"/>
              <a:t>Sir Syed realized that the basic reason for the backwardness of  Muslims, was education.</a:t>
            </a:r>
          </a:p>
          <a:p>
            <a:endParaRPr lang="en-US" dirty="0"/>
          </a:p>
          <a:p>
            <a:pPr marL="0" indent="0">
              <a:buNone/>
            </a:pPr>
            <a:r>
              <a:rPr lang="en-US" dirty="0"/>
              <a:t>     </a:t>
            </a:r>
            <a:r>
              <a:rPr lang="en-US" b="1" dirty="0"/>
              <a:t>Reasons for this backwardness</a:t>
            </a:r>
          </a:p>
          <a:p>
            <a:r>
              <a:rPr lang="en-US" dirty="0"/>
              <a:t>In 1835 the British replaced Persian with English as the official language.</a:t>
            </a:r>
          </a:p>
          <a:p>
            <a:pPr marL="0" indent="0">
              <a:buNone/>
            </a:pPr>
            <a:r>
              <a:rPr lang="en-US" dirty="0"/>
              <a:t>     </a:t>
            </a:r>
            <a:r>
              <a:rPr lang="en-US" b="1" dirty="0"/>
              <a:t>Why the Hindus accepted this language and        </a:t>
            </a:r>
          </a:p>
          <a:p>
            <a:pPr marL="0" indent="0">
              <a:buNone/>
            </a:pPr>
            <a:r>
              <a:rPr lang="en-US" b="1" dirty="0"/>
              <a:t>     Muslims rejected it?</a:t>
            </a:r>
          </a:p>
          <a:p>
            <a:pPr marL="0" indent="0">
              <a:buNone/>
            </a:pPr>
            <a:r>
              <a:rPr lang="en-US" b="1" dirty="0"/>
              <a:t>     Why is language  so important for people, nations?</a:t>
            </a:r>
            <a:endParaRPr lang="en-US" dirty="0"/>
          </a:p>
        </p:txBody>
      </p:sp>
    </p:spTree>
    <p:extLst>
      <p:ext uri="{BB962C8B-B14F-4D97-AF65-F5344CB8AC3E}">
        <p14:creationId xmlns:p14="http://schemas.microsoft.com/office/powerpoint/2010/main" val="1039135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9801"/>
            <a:ext cx="8686800" cy="1143000"/>
          </a:xfrm>
        </p:spPr>
        <p:txBody>
          <a:bodyPr/>
          <a:lstStyle/>
          <a:p>
            <a:r>
              <a:rPr lang="en-US" dirty="0"/>
              <a:t>Schools/Society set-up by Sir Syed </a:t>
            </a:r>
          </a:p>
        </p:txBody>
      </p:sp>
      <p:sp>
        <p:nvSpPr>
          <p:cNvPr id="3" name="Content Placeholder 2"/>
          <p:cNvSpPr>
            <a:spLocks noGrp="1"/>
          </p:cNvSpPr>
          <p:nvPr>
            <p:ph idx="1"/>
          </p:nvPr>
        </p:nvSpPr>
        <p:spPr/>
        <p:txBody>
          <a:bodyPr/>
          <a:lstStyle/>
          <a:p>
            <a:r>
              <a:rPr lang="en-US" dirty="0"/>
              <a:t>The first at </a:t>
            </a:r>
            <a:r>
              <a:rPr lang="en-US" dirty="0" err="1"/>
              <a:t>Mooradabad</a:t>
            </a:r>
            <a:r>
              <a:rPr lang="en-US" dirty="0"/>
              <a:t> in 1859.</a:t>
            </a:r>
          </a:p>
          <a:p>
            <a:r>
              <a:rPr lang="en-US" dirty="0"/>
              <a:t>The second at Ghaziabad in 1863.</a:t>
            </a:r>
          </a:p>
          <a:p>
            <a:r>
              <a:rPr lang="en-US" dirty="0"/>
              <a:t>Scientific/Translation society in 1864.</a:t>
            </a:r>
          </a:p>
          <a:p>
            <a:pPr marL="0" indent="0">
              <a:buNone/>
            </a:pPr>
            <a:r>
              <a:rPr lang="en-US" dirty="0"/>
              <a:t>     The basic objective of the society was to          </a:t>
            </a:r>
          </a:p>
          <a:p>
            <a:pPr marL="0" indent="0">
              <a:buNone/>
            </a:pPr>
            <a:r>
              <a:rPr lang="en-US" dirty="0"/>
              <a:t>      translate books on different subjects in Urdu.</a:t>
            </a:r>
          </a:p>
          <a:p>
            <a:r>
              <a:rPr lang="en-US" dirty="0"/>
              <a:t>The M.A.O school in 1875</a:t>
            </a:r>
          </a:p>
          <a:p>
            <a:r>
              <a:rPr lang="en-US" dirty="0"/>
              <a:t>The M.AO college in 1877  </a:t>
            </a:r>
          </a:p>
        </p:txBody>
      </p:sp>
    </p:spTree>
    <p:extLst>
      <p:ext uri="{BB962C8B-B14F-4D97-AF65-F5344CB8AC3E}">
        <p14:creationId xmlns:p14="http://schemas.microsoft.com/office/powerpoint/2010/main" val="2608804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Books/ Journals</a:t>
            </a:r>
          </a:p>
        </p:txBody>
      </p:sp>
      <p:sp>
        <p:nvSpPr>
          <p:cNvPr id="3" name="Content Placeholder 2"/>
          <p:cNvSpPr>
            <a:spLocks noGrp="1"/>
          </p:cNvSpPr>
          <p:nvPr>
            <p:ph idx="1"/>
          </p:nvPr>
        </p:nvSpPr>
        <p:spPr/>
        <p:txBody>
          <a:bodyPr>
            <a:normAutofit/>
          </a:bodyPr>
          <a:lstStyle/>
          <a:p>
            <a:r>
              <a:rPr lang="en-US" dirty="0"/>
              <a:t>Aligarh Institute Gazette</a:t>
            </a:r>
          </a:p>
          <a:p>
            <a:pPr marL="0" indent="0">
              <a:buNone/>
            </a:pPr>
            <a:r>
              <a:rPr lang="en-US" dirty="0"/>
              <a:t>This journal was published both in English and Urdu and the objective of the journal was to move the sentiments of goodwill and friendship among the British for the Muslims. </a:t>
            </a:r>
          </a:p>
          <a:p>
            <a:r>
              <a:rPr lang="en-US" dirty="0" err="1"/>
              <a:t>Risala</a:t>
            </a:r>
            <a:r>
              <a:rPr lang="en-US" dirty="0"/>
              <a:t> </a:t>
            </a:r>
            <a:r>
              <a:rPr lang="en-US" dirty="0" err="1"/>
              <a:t>Tehzib</a:t>
            </a:r>
            <a:r>
              <a:rPr lang="en-US" dirty="0"/>
              <a:t> </a:t>
            </a:r>
            <a:r>
              <a:rPr lang="en-US" dirty="0" err="1"/>
              <a:t>ul</a:t>
            </a:r>
            <a:r>
              <a:rPr lang="en-US" dirty="0"/>
              <a:t> </a:t>
            </a:r>
            <a:r>
              <a:rPr lang="en-US" dirty="0" err="1"/>
              <a:t>Akhlaq</a:t>
            </a:r>
            <a:endParaRPr lang="en-US" dirty="0"/>
          </a:p>
          <a:p>
            <a:pPr marL="0" indent="0">
              <a:buNone/>
            </a:pPr>
            <a:r>
              <a:rPr lang="en-US" dirty="0"/>
              <a:t>    Taught different manners.</a:t>
            </a:r>
          </a:p>
          <a:p>
            <a:r>
              <a:rPr lang="en-US" dirty="0"/>
              <a:t>Reply to the book of Sir William Muir “The Life of Muhammad”.</a:t>
            </a:r>
          </a:p>
          <a:p>
            <a:pPr marL="0" indent="0">
              <a:buNone/>
            </a:pPr>
            <a:endParaRPr lang="en-US" dirty="0"/>
          </a:p>
        </p:txBody>
      </p:sp>
    </p:spTree>
    <p:extLst>
      <p:ext uri="{BB962C8B-B14F-4D97-AF65-F5344CB8AC3E}">
        <p14:creationId xmlns:p14="http://schemas.microsoft.com/office/powerpoint/2010/main" val="3781666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So far Syed Ahmed’s effort was directed towards the advancement of all his countrymen, both Hindus and Muslims. In 1867, however when Syed Ahmed was at Benares, a development took place which diverted the course of his activities and as this change affected the history of this continent. </a:t>
            </a:r>
            <a:r>
              <a:rPr lang="en-US" dirty="0" err="1"/>
              <a:t>Altaf</a:t>
            </a:r>
            <a:r>
              <a:rPr lang="en-US" dirty="0"/>
              <a:t> </a:t>
            </a:r>
            <a:r>
              <a:rPr lang="en-US" dirty="0" err="1"/>
              <a:t>Hussain</a:t>
            </a:r>
            <a:r>
              <a:rPr lang="en-US" dirty="0"/>
              <a:t> </a:t>
            </a:r>
            <a:r>
              <a:rPr lang="en-US" dirty="0" err="1"/>
              <a:t>Hali</a:t>
            </a:r>
            <a:r>
              <a:rPr lang="en-US" dirty="0"/>
              <a:t>, the biographer of the Syed Ahmed.</a:t>
            </a:r>
          </a:p>
          <a:p>
            <a:pPr marL="0" indent="0">
              <a:buNone/>
            </a:pPr>
            <a:endParaRPr lang="en-US" dirty="0"/>
          </a:p>
        </p:txBody>
      </p:sp>
    </p:spTree>
    <p:extLst>
      <p:ext uri="{BB962C8B-B14F-4D97-AF65-F5344CB8AC3E}">
        <p14:creationId xmlns:p14="http://schemas.microsoft.com/office/powerpoint/2010/main" val="2226251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Urdu-Hindu Controversy 1867</a:t>
            </a:r>
          </a:p>
        </p:txBody>
      </p:sp>
      <p:sp>
        <p:nvSpPr>
          <p:cNvPr id="3" name="Content Placeholder 2"/>
          <p:cNvSpPr>
            <a:spLocks noGrp="1"/>
          </p:cNvSpPr>
          <p:nvPr>
            <p:ph idx="1"/>
          </p:nvPr>
        </p:nvSpPr>
        <p:spPr/>
        <p:txBody>
          <a:bodyPr/>
          <a:lstStyle/>
          <a:p>
            <a:r>
              <a:rPr lang="en-US" dirty="0"/>
              <a:t>In 1867 some Hindu lenders of Benares resolved that as far as possible, the use of Urdu language, written in Persian script should </a:t>
            </a:r>
            <a:r>
              <a:rPr lang="en-US"/>
              <a:t>be be</a:t>
            </a:r>
            <a:r>
              <a:rPr lang="en-US" dirty="0"/>
              <a:t> replaced by the Hindi language in </a:t>
            </a:r>
            <a:r>
              <a:rPr lang="en-US" dirty="0" err="1"/>
              <a:t>Devnagri</a:t>
            </a:r>
            <a:r>
              <a:rPr lang="en-US" dirty="0"/>
              <a:t> script.</a:t>
            </a:r>
          </a:p>
          <a:p>
            <a:pPr marL="0" indent="0">
              <a:buNone/>
            </a:pPr>
            <a:endParaRPr lang="en-US" dirty="0"/>
          </a:p>
        </p:txBody>
      </p:sp>
    </p:spTree>
    <p:extLst>
      <p:ext uri="{BB962C8B-B14F-4D97-AF65-F5344CB8AC3E}">
        <p14:creationId xmlns:p14="http://schemas.microsoft.com/office/powerpoint/2010/main" val="332377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Sir Syed’s reaction</a:t>
            </a:r>
          </a:p>
        </p:txBody>
      </p:sp>
      <p:sp>
        <p:nvSpPr>
          <p:cNvPr id="3" name="Content Placeholder 2"/>
          <p:cNvSpPr>
            <a:spLocks noGrp="1"/>
          </p:cNvSpPr>
          <p:nvPr>
            <p:ph idx="1"/>
          </p:nvPr>
        </p:nvSpPr>
        <p:spPr/>
        <p:txBody>
          <a:bodyPr/>
          <a:lstStyle/>
          <a:p>
            <a:r>
              <a:rPr lang="en-US" dirty="0"/>
              <a:t>“Sir Syed used to say that this was the first occasion when he felt that it was now impossible for the Hindus and Muslims to progress as a single nation and for anyone to work for both of them simultaneously.</a:t>
            </a:r>
          </a:p>
          <a:p>
            <a:endParaRPr lang="en-US" dirty="0"/>
          </a:p>
        </p:txBody>
      </p:sp>
    </p:spTree>
    <p:extLst>
      <p:ext uri="{BB962C8B-B14F-4D97-AF65-F5344CB8AC3E}">
        <p14:creationId xmlns:p14="http://schemas.microsoft.com/office/powerpoint/2010/main" val="1309722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During these days when Hindi-Urdu controversy was going on in Benares, one day I met </a:t>
            </a:r>
            <a:r>
              <a:rPr lang="en-US" dirty="0" err="1"/>
              <a:t>Mr</a:t>
            </a:r>
            <a:r>
              <a:rPr lang="en-US" dirty="0"/>
              <a:t> Shakespeare who was posted there as the divisional commissioner. I was saying about the education of the Muslims and </a:t>
            </a:r>
            <a:r>
              <a:rPr lang="en-US" dirty="0" err="1"/>
              <a:t>Mr</a:t>
            </a:r>
            <a:r>
              <a:rPr lang="en-US" dirty="0"/>
              <a:t> Shakespeare was listening with an expression of amazement when at length he said, “This is the first occasion when I have heard you speak about the progress of the Muslims alone. Before this you were always keen about the welfare of your countrymen in general. I said, “Now I am convinced that both these communities (nations) will not join wholeheartedly in anything. At present there is no open hostility between the two communities, but on account of the so-called ‘educated people’ it will increase immensely in future. </a:t>
            </a:r>
          </a:p>
          <a:p>
            <a:endParaRPr lang="en-US" dirty="0"/>
          </a:p>
        </p:txBody>
      </p:sp>
    </p:spTree>
    <p:extLst>
      <p:ext uri="{BB962C8B-B14F-4D97-AF65-F5344CB8AC3E}">
        <p14:creationId xmlns:p14="http://schemas.microsoft.com/office/powerpoint/2010/main" val="3362340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9801"/>
            <a:ext cx="8458200" cy="1143000"/>
          </a:xfrm>
        </p:spPr>
        <p:txBody>
          <a:bodyPr>
            <a:normAutofit fontScale="90000"/>
          </a:bodyPr>
          <a:lstStyle/>
          <a:p>
            <a:r>
              <a:rPr lang="en-US" dirty="0"/>
              <a:t>Sir Syed on the attitude of the Hindu members of the Scientific society</a:t>
            </a:r>
          </a:p>
        </p:txBody>
      </p:sp>
      <p:sp>
        <p:nvSpPr>
          <p:cNvPr id="3" name="Content Placeholder 2"/>
          <p:cNvSpPr>
            <a:spLocks noGrp="1"/>
          </p:cNvSpPr>
          <p:nvPr>
            <p:ph idx="1"/>
          </p:nvPr>
        </p:nvSpPr>
        <p:spPr/>
        <p:txBody>
          <a:bodyPr>
            <a:normAutofit fontScale="92500" lnSpcReduction="10000"/>
          </a:bodyPr>
          <a:lstStyle/>
          <a:p>
            <a:r>
              <a:rPr lang="en-US" dirty="0"/>
              <a:t>On 29</a:t>
            </a:r>
            <a:r>
              <a:rPr lang="en-US" baseline="30000" dirty="0"/>
              <a:t>th</a:t>
            </a:r>
            <a:r>
              <a:rPr lang="en-US" dirty="0"/>
              <a:t> April 1870 Sir Syed wrote a letter to </a:t>
            </a:r>
            <a:r>
              <a:rPr lang="en-US" dirty="0" err="1"/>
              <a:t>Nawab</a:t>
            </a:r>
            <a:r>
              <a:rPr lang="en-US" dirty="0"/>
              <a:t> </a:t>
            </a:r>
            <a:r>
              <a:rPr lang="en-US" dirty="0" err="1"/>
              <a:t>Mohsin-ul-Mulk</a:t>
            </a:r>
            <a:r>
              <a:rPr lang="en-US" dirty="0"/>
              <a:t> in a letter which admirably sums up the raison d’ </a:t>
            </a:r>
            <a:r>
              <a:rPr lang="en-US" dirty="0" err="1"/>
              <a:t>etre</a:t>
            </a:r>
            <a:r>
              <a:rPr lang="en-US" dirty="0"/>
              <a:t> of Muslim separatism, its advantages and its dangers.</a:t>
            </a:r>
          </a:p>
          <a:p>
            <a:r>
              <a:rPr lang="en-US" dirty="0"/>
              <a:t>“ I have learnt another news which caused me so much grief and anxiety. At </a:t>
            </a:r>
            <a:r>
              <a:rPr lang="en-US" dirty="0" err="1"/>
              <a:t>Babu</a:t>
            </a:r>
            <a:r>
              <a:rPr lang="en-US" dirty="0"/>
              <a:t> Shiv </a:t>
            </a:r>
            <a:r>
              <a:rPr lang="en-US" dirty="0" err="1"/>
              <a:t>Parshad’s</a:t>
            </a:r>
            <a:r>
              <a:rPr lang="en-US" dirty="0"/>
              <a:t> instigation, Hindus have generally resolved to do away with the Urdu language and Persian script, which is a memento of the Muslim rule in this country. I have heard that they have moved the Hindu members of the scientific society to see that Hindi should replace Urdu in the newspapers as well as the books published by the society. This is a proposal which will make Hindu-Muslim unity impossible. Muslims will never agree to Hindi, and if Hindus, also following the new move, insist on Hindi, they also will not agree to Urdu. The result will be that the Hindus and Muslims will be completely separated.</a:t>
            </a:r>
          </a:p>
          <a:p>
            <a:endParaRPr lang="en-US" dirty="0"/>
          </a:p>
        </p:txBody>
      </p:sp>
    </p:spTree>
    <p:extLst>
      <p:ext uri="{BB962C8B-B14F-4D97-AF65-F5344CB8AC3E}">
        <p14:creationId xmlns:p14="http://schemas.microsoft.com/office/powerpoint/2010/main" val="900588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 So far there is no danger, on the other hand, I think that if the Muslims start business separately from the Hindus will lose, but there are two considerations against this course. One objection is from my considerations against this course. One objection is from my own temperament which is keen for the welfare of all the Indians-Hindus as well as the Muslims and the other fear is that at present the Muslims are under a cloud of ill-</a:t>
            </a:r>
            <a:r>
              <a:rPr lang="en-US" dirty="0" err="1"/>
              <a:t>luch</a:t>
            </a:r>
            <a:r>
              <a:rPr lang="en-US" dirty="0"/>
              <a:t> and adversity. They are under the influence of false and meaningless prejudices and do not understand their own welfare. In addition, they are move jealous of each other and vindictive than the Hindus and suffer much more from a sense of false pride. They area also poorer and for these reasons I fear that they may not be able to do much themselves.</a:t>
            </a:r>
          </a:p>
          <a:p>
            <a:endParaRPr lang="en-US" dirty="0"/>
          </a:p>
        </p:txBody>
      </p:sp>
    </p:spTree>
    <p:extLst>
      <p:ext uri="{BB962C8B-B14F-4D97-AF65-F5344CB8AC3E}">
        <p14:creationId xmlns:p14="http://schemas.microsoft.com/office/powerpoint/2010/main" val="3402170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dirty="0"/>
              <a:t>In 1886, the </a:t>
            </a:r>
            <a:r>
              <a:rPr lang="en-US" dirty="0" err="1"/>
              <a:t>Muhammadan</a:t>
            </a:r>
            <a:r>
              <a:rPr lang="en-US" dirty="0"/>
              <a:t> Educational Conference was founded.</a:t>
            </a:r>
          </a:p>
          <a:p>
            <a:pPr lvl="0"/>
            <a:r>
              <a:rPr lang="en-US" dirty="0"/>
              <a:t>The conference was also before the foundation of Muslim League, the political mouthpiece of the Muslims and Sir Ahmed’s speech against Muslim participation in the Indian National Congress, was delivered at the second annual session of the </a:t>
            </a:r>
            <a:r>
              <a:rPr lang="en-US" dirty="0" err="1"/>
              <a:t>Muhammadan</a:t>
            </a:r>
            <a:r>
              <a:rPr lang="en-US" dirty="0"/>
              <a:t> Educational Conference.</a:t>
            </a:r>
          </a:p>
          <a:p>
            <a:endParaRPr lang="en-US" dirty="0"/>
          </a:p>
        </p:txBody>
      </p:sp>
    </p:spTree>
    <p:extLst>
      <p:ext uri="{BB962C8B-B14F-4D97-AF65-F5344CB8AC3E}">
        <p14:creationId xmlns:p14="http://schemas.microsoft.com/office/powerpoint/2010/main" val="3481571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9801"/>
            <a:ext cx="8686800" cy="1143000"/>
          </a:xfrm>
        </p:spPr>
        <p:txBody>
          <a:bodyPr>
            <a:normAutofit fontScale="90000"/>
          </a:bodyPr>
          <a:lstStyle/>
          <a:p>
            <a:r>
              <a:rPr lang="en-US" dirty="0"/>
              <a:t>Sir Syed on All India National Congress</a:t>
            </a:r>
          </a:p>
        </p:txBody>
      </p:sp>
      <p:sp>
        <p:nvSpPr>
          <p:cNvPr id="3" name="Content Placeholder 2"/>
          <p:cNvSpPr>
            <a:spLocks noGrp="1"/>
          </p:cNvSpPr>
          <p:nvPr>
            <p:ph idx="1"/>
          </p:nvPr>
        </p:nvSpPr>
        <p:spPr/>
        <p:txBody>
          <a:bodyPr/>
          <a:lstStyle/>
          <a:p>
            <a:r>
              <a:rPr lang="en-US" dirty="0"/>
              <a:t>All India National Congress was founded in 1885, by </a:t>
            </a:r>
          </a:p>
          <a:p>
            <a:pPr marL="0" indent="0">
              <a:buNone/>
            </a:pPr>
            <a:r>
              <a:rPr lang="en-US" dirty="0"/>
              <a:t>         A.O Hume (Retired British Bureaucrat)</a:t>
            </a:r>
          </a:p>
          <a:p>
            <a:r>
              <a:rPr lang="en-US" dirty="0"/>
              <a:t>He asked Muslims not to join the congress because </a:t>
            </a:r>
          </a:p>
          <a:p>
            <a:pPr marL="0" indent="0">
              <a:buNone/>
            </a:pPr>
            <a:r>
              <a:rPr lang="en-US" dirty="0"/>
              <a:t>     the Muslims should focus on education rather </a:t>
            </a:r>
          </a:p>
          <a:p>
            <a:pPr marL="0" indent="0">
              <a:buNone/>
            </a:pPr>
            <a:r>
              <a:rPr lang="en-US" dirty="0"/>
              <a:t>     than politics, Muslims lack political awareness</a:t>
            </a:r>
          </a:p>
        </p:txBody>
      </p:sp>
    </p:spTree>
    <p:extLst>
      <p:ext uri="{BB962C8B-B14F-4D97-AF65-F5344CB8AC3E}">
        <p14:creationId xmlns:p14="http://schemas.microsoft.com/office/powerpoint/2010/main" val="3255318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And let us suppose first of all that we have universal suffrage, as in America, and that everybody, </a:t>
            </a:r>
            <a:r>
              <a:rPr lang="en-US" i="1" dirty="0" err="1"/>
              <a:t>chamars</a:t>
            </a:r>
            <a:r>
              <a:rPr lang="en-US" dirty="0"/>
              <a:t> and all, have votes. And first suppose that all the Mohammedan electors vote for a Mohammedan member and all Hindu electors vote for a Hindu member. . . there will be four votes for the Hindu to every one vote for the Mohammedan. And now how can the Mohammedan guard his interests?. . . In the second place, suppose that the electorate be limited. . . Suppose, for example, that an income of </a:t>
            </a:r>
            <a:r>
              <a:rPr lang="en-US" dirty="0" err="1"/>
              <a:t>Rs</a:t>
            </a:r>
            <a:r>
              <a:rPr lang="en-US" dirty="0"/>
              <a:t>. 5,000 a year be fixed on, how many Mohammedans will there be? . . . In the normal case no single Mohammedan will secure a seat in the Viceroy's Council. The whole Council will consist of </a:t>
            </a:r>
            <a:r>
              <a:rPr lang="en-US" dirty="0" err="1"/>
              <a:t>Babu</a:t>
            </a:r>
            <a:r>
              <a:rPr lang="en-US" dirty="0"/>
              <a:t> so-and-so </a:t>
            </a:r>
            <a:r>
              <a:rPr lang="en-US" dirty="0" err="1"/>
              <a:t>Chuckerbutty</a:t>
            </a:r>
            <a:r>
              <a:rPr lang="en-US" dirty="0"/>
              <a:t>.(</a:t>
            </a:r>
            <a:r>
              <a:rPr lang="en-US" i="1" dirty="0"/>
              <a:t>Laughter</a:t>
            </a:r>
            <a:r>
              <a:rPr lang="en-US" dirty="0"/>
              <a:t>) . . . Now, we will suppose a third kind of election. Suppose a rule to be made that a suitable number of Mohammedans and a suitable number of Hindus are to be chosen. . . Of necessity proportion to total population will be taken. So there will be one member for us to every four for the Hindus. . . Then they will have four votes and we shall have one. </a:t>
            </a:r>
          </a:p>
        </p:txBody>
      </p:sp>
    </p:spTree>
    <p:extLst>
      <p:ext uri="{BB962C8B-B14F-4D97-AF65-F5344CB8AC3E}">
        <p14:creationId xmlns:p14="http://schemas.microsoft.com/office/powerpoint/2010/main" val="2606255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Sir Syed died in 1898.</a:t>
            </a:r>
          </a:p>
        </p:txBody>
      </p:sp>
    </p:spTree>
    <p:extLst>
      <p:ext uri="{BB962C8B-B14F-4D97-AF65-F5344CB8AC3E}">
        <p14:creationId xmlns:p14="http://schemas.microsoft.com/office/powerpoint/2010/main" val="3412373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1349</Words>
  <Application>Microsoft Office PowerPoint</Application>
  <PresentationFormat>Widescreen</PresentationFormat>
  <Paragraphs>62</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 Sir Syed Ahmed Khan </vt:lpstr>
      <vt:lpstr>PowerPoint Presentation</vt:lpstr>
      <vt:lpstr>        Asbab e Baghawat e Hind</vt:lpstr>
      <vt:lpstr>What was the immediate concern for sir Syed about the Muslims after the war</vt:lpstr>
      <vt:lpstr>Schools/Society set-up by Sir Syed </vt:lpstr>
      <vt:lpstr>Books/ Journals</vt:lpstr>
      <vt:lpstr>PowerPoint Presentation</vt:lpstr>
      <vt:lpstr>Urdu-Hindu Controversy 1867</vt:lpstr>
      <vt:lpstr>Sir Syed’s reaction</vt:lpstr>
      <vt:lpstr>PowerPoint Presentation</vt:lpstr>
      <vt:lpstr>Sir Syed on the attitude of the Hindu members of the Scientific society</vt:lpstr>
      <vt:lpstr>PowerPoint Presentation</vt:lpstr>
      <vt:lpstr>PowerPoint Presentation</vt:lpstr>
      <vt:lpstr>Sir Syed on All India National Congress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Sir Syed Ahmed Khan </dc:title>
  <dc:creator>tahir sial</dc:creator>
  <cp:lastModifiedBy>tahir sial</cp:lastModifiedBy>
  <cp:revision>2</cp:revision>
  <dcterms:created xsi:type="dcterms:W3CDTF">2020-04-08T05:59:36Z</dcterms:created>
  <dcterms:modified xsi:type="dcterms:W3CDTF">2020-10-15T06:07:35Z</dcterms:modified>
</cp:coreProperties>
</file>