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1" r:id="rId5"/>
    <p:sldId id="262" r:id="rId6"/>
    <p:sldId id="263" r:id="rId7"/>
    <p:sldId id="264" r:id="rId8"/>
    <p:sldId id="265"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9" autoAdjust="0"/>
    <p:restoredTop sz="94660"/>
  </p:normalViewPr>
  <p:slideViewPr>
    <p:cSldViewPr snapToGrid="0">
      <p:cViewPr varScale="1">
        <p:scale>
          <a:sx n="69" d="100"/>
          <a:sy n="69" d="100"/>
        </p:scale>
        <p:origin x="514" y="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D42550D-8D95-4159-AF68-1B10E8107655}" type="datetimeFigureOut">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CD6A9C-6942-4350-B96F-754756AEC1AC}" type="slidenum">
              <a:rPr lang="en-US" smtClean="0"/>
              <a:t>‹#›</a:t>
            </a:fld>
            <a:endParaRPr lang="en-US"/>
          </a:p>
        </p:txBody>
      </p:sp>
    </p:spTree>
    <p:extLst>
      <p:ext uri="{BB962C8B-B14F-4D97-AF65-F5344CB8AC3E}">
        <p14:creationId xmlns:p14="http://schemas.microsoft.com/office/powerpoint/2010/main" val="4012465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D42550D-8D95-4159-AF68-1B10E8107655}" type="datetimeFigureOut">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CD6A9C-6942-4350-B96F-754756AEC1AC}" type="slidenum">
              <a:rPr lang="en-US" smtClean="0"/>
              <a:t>‹#›</a:t>
            </a:fld>
            <a:endParaRPr lang="en-US"/>
          </a:p>
        </p:txBody>
      </p:sp>
    </p:spTree>
    <p:extLst>
      <p:ext uri="{BB962C8B-B14F-4D97-AF65-F5344CB8AC3E}">
        <p14:creationId xmlns:p14="http://schemas.microsoft.com/office/powerpoint/2010/main" val="1441599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D42550D-8D95-4159-AF68-1B10E8107655}" type="datetimeFigureOut">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CD6A9C-6942-4350-B96F-754756AEC1AC}" type="slidenum">
              <a:rPr lang="en-US" smtClean="0"/>
              <a:t>‹#›</a:t>
            </a:fld>
            <a:endParaRPr lang="en-US"/>
          </a:p>
        </p:txBody>
      </p:sp>
    </p:spTree>
    <p:extLst>
      <p:ext uri="{BB962C8B-B14F-4D97-AF65-F5344CB8AC3E}">
        <p14:creationId xmlns:p14="http://schemas.microsoft.com/office/powerpoint/2010/main" val="3911916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D42550D-8D95-4159-AF68-1B10E8107655}" type="datetimeFigureOut">
              <a:rPr lang="en-US" smtClean="0"/>
              <a:t>1/31/2022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CD6A9C-6942-4350-B96F-754756AEC1AC}" type="slidenum">
              <a:rPr lang="en-US" smtClean="0"/>
              <a:t>‹#›</a:t>
            </a:fld>
            <a:endParaRPr lang="en-US"/>
          </a:p>
        </p:txBody>
      </p:sp>
    </p:spTree>
    <p:extLst>
      <p:ext uri="{BB962C8B-B14F-4D97-AF65-F5344CB8AC3E}">
        <p14:creationId xmlns:p14="http://schemas.microsoft.com/office/powerpoint/2010/main" val="1659889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D42550D-8D95-4159-AF68-1B10E8107655}" type="datetimeFigureOut">
              <a:rPr lang="en-US" smtClean="0"/>
              <a:t>1/31/2022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CD6A9C-6942-4350-B96F-754756AEC1AC}" type="slidenum">
              <a:rPr lang="en-US" smtClean="0"/>
              <a:t>‹#›</a:t>
            </a:fld>
            <a:endParaRPr lang="en-US"/>
          </a:p>
        </p:txBody>
      </p:sp>
    </p:spTree>
    <p:extLst>
      <p:ext uri="{BB962C8B-B14F-4D97-AF65-F5344CB8AC3E}">
        <p14:creationId xmlns:p14="http://schemas.microsoft.com/office/powerpoint/2010/main" val="2738784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D42550D-8D95-4159-AF68-1B10E8107655}" type="datetimeFigureOut">
              <a:rPr lang="en-US" smtClean="0"/>
              <a:t>1/31/2022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CD6A9C-6942-4350-B96F-754756AEC1AC}" type="slidenum">
              <a:rPr lang="en-US" smtClean="0"/>
              <a:t>‹#›</a:t>
            </a:fld>
            <a:endParaRPr lang="en-US"/>
          </a:p>
        </p:txBody>
      </p:sp>
    </p:spTree>
    <p:extLst>
      <p:ext uri="{BB962C8B-B14F-4D97-AF65-F5344CB8AC3E}">
        <p14:creationId xmlns:p14="http://schemas.microsoft.com/office/powerpoint/2010/main" val="3346112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42550D-8D95-4159-AF68-1B10E8107655}" type="datetimeFigureOut">
              <a:rPr lang="en-US" smtClean="0"/>
              <a:t>1/31/2022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CD6A9C-6942-4350-B96F-754756AEC1AC}" type="slidenum">
              <a:rPr lang="en-US" smtClean="0"/>
              <a:t>‹#›</a:t>
            </a:fld>
            <a:endParaRPr lang="en-US"/>
          </a:p>
        </p:txBody>
      </p:sp>
    </p:spTree>
    <p:extLst>
      <p:ext uri="{BB962C8B-B14F-4D97-AF65-F5344CB8AC3E}">
        <p14:creationId xmlns:p14="http://schemas.microsoft.com/office/powerpoint/2010/main" val="1865645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42550D-8D95-4159-AF68-1B10E8107655}" type="datetimeFigureOut">
              <a:rPr lang="en-US" smtClean="0"/>
              <a:t>1/31/2022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CD6A9C-6942-4350-B96F-754756AEC1AC}" type="slidenum">
              <a:rPr lang="en-US" smtClean="0"/>
              <a:t>‹#›</a:t>
            </a:fld>
            <a:endParaRPr lang="en-US"/>
          </a:p>
        </p:txBody>
      </p:sp>
    </p:spTree>
    <p:extLst>
      <p:ext uri="{BB962C8B-B14F-4D97-AF65-F5344CB8AC3E}">
        <p14:creationId xmlns:p14="http://schemas.microsoft.com/office/powerpoint/2010/main" val="3137229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42550D-8D95-4159-AF68-1B10E8107655}" type="datetimeFigureOut">
              <a:rPr lang="en-US" smtClean="0"/>
              <a:t>1/31/2022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CD6A9C-6942-4350-B96F-754756AEC1AC}" type="slidenum">
              <a:rPr lang="en-US" smtClean="0"/>
              <a:t>‹#›</a:t>
            </a:fld>
            <a:endParaRPr lang="en-US"/>
          </a:p>
        </p:txBody>
      </p:sp>
    </p:spTree>
    <p:extLst>
      <p:ext uri="{BB962C8B-B14F-4D97-AF65-F5344CB8AC3E}">
        <p14:creationId xmlns:p14="http://schemas.microsoft.com/office/powerpoint/2010/main" val="564705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D42550D-8D95-4159-AF68-1B10E8107655}" type="datetimeFigureOut">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CD6A9C-6942-4350-B96F-754756AEC1AC}" type="slidenum">
              <a:rPr lang="en-US" smtClean="0"/>
              <a:t>‹#›</a:t>
            </a:fld>
            <a:endParaRPr lang="en-US"/>
          </a:p>
        </p:txBody>
      </p:sp>
    </p:spTree>
    <p:extLst>
      <p:ext uri="{BB962C8B-B14F-4D97-AF65-F5344CB8AC3E}">
        <p14:creationId xmlns:p14="http://schemas.microsoft.com/office/powerpoint/2010/main" val="2655446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D42550D-8D95-4159-AF68-1B10E8107655}" type="datetimeFigureOut">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CD6A9C-6942-4350-B96F-754756AEC1AC}" type="slidenum">
              <a:rPr lang="en-US" smtClean="0"/>
              <a:t>‹#›</a:t>
            </a:fld>
            <a:endParaRPr lang="en-US"/>
          </a:p>
        </p:txBody>
      </p:sp>
    </p:spTree>
    <p:extLst>
      <p:ext uri="{BB962C8B-B14F-4D97-AF65-F5344CB8AC3E}">
        <p14:creationId xmlns:p14="http://schemas.microsoft.com/office/powerpoint/2010/main" val="2917158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42550D-8D95-4159-AF68-1B10E8107655}" type="datetimeFigureOut">
              <a:rPr lang="en-US" smtClean="0"/>
              <a:t>1/31/2022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CD6A9C-6942-4350-B96F-754756AEC1AC}" type="slidenum">
              <a:rPr lang="en-US" smtClean="0"/>
              <a:t>‹#›</a:t>
            </a:fld>
            <a:endParaRPr lang="en-US"/>
          </a:p>
        </p:txBody>
      </p:sp>
    </p:spTree>
    <p:extLst>
      <p:ext uri="{BB962C8B-B14F-4D97-AF65-F5344CB8AC3E}">
        <p14:creationId xmlns:p14="http://schemas.microsoft.com/office/powerpoint/2010/main" val="3359213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5400" b="1" u="sng" dirty="0" smtClean="0">
                <a:solidFill>
                  <a:schemeClr val="accent1">
                    <a:lumMod val="75000"/>
                  </a:schemeClr>
                </a:solidFill>
                <a:latin typeface="Algerian" panose="04020705040A02060702" pitchFamily="82" charset="0"/>
              </a:rPr>
              <a:t>PAK-INDIA WATER CONFLICT</a:t>
            </a:r>
            <a:r>
              <a:rPr lang="en-US" sz="5400" b="1" u="sng" dirty="0" smtClean="0">
                <a:solidFill>
                  <a:schemeClr val="accent1">
                    <a:lumMod val="75000"/>
                  </a:schemeClr>
                </a:solidFill>
              </a:rPr>
              <a:t/>
            </a:r>
            <a:br>
              <a:rPr lang="en-US" sz="5400" b="1" u="sng" dirty="0" smtClean="0">
                <a:solidFill>
                  <a:schemeClr val="accent1">
                    <a:lumMod val="75000"/>
                  </a:schemeClr>
                </a:solidFill>
              </a:rPr>
            </a:br>
            <a:r>
              <a:rPr lang="en-US" sz="5400" b="1" u="sng" dirty="0" smtClean="0">
                <a:solidFill>
                  <a:schemeClr val="accent1">
                    <a:lumMod val="75000"/>
                  </a:schemeClr>
                </a:solidFill>
              </a:rPr>
              <a:t/>
            </a:r>
            <a:br>
              <a:rPr lang="en-US" sz="5400" b="1" u="sng" dirty="0" smtClean="0">
                <a:solidFill>
                  <a:schemeClr val="accent1">
                    <a:lumMod val="75000"/>
                  </a:schemeClr>
                </a:solidFill>
              </a:rPr>
            </a:br>
            <a:r>
              <a:rPr lang="en-US" sz="2000" b="1" u="sng" dirty="0" smtClean="0">
                <a:solidFill>
                  <a:schemeClr val="accent1">
                    <a:lumMod val="75000"/>
                  </a:schemeClr>
                </a:solidFill>
              </a:rPr>
              <a:t>SUBMMITED TO MA’AM ZAHIDA</a:t>
            </a:r>
            <a:endParaRPr lang="en-US" sz="5400" b="1" u="sng" dirty="0">
              <a:solidFill>
                <a:schemeClr val="accent1">
                  <a:lumMod val="75000"/>
                </a:schemeClr>
              </a:solidFill>
            </a:endParaRPr>
          </a:p>
        </p:txBody>
      </p:sp>
      <p:sp>
        <p:nvSpPr>
          <p:cNvPr id="3" name="Subtitle 2"/>
          <p:cNvSpPr>
            <a:spLocks noGrp="1"/>
          </p:cNvSpPr>
          <p:nvPr>
            <p:ph type="subTitle" idx="1"/>
          </p:nvPr>
        </p:nvSpPr>
        <p:spPr/>
        <p:txBody>
          <a:bodyPr>
            <a:normAutofit fontScale="92500" lnSpcReduction="20000"/>
          </a:bodyPr>
          <a:lstStyle/>
          <a:p>
            <a:r>
              <a:rPr lang="en-US" sz="2000" dirty="0" smtClean="0">
                <a:solidFill>
                  <a:schemeClr val="accent2">
                    <a:lumMod val="75000"/>
                  </a:schemeClr>
                </a:solidFill>
              </a:rPr>
              <a:t>Project by:</a:t>
            </a:r>
          </a:p>
          <a:p>
            <a:r>
              <a:rPr lang="en-US" sz="2000" dirty="0" smtClean="0">
                <a:solidFill>
                  <a:schemeClr val="accent2">
                    <a:lumMod val="75000"/>
                  </a:schemeClr>
                </a:solidFill>
              </a:rPr>
              <a:t>Wajih </a:t>
            </a:r>
            <a:r>
              <a:rPr lang="en-US" sz="2000" dirty="0" err="1" smtClean="0">
                <a:solidFill>
                  <a:schemeClr val="accent2">
                    <a:lumMod val="75000"/>
                  </a:schemeClr>
                </a:solidFill>
              </a:rPr>
              <a:t>Ullah</a:t>
            </a:r>
            <a:r>
              <a:rPr lang="en-US" sz="2000" dirty="0" smtClean="0">
                <a:solidFill>
                  <a:schemeClr val="accent2">
                    <a:lumMod val="75000"/>
                  </a:schemeClr>
                </a:solidFill>
              </a:rPr>
              <a:t> Khan[21-CE-027]</a:t>
            </a:r>
          </a:p>
          <a:p>
            <a:r>
              <a:rPr lang="en-US" sz="2000" dirty="0" err="1" smtClean="0">
                <a:solidFill>
                  <a:schemeClr val="accent2">
                    <a:lumMod val="75000"/>
                  </a:schemeClr>
                </a:solidFill>
              </a:rPr>
              <a:t>Yawar</a:t>
            </a:r>
            <a:r>
              <a:rPr lang="en-US" sz="2000" dirty="0" smtClean="0">
                <a:solidFill>
                  <a:schemeClr val="accent2">
                    <a:lumMod val="75000"/>
                  </a:schemeClr>
                </a:solidFill>
              </a:rPr>
              <a:t> Ali Malik[21-CE-021]</a:t>
            </a:r>
          </a:p>
          <a:p>
            <a:r>
              <a:rPr lang="en-US" sz="2000" dirty="0" smtClean="0">
                <a:solidFill>
                  <a:schemeClr val="accent2">
                    <a:lumMod val="75000"/>
                  </a:schemeClr>
                </a:solidFill>
              </a:rPr>
              <a:t>M. </a:t>
            </a:r>
            <a:r>
              <a:rPr lang="en-US" sz="2000" dirty="0" err="1" smtClean="0">
                <a:solidFill>
                  <a:schemeClr val="accent2">
                    <a:lumMod val="75000"/>
                  </a:schemeClr>
                </a:solidFill>
              </a:rPr>
              <a:t>Ibthesam</a:t>
            </a:r>
            <a:r>
              <a:rPr lang="en-US" sz="2000" dirty="0" smtClean="0">
                <a:solidFill>
                  <a:schemeClr val="accent2">
                    <a:lumMod val="75000"/>
                  </a:schemeClr>
                </a:solidFill>
              </a:rPr>
              <a:t> Khan[21-CE-020]</a:t>
            </a:r>
          </a:p>
          <a:p>
            <a:r>
              <a:rPr lang="en-US" sz="2000" dirty="0" err="1" smtClean="0">
                <a:solidFill>
                  <a:schemeClr val="accent2">
                    <a:lumMod val="75000"/>
                  </a:schemeClr>
                </a:solidFill>
              </a:rPr>
              <a:t>Taimoor</a:t>
            </a:r>
            <a:r>
              <a:rPr lang="en-US" sz="2000" dirty="0" smtClean="0">
                <a:solidFill>
                  <a:schemeClr val="accent2">
                    <a:lumMod val="75000"/>
                  </a:schemeClr>
                </a:solidFill>
              </a:rPr>
              <a:t> Khan[21-CE-035]</a:t>
            </a:r>
            <a:r>
              <a:rPr lang="en-US" sz="2000" dirty="0" smtClean="0"/>
              <a:t> </a:t>
            </a:r>
            <a:endParaRPr lang="en-US" sz="2000" dirty="0"/>
          </a:p>
        </p:txBody>
      </p:sp>
    </p:spTree>
    <p:extLst>
      <p:ext uri="{BB962C8B-B14F-4D97-AF65-F5344CB8AC3E}">
        <p14:creationId xmlns:p14="http://schemas.microsoft.com/office/powerpoint/2010/main" val="1706342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sz="5400" dirty="0" smtClean="0">
                <a:solidFill>
                  <a:schemeClr val="accent6">
                    <a:lumMod val="75000"/>
                  </a:schemeClr>
                </a:solidFill>
                <a:latin typeface="Algerian" panose="04020705040A02060702" pitchFamily="82" charset="0"/>
              </a:rPr>
              <a:t>PROSPECT</a:t>
            </a:r>
            <a:r>
              <a:rPr lang="en-US" dirty="0" smtClean="0"/>
              <a:t> </a:t>
            </a:r>
            <a:endParaRPr lang="en-US"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sz="3200" dirty="0" smtClean="0">
                <a:solidFill>
                  <a:schemeClr val="accent1">
                    <a:lumMod val="75000"/>
                  </a:schemeClr>
                </a:solidFill>
                <a:latin typeface="Algerian" panose="04020705040A02060702" pitchFamily="82" charset="0"/>
              </a:rPr>
              <a:t>BACKGROUND</a:t>
            </a:r>
          </a:p>
          <a:p>
            <a:pPr marL="514350" indent="-514350">
              <a:buFont typeface="+mj-lt"/>
              <a:buAutoNum type="arabicPeriod"/>
            </a:pPr>
            <a:r>
              <a:rPr lang="en-US" sz="3200" dirty="0" smtClean="0">
                <a:solidFill>
                  <a:schemeClr val="accent1">
                    <a:lumMod val="75000"/>
                  </a:schemeClr>
                </a:solidFill>
                <a:latin typeface="Algerian" panose="04020705040A02060702" pitchFamily="82" charset="0"/>
              </a:rPr>
              <a:t>ROLE OF WORLD BANK</a:t>
            </a:r>
          </a:p>
          <a:p>
            <a:pPr marL="514350" indent="-514350">
              <a:buFont typeface="+mj-lt"/>
              <a:buAutoNum type="arabicPeriod"/>
            </a:pPr>
            <a:r>
              <a:rPr lang="en-US" sz="3200" dirty="0" smtClean="0">
                <a:solidFill>
                  <a:schemeClr val="accent1">
                    <a:lumMod val="75000"/>
                  </a:schemeClr>
                </a:solidFill>
                <a:latin typeface="Algerian" panose="04020705040A02060702" pitchFamily="82" charset="0"/>
              </a:rPr>
              <a:t>INDUS WATER TREATY</a:t>
            </a:r>
          </a:p>
          <a:p>
            <a:pPr marL="514350" indent="-514350">
              <a:buFont typeface="+mj-lt"/>
              <a:buAutoNum type="arabicPeriod"/>
            </a:pPr>
            <a:r>
              <a:rPr lang="en-US" sz="3200" dirty="0" smtClean="0">
                <a:solidFill>
                  <a:schemeClr val="accent1">
                    <a:lumMod val="75000"/>
                  </a:schemeClr>
                </a:solidFill>
                <a:latin typeface="Algerian" panose="04020705040A02060702" pitchFamily="82" charset="0"/>
              </a:rPr>
              <a:t>CLAUSES OF TREATY</a:t>
            </a:r>
          </a:p>
          <a:p>
            <a:pPr marL="514350" indent="-514350">
              <a:buFont typeface="+mj-lt"/>
              <a:buAutoNum type="arabicPeriod"/>
            </a:pPr>
            <a:r>
              <a:rPr lang="en-US" dirty="0" smtClean="0">
                <a:solidFill>
                  <a:schemeClr val="accent1">
                    <a:lumMod val="75000"/>
                  </a:schemeClr>
                </a:solidFill>
                <a:latin typeface="Algerian" panose="04020705040A02060702" pitchFamily="82" charset="0"/>
              </a:rPr>
              <a:t>CONCLUSION</a:t>
            </a:r>
            <a:endParaRPr lang="en-US" dirty="0">
              <a:solidFill>
                <a:schemeClr val="accent1">
                  <a:lumMod val="75000"/>
                </a:schemeClr>
              </a:solidFill>
              <a:latin typeface="Algerian" panose="04020705040A02060702" pitchFamily="82" charset="0"/>
            </a:endParaRPr>
          </a:p>
        </p:txBody>
      </p:sp>
    </p:spTree>
    <p:extLst>
      <p:ext uri="{BB962C8B-B14F-4D97-AF65-F5344CB8AC3E}">
        <p14:creationId xmlns:p14="http://schemas.microsoft.com/office/powerpoint/2010/main" val="1810894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dirty="0" smtClean="0">
                <a:latin typeface="Arial Black" panose="020B0A04020102020204" pitchFamily="34" charset="0"/>
              </a:rPr>
              <a:t>BACKGROUND</a:t>
            </a:r>
            <a:r>
              <a:rPr lang="en-US" dirty="0" smtClean="0"/>
              <a:t> </a:t>
            </a:r>
            <a:endParaRPr lang="en-US" dirty="0"/>
          </a:p>
        </p:txBody>
      </p:sp>
      <p:sp>
        <p:nvSpPr>
          <p:cNvPr id="3" name="Content Placeholder 2"/>
          <p:cNvSpPr>
            <a:spLocks noGrp="1"/>
          </p:cNvSpPr>
          <p:nvPr>
            <p:ph idx="1"/>
          </p:nvPr>
        </p:nvSpPr>
        <p:spPr/>
        <p:txBody>
          <a:bodyPr/>
          <a:lstStyle/>
          <a:p>
            <a:endParaRPr lang="en-US" dirty="0" smtClean="0"/>
          </a:p>
          <a:p>
            <a:r>
              <a:rPr lang="en-US" dirty="0" smtClean="0"/>
              <a:t>Was first acknowledged on April 1, 1948 after partition of Punjab.</a:t>
            </a:r>
          </a:p>
          <a:p>
            <a:r>
              <a:rPr lang="en-US" dirty="0" smtClean="0"/>
              <a:t>Cut across the supply of rivers and canals.</a:t>
            </a:r>
          </a:p>
          <a:p>
            <a:r>
              <a:rPr lang="en-US" dirty="0" smtClean="0"/>
              <a:t>India cutoff flow of canal water to west of Punjab(Currently Punjab).</a:t>
            </a:r>
          </a:p>
          <a:p>
            <a:r>
              <a:rPr lang="en-US" dirty="0" smtClean="0"/>
              <a:t>Stopped the water of the river Ravi and river Sutlej by India.</a:t>
            </a:r>
          </a:p>
          <a:p>
            <a:r>
              <a:rPr lang="en-US" dirty="0" smtClean="0"/>
              <a:t>India wanted to damage Pakistan economically and the strongest factor they had was by blocking the water supply of Pakistan which lead from India.</a:t>
            </a:r>
          </a:p>
          <a:p>
            <a:endParaRPr lang="en-US" dirty="0"/>
          </a:p>
          <a:p>
            <a:endParaRPr lang="en-US" dirty="0" smtClean="0"/>
          </a:p>
        </p:txBody>
      </p:sp>
    </p:spTree>
    <p:extLst>
      <p:ext uri="{BB962C8B-B14F-4D97-AF65-F5344CB8AC3E}">
        <p14:creationId xmlns:p14="http://schemas.microsoft.com/office/powerpoint/2010/main" val="4146629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dirty="0" smtClean="0"/>
              <a:t>        </a:t>
            </a:r>
            <a:r>
              <a:rPr lang="en-US" dirty="0" smtClean="0">
                <a:latin typeface="Arial Black" panose="020B0A04020102020204" pitchFamily="34" charset="0"/>
              </a:rPr>
              <a:t>BACKGROUND(CONTINUED)</a:t>
            </a:r>
            <a:endParaRPr lang="en-US" dirty="0">
              <a:latin typeface="Arial Black" panose="020B0A04020102020204" pitchFamily="34" charset="0"/>
            </a:endParaRPr>
          </a:p>
        </p:txBody>
      </p:sp>
      <p:sp>
        <p:nvSpPr>
          <p:cNvPr id="3" name="Content Placeholder 2"/>
          <p:cNvSpPr>
            <a:spLocks noGrp="1"/>
          </p:cNvSpPr>
          <p:nvPr>
            <p:ph idx="1"/>
          </p:nvPr>
        </p:nvSpPr>
        <p:spPr/>
        <p:txBody>
          <a:bodyPr/>
          <a:lstStyle/>
          <a:p>
            <a:r>
              <a:rPr lang="en-US" dirty="0" smtClean="0"/>
              <a:t>It effected Pakistan very much as Pakistan is an agricultural country it was a great blow to Pakistan.</a:t>
            </a:r>
          </a:p>
          <a:p>
            <a:endParaRPr lang="en-US" dirty="0" smtClean="0"/>
          </a:p>
          <a:p>
            <a:r>
              <a:rPr lang="en-US" dirty="0" smtClean="0"/>
              <a:t>Pakistan’s agriculture entirely depends on canals drawn from Indus river as rain fall is undependable.</a:t>
            </a:r>
          </a:p>
          <a:p>
            <a:endParaRPr lang="en-US" dirty="0" smtClean="0"/>
          </a:p>
          <a:p>
            <a:r>
              <a:rPr lang="en-US" dirty="0" smtClean="0"/>
              <a:t>Pakistan also purchased water from India to avoid economic disaster. </a:t>
            </a:r>
            <a:endParaRPr lang="en-US" dirty="0"/>
          </a:p>
        </p:txBody>
      </p:sp>
    </p:spTree>
    <p:extLst>
      <p:ext uri="{BB962C8B-B14F-4D97-AF65-F5344CB8AC3E}">
        <p14:creationId xmlns:p14="http://schemas.microsoft.com/office/powerpoint/2010/main" val="2547324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anose="020B0A04020102020204" pitchFamily="34" charset="0"/>
              </a:rPr>
              <a:t>	  ROLE OF WORLD BANK</a:t>
            </a:r>
            <a:endParaRPr lang="en-US" dirty="0">
              <a:latin typeface="Arial Black" panose="020B0A04020102020204" pitchFamily="34" charset="0"/>
            </a:endParaRPr>
          </a:p>
        </p:txBody>
      </p:sp>
      <p:sp>
        <p:nvSpPr>
          <p:cNvPr id="3" name="Content Placeholder 2"/>
          <p:cNvSpPr>
            <a:spLocks noGrp="1"/>
          </p:cNvSpPr>
          <p:nvPr>
            <p:ph idx="1"/>
          </p:nvPr>
        </p:nvSpPr>
        <p:spPr/>
        <p:txBody>
          <a:bodyPr>
            <a:normAutofit/>
          </a:bodyPr>
          <a:lstStyle/>
          <a:p>
            <a:r>
              <a:rPr lang="en-US" dirty="0" smtClean="0"/>
              <a:t>Critical disputes resolution was the intervention of the World Bank.</a:t>
            </a:r>
          </a:p>
          <a:p>
            <a:endParaRPr lang="en-US" dirty="0" smtClean="0"/>
          </a:p>
          <a:p>
            <a:r>
              <a:rPr lang="en-US" dirty="0" smtClean="0"/>
              <a:t>Both countries had applied to World Bank for development loan but the World Bank decided to reject both the loans of Pakistan and India and gave 3 conditions for the approval of the loan.</a:t>
            </a:r>
          </a:p>
          <a:p>
            <a:pPr marL="0" indent="0">
              <a:buNone/>
            </a:pPr>
            <a:endParaRPr lang="en-US" dirty="0" smtClean="0"/>
          </a:p>
          <a:p>
            <a:r>
              <a:rPr lang="en-US" sz="2000" b="1" u="sng" dirty="0" smtClean="0"/>
              <a:t>1) </a:t>
            </a:r>
            <a:r>
              <a:rPr lang="en-US" sz="2000" b="1" u="sng" dirty="0"/>
              <a:t>I</a:t>
            </a:r>
            <a:r>
              <a:rPr lang="en-US" sz="2000" b="1" u="sng" dirty="0" smtClean="0"/>
              <a:t>ndus basin had enough water for both countries.</a:t>
            </a:r>
          </a:p>
          <a:p>
            <a:r>
              <a:rPr lang="en-US" sz="2000" b="1" u="sng" dirty="0" smtClean="0"/>
              <a:t>2) The Basin was treated as a single unit implying all the rivers.</a:t>
            </a:r>
          </a:p>
          <a:p>
            <a:r>
              <a:rPr lang="en-US" sz="2000" b="1" u="sng" dirty="0" smtClean="0"/>
              <a:t>3) Past grievances put aside and technical rather than a political focus gained.</a:t>
            </a:r>
            <a:endParaRPr lang="en-US" sz="2000" b="1" u="sng" dirty="0"/>
          </a:p>
        </p:txBody>
      </p:sp>
    </p:spTree>
    <p:extLst>
      <p:ext uri="{BB962C8B-B14F-4D97-AF65-F5344CB8AC3E}">
        <p14:creationId xmlns:p14="http://schemas.microsoft.com/office/powerpoint/2010/main" val="1341879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anose="020B0A04020102020204" pitchFamily="34" charset="0"/>
              </a:rPr>
              <a:t> 	  INDUS WATER TREATY</a:t>
            </a:r>
            <a:endParaRPr lang="en-US" dirty="0"/>
          </a:p>
        </p:txBody>
      </p:sp>
      <p:sp>
        <p:nvSpPr>
          <p:cNvPr id="3" name="Content Placeholder 2"/>
          <p:cNvSpPr>
            <a:spLocks noGrp="1"/>
          </p:cNvSpPr>
          <p:nvPr>
            <p:ph idx="1"/>
          </p:nvPr>
        </p:nvSpPr>
        <p:spPr/>
        <p:txBody>
          <a:bodyPr>
            <a:normAutofit/>
          </a:bodyPr>
          <a:lstStyle/>
          <a:p>
            <a:r>
              <a:rPr lang="en-US" sz="2400" dirty="0" smtClean="0"/>
              <a:t>The Indus waters treaty is a water sharing treaty between the republic of India and Islamic Republic Of Pakistan.</a:t>
            </a:r>
          </a:p>
          <a:p>
            <a:r>
              <a:rPr lang="en-US" sz="2400" dirty="0" smtClean="0"/>
              <a:t>The treaty was a result of Pakistan’s fear that since the source rivers of the Indus basin were in India.</a:t>
            </a:r>
          </a:p>
          <a:p>
            <a:r>
              <a:rPr lang="en-US" sz="2400" dirty="0" smtClean="0"/>
              <a:t>It could potentially create droughts and famines in Pakistan, especially at the times of war.</a:t>
            </a:r>
          </a:p>
          <a:p>
            <a:r>
              <a:rPr lang="en-US" sz="2400" dirty="0" smtClean="0"/>
              <a:t>The treaty was signed in Karachi on September 19, 1960 by Indian PM </a:t>
            </a:r>
            <a:r>
              <a:rPr lang="en-US" sz="2400" dirty="0" err="1" smtClean="0"/>
              <a:t>Jawahralal</a:t>
            </a:r>
            <a:r>
              <a:rPr lang="en-US" sz="2400" dirty="0" smtClean="0"/>
              <a:t> Nehru and President of Pakistan M. </a:t>
            </a:r>
            <a:r>
              <a:rPr lang="en-US" sz="2400" dirty="0" err="1" smtClean="0"/>
              <a:t>Ayub</a:t>
            </a:r>
            <a:r>
              <a:rPr lang="en-US" sz="2400" dirty="0" smtClean="0"/>
              <a:t> Khan. </a:t>
            </a:r>
            <a:endParaRPr lang="en-US" sz="2400" dirty="0"/>
          </a:p>
        </p:txBody>
      </p:sp>
    </p:spTree>
    <p:extLst>
      <p:ext uri="{BB962C8B-B14F-4D97-AF65-F5344CB8AC3E}">
        <p14:creationId xmlns:p14="http://schemas.microsoft.com/office/powerpoint/2010/main" val="2463881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anose="020B0A04020102020204" pitchFamily="34" charset="0"/>
              </a:rPr>
              <a:t>         Clauses of Treaty</a:t>
            </a:r>
            <a:endParaRPr lang="en-US" dirty="0">
              <a:latin typeface="Arial Black" panose="020B0A04020102020204" pitchFamily="34" charset="0"/>
            </a:endParaRPr>
          </a:p>
        </p:txBody>
      </p:sp>
      <p:sp>
        <p:nvSpPr>
          <p:cNvPr id="3" name="Content Placeholder 2"/>
          <p:cNvSpPr>
            <a:spLocks noGrp="1"/>
          </p:cNvSpPr>
          <p:nvPr>
            <p:ph idx="1"/>
          </p:nvPr>
        </p:nvSpPr>
        <p:spPr/>
        <p:txBody>
          <a:bodyPr>
            <a:normAutofit/>
          </a:bodyPr>
          <a:lstStyle/>
          <a:p>
            <a:r>
              <a:rPr lang="en-US" sz="2400" dirty="0" smtClean="0"/>
              <a:t>The Indus System of rivers compromises three western rivers the Indus, Jhelum and Chenab and three eastern rivers – Sutlej, Beas and Ravi.</a:t>
            </a:r>
          </a:p>
          <a:p>
            <a:r>
              <a:rPr lang="en-US" sz="2400" dirty="0" smtClean="0"/>
              <a:t>The treaty gives right to use all of the eastern rivers and their tributaries before the point where the rivers enter Pakistan.</a:t>
            </a:r>
          </a:p>
          <a:p>
            <a:r>
              <a:rPr lang="en-US" sz="2400" dirty="0" smtClean="0"/>
              <a:t>The agreement set up a commission to adjudicate any future disputes arising over the allocation of waters</a:t>
            </a:r>
          </a:p>
          <a:p>
            <a:r>
              <a:rPr lang="en-US" sz="2400" dirty="0" smtClean="0"/>
              <a:t>Either party must notify the other of plans to construct any engineering works which would affect any party and to provide data about such works. Incase of disagreement, a neutral expert is called in for mediation and arbitration. </a:t>
            </a:r>
          </a:p>
          <a:p>
            <a:r>
              <a:rPr lang="en-US" sz="2400" dirty="0" smtClean="0"/>
              <a:t>Commission was Created to resolve, the annual inspections and exchange of data continue, unperturbed by tensions on the subcontinent.</a:t>
            </a:r>
          </a:p>
          <a:p>
            <a:pPr marL="0" indent="0">
              <a:buNone/>
            </a:pPr>
            <a:endParaRPr lang="en-US" sz="2400" dirty="0"/>
          </a:p>
        </p:txBody>
      </p:sp>
    </p:spTree>
    <p:extLst>
      <p:ext uri="{BB962C8B-B14F-4D97-AF65-F5344CB8AC3E}">
        <p14:creationId xmlns:p14="http://schemas.microsoft.com/office/powerpoint/2010/main" val="4049666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anose="020B0A04020102020204" pitchFamily="34" charset="0"/>
              </a:rPr>
              <a:t>              CONCLUSION</a:t>
            </a:r>
            <a:endParaRPr lang="en-US" dirty="0">
              <a:latin typeface="Arial Black" panose="020B0A04020102020204" pitchFamily="34" charset="0"/>
            </a:endParaRPr>
          </a:p>
        </p:txBody>
      </p:sp>
      <p:sp>
        <p:nvSpPr>
          <p:cNvPr id="3" name="Content Placeholder 2"/>
          <p:cNvSpPr>
            <a:spLocks noGrp="1"/>
          </p:cNvSpPr>
          <p:nvPr>
            <p:ph idx="1"/>
          </p:nvPr>
        </p:nvSpPr>
        <p:spPr/>
        <p:txBody>
          <a:bodyPr>
            <a:normAutofit/>
          </a:bodyPr>
          <a:lstStyle/>
          <a:p>
            <a:r>
              <a:rPr lang="en-US" sz="2400" dirty="0" smtClean="0"/>
              <a:t>India always want to damage Pakistan economically. The Indus water treaty(1960) signed with Indus under stress.</a:t>
            </a:r>
          </a:p>
          <a:p>
            <a:r>
              <a:rPr lang="en-US" sz="2400" dirty="0" smtClean="0"/>
              <a:t>It was result of Pakistan‘s fear that since the source rivers of the Indus basin were in India.</a:t>
            </a:r>
          </a:p>
          <a:p>
            <a:r>
              <a:rPr lang="en-US" sz="2400" dirty="0" smtClean="0"/>
              <a:t>No interference was agreed by India and Pakistan in the natural flow of Eastern as well as in Western rivers.</a:t>
            </a:r>
          </a:p>
          <a:p>
            <a:r>
              <a:rPr lang="en-US" sz="2400" dirty="0" smtClean="0"/>
              <a:t>It is in the interest of India and Pakistan to follow the treaty in letter and sprit.</a:t>
            </a:r>
          </a:p>
          <a:p>
            <a:r>
              <a:rPr lang="en-US" sz="2400" dirty="0" smtClean="0"/>
              <a:t>Undistributed flow from the western rivers is must for survival of the country, no one should be allowed to play with it as it is matter of life and death for Pakistan.</a:t>
            </a:r>
            <a:endParaRPr lang="en-US" sz="2400" dirty="0"/>
          </a:p>
        </p:txBody>
      </p:sp>
    </p:spTree>
    <p:extLst>
      <p:ext uri="{BB962C8B-B14F-4D97-AF65-F5344CB8AC3E}">
        <p14:creationId xmlns:p14="http://schemas.microsoft.com/office/powerpoint/2010/main" val="36952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anose="020B0A04020102020204" pitchFamily="34" charset="0"/>
              </a:rPr>
              <a:t>			THE END</a:t>
            </a:r>
            <a:br>
              <a:rPr lang="en-US" dirty="0" smtClean="0">
                <a:latin typeface="Arial Black" panose="020B0A04020102020204" pitchFamily="34" charset="0"/>
              </a:rPr>
            </a:br>
            <a:r>
              <a:rPr lang="en-US" dirty="0">
                <a:latin typeface="Arial Black" panose="020B0A04020102020204" pitchFamily="34" charset="0"/>
              </a:rPr>
              <a:t/>
            </a:r>
            <a:br>
              <a:rPr lang="en-US" dirty="0">
                <a:latin typeface="Arial Black" panose="020B0A04020102020204" pitchFamily="34" charset="0"/>
              </a:rPr>
            </a:br>
            <a:endParaRPr lang="en-US" dirty="0">
              <a:latin typeface="Arial Black" panose="020B0A04020102020204" pitchFamily="34" charset="0"/>
            </a:endParaRPr>
          </a:p>
        </p:txBody>
      </p:sp>
      <p:sp>
        <p:nvSpPr>
          <p:cNvPr id="4" name="Text Placeholder 3"/>
          <p:cNvSpPr>
            <a:spLocks noGrp="1"/>
          </p:cNvSpPr>
          <p:nvPr>
            <p:ph type="body" idx="1"/>
          </p:nvPr>
        </p:nvSpPr>
        <p:spPr/>
        <p:txBody>
          <a:bodyPr/>
          <a:lstStyle/>
          <a:p>
            <a:r>
              <a:rPr lang="en-US" dirty="0"/>
              <a:t> </a:t>
            </a:r>
            <a:r>
              <a:rPr lang="en-US" dirty="0" smtClean="0"/>
              <a:t>		</a:t>
            </a:r>
            <a:r>
              <a:rPr lang="en-US" dirty="0" smtClean="0">
                <a:solidFill>
                  <a:schemeClr val="accent1">
                    <a:lumMod val="75000"/>
                  </a:schemeClr>
                </a:solidFill>
              </a:rPr>
              <a:t>	</a:t>
            </a:r>
            <a:r>
              <a:rPr lang="en-US" sz="5400" dirty="0" smtClean="0">
                <a:solidFill>
                  <a:schemeClr val="accent1">
                    <a:lumMod val="75000"/>
                  </a:schemeClr>
                </a:solidFill>
                <a:latin typeface="Algerian" panose="04020705040A02060702" pitchFamily="82" charset="0"/>
              </a:rPr>
              <a:t>thank you </a:t>
            </a:r>
            <a:endParaRPr lang="en-US" dirty="0">
              <a:solidFill>
                <a:schemeClr val="accent1">
                  <a:lumMod val="75000"/>
                </a:schemeClr>
              </a:solidFill>
            </a:endParaRPr>
          </a:p>
        </p:txBody>
      </p:sp>
    </p:spTree>
    <p:extLst>
      <p:ext uri="{BB962C8B-B14F-4D97-AF65-F5344CB8AC3E}">
        <p14:creationId xmlns:p14="http://schemas.microsoft.com/office/powerpoint/2010/main" val="6443121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573</Words>
  <Application>Microsoft Office PowerPoint</Application>
  <PresentationFormat>Widescreen</PresentationFormat>
  <Paragraphs>52</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Algerian</vt:lpstr>
      <vt:lpstr>Arial</vt:lpstr>
      <vt:lpstr>Arial Black</vt:lpstr>
      <vt:lpstr>Calibri</vt:lpstr>
      <vt:lpstr>Calibri Light</vt:lpstr>
      <vt:lpstr>Office Theme</vt:lpstr>
      <vt:lpstr>PAK-INDIA WATER CONFLICT  SUBMMITED TO MA’AM ZAHIDA</vt:lpstr>
      <vt:lpstr>    PROSPECT </vt:lpstr>
      <vt:lpstr>    BACKGROUND </vt:lpstr>
      <vt:lpstr>         BACKGROUND(CONTINUED)</vt:lpstr>
      <vt:lpstr>   ROLE OF WORLD BANK</vt:lpstr>
      <vt:lpstr>    INDUS WATER TREATY</vt:lpstr>
      <vt:lpstr>         Clauses of Treaty</vt:lpstr>
      <vt:lpstr>              CONCLUSION</vt:lpstr>
      <vt:lpstr>   THE END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PAK-INDIA WATER CONFLICT</dc:title>
  <dc:creator>Muhammad Bashir Khan</dc:creator>
  <cp:lastModifiedBy>Muhammad Bashir Khan</cp:lastModifiedBy>
  <cp:revision>10</cp:revision>
  <dcterms:created xsi:type="dcterms:W3CDTF">2022-01-31T07:37:06Z</dcterms:created>
  <dcterms:modified xsi:type="dcterms:W3CDTF">2022-01-31T08:49:42Z</dcterms:modified>
</cp:coreProperties>
</file>