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presProps" Target="presProp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viewProps" Target="viewProp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 Type="http://schemas.openxmlformats.org/officeDocument/2006/relationships/theme" Target="theme/theme1.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 Type="http://schemas.openxmlformats.org/officeDocument/2006/relationships/tableStyles" Target="tableStyles.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AIR QUALITY INDEX METER SYSTEM</a:t>
            </a:r>
          </a:p>
        </p:txBody>
      </p:sp>
      <p:sp>
        <p:nvSpPr>
          <p:cNvPr id="3" name="Subtitle 2"/>
          <p:cNvSpPr>
            <a:spLocks noGrp="1"/>
          </p:cNvSpPr>
          <p:nvPr>
            <p:ph type="subTitle" idx="1"/>
          </p:nvPr>
        </p:nvSpPr>
        <p:spPr/>
        <p:txBody>
          <a:bodyPr/>
          <a:lstStyle/>
          <a:p>
            <a:r>
              <a:t>By Huzaifa Shahbaz (21-CE-009) &amp; Aqsa Shah (21-CE-039)</a:t>
            </a:r>
          </a:p>
          <a:p>
            <a:r>
              <a:t>HITEC University, Taxila</a:t>
            </a:r>
          </a:p>
          <a:p>
            <a:r>
              <a:t>Fall 2021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 OF AIR POLLUTION AND ITS IMPACT</a:t>
            </a:r>
          </a:p>
        </p:txBody>
      </p:sp>
      <p:sp>
        <p:nvSpPr>
          <p:cNvPr id="3" name="Content Placeholder 2"/>
          <p:cNvSpPr>
            <a:spLocks noGrp="1"/>
          </p:cNvSpPr>
          <p:nvPr>
            <p:ph idx="1"/>
          </p:nvPr>
        </p:nvSpPr>
        <p:spPr/>
        <p:txBody>
          <a:bodyPr/>
          <a:lstStyle/>
          <a:p>
            <a:r>
              <a:t>In reality, air pollution has been one of the crucial environmental problems of the 21st century, which is heightened by industrialization, urban development into cities, and vehicular emissions. Air Quality Index (AQI) measures pollutants to bring information and knowledge of pollution levels and mitigations to the policymakers, researchers, and the public. There is an IoT-based Air Quality Index Meter System to act in real time and give live data for air quality monitoring directly from gas sensors and communications technologies. The measures are IoT, in support of cloud computing, and are AI-based to create sufficient analytics for determining pollution tendencies and the risk predictive screening for hazardous conditions in the air[1].</a:t>
            </a:r>
          </a:p>
          <a:p>
            <a:r>
              <a:t>AIR POLLUTION SOURCES AND EFFECTS:</a:t>
            </a:r>
          </a:p>
          <a:p>
            <a:r>
              <a:t>Air pollution is ubiquitous, mostly arising from various sources, based on anthropogenic and natural sources.</a:t>
            </a:r>
          </a:p>
          <a:p>
            <a:r>
              <a:t>Anthropogenic Sources:</a:t>
            </a:r>
          </a:p>
          <a:p>
            <a:r>
              <a:t>Industrial emissions (factories, power plants).</a:t>
            </a:r>
          </a:p>
          <a:p>
            <a:r>
              <a:t>Vehicular emissions (cars, trucks, airplanes).</a:t>
            </a:r>
          </a:p>
          <a:p>
            <a:r>
              <a:t>Biomass burning (wood, agricultural waste).</a:t>
            </a:r>
          </a:p>
          <a:p>
            <a:r>
              <a:t>Household activities (cooking with solid fuels, heating).</a:t>
            </a:r>
          </a:p>
          <a:p>
            <a:r>
              <a:t>Waste decomposition and landfill gases[2].</a:t>
            </a:r>
          </a:p>
          <a:p>
            <a:r>
              <a:t>NATURAL SOURCES:</a:t>
            </a:r>
          </a:p>
          <a:p>
            <a:r>
              <a:t>Volcanic eruptions (sulfur dioxide, particulate matter).</a:t>
            </a:r>
          </a:p>
          <a:p>
            <a:r>
              <a:t>Wildfires (carbon monoxide, fine particulates).</a:t>
            </a:r>
          </a:p>
          <a:p>
            <a:r>
              <a:t>Dust storms (PM2.5 and PM10 pollutants).</a:t>
            </a:r>
          </a:p>
          <a:p>
            <a:r>
              <a:t>Oceanic emissions (volatile organic compounds)</a:t>
            </a:r>
          </a:p>
          <a:p>
            <a:r>
              <a:t>HEALTH AND ENVIRONMENTAL EFFECTS:</a:t>
            </a:r>
          </a:p>
          <a:p>
            <a:r>
              <a:t>Chronic exposure to adverse air quality can be devastating to human health, culminating in a variety of respiratory diseases (asthma, bronchitis, lung cancer), cardiovascular disorders, and diminished cognitive functions. According to the WHO, over 7 million premature deaths can be attributed to air pollution each year (WHO 2021). The environmental effects are equally damaging: acid rain, global warming, ozone layer depletion, and decreased agricultural productivity[3].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IMPORTANCE OF AIR QUALITY INDEX METER SYSTEM</a:t>
            </a:r>
          </a:p>
        </p:txBody>
      </p:sp>
      <p:sp>
        <p:nvSpPr>
          <p:cNvPr id="3" name="Content Placeholder 2"/>
          <p:cNvSpPr>
            <a:spLocks noGrp="1"/>
          </p:cNvSpPr>
          <p:nvPr>
            <p:ph idx="1"/>
          </p:nvPr>
        </p:nvSpPr>
        <p:spPr/>
        <p:txBody>
          <a:bodyPr/>
          <a:lstStyle/>
          <a:p>
            <a:r>
              <a:t>In modern times, air pollution is one of the foremost environmental disturbances affecting humans, ecosystems, and climate. To combat the effects of air pollution on human health and ecosystems, air quality has to be monitored in real-time. The IoT-based Air Quality Index (AQI) Meter System provides for the continuous monitoring of air pollutants like PM2.5, PM10, MQ-135(SO2, NO2, O3, and CO), and MQ-5(SnO2, H2, LPG, CH4, CO, and Alcohol) so that authorities, researchers, and the common man can all take necessary precautions according to their levels.</a:t>
            </a:r>
          </a:p>
          <a:p>
            <a:r>
              <a:t>IMPORTANCE  OF AQI METER SYSTEM</a:t>
            </a:r>
          </a:p>
          <a:p>
            <a:r>
              <a:t>HEALTH PROTECTION:</a:t>
            </a:r>
          </a:p>
          <a:p>
            <a:r>
              <a:t>Since the air quality could be poor and can cause different respiratory diseases like asthma, bronchitis, and other cardiovascular ailments, the AQI meter serves to provide real-time data so that individuals can stay away from hazardous air conditions. According to the WHO, nearly 7 million people die prematurely due to air pollution every year (WHO, 2021)[2].</a:t>
            </a:r>
          </a:p>
          <a:p>
            <a:r>
              <a:t>ENVIRONMENTAL MONITORING:</a:t>
            </a:r>
          </a:p>
          <a:p>
            <a:r>
              <a:t>The nature of the air pollutants leads to acid rains, the formation of the smog, and destruction of the ozone layer. The AQI system serves in the detection of pollutants and analysis of their trend to support environmental agencies in formulating policies. Research from IEEE Xplore shows IoT-based air monitoring systems improve accuracy in environmental assessment by 85% (Al-Hamadi et al., 2022) [1].</a:t>
            </a:r>
          </a:p>
          <a:p>
            <a:r>
              <a:t>SMART CITIES AND URBAN PLANNING:</a:t>
            </a:r>
          </a:p>
          <a:p>
            <a:r>
              <a:t>Smart cities utilize AQI systems to maintain livable environments. Real-time air quality data helps optimize traffic control and industrial emissions. A study published in the IEEE Internet of Things Journal highlights that integrating AQI meters into smart city infrastructure can reduce pollution levels by 30% through data-driven decision-making (Zhang et al., 2023) [2].</a:t>
            </a:r>
          </a:p>
          <a:p>
            <a:r>
              <a:t>REAL-TIME DATA FOR PREDICTIVE ANALYSIS:</a:t>
            </a:r>
          </a:p>
          <a:p>
            <a:r>
              <a:t>Currently AQI meters are based on IoT, AI, and machine learning algorithms to predict trends in air quality. This made it possible for governments to take precautionary action. An IEEE study into AI-driven air quality prediction has stated that machine learning models can reach accuracies of 90% forecasting pollution levels (Liu et al., 2022)[4].</a:t>
            </a:r>
          </a:p>
          <a:p>
            <a:r>
              <a:t>PUBLIC AWARENESS AND DECISION MAKING:</a:t>
            </a:r>
          </a:p>
          <a:p>
            <a:r>
              <a:t>Merging AQI data with mobile apps and public displays enables decisions regarding outdoor activity. The IEEE Smart Cities Initiative espouses this enhancement of air-quality awareness via digital platforms to have catalyzed engagement among the public in urban areas by over 60% (Singh et al., 2023)[5].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IN EXISTING AIR QUALITY INDEX METER SYSTEMS</a:t>
            </a:r>
          </a:p>
        </p:txBody>
      </p:sp>
      <p:sp>
        <p:nvSpPr>
          <p:cNvPr id="3" name="Content Placeholder 2"/>
          <p:cNvSpPr>
            <a:spLocks noGrp="1"/>
          </p:cNvSpPr>
          <p:nvPr>
            <p:ph idx="1"/>
          </p:nvPr>
        </p:nvSpPr>
        <p:spPr/>
        <p:txBody>
          <a:bodyPr/>
          <a:lstStyle/>
          <a:p>
            <a:r>
              <a:t>Monitoring air pollution has gained extreme significance globally, thereby necessitating accurate and efficient Air Quality Index(AQI) meter systems. However, several challenges faced by existing AQI monitoring systems reduce their effectiveness. The major challenges are:</a:t>
            </a:r>
          </a:p>
          <a:p>
            <a:r>
              <a:t>HIGH COST AND LIMITED ACCESSIBILITY:</a:t>
            </a:r>
          </a:p>
          <a:p>
            <a:r>
              <a:t>Most air quality monitoring stations basically employ high range sensors and complex infrastructures that incur high costs of installation and maintenance. Such costs limit their deployment, especially in low-income regions and developing countries [1].</a:t>
            </a:r>
          </a:p>
          <a:p>
            <a:r>
              <a:t>LACK OF REAL-TIME DATA AND DELAYED REPORTING:</a:t>
            </a:r>
          </a:p>
          <a:p>
            <a:r>
              <a:t>Pollution monitoring systems employed under the conventional rules depend on periodic data collection instead of real-time monitoring. Any delay in data report can hinder timely intervention if hazardous pollution levels are to be dealt with[2].</a:t>
            </a:r>
          </a:p>
          <a:p>
            <a:r>
              <a:t>LIMITED SENSOR ACCURACY AND CALIBRATION ISSUES:</a:t>
            </a:r>
          </a:p>
          <a:p>
            <a:r>
              <a:t>Economical sensors usually used in IoT-based AQI systems find it hard to meet accuracy and long-term stability. They need frequent calibration, which ensures measurements are reliable, but this is often ignored since resources are limited[3].</a:t>
            </a:r>
          </a:p>
          <a:p>
            <a:r>
              <a:t>ENERGY CONSUMPTION AND POWER CONSTRAINTS:</a:t>
            </a:r>
          </a:p>
          <a:p>
            <a:r>
              <a:t>Most of the existing systems still work with wired energizing sources making such systems dependent on their indoor placement and cannot be installed in remote or outdoor locations. IoT based AQI meters for continuous operation have high energy consumption[4].</a:t>
            </a:r>
          </a:p>
          <a:p>
            <a:r>
              <a:t>DATA STORAGE AND MANAGEMENT CHALLENGES:</a:t>
            </a:r>
          </a:p>
          <a:p>
            <a:r>
              <a:t>The cloud provides storage and processing for very data-hungry air quality index (AQI) meters, but effective data management will consequently hinder its retrieval and analysis of historical data[5].</a:t>
            </a:r>
          </a:p>
          <a:p>
            <a:r>
              <a:t>CONNECTIVITY AND NETWORK DEPENDENCY:</a:t>
            </a:r>
          </a:p>
          <a:p>
            <a:r>
              <a:t>Most of the contemporary air quality index meters require either wi-fi connectivity, cellular networks, or LoRaWAN for data transfer to cloud platforms. However, issues concerning connectivity in remote areas strongly affect the understanding of real-time monitoring[6].</a:t>
            </a:r>
          </a:p>
          <a:p>
            <a:r>
              <a:t>LACK OF AI-BASED PREDICTIVE ANALYSIS:</a:t>
            </a:r>
          </a:p>
          <a:p>
            <a:r>
              <a:t>Existing AQI systems are mainly preventive, focusing on real-time monitoring without predictive analysis capabilities. AI-driven models may enhance decision-making by predicting pollution levels. The absence of this attribute exists in many systems[7].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NEED FOR A REAL-TIME IOT-BASED SOLUTION</a:t>
            </a:r>
          </a:p>
        </p:txBody>
      </p:sp>
      <p:sp>
        <p:nvSpPr>
          <p:cNvPr id="3" name="Content Placeholder 2"/>
          <p:cNvSpPr>
            <a:spLocks noGrp="1"/>
          </p:cNvSpPr>
          <p:nvPr>
            <p:ph idx="1"/>
          </p:nvPr>
        </p:nvSpPr>
        <p:spPr/>
        <p:txBody>
          <a:bodyPr/>
          <a:lstStyle/>
          <a:p>
            <a:r>
              <a:t>Air pollution constitutes a major environmental and public health hazard, leading to diseases of the respiratory system, cardiovascular complications, and environmental degradation. Simultaneously, industrialization, vehicular emissions, and urbanization demand the real-time air quality monitoring system. Traditional air quality monitoring stations, although credible, are expensive, have limited geographical coverage, and make no real-time access available. It is an IOT-based Air Quality Index (AQI) Meter System that provides real-time monitoring by integrating the ESP32, ESP8266, and Arduino Uno with inexpensive air quality sensors (PM2.5, PM10, MQ-135, MQ-5). The data collected through these air quality sensors are sent through Wi-Fi and stored on cloud platforms such as ThingSpeak, Firebase, AWS IoT, and various tools for visualization and analysis. This helps people, researchers, and policymakers to make decisions using data to mitigate air pollution.</a:t>
            </a:r>
          </a:p>
          <a:p>
            <a:r>
              <a:t>NEED FOR REAL-TIME IOT-BASED AQI METER SYSTEM</a:t>
            </a:r>
          </a:p>
          <a:p>
            <a:r>
              <a:t>LIMITATIONS OF TRADITIONAL AIR QUALITY INDEX METER SYSTEM</a:t>
            </a:r>
          </a:p>
          <a:p>
            <a:r>
              <a:t>The air monitoring stations established by government agencies are inadequate in their installation methods which include:</a:t>
            </a:r>
          </a:p>
          <a:p>
            <a:r>
              <a:t>HIGH COST:</a:t>
            </a:r>
          </a:p>
          <a:p>
            <a:r>
              <a:t>Infrastructure and maintenance result in high costs.</a:t>
            </a:r>
          </a:p>
          <a:p>
            <a:r>
              <a:t>LIMITED ACCESSIBILITY:</a:t>
            </a:r>
          </a:p>
          <a:p>
            <a:r>
              <a:t>Data is presently not widely accessible to the general public.</a:t>
            </a:r>
          </a:p>
          <a:p>
            <a:r>
              <a:t>FIXED LOCATIONS:</a:t>
            </a:r>
          </a:p>
          <a:p>
            <a:r>
              <a:t>Monitoring multiple locations all at once is not possible.</a:t>
            </a:r>
          </a:p>
          <a:p>
            <a:r>
              <a:t>DELAYED RESPONSES:</a:t>
            </a:r>
          </a:p>
          <a:p>
            <a:r>
              <a:t>According to the documents, it appears that the system is not capable of bringing to the user real-time alerts and notifications.</a:t>
            </a:r>
          </a:p>
          <a:p>
            <a:r>
              <a:t>ADVANTAGES OF AN IOT-BASED REAL-TIME AQI SYSTEMS:</a:t>
            </a:r>
          </a:p>
          <a:p>
            <a:r>
              <a:t>The congruent major challenges addressed by an IOT-enabled air quality meter are:</a:t>
            </a:r>
          </a:p>
          <a:p>
            <a:r>
              <a:t>LOW-COST DEPLOYMENT:</a:t>
            </a:r>
          </a:p>
          <a:p>
            <a:r>
              <a:t>Use affordable microcontrollers like ESP32, ESP8266, or Arduino Uno together with budget sensors.</a:t>
            </a:r>
          </a:p>
          <a:p>
            <a:r>
              <a:t>REAL-TIME MONITORING:</a:t>
            </a:r>
          </a:p>
          <a:p>
            <a:r>
              <a:t>Data is always updated and relayed over Wi-Fi.</a:t>
            </a:r>
          </a:p>
          <a:p>
            <a:r>
              <a:t>SCALABILITY:</a:t>
            </a:r>
          </a:p>
          <a:p>
            <a:r>
              <a:t>In various locations, sensor nodes could be placed throughout the area for larger exposure.</a:t>
            </a:r>
          </a:p>
          <a:p>
            <a:r>
              <a:t>CLOUD  INTEGRATION:</a:t>
            </a:r>
          </a:p>
          <a:p>
            <a:r>
              <a:t>Data storage and analysis are performed on ThingSpeak, Firebase, and AWS IoT for trend analysis and predictive analytics.</a:t>
            </a:r>
          </a:p>
          <a:p>
            <a:r>
              <a:t>USER ACCESSIBILITY:</a:t>
            </a:r>
          </a:p>
          <a:p>
            <a:r>
              <a:t>Air quality data is accessible for citizens via mobile applications or web dashboards.</a:t>
            </a:r>
          </a:p>
          <a:p>
            <a:r>
              <a:t>ROLE OF ESP32,ESP8266 AND ARDUINO UNO IN THE SYSTEM</a:t>
            </a:r>
          </a:p>
          <a:p>
            <a:r>
              <a:t>ARDUINO UNO:</a:t>
            </a:r>
          </a:p>
          <a:p>
            <a:r>
              <a:t>This central controller is the core of all sensor data acquisition.</a:t>
            </a:r>
          </a:p>
          <a:p>
            <a:r>
              <a:t>Reads values from the sensors like PM2.5 and PM10,MQ-135(SO2,NO2,O3 and CO) and MQ-5(SnO2,H2, LPG, CH4, CO and Alcohol).</a:t>
            </a:r>
          </a:p>
          <a:p>
            <a:r>
              <a:t>Communicating with an ESP32 or ESP8266 using serial communication (UART, I2C, or SPI) is a start.</a:t>
            </a:r>
          </a:p>
          <a:p>
            <a:r>
              <a:t>ESP32 and ESP8266:</a:t>
            </a:r>
          </a:p>
          <a:p>
            <a:r>
              <a:t>Provides Wi-Fi connectivity to cloud platforms for data transmission.</a:t>
            </a:r>
          </a:p>
          <a:p>
            <a:r>
              <a:t>The organization manages a web server that provides real-time visualization services.</a:t>
            </a:r>
          </a:p>
          <a:p>
            <a:r>
              <a:t>Putting into use the HTTP/MQTT protocols, people take it upon themselves to implement security protocols so that they can ensure the safety of data transmitted between themselves and the internet of things in platforms such as ThingSpeak, Firebase and AWS IOT.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OBJECTIVE</a:t>
            </a:r>
          </a:p>
        </p:txBody>
      </p:sp>
      <p:sp>
        <p:nvSpPr>
          <p:cNvPr id="3" name="Content Placeholder 2"/>
          <p:cNvSpPr>
            <a:spLocks noGrp="1"/>
          </p:cNvSpPr>
          <p:nvPr>
            <p:ph idx="1"/>
          </p:nvPr>
        </p:nvSpPr>
        <p:spPr/>
        <p:txBody>
          <a:bodyPr/>
          <a:lstStyle/>
          <a:p>
            <a:r>
              <a:t>The primary goal of this IOT-Enabled Air Quality Index Meter System is to design and implement an air quality monitoring system in real-time coupled with the Arduino Uno and Internet Connected sensors for analyzing the key environmental parameters such as PM2.5, PM10, MQ-135(SO2, NO2, O3, and CO), and MQ-5(SnO2, H2, LPG, CH4, CO, and Alcohol). All readings from the sensor are collected, derived by Arduino Uno, and sent to the cloud platforms such as ThingSpeak, Firebase, or AWS IoT for visualization and remote monitoring in real-time. It also aims at integrating an alert system in the event of threshold violations and the use of AI-based predictive analysis to show the future trend of air pollution. This achieves environmental sustainability by having a component of wireless communication (Wi-Fi via ESP8266/ESP32) and a mobile application embedded into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SPECIFIC OBJECTIVES</a:t>
            </a:r>
          </a:p>
        </p:txBody>
      </p:sp>
      <p:sp>
        <p:nvSpPr>
          <p:cNvPr id="3" name="Content Placeholder 2"/>
          <p:cNvSpPr>
            <a:spLocks noGrp="1"/>
          </p:cNvSpPr>
          <p:nvPr>
            <p:ph idx="1"/>
          </p:nvPr>
        </p:nvSpPr>
        <p:spPr/>
        <p:txBody>
          <a:bodyPr/>
          <a:lstStyle/>
          <a:p>
            <a:r>
              <a:t>The main target for the project is the design and development of an IOT-based AQI Meter System for monitoring real-time environmental parameters. The specific objectives are:</a:t>
            </a:r>
          </a:p>
          <a:p>
            <a:r>
              <a:t>Investigate the effects of air pollutant particles(PM2.5, PM10, SnO2, H2, LPG, CH4, CO,  Alcohol, SO2, NO2, O3, and CO) in health and roles of IoT in air quality monitoring[1].</a:t>
            </a:r>
          </a:p>
          <a:p>
            <a:r>
              <a:t>Specify appropriate air and particulate matter sensors (MQ-135, MQ-5, PMS5003) for proper data acquisition using Arduino Uno,ESP32, and ESP8266 as the microcontroller[2].</a:t>
            </a:r>
          </a:p>
          <a:p>
            <a:r>
              <a:t>Design a microcontroller-based system for monitoring real-time air quality and atmospheric parameters and transmission of the data via Wi-Fi to a cloud platform[3].</a:t>
            </a:r>
          </a:p>
          <a:p>
            <a:r>
              <a:t>Execute data logging and visualization to the cloud with platforms such as ThingSpeak and Firebase for real-time analytics and historical data trends[4].</a:t>
            </a:r>
          </a:p>
          <a:p>
            <a:r>
              <a:t>It is to be planned the integration of a mobile application in Android Studio to provide various real-time services to the users, such as AQI data, alerts for when the toxicity level crosses the specified threshold, and predictive analysis based on AI techniques[5].</a:t>
            </a:r>
          </a:p>
          <a:p>
            <a:r>
              <a:t>The comparison of various AQI calculation models including those from the US EPA, WHO, and local standards in terms of their accuracy and efficiency with varying environmental conditions[6].</a:t>
            </a:r>
          </a:p>
          <a:p>
            <a:r>
              <a:t>The system’s performance can be critically evaluated across the metrics of data accuracy and response time under real-life testing conditions over a spectrum of environmental settings in order to address reliability[7].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 ON PUBLIC HEALTH AND ENVIRONMENT</a:t>
            </a:r>
          </a:p>
        </p:txBody>
      </p:sp>
      <p:sp>
        <p:nvSpPr>
          <p:cNvPr id="3" name="Content Placeholder 2"/>
          <p:cNvSpPr>
            <a:spLocks noGrp="1"/>
          </p:cNvSpPr>
          <p:nvPr>
            <p:ph idx="1"/>
          </p:nvPr>
        </p:nvSpPr>
        <p:spPr/>
        <p:txBody>
          <a:bodyPr/>
          <a:lstStyle/>
          <a:p>
            <a:r>
              <a:t>Air pollution presents a serious danger to public health and the environment, causing respiratory diseases, heart ailments, and climate change. Air quality measurement in real time is crucial to minimizing these threats. The proposed IOT-Based AQI Meter System utilizes advanced sensors with cloud computing data processing technology for real-time monitoring of air pollutants and facilitate timely intervention and informed decision-making[1].</a:t>
            </a:r>
          </a:p>
          <a:p>
            <a:r>
              <a:t>SIGNIFICANE OF THE PROJECT</a:t>
            </a:r>
          </a:p>
          <a:p>
            <a:r>
              <a:t>PUBLIC HEALTH BENEFITS</a:t>
            </a:r>
          </a:p>
          <a:p>
            <a:r>
              <a:t>There is many adverse health effects associated with air pollution: asthma, bronchitis, lung cancer, and cardiovascular disease. WHO estimates that air pollution-related diseases cause more than 7 million premature deaths each year (WHO, 2021). The proposed system will provide real-time air quality data:</a:t>
            </a:r>
          </a:p>
          <a:p>
            <a:r>
              <a:t>Enables an individual to implement preventive measures (wearing masks or limiting outdoor activities, for instance) during a high pollution level.</a:t>
            </a:r>
          </a:p>
          <a:p>
            <a:r>
              <a:t>Accounts for pollution-related illnesses are available for policymakers and clinical practitioners to keep observing on increasing or decreasing trends.</a:t>
            </a:r>
          </a:p>
          <a:p>
            <a:r>
              <a:t>Integrating with healthcare systems on the Internet of Everything level, the Smart City is to make better predictions.</a:t>
            </a:r>
          </a:p>
          <a:p>
            <a:r>
              <a:t>ENVIRONMENTAL IMPACT</a:t>
            </a:r>
          </a:p>
          <a:p>
            <a:r>
              <a:t>The climatic alterations and ecological calamities are substantially caused by industrial discharges, pollution from vehicles and other causes, and deforestation. The AQI Meter System helps to alleviate these effects by:</a:t>
            </a:r>
          </a:p>
          <a:p>
            <a:r>
              <a:t>The contribution levels of PM2.5, PM10, CO, NO2, SO2, and O3 to acid rain and smog formation are being monitored (Gao et al., 2022).</a:t>
            </a:r>
          </a:p>
          <a:p>
            <a:r>
              <a:t>Supplying instant alerts to genuflect emissions from industries and vehicles to keep the authorities plugged in.</a:t>
            </a:r>
          </a:p>
          <a:p>
            <a:r>
              <a:t>Gathering long-term air quality data for predictive modeling to help climate studies.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TECHNOLOGICAL  CONTRIBUTION</a:t>
            </a:r>
          </a:p>
        </p:txBody>
      </p:sp>
      <p:sp>
        <p:nvSpPr>
          <p:cNvPr id="3" name="Content Placeholder 2"/>
          <p:cNvSpPr>
            <a:spLocks noGrp="1"/>
          </p:cNvSpPr>
          <p:nvPr>
            <p:ph idx="1"/>
          </p:nvPr>
        </p:nvSpPr>
        <p:spPr/>
        <p:txBody>
          <a:bodyPr/>
          <a:lstStyle/>
          <a:p>
            <a:r>
              <a:t>The invention of an IoT based Air Quality Index (AQI) Meter System is a major frontier in technological advancement for environmental monitoring. This system comprises ARDUINO UNO,ESP32 and ESP8266 microcontrollers, different types of PM2.5, PM10, and MQ-series Gas Sensors such as MQ-5 and MQ-135. The system collects real-time air quality data over cloud-based data transmission platforms like ThingSpeak, Firebase, and AWS IoT. The following are the greatest technological contributions made by this system[2]:</a:t>
            </a:r>
          </a:p>
          <a:p>
            <a:r>
              <a:t>REAL-TIME AIR QUALITY MONITORING</a:t>
            </a:r>
          </a:p>
          <a:p>
            <a:r>
              <a:t>The system collects online air-quality data from environmental sensors continuously in real-time and transmits it to a cloud platform for monitoring. Integrated with Wi-Fi microcontrollers (ESP32/ESP8266), it will offer asynchronous facilities for users to access pollution levels remotely but in real-time view.</a:t>
            </a:r>
          </a:p>
          <a:p>
            <a:r>
              <a:t>MULTI-SENSOR INTEGRATION FOR COMPREHENSIVE ANALYSIS</a:t>
            </a:r>
          </a:p>
          <a:p>
            <a:r>
              <a:t>While traditional AQI devices measure from a limited set of sensor inputs, this particular setup features an assemblage of multiple gas sensors (MQ-135, MQ-5) and particulate monitoring sensors (PM2.5, PM10) to assess air pollutants such as CO₂, CO, SO₂, NO₂, O₃, and VOCs. The sensor fusion technique further enhances the accuracy of the measurement while also offering an integrated view of air pollution levels.</a:t>
            </a:r>
          </a:p>
          <a:p>
            <a:r>
              <a:t>CLOUD BASED DATA STORAGE  AND VISUALIZATION</a:t>
            </a:r>
          </a:p>
          <a:p>
            <a:r>
              <a:t>Data storage is ensured in cloud servers such as ThingSpeak, Firebase, AWS IOT, and Blynk APP, and data retrieval as well as visualization are answered. API integration allows users access to historical air-quality trends, hazardous pollution levels alerts, and trend analysis via dashboards similar to Grafana, MATLAB, Python etc.</a:t>
            </a:r>
          </a:p>
          <a:p>
            <a:r>
              <a:t>WIRELESS COMMUNICATION AND IOT CONNECTIVITY</a:t>
            </a:r>
          </a:p>
          <a:p>
            <a:r>
              <a:t>Depending on the type of signal wireless data can be transmitted over Wi-Fi; MQTT protocol, Hypertext Transfer, and Hypertext Transfer Secure Protocol; minimizing dependencies over wired infrastructure. Hence scalability of the system is made possible, making it suitable for field deployment into cities, smart cities, and industrial zones.</a:t>
            </a:r>
          </a:p>
          <a:p>
            <a:r>
              <a:t>AI-BASED  PREDICTIVE ANALYSIS  AND DECISION SUPPORT</a:t>
            </a:r>
          </a:p>
          <a:p>
            <a:r>
              <a:t>The system can predict future air quality trends based on historical data by integrating machine learning algorithms and AI-based analytics. AI models trained on air pollution datasets can identify sources of pollution and also recommend mitigation strategies.</a:t>
            </a:r>
          </a:p>
          <a:p>
            <a:r>
              <a:t>LOW-POWER CONSUMPTION AND EDGE COMPUTING</a:t>
            </a:r>
          </a:p>
          <a:p>
            <a:r>
              <a:t>With regard to power efficiency, the system implements low-power modes in ESP32/ESP8266 and utilizes battery packs with optimized power management circuits. In addition, edge computing allows preliminary data processing at the device level prior to cloud transmission, minimizing latency and bandwidth consumption.</a:t>
            </a:r>
          </a:p>
          <a:p>
            <a:r>
              <a:t>MOBILE AND WEB APPLICATION INTEGRATION</a:t>
            </a:r>
          </a:p>
          <a:p>
            <a:r>
              <a:t>Within the Android mobile app, which is developed using Java and XML, users are offered a more intuitive interface for real-time AQI data viewing, alert setting, and notifications, in addition to web-based dashboards for remote monitoring.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SUSTAINABLE DEVELOPMENT GOALS(SDGs)</a:t>
            </a:r>
          </a:p>
        </p:txBody>
      </p:sp>
      <p:sp>
        <p:nvSpPr>
          <p:cNvPr id="3" name="Content Placeholder 2"/>
          <p:cNvSpPr>
            <a:spLocks noGrp="1"/>
          </p:cNvSpPr>
          <p:nvPr>
            <p:ph idx="1"/>
          </p:nvPr>
        </p:nvSpPr>
        <p:spPr/>
        <p:txBody>
          <a:bodyPr/>
          <a:lstStyle/>
          <a:p>
            <a:r>
              <a:t>SDG 3: Good Health and Well-being</a:t>
            </a:r>
          </a:p>
          <a:p>
            <a:r>
              <a:t>Air pollution is a serious environmental health risk, causing illnesses such as respiratory disorders, cardiovascular problems, and many others. The AQI that you provide aids in real-time monitoring and creates alerts to reduce exposure to dangerous pollutants[1].</a:t>
            </a:r>
          </a:p>
          <a:p>
            <a:r>
              <a:t>SDG 11: Sustainable Cities and Communities</a:t>
            </a:r>
          </a:p>
          <a:p>
            <a:r>
              <a:t>Sustainable planning for urban areas requires urban air quality assessments. Providing the smart city program with real-time AQI data produced by your system therefore supports a policy agenda for emission reduction and air quality improvement[2].</a:t>
            </a:r>
          </a:p>
          <a:p>
            <a:r>
              <a:t>SDG 13: Climate Action</a:t>
            </a:r>
          </a:p>
          <a:p>
            <a:r>
              <a:t>Our system directly contributes to climate action through the provision of data that informs policy makers and researchers on pollution sources and mitigation measures against climate change impacts[3].</a:t>
            </a:r>
          </a:p>
          <a:p>
            <a:r>
              <a:t>SDG 9: Industry, Innovation, and Infrastructure</a:t>
            </a:r>
          </a:p>
          <a:p>
            <a:r>
              <a:t>An initiative to develop advanced IoT-based solutions for monitoring environment through smart sensing, cloud computing, and predictive analytics with AI[4].</a:t>
            </a:r>
          </a:p>
          <a:p>
            <a:r>
              <a:t>SDG 15: Life on Land</a:t>
            </a:r>
          </a:p>
          <a:p>
            <a:r>
              <a:t>Air pollution directly affects biodiversity with respect to ecosystems. The entire team has been monitoring air quality in urban and rural areas from the date of inception to assess environmental  impacts and conservation efforts[5].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THESIS ORGANIZATION</a:t>
            </a:r>
          </a:p>
        </p:txBody>
      </p:sp>
      <p:sp>
        <p:nvSpPr>
          <p:cNvPr id="3" name="Content Placeholder 2"/>
          <p:cNvSpPr>
            <a:spLocks noGrp="1"/>
          </p:cNvSpPr>
          <p:nvPr>
            <p:ph idx="1"/>
          </p:nvPr>
        </p:nvSpPr>
        <p:spPr/>
        <p:txBody>
          <a:bodyPr/>
          <a:lstStyle/>
          <a:p>
            <a:r>
              <a:t>In our final year project thesis of air quality index meter system of organization as shown below:</a:t>
            </a:r>
          </a:p>
          <a:p>
            <a:r>
              <a:t>Chapter 1- In this chapter we discuss about the introduction of our final year project in which we research paper including background(Overview of Air Pollution and Its Impact and Importance of Air Quality Monitoring),Problem statement(Challenges in Existing Air Quality Monitoring Systems and Need for a Real-time IoT-based Solution), Objectives (main objectives and specific objectives) and Significance of the Project (Impact on Public Health and Environment and Technological Contribution)[1].</a:t>
            </a:r>
          </a:p>
          <a:p>
            <a:r>
              <a:t>Chapter 2- In this chapter we discuss about the literature review of our final year project in which we research paper including, Overview of Air Quality Monitoring Techniques, Existing Systems(Government Air Monitoring Stations, IoT-based Air Quality Monitoring Solutions, Mobile and Handheld Air Quality Sensors), Limitations of Existing Solutions and Proposed System.</a:t>
            </a:r>
          </a:p>
          <a:p>
            <a:r>
              <a:t>Chapter 3- In this chapter we discuss about the methodology of our final year project in which we research paper including, system architecture, block diagram, hardware components (ESP32 AND ESP8266,ARDUINO UNO,MQ SERIES GAS SENSOR(MQ-135 AND MQ-5,PM2.5 AND PM10 SENSORS,BATTERY PACK,POWER ADAPTER,CHARGER SETUP,WEATHERPROOF HOUSING, WiFi/BLUETOOTH MODULES,BREADBOARD AND CONNECTING WIRES),software components(android studio and firebase, blynk app, matlab ,python, Arduino Framework and Embedded Firmware, vs code firmware coding, ThingSpeak,mqtt protocols, AWS IOT, Adafruit IO, GitHub, Authentication mechanism, Gafrana, excel, HTTP/HTTPS, sensor and WiFi libraries, APIs key and PlatformIO ide),data processing  and storage(Sensor Calibration and Data Filtering and Data Logging and Historical Analysis),alerts and notification systems, applications, use cases and sequence diagram[2].</a:t>
            </a:r>
          </a:p>
          <a:p>
            <a:r>
              <a:t>Chapter 4- In this chapter we discuss about the simulation and results of our final year project in which we research paper including, experimental setup(hardware and software configuration and sensor placement and calibration),data analysis and visualization(real-time air quality index(AQI)calculation and comparison with government AQI data),performance evaluation(accuracy of sensor data, response time analysis and power consumption analysis) and discussion and findings[3].</a:t>
            </a:r>
          </a:p>
          <a:p>
            <a:r>
              <a:t>Chapter 5- In this chapter we discuss about the environment and sustainability of our final year project in which we research paper including the system aids in real-time monitoring of harmful pollutants, promoting environmental sustainability and enabling data-driven decisions for cleaner, healthier environments. It raises awareness, reduces long-term ecological and health impacts, and supports global efforts towards sustainable development and environmental protection.</a:t>
            </a:r>
          </a:p>
          <a:p>
            <a:r>
              <a:t>Chapter 6- In this chapter we discuss about the conclusion and future work of our final year project in which we research paper including, summary of work, key findings, limitations, future work(AI-based predictive analysis for air quality, integration with smart city infrastructure and battery optimization and solar power integration) and final thoughts.</a:t>
            </a:r>
          </a:p>
          <a:p>
            <a:r>
              <a:t>Chapter Two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 OF AIR QUALITY MONITORING TECHNIQUES</a:t>
            </a:r>
          </a:p>
        </p:txBody>
      </p:sp>
      <p:sp>
        <p:nvSpPr>
          <p:cNvPr id="3" name="Content Placeholder 2"/>
          <p:cNvSpPr>
            <a:spLocks noGrp="1"/>
          </p:cNvSpPr>
          <p:nvPr>
            <p:ph idx="1"/>
          </p:nvPr>
        </p:nvSpPr>
        <p:spPr/>
        <p:txBody>
          <a:bodyPr/>
          <a:lstStyle/>
          <a:p>
            <a:r>
              <a:t>These risks are very profound in the environment and public health areas. Continuous monitoring and proactive management strategies for air pollution have become increasingly more strategic. Traditional air quality monitoring systems, though, are often expensive, stationary, and very limited spatially and chronologically. The development of the IoT-based Air Quality Index (AQI) systems has thrown open the doors of low-cost, real-time, up-scalable environmental monitoring. This is a kind of monitoring made possible with the integration of different sensors for measuring air pollutants, like PM2.5, PM10, SO₂, NO₂, O₃, CO, H₂, LPG, CH₄, and alcohol, and can upload information collected to the cloud for further analysis and visualization, and some may even allow for real-time data collection, processing, and transmission. This study highlights the use of ESP32 and ESP8266 microcontrollers for sensor integration and Wi-Fi communication, ensuring seamless data transmission to cloud platforms like ThingSpeak, Firebase, or AWS IoT. The research emphasizes the importance of data visualization, real-time alerts, and predictive analytics using machine learning algorithms. Several other reviews of literature indicate that machine learning models, including but not limited to regression-based and deep learning techniques, can help improve predictive accuracy, making it possible to provide early alerts for worsening air quality. A lot of IoT based AQI systems are increasingly applied for urban planning, public health management, and industrial compliance, thereby giving actionable insights to abate pollution levels.</a:t>
            </a:r>
          </a:p>
          <a:p>
            <a:r>
              <a:t>Key Research Findings from Literature:</a:t>
            </a:r>
          </a:p>
          <a:p>
            <a:r>
              <a:t>Real-time Monitoring &amp; Data Transmission:</a:t>
            </a:r>
          </a:p>
          <a:p>
            <a:r>
              <a:t>IOT-based AQI systems give us ongoing environmental info with more spatial detailing than we have from typical monitoring stations.</a:t>
            </a:r>
          </a:p>
          <a:p>
            <a:r>
              <a:t>Sensor Fusion &amp; Calibration:</a:t>
            </a:r>
          </a:p>
          <a:p>
            <a:r>
              <a:t>The requirement for sensors with high accuracy, calibration potential, and machine learning-based corrections to improve measurement confidence is what comes from most of the studies.</a:t>
            </a:r>
          </a:p>
          <a:p>
            <a:r>
              <a:t>Cloud Integration &amp; Predictive Analytics:</a:t>
            </a:r>
          </a:p>
          <a:p>
            <a:r>
              <a:t>Early predicted precipitation generates beneficial data, with proper suggestion systems for equipment requirements.</a:t>
            </a:r>
          </a:p>
          <a:p>
            <a:r>
              <a:t>Public Awareness &amp; Decision Support:</a:t>
            </a:r>
          </a:p>
          <a:p>
            <a:r>
              <a:t>Community and policymakers are armed with an authentic source of data to fight pollution accessibly.</a:t>
            </a:r>
          </a:p>
          <a:p>
            <a:r>
              <a:t>These investigations advocate greater relevance toward IoT-based AQI systems for environmental monitoring, eventually leading to innovative ways of mitigating the air pollution problem cost-effectively. Future studies should consider energy-efficient sensor network alternatives, long-term calibration strategies, and AI-based predictive models with the aim of completing system performance and consistency.</a:t>
            </a:r>
          </a:p>
          <a:p>
            <a:r>
              <a:t>Table 2.1: LITERATURE REVIEW OF AIR QUALITY INDEX METER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GOVERNMENT AIR MONITORING STATIONS</a:t>
            </a:r>
          </a:p>
        </p:txBody>
      </p:sp>
      <p:sp>
        <p:nvSpPr>
          <p:cNvPr id="3" name="Content Placeholder 2"/>
          <p:cNvSpPr>
            <a:spLocks noGrp="1"/>
          </p:cNvSpPr>
          <p:nvPr>
            <p:ph idx="1"/>
          </p:nvPr>
        </p:nvSpPr>
        <p:spPr/>
        <p:txBody>
          <a:bodyPr/>
          <a:lstStyle/>
          <a:p>
            <a:r>
              <a:t>For the last several years, air quality monitoring has been increasingly seen as an integral part of environmental management owing to increasing alarm about pollution and its effect on human health. Conventional air quality monitoring stations consist of fixed monitoring stations installed by governments, fitted with high-grade precise sensors. While the data provided by these air quality monitoring stations, even by their government agencies such as the Environmental Protection Agency (EPA) in the United States and other countries, are very accurate, the stations are expensive, show no mobility, and require heavy infrastructure for their installation and upkeep. To overcome these challenges, IoT-enabled air quality monitoring systems capable of integrating low-cost sensors with a wireless communication facility and a cloud facility for real-time data collection and analysis have been developed. These systems can easily be carried out, are inexpensive, and scalable into wider deployment in an urban and industrial area. Some of this research clearly showcase the effectiveness of IoT-based AQI systems data[1].</a:t>
            </a:r>
          </a:p>
          <a:p>
            <a:r>
              <a:t>Government-Installed Fixed Monitoring Stations:</a:t>
            </a:r>
          </a:p>
          <a:p>
            <a:r>
              <a:t>Traditional monitoring stations provide reliable data but are quite expensive. They need to be calibrated regularly, and the data they collect covers a limited area.</a:t>
            </a:r>
          </a:p>
          <a:p>
            <a:r>
              <a:t>Example:</a:t>
            </a:r>
          </a:p>
          <a:p>
            <a:r>
              <a:t>The EPA Air Quality Monitoring Network, which provides real-time AQI data in cities but lacks flexibility.</a:t>
            </a:r>
          </a:p>
          <a:p>
            <a:r>
              <a:t>Mobile and IOT-Based Air Quality Monitoring Systems:</a:t>
            </a:r>
          </a:p>
          <a:p>
            <a:r>
              <a:t>IOT-based systems use low-cost sensors (e.g., MQ-135, PM2.5 AND PM10, MQ-5) and wireless connectivity (Wi-Fi) to collect and transmit data.</a:t>
            </a:r>
          </a:p>
          <a:p>
            <a:r>
              <a:t>Example:</a:t>
            </a:r>
          </a:p>
          <a:p>
            <a:r>
              <a:t>"Design and Development of an Indoor and Outdoor Air Quality Monitoring System in Real Time Based on IoT Technology"  reports an IoT-based AQI system which uses ESP32, together with multiple air quality sensors, and is connected to cloud platforms so as to be able to provide the real-time data visualization. It points out low-cost, easy deployment, and broad accessibility of IOT-based solutions vis-a-vis conventional methods.</a:t>
            </a:r>
          </a:p>
          <a:p>
            <a:r>
              <a:t>Smart City Applications with IOT and AI Integration:</a:t>
            </a:r>
          </a:p>
          <a:p>
            <a:r>
              <a:t>Long term prediction of air pollution levels in a city can be used after developing an atmospheric response model, precipitation form, and compounds in pollutants.</a:t>
            </a:r>
          </a:p>
          <a:p>
            <a:r>
              <a:t>Example:</a:t>
            </a:r>
          </a:p>
          <a:p>
            <a:r>
              <a:t>Utilizing machine learning to forecast air pollution levels and send alerts for potential health hazards.</a:t>
            </a:r>
          </a:p>
          <a:p>
            <a:r>
              <a:t>Table 2.2:LITERATURE REVIEW OF GOVERNMENT AIR MONITORING STATIONS</a:t>
            </a:r>
          </a:p>
          <a:p>
            <a:r>
              <a:t>Key enhancements in proposed systems:</a:t>
            </a:r>
          </a:p>
          <a:p>
            <a:r>
              <a:t>The collaboration between the IOT and cloud-based solutions is expected to bring new lengths to the availability of the data blocks.</a:t>
            </a:r>
          </a:p>
          <a:p>
            <a:r>
              <a:t>Real-time monitoring mobile applications enhance engagement of users.</a:t>
            </a:r>
          </a:p>
          <a:p>
            <a:r>
              <a:t>The integration of sensors with microcontrollers helps ensure that the implementation is cost-effective.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IOT-BASED AIR QUALITY MONITORING SOLUTIONS</a:t>
            </a:r>
          </a:p>
        </p:txBody>
      </p:sp>
      <p:sp>
        <p:nvSpPr>
          <p:cNvPr id="3" name="Content Placeholder 2"/>
          <p:cNvSpPr>
            <a:spLocks noGrp="1"/>
          </p:cNvSpPr>
          <p:nvPr>
            <p:ph idx="1"/>
          </p:nvPr>
        </p:nvSpPr>
        <p:spPr/>
        <p:txBody>
          <a:bodyPr/>
          <a:lstStyle/>
          <a:p>
            <a:r>
              <a:t>There exists an appalling condition of air pollution about the environment affecting human health and ecosystems. The traditional air quality monitoring systems, which have been predominantly using expensive and complicated gadgets, rarely provide any information in real time or in a scalable manner. The emergence of IoT as a disruptive technology has allowed real-time air quality monitoring systems through sensor-based low-cost solutions. Hence, this review presents the recent advancements made in IoT-based air quality monitoring systems, involving sensor integration, data transmission, cloud computing, and artificial intelligence (AI) applications.</a:t>
            </a:r>
          </a:p>
          <a:p>
            <a:r>
              <a:t>Table 2.3:LITERATURE REVIEW OF AIR QUALITY MONITORING SOLUTIONS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MOBILE AND HANDHELD AIR QUALITY SENSORS</a:t>
            </a:r>
          </a:p>
        </p:txBody>
      </p:sp>
      <p:sp>
        <p:nvSpPr>
          <p:cNvPr id="3" name="Content Placeholder 2"/>
          <p:cNvSpPr>
            <a:spLocks noGrp="1"/>
          </p:cNvSpPr>
          <p:nvPr>
            <p:ph idx="1"/>
          </p:nvPr>
        </p:nvSpPr>
        <p:spPr/>
        <p:txBody>
          <a:bodyPr/>
          <a:lstStyle/>
          <a:p>
            <a:r>
              <a:t>Mobile and handheld air quality sensors are compact, portable electronic devices designed to measure air pollutants in real-time. Such sensors are widely used in IOT-Based Air Quality Index Meter Systems for monitoring environmental conditions outdoors and indoors. This selection of sensor depends on the pollutants being measured types, accuracy, power consumption, and connection.</a:t>
            </a:r>
          </a:p>
          <a:p>
            <a:r>
              <a:t>Table 2.4:COMMON MOBILE AND HANDHELD AIR QUALITY SENSORS USED IN AQI METER SYSTEM</a:t>
            </a:r>
          </a:p>
          <a:p>
            <a:r>
              <a:t>Features of mobile and handheld air quality Sensors in an AQI system</a:t>
            </a:r>
          </a:p>
          <a:p>
            <a:r>
              <a:t>Portability:</a:t>
            </a:r>
          </a:p>
          <a:p>
            <a:r>
              <a:t>This device is light and small weight in size, so moving it around is easy.</a:t>
            </a:r>
          </a:p>
          <a:p>
            <a:r>
              <a:t>Real-time data collection:</a:t>
            </a:r>
          </a:p>
          <a:p>
            <a:r>
              <a:t>Offers immediate readings of the concentration of pollutants present in the atmosphere.</a:t>
            </a:r>
          </a:p>
          <a:p>
            <a:r>
              <a:t>Wireless Connectivity:</a:t>
            </a:r>
          </a:p>
          <a:p>
            <a:r>
              <a:t>They support Wi-Fi, Bluetooth, LoRaWAN, and cell-based communication.</a:t>
            </a:r>
          </a:p>
          <a:p>
            <a:r>
              <a:t>Multi-Pollutant Detection:</a:t>
            </a:r>
          </a:p>
          <a:p>
            <a:r>
              <a:t>Measuring gases (CO, NO₂, O₃, VOCs) and particulate matter (PM2.5, PM10).</a:t>
            </a:r>
          </a:p>
          <a:p>
            <a:r>
              <a:t>Battery-Powered Operation:</a:t>
            </a:r>
          </a:p>
          <a:p>
            <a:r>
              <a:t>The system ensures on-site and off-site monitoring without letting up at any moment.</a:t>
            </a:r>
          </a:p>
          <a:p>
            <a:r>
              <a:t>Integration with IOT Platforms:</a:t>
            </a:r>
          </a:p>
          <a:p>
            <a:r>
              <a:t>It sends data to the analysis in the cloud via a range of cloud services (ThingSpeak, Firebase, AWS IOT).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OF EXISTING SOLUTIONS</a:t>
            </a:r>
          </a:p>
        </p:txBody>
      </p:sp>
      <p:sp>
        <p:nvSpPr>
          <p:cNvPr id="3" name="Content Placeholder 2"/>
          <p:cNvSpPr>
            <a:spLocks noGrp="1"/>
          </p:cNvSpPr>
          <p:nvPr>
            <p:ph idx="1"/>
          </p:nvPr>
        </p:nvSpPr>
        <p:spPr/>
        <p:txBody>
          <a:bodyPr/>
          <a:lstStyle/>
          <a:p>
            <a:r>
              <a:t>Although the monitoring systems of the air quality index have improved tremendously with the introduction of IoT, cloud computing, and sensor networks, still, the present-day solutions are beleaguered with issues ranging from accuracy through efficiency to scalability. The key limitations are as follows:</a:t>
            </a:r>
          </a:p>
          <a:p>
            <a:r>
              <a:t>Limited Sensor Accuracy and Calibration Issues:</a:t>
            </a:r>
          </a:p>
          <a:p>
            <a:r>
              <a:t>AQI systems generally use miniaturized sensors such as MQ-135, MQ-5, PM2.5, and PM10 that involve unsatisfactory precision and stability while available. These require frequent calibrations. However, most of the IOT solutions have not yet automated this calibration procedure. Most of the inaccuracies occur due to sensor drift, cross-sensitivity, and other environmental factors[1].</a:t>
            </a:r>
          </a:p>
          <a:p>
            <a:r>
              <a:t>Short Battery Life and Power consumption Constraints:</a:t>
            </a:r>
          </a:p>
          <a:p>
            <a:r>
              <a:t>The portable battery-operated wireless AQI meters face further power management constraints owing to the continuous working of sensors, microcontrollers, and wireless communication modules. Real-time transference of data via Wi-Fi and cloud services shortens battery life, necessitating frequent recharges or needing external power sources[2].</a:t>
            </a:r>
          </a:p>
          <a:p>
            <a:r>
              <a:t>Limited Real-Time Data processing and Cloud  Dependency:</a:t>
            </a:r>
          </a:p>
          <a:p>
            <a:r>
              <a:t>Most AQI Monitoring Systems That Use IoT Mobile Send Their Raw Data for Processing to Cloud Platforms such as ThingSpeak, Firebase, or AWS IoT. Therefore, Such Dependence Adversely Affects the Response Time and Capability of On-board Data Processing: Edge Computing Says This, Can Improve Efficiency, but Current Implementations are not Sufficiently Localized to Process[3].</a:t>
            </a:r>
          </a:p>
          <a:p>
            <a:r>
              <a:t>Insufficient Coverage and Scalability Issues:</a:t>
            </a:r>
          </a:p>
          <a:p>
            <a:r>
              <a:t>The air quality monitoring networks being studied existed in urban polluted areas and downplayed mostly rural or industrial sites. It states that large-scale deployment is hindered mainly by the costs of sensors, network infrastructure, and maintenance. In addition, the IoT-based solutions depend on either Wi-Fi or LoRaWAN, which are limited in terms of range and connectivity over remote areas[4].</a:t>
            </a:r>
          </a:p>
          <a:p>
            <a:r>
              <a:t>LACK OF PREDICTIVE ANALYSIS AND AI-BASED ANOMALY DETECTION:</a:t>
            </a:r>
          </a:p>
          <a:p>
            <a:r>
              <a:t>Although some high-quality Ambient Air Quality Index monitoring solutions provide real-time visualization of the status and trend of air quality, most lack advanced capabilities to employ artificial intelligence and machine learning-based predictive analytics. Emphasis is given to the point by stating that AI modeling will significantly improve the forecasting and detection of anomalies in air quality; however, most current designs are threshold-based detection systems[5].</a:t>
            </a:r>
          </a:p>
          <a:p>
            <a:r>
              <a:t>ENVIRONMENTAL AND WEATHER CONDITIONS AFFECT SENSOR PERFORMANCE:</a:t>
            </a:r>
          </a:p>
          <a:p>
            <a:r>
              <a:t>The sensor readings can be influenced by the external environmental conditions. Research proves that gases sensors such as MQ-135 and MQ-5 specifications show fluctuation in sensing performance with relative humidity levels, and they thus require compensating algorithms that are seldom integrated into the designs[6].</a:t>
            </a:r>
          </a:p>
          <a:p>
            <a:r>
              <a:t>DATA SECURITY AND PRIVACY CHALLENGES:</a:t>
            </a:r>
          </a:p>
          <a:p>
            <a:r>
              <a:t>Cloud-based AQI monitoring systems act as information vaults for environmental data, which are inevitably prone to threats of cyberattacks. It is evidently clear that most of the solutions do not provide robust encryption and authentication mechanisms so that unauthorized access and data breaches may easily occur[7].</a:t>
            </a:r>
          </a:p>
          <a:p>
            <a:r>
              <a:t>Table 2.5:LIMITATIONS OF EXISTING AIR QUALITY INDEX METER SYSTEMS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SYSTEM</a:t>
            </a:r>
          </a:p>
        </p:txBody>
      </p:sp>
      <p:sp>
        <p:nvSpPr>
          <p:cNvPr id="3" name="Content Placeholder 2"/>
          <p:cNvSpPr>
            <a:spLocks noGrp="1"/>
          </p:cNvSpPr>
          <p:nvPr>
            <p:ph idx="1"/>
          </p:nvPr>
        </p:nvSpPr>
        <p:spPr/>
        <p:txBody>
          <a:bodyPr/>
          <a:lstStyle/>
          <a:p>
            <a:r>
              <a:t>Air pollution remains a very significant environmental problem affecting human beings and the ecosystem. Conventional air quality monitoring systems are very expensive and not accessible in real-time. The proposed IoT-based Air Quality Index (AQI) Meter System will provide an Ad-cost, real-time air quality monitoring solution using ESP32, ESP8266, Arduino uno microcontrollers. PM2.5, PM10, MQ gases (SO₂, NO₂, CO, CH₄, etc.) will be captured from the concerned environment and transmitted to the cloud for visualization, analysis, and decision-making[1].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Key components of the proposed system are outlined below:</a:t>
            </a:r>
          </a:p>
          <a:p>
            <a:r>
              <a:t>HARDWARE COMPONENTS</a:t>
            </a:r>
          </a:p>
          <a:p>
            <a:r>
              <a:t>ESP32,ESP8266 AND ARDUINO UNO:</a:t>
            </a:r>
          </a:p>
          <a:p>
            <a:r>
              <a:t>The microcontroller for data acquisition and transmission.</a:t>
            </a:r>
          </a:p>
          <a:p>
            <a:r>
              <a:t>MQ-SERIES GAS SENSORS(MQ-135 AND MQ-5):</a:t>
            </a:r>
          </a:p>
          <a:p>
            <a:r>
              <a:t>It detects harmful gases such as SO2, NO2, O3, CO, SnO2, H2, LPG, CH4, CO, and Alcohol.</a:t>
            </a:r>
          </a:p>
          <a:p>
            <a:r>
              <a:t>PM2.5 AND PM10 SENSORS:</a:t>
            </a:r>
          </a:p>
          <a:p>
            <a:r>
              <a:t>The device measures the concentration of particulate matter.</a:t>
            </a:r>
          </a:p>
          <a:p>
            <a:r>
              <a:t>POWER SUPPLY SYSTEM:</a:t>
            </a:r>
          </a:p>
          <a:p>
            <a:r>
              <a:t>For continuous usage, the user must have on battery pack, charger, and adapter.</a:t>
            </a:r>
          </a:p>
          <a:p>
            <a:r>
              <a:t>WEATHERPROOF HOUSING:</a:t>
            </a:r>
          </a:p>
          <a:p>
            <a:r>
              <a:t>This protects components from various environmental conditions.</a:t>
            </a:r>
          </a:p>
          <a:p>
            <a:r>
              <a:t>SOFTWARE AND CLOUD INFRASTRUCTURE:</a:t>
            </a:r>
          </a:p>
          <a:p>
            <a:r>
              <a:t>IOT PLATFORMS:</a:t>
            </a:r>
          </a:p>
          <a:p>
            <a:r>
              <a:t>ThingSpeak, AWS IOT, Firebase, Blynk IOT and Adafruit IO for cloud storage and analysis.</a:t>
            </a:r>
          </a:p>
          <a:p>
            <a:r>
              <a:t>ANDROID APPLICATION:</a:t>
            </a:r>
          </a:p>
          <a:p>
            <a:r>
              <a:t>It's a real-time monitoring app programmed in Java/XML using Android Studio.</a:t>
            </a:r>
          </a:p>
          <a:p>
            <a:r>
              <a:t>COMMUNICATION PROCTOCOLS:</a:t>
            </a:r>
          </a:p>
          <a:p>
            <a:r>
              <a:t>MQTT,HTTP/HTTPS AND AUTHENTICATION MECHANISMS for secure data transmission.</a:t>
            </a:r>
          </a:p>
          <a:p>
            <a:r>
              <a:t>DATA PROCESSING AND VISUALIZATION:</a:t>
            </a:r>
          </a:p>
          <a:p>
            <a:r>
              <a:t>Data Analysis Tools such as Matlab, Python, and Grafana are used as data analytics tools.</a:t>
            </a:r>
          </a:p>
          <a:p>
            <a:r>
              <a:t>WORKING MECHANSIM:</a:t>
            </a:r>
          </a:p>
          <a:p>
            <a:r>
              <a:t>Sensors pick up air quality data  at given time intervals.</a:t>
            </a:r>
          </a:p>
          <a:p>
            <a:r>
              <a:t>ESP32,ESP8266 and ARDUINO UNO analyzing sensors and transmitting data with Wi-Fi to cloud platforms was once considered to be the domain for complex software development.</a:t>
            </a:r>
          </a:p>
          <a:p>
            <a:r>
              <a:t>The cloud system stores, analyzes, and displays data on dashboards like ThingSpeak, Firebase and Adafruit IO.</a:t>
            </a:r>
          </a:p>
          <a:p>
            <a:r>
              <a:t>The mobile app renders real-time AQI monitoring and alerting services for when contamination levels surpass specific standards.</a:t>
            </a:r>
          </a:p>
          <a:p>
            <a:r>
              <a:t>A computerized system is indispensable in any informational endeavor.</a:t>
            </a:r>
          </a:p>
          <a:p>
            <a:r>
              <a:t>FEATURES AND ADVANTAGES:</a:t>
            </a:r>
          </a:p>
          <a:p>
            <a:r>
              <a:t>Cloud-based data storage powers up real-time monitoring.</a:t>
            </a:r>
          </a:p>
          <a:p>
            <a:r>
              <a:t>Use anywhere inside or outside with wireless portability.</a:t>
            </a:r>
          </a:p>
          <a:p>
            <a:r>
              <a:t>The use of AI-based predictive analysis is being utilized for trend forecasting.</a:t>
            </a:r>
          </a:p>
          <a:p>
            <a:r>
              <a:t>A mobile app that makes it easy for users to visualize data in real-time and receive alerts.</a:t>
            </a:r>
          </a:p>
          <a:p>
            <a:r>
              <a:t>A cost-effective alternative to traditional AQI meters.</a:t>
            </a:r>
          </a:p>
          <a:p>
            <a:r>
              <a:t>Chapter Three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The design of an IoT-based Air Quality Index (AQI) Monitoring System is a worthy and commendable venture that tackles pressing environmental issues. Such systems generally have multiple components that are essential in ensuring accurate and real-time air quality monitoring[1].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SENSING LAYER</a:t>
            </a:r>
          </a:p>
        </p:txBody>
      </p:sp>
      <p:sp>
        <p:nvSpPr>
          <p:cNvPr id="3" name="Content Placeholder 2"/>
          <p:cNvSpPr>
            <a:spLocks noGrp="1"/>
          </p:cNvSpPr>
          <p:nvPr>
            <p:ph idx="1"/>
          </p:nvPr>
        </p:nvSpPr>
        <p:spPr/>
        <p:txBody>
          <a:bodyPr/>
          <a:lstStyle/>
          <a:p>
            <a:r>
              <a:t>This layer is involved in both the detection and measurement of various pollutants in the air. Default items include:</a:t>
            </a:r>
          </a:p>
          <a:p>
            <a:r>
              <a:t>SENSORS:</a:t>
            </a:r>
          </a:p>
          <a:p>
            <a:r>
              <a:t>In order to detect MQ-135(SO2,NO2,O3 and CO) and MQ-5 (SnO2,H2, LPG, CH4, CO and Alcohol) and particulate matter of sizes PM2.5 and PM10, devices have been developed. The sensors are capable of converting various physical phenomena into electrical signals for further processing[2][3].</a:t>
            </a:r>
          </a:p>
          <a:p>
            <a:r>
              <a:t>MICROCONTROLLER UNIT(MCU):</a:t>
            </a:r>
          </a:p>
          <a:p>
            <a:r>
              <a:t>The core processing unit compiles data from the sensors, processes it in an initial stage, and handles various protocols for data communication. For example, the ESP32 and ESP8266 microcontroller have been successfully implemented in such systems for the dedicated Wi-Fi integrated and efficient processing capabilities. The Arduino UNO microcontroller has been successfully implemented in such systems for the dedicated Wi-Fi,Bluetooth integrated and efficient processing capabilities[3].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COMMUNICATION LAYER</a:t>
            </a:r>
          </a:p>
        </p:txBody>
      </p:sp>
      <p:sp>
        <p:nvSpPr>
          <p:cNvPr id="3" name="Content Placeholder 2"/>
          <p:cNvSpPr>
            <a:spLocks noGrp="1"/>
          </p:cNvSpPr>
          <p:nvPr>
            <p:ph idx="1"/>
          </p:nvPr>
        </p:nvSpPr>
        <p:spPr/>
        <p:txBody>
          <a:bodyPr/>
          <a:lstStyle/>
          <a:p>
            <a:r>
              <a:t>The primary benefit of this layer is that it ensures the convergence of data from sensors and their transmission to centralized servers or cloud environments.</a:t>
            </a:r>
          </a:p>
          <a:p>
            <a:r>
              <a:t>Communication Modules:</a:t>
            </a:r>
          </a:p>
          <a:p>
            <a:r>
              <a:t>Wireless transmission of data is possible by the utilization of Wi-Fi and HC-05 (Bluetooth module). The module that best fits a solution depends on aspects like range, power requirements, and data requirements.</a:t>
            </a:r>
          </a:p>
          <a:p>
            <a:r>
              <a:t>Communication Protocols:</a:t>
            </a:r>
          </a:p>
          <a:p>
            <a:r>
              <a:t>Implementing the use of standardized communication protocols, such as MQTT and HTTP/HTTPS, could constitute a highly reliable and efficient mode of data exchange between devices and the servers[4].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PROCESSING AND STORAGE LAYER</a:t>
            </a:r>
          </a:p>
        </p:txBody>
      </p:sp>
      <p:sp>
        <p:nvSpPr>
          <p:cNvPr id="3" name="Content Placeholder 2"/>
          <p:cNvSpPr>
            <a:spLocks noGrp="1"/>
          </p:cNvSpPr>
          <p:nvPr>
            <p:ph idx="1"/>
          </p:nvPr>
        </p:nvSpPr>
        <p:spPr/>
        <p:txBody>
          <a:bodyPr/>
          <a:lstStyle/>
          <a:p>
            <a:r>
              <a:t>Once the data is received, this layer takes charge of the processing, analysis, and storage of the data. Key components include:</a:t>
            </a:r>
          </a:p>
          <a:p>
            <a:r>
              <a:t>CLOUD COMPUTING PLATFORMS:</a:t>
            </a:r>
          </a:p>
          <a:p>
            <a:r>
              <a:t>There are scalable resources available from AWS, Azure, Google Cloud for real-time processing and storage[5].</a:t>
            </a:r>
          </a:p>
          <a:p>
            <a:r>
              <a:t>DATABASE:</a:t>
            </a:r>
          </a:p>
          <a:p>
            <a:r>
              <a:t>Data stores, also known as structured storage solutions, such as SQL databases, GAFRANA databases, AdafruitIO database and real-time database are an organizational measure to ensure efficient retrieval and analysis[6].</a:t>
            </a:r>
          </a:p>
          <a:p>
            <a:r>
              <a:t>Data Analytics Tools:</a:t>
            </a:r>
          </a:p>
          <a:p>
            <a:r>
              <a:t>These various machine learning algorithms and statistical tools are pivotal in the interpretation of data patterns, forecasting the pollution trend, and generating implementable solutions[1].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LAYER</a:t>
            </a:r>
          </a:p>
        </p:txBody>
      </p:sp>
      <p:sp>
        <p:nvSpPr>
          <p:cNvPr id="3" name="Content Placeholder 2"/>
          <p:cNvSpPr>
            <a:spLocks noGrp="1"/>
          </p:cNvSpPr>
          <p:nvPr>
            <p:ph idx="1"/>
          </p:nvPr>
        </p:nvSpPr>
        <p:spPr/>
        <p:txBody>
          <a:bodyPr/>
          <a:lstStyle/>
          <a:p>
            <a:r>
              <a:t>This interaction layer provided interfaces for stakeholders to engage with the system. Said interfaces included:</a:t>
            </a:r>
          </a:p>
          <a:p>
            <a:r>
              <a:t>Web and Mobile Applications:</a:t>
            </a:r>
          </a:p>
          <a:p>
            <a:r>
              <a:t>A user-friendly facility will provide the real-time air quality data together with historical perspectives and predictive analytics. Such applications can also send alerts whenever the pollutants in the air reach defined thresholds[2].</a:t>
            </a:r>
          </a:p>
          <a:p>
            <a:r>
              <a:t>APIs:</a:t>
            </a:r>
          </a:p>
          <a:p>
            <a:r>
              <a:t>Application Programming Interfaces allow third party developers access to data so that they can integrate it into other applications or services, thereby enabling and extending value and innovation[4].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POWER MANAGEMENT LAYER</a:t>
            </a:r>
          </a:p>
        </p:txBody>
      </p:sp>
      <p:sp>
        <p:nvSpPr>
          <p:cNvPr id="3" name="Content Placeholder 2"/>
          <p:cNvSpPr>
            <a:spLocks noGrp="1"/>
          </p:cNvSpPr>
          <p:nvPr>
            <p:ph idx="1"/>
          </p:nvPr>
        </p:nvSpPr>
        <p:spPr/>
        <p:txBody>
          <a:bodyPr/>
          <a:lstStyle/>
          <a:p>
            <a:r>
              <a:t>This layer mainly focuses on ensuring continuous operation, specifically in remote areas:</a:t>
            </a:r>
          </a:p>
          <a:p>
            <a:r>
              <a:t>Power Sources:</a:t>
            </a:r>
          </a:p>
          <a:p>
            <a:r>
              <a:t>Incorporation of renewable energy sources, such as solar panels and weatherproof housing can provide sustainable power solutions for the sensing units[6].</a:t>
            </a:r>
          </a:p>
          <a:p>
            <a:r>
              <a:t>Energy Harvesting Modules:</a:t>
            </a:r>
          </a:p>
          <a:p>
            <a:r>
              <a:t>These modules collect and store energy from environmental sources, enhancing the system's autonomy and reducing maintenance requirements[7].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 DIAGRAM</a:t>
            </a:r>
          </a:p>
        </p:txBody>
      </p:sp>
      <p:sp>
        <p:nvSpPr>
          <p:cNvPr id="3" name="Content Placeholder 2"/>
          <p:cNvSpPr>
            <a:spLocks noGrp="1"/>
          </p:cNvSpPr>
          <p:nvPr>
            <p:ph idx="1"/>
          </p:nvPr>
        </p:nvSpPr>
        <p:spPr/>
        <p:txBody>
          <a:bodyPr/>
          <a:lstStyle/>
          <a:p>
            <a:r>
              <a:t>The system architecture diagram of air quality index meter system figure as shown below:</a:t>
            </a:r>
          </a:p>
          <a:p>
            <a:r>
              <a:t>Figure 3.1:SYSTEM ARCHITECTURE OF AIR QUALITY INDEX METER SYSTEM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BLOCK DIAGRAM</a:t>
            </a:r>
          </a:p>
        </p:txBody>
      </p:sp>
      <p:sp>
        <p:nvSpPr>
          <p:cNvPr id="3" name="Content Placeholder 2"/>
          <p:cNvSpPr>
            <a:spLocks noGrp="1"/>
          </p:cNvSpPr>
          <p:nvPr>
            <p:ph idx="1"/>
          </p:nvPr>
        </p:nvSpPr>
        <p:spPr/>
        <p:txBody>
          <a:bodyPr/>
          <a:lstStyle/>
          <a:p>
            <a:r>
              <a:t>The following block diagram shows how hardware and software components are integrated to create an ideal Air Quality Index Meter System for our FYP thesis. The breakdown of major components and how these interact is here: The block diagram of air quality index meter system figure as shown below[1]:</a:t>
            </a:r>
          </a:p>
          <a:p>
            <a:r>
              <a:t>Figure 3.2:BLOCK DIAGRAM OF AIR QUALITY INDEX METER SYSTEM</a:t>
            </a:r>
          </a:p>
          <a:p>
            <a:r>
              <a:t>Explanation of the block diagram:</a:t>
            </a:r>
          </a:p>
          <a:p>
            <a:r>
              <a:t>HARDWARE COMPONENTS</a:t>
            </a:r>
          </a:p>
          <a:p>
            <a:r>
              <a:t>Microcontrollers:</a:t>
            </a:r>
          </a:p>
          <a:p>
            <a:r>
              <a:t>Its brain is composed of Arduino UNO, ESP32/ESP8266, where it processes all sensor data and handles communication.</a:t>
            </a:r>
          </a:p>
          <a:p>
            <a:r>
              <a:t>Sensors:</a:t>
            </a:r>
          </a:p>
          <a:p>
            <a:r>
              <a:t>The MQ-135 and MQ-5 gas sensors detect various air pollutants, while PM2.5 and PM10 sensors measure particulate matter.</a:t>
            </a:r>
          </a:p>
          <a:p>
            <a:r>
              <a:t>Connectivity:</a:t>
            </a:r>
          </a:p>
          <a:p>
            <a:r>
              <a:t>On a protocol service, the cloud platform transmits information through the Wi-Fi/Bluetooth module.</a:t>
            </a:r>
          </a:p>
          <a:p>
            <a:r>
              <a:t>Power Management:</a:t>
            </a:r>
          </a:p>
          <a:p>
            <a:r>
              <a:t>The battery design with charger setup and with power source adapter could allow both portable and fixed installations.</a:t>
            </a:r>
          </a:p>
          <a:p>
            <a:r>
              <a:t>Physical Components:</a:t>
            </a:r>
          </a:p>
          <a:p>
            <a:r>
              <a:t>The weatherproof housing offers outdoor protection and is equipped with a breadboard and connecting wires for prototyping.</a:t>
            </a:r>
          </a:p>
          <a:p>
            <a:r>
              <a:t>SOFTWARE  COMPONENTS</a:t>
            </a:r>
          </a:p>
          <a:p>
            <a:r>
              <a:t>Developed platforms:</a:t>
            </a:r>
          </a:p>
          <a:p>
            <a:r>
              <a:t>The Arduino Framework, VS Code, and PlatformIO IDE are utilized for firmware development.</a:t>
            </a:r>
          </a:p>
          <a:p>
            <a:r>
              <a:t>Mobile development:</a:t>
            </a:r>
          </a:p>
          <a:p>
            <a:r>
              <a:t>The use of Android Studio for custom mobile app creation and Blynk for rapid IOT interface development was utilized.</a:t>
            </a:r>
          </a:p>
          <a:p>
            <a:r>
              <a:t>Cloud Services:</a:t>
            </a:r>
          </a:p>
          <a:p>
            <a:r>
              <a:t>The use of Firebase, AWS IoT, ThingSpeak, Adafruit IO, and MQTT protocols for data storage, processing, and visualization.</a:t>
            </a:r>
          </a:p>
          <a:p>
            <a:r>
              <a:t>Data Analysis:</a:t>
            </a:r>
          </a:p>
          <a:p>
            <a:r>
              <a:t>The use of MATLAB, Python, Grafana, and Excel is utilized for data processing and visualization.</a:t>
            </a:r>
          </a:p>
          <a:p>
            <a:r>
              <a:t>System Integration:</a:t>
            </a:r>
          </a:p>
          <a:p>
            <a:r>
              <a:t>Libraries, APIs, authentication mechanisms, and version control (GitHub) are essential tools for ensuring secure and reliable operation.</a:t>
            </a:r>
          </a:p>
          <a:p>
            <a:r>
              <a:t>DATA FLOW:</a:t>
            </a:r>
          </a:p>
          <a:p>
            <a:r>
              <a:t>The red dashed line illustrates the process of data flow from sensors within the system.</a:t>
            </a:r>
          </a:p>
          <a:p>
            <a:r>
              <a:t>Sensors are devices that collect data on air quality.</a:t>
            </a:r>
          </a:p>
          <a:p>
            <a:r>
              <a:t>Microcontrollers are used to process this data.</a:t>
            </a:r>
          </a:p>
          <a:p>
            <a:r>
              <a:t>WiFi/Bluetooth modules are devices that transmit data to cloud services.</a:t>
            </a:r>
          </a:p>
          <a:p>
            <a:r>
              <a:t>The data is analyzed and visualized using various platforms.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MICROCONTROLLERS(ARDUINO UNO,ESP32 AND ESP8266)</a:t>
            </a:r>
          </a:p>
        </p:txBody>
      </p:sp>
      <p:sp>
        <p:nvSpPr>
          <p:cNvPr id="3" name="Content Placeholder 2"/>
          <p:cNvSpPr>
            <a:spLocks noGrp="1"/>
          </p:cNvSpPr>
          <p:nvPr>
            <p:ph idx="1"/>
          </p:nvPr>
        </p:nvSpPr>
        <p:spPr/>
        <p:txBody>
          <a:bodyPr/>
          <a:lstStyle/>
          <a:p>
            <a:r>
              <a:t>Microcontrollers serve as the foundation for the IoT-based - Air Quality Index (AQI) Meter System. They act as the units controlling and collecting environmental data, processing it, and sending it later for transmission. The system uses three microcontroller platforms, namely - Arduino Uno, ESP32, and ESP8266- aiming for modularity, scalability, and sensor integration at its best.</a:t>
            </a:r>
          </a:p>
          <a:p>
            <a:r>
              <a:t>ARDUION UNO:</a:t>
            </a:r>
          </a:p>
          <a:p>
            <a:r>
              <a:t>The Arduino Uno is a reliable microcontroller unit (MCU) with 14 digital input/output pins, 6 analog inputs, and a 16 MHz crystal oscillator, suitable for interfacing with analog gas sensors like MQ-135 and MQ-5. Its robust performance and open-source development environment make it ideal for preliminary data acquisition and analog-to-digital conversion before transferring data to communication-oriented microcontrollers like ESP8266 or ESP32</a:t>
            </a:r>
          </a:p>
          <a:p>
            <a:r>
              <a:t>ESP32:</a:t>
            </a:r>
          </a:p>
          <a:p>
            <a:r>
              <a:t>Espressif Systems has designed the ESP32, which is a powerful dual-core microcontroller with built-in Wi-Fi and Bluetooth functionality. It includes several GPIOs, ADC channels, I2C, SPI, and UART interfaces, all of which make the microcontroller suitable for dealing with complex sensor arrays, including PM2.5 and PM10 laser dust sensors (like PMS5003) and digital temperature and humidity sensors. The high processing speed and large memory capacity of the unit render it most suitable for edge computation, data filtering, and threshold analysis. The ESP32 also operates secure wireless communication to cloud platforms like ThingSpeak, Firebase, and AWS IoT via HTTP, HTTPS, and MQTT protocols.</a:t>
            </a:r>
          </a:p>
          <a:p>
            <a:r>
              <a:t>ESP8266:</a:t>
            </a:r>
          </a:p>
          <a:p>
            <a:r>
              <a:t>The ESP8266 serves as an inexpensive MCU with Wi-Fi capabilities, suitable for real-time data transfer. While this chip utilizes a single-core processor, only the essential communication protocols are supported to provide enough power for tasks such as formatting JSON data, sending HTTP POST requests, and handling Wi-Fi SSIDs. Primarily, the ESP8266 node in a distributed sensing environment is capable of communication with a central ESP32 or cloud server for the transfer of real-time AQI data. This complete integrated sensing system operates with the various microcontrollers: The Arduino Uno serves as the front-end sensor data reader; ESP32 handles processing and cloud interfacing; and ESP8266 provides distributed communication in a low-power IoT framework. Therefore, they work together to provide an efficient, real-time AQI monitoring system with the possibility of scalable implementation in both indoor and outdoor settings.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AIR QUALITY SENSORS(MQ-135(AIR QUALITY),MQ-5 (GAS),PM2.5 AND PM10 SENSORS)</a:t>
            </a:r>
          </a:p>
        </p:txBody>
      </p:sp>
      <p:sp>
        <p:nvSpPr>
          <p:cNvPr id="3" name="Content Placeholder 2"/>
          <p:cNvSpPr>
            <a:spLocks noGrp="1"/>
          </p:cNvSpPr>
          <p:nvPr>
            <p:ph idx="1"/>
          </p:nvPr>
        </p:nvSpPr>
        <p:spPr/>
        <p:txBody>
          <a:bodyPr/>
          <a:lstStyle/>
          <a:p>
            <a:r>
              <a:t>Real-time assessment of the environmental health requires the system to accurately detect and monitor air pollutants. To achieve this, several specialized sensors are integrated into the proposed IoT-based Air Quality Index (AQI) Meter System:</a:t>
            </a:r>
          </a:p>
          <a:p>
            <a:r>
              <a:t>MQ-135 AIR QUALITY SENSOR:</a:t>
            </a:r>
          </a:p>
          <a:p>
            <a:r>
              <a:t>MQ135 is one of the standard gas sensors for measuring different poisonous and harmful gases like ammonia (NH3), sulfide (H2S), benzene, and carbon dioxide (CO2) as well as smoke. The sensor consists of a tin dioxide (SnO2) sensitive layer, and its conductivity varies with gas concentration in the air. The analog voltage output is sent to a microcontroller (e.g., ESP32) to convert this data into an index of air quality.</a:t>
            </a:r>
          </a:p>
          <a:p>
            <a:r>
              <a:t>Range:</a:t>
            </a:r>
          </a:p>
          <a:p>
            <a:r>
              <a:t>The concentration ranges from 10 to 1000 ppm.</a:t>
            </a:r>
          </a:p>
          <a:p>
            <a:r>
              <a:t>Response time:</a:t>
            </a:r>
          </a:p>
          <a:p>
            <a:r>
              <a:t>The time frame is less than 10 seconds.</a:t>
            </a:r>
          </a:p>
          <a:p>
            <a:r>
              <a:t>Preheating Time:</a:t>
            </a:r>
          </a:p>
          <a:p>
            <a:r>
              <a:t>Accurate readings typically take 24-48 hours.</a:t>
            </a:r>
          </a:p>
          <a:p>
            <a:r>
              <a:t>Applications:</a:t>
            </a:r>
          </a:p>
          <a:p>
            <a:r>
              <a:t>The task involves assessing the general indoor air quality and detecting any harmful gas leakage.</a:t>
            </a:r>
          </a:p>
          <a:p>
            <a:r>
              <a:t>MQ-5 GAS SENSORS:</a:t>
            </a:r>
          </a:p>
          <a:p>
            <a:r>
              <a:t>MQ-5 sensors are for the detection of LPG, natural gas (methane), hydrogen (H2), and alcohol vapors. It can identify gas leaks in the environment and is a component of the overall gas monitoring module of the AQI system. Like the MQ-135, it also uses SnO2 as the sensing material and gives an analog output corresponding to gas concentration.</a:t>
            </a:r>
          </a:p>
          <a:p>
            <a:r>
              <a:t>Detection range:</a:t>
            </a:r>
          </a:p>
          <a:p>
            <a:r>
              <a:t>200-10,000 ppm is the recommended concentration for a substance.</a:t>
            </a:r>
          </a:p>
          <a:p>
            <a:r>
              <a:t>Applications:</a:t>
            </a:r>
          </a:p>
          <a:p>
            <a:r>
              <a:t>Its involves leak detection in both indoor and outdoor spaces, as well as industrial gas monitoring.</a:t>
            </a:r>
          </a:p>
          <a:p>
            <a:r>
              <a:t>Interface:</a:t>
            </a:r>
          </a:p>
          <a:p>
            <a:r>
              <a:t>The process of providing analog and digital output to microcontrollers.</a:t>
            </a:r>
          </a:p>
          <a:p>
            <a:r>
              <a:t>PM2.5 AND PM10 SENSORS:</a:t>
            </a:r>
          </a:p>
          <a:p>
            <a:r>
              <a:t>Thus, the system would integrate laser optical sensors, for example, Plantower PMS5003 or Nova PM SDS011, to measure the concentration of particulate matter in the form of PM2.5 and PM10. PM2.5 pearls are those less than 2.5 microns in size, while PM10s can be a maximum of 10 microns in size. These fine particles have adverse respiratory health effects and are used as important indicators in the Air Quality Index.</a:t>
            </a:r>
          </a:p>
          <a:p>
            <a:r>
              <a:t>PM2.5 Detection Range:</a:t>
            </a:r>
          </a:p>
          <a:p>
            <a:r>
              <a:t>The concentration ranges from 0 to 500 µg/m³.</a:t>
            </a:r>
          </a:p>
          <a:p>
            <a:r>
              <a:t>PM10 Detection Range:</a:t>
            </a:r>
          </a:p>
          <a:p>
            <a:r>
              <a:t>The concentration ranges from 0–1000 µg/m³</a:t>
            </a:r>
          </a:p>
          <a:p>
            <a:r>
              <a:t>Principle:</a:t>
            </a:r>
          </a:p>
          <a:p>
            <a:r>
              <a:t>Light scattering, specifically laser detection, is a method used to detect and analyze light waves.</a:t>
            </a:r>
          </a:p>
          <a:p>
            <a:r>
              <a:t>Features:</a:t>
            </a:r>
          </a:p>
          <a:p>
            <a:r>
              <a:t>The system offers high precision, real-time sampling, and UART digital communication.</a:t>
            </a:r>
          </a:p>
          <a:p>
            <a:r>
              <a:t>These sensors working together enable the AQI system to detect gaseous and particulate pollutants, thereby offering a comprehensive picture of environmental air quality under both indoor and outdoor conditions.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CONNECTIVITY MODULE(WiFi/ BLUETOOTH MODULES)</a:t>
            </a:r>
          </a:p>
        </p:txBody>
      </p:sp>
      <p:sp>
        <p:nvSpPr>
          <p:cNvPr id="3" name="Content Placeholder 2"/>
          <p:cNvSpPr>
            <a:spLocks noGrp="1"/>
          </p:cNvSpPr>
          <p:nvPr>
            <p:ph idx="1"/>
          </p:nvPr>
        </p:nvSpPr>
        <p:spPr/>
        <p:txBody>
          <a:bodyPr/>
          <a:lstStyle/>
          <a:p>
            <a:r>
              <a:t>The backbone of real-time environmental monitoring in the proposed IoT-based Air Quality Index (AQI) Meter System lies in the connectivity module, which allows uninterrupted wireless communication between the sensing unit, processing unit, and cloud infrastructure. The system sends data from the sensors to the cloud via Wi-Fi and Bluetooth modules installed in the ESP32 and ESP8266, with the Arduino Uno acting as a central controller for sensor data fetching and preliminary processing. The subsystems of Arduino Uno constitute an immensely popular microcontroller platform interfacing with an environmental sensing array of PM2.5, PM10, and MQ series of gas sensors, such as MQ-135 and MQ-5. Thus, it collects analog and digital information and transmits the processed data to the ESP8266/ESP32 through serial (UART) communication, which then wirelessly transfers the information via Wi-Fi IEEE 802.11 b/g/n to cloud services like ThingSpeak, Firebase, or AWS IoT. Such a hybrid framework divides the workload for sensor interfacing onto the Arduino Uno while taking advantage of wireless operations by the ESP modules. ESP32 with BLE 4.2 Bluetooth interface as an alternative local communication link will serve in unavailability of internet access or for mobile device local configurations, data synchronization, or maintenance tasks. Devices and cloud servers exchange messages over secure and efficient protocols like HTTP/HTTPS and MQTT, giving rise to remote alert notification, web dashboard visualization, and historical trends analysis. By combining the two main blocks of this environmental monitoring project-the Arduino Uno and WiFi/Bluetooth-capable ESP modules-the system ensures modular scalability, low power operation, and robust connectivity, fulfilling key IoT architectural requirements for environmental monitoring.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POWER MANAGEMENT(BATTERY PACK,POWER ADAPTER AND CHARGER SETUP)</a:t>
            </a:r>
          </a:p>
        </p:txBody>
      </p:sp>
      <p:sp>
        <p:nvSpPr>
          <p:cNvPr id="3" name="Content Placeholder 2"/>
          <p:cNvSpPr>
            <a:spLocks noGrp="1"/>
          </p:cNvSpPr>
          <p:nvPr>
            <p:ph idx="1"/>
          </p:nvPr>
        </p:nvSpPr>
        <p:spPr/>
        <p:txBody>
          <a:bodyPr/>
          <a:lstStyle/>
          <a:p>
            <a:r>
              <a:t>Essentially, power management becomes an important part of the design of any environmental monitoring system based on the internet of things. System applications where real-time, continuous transmission of data is required will find this feature to be most critical, such as in Air Quality Index (AQI) Meter system applications. Stationary and portable modules have been planned in the system, which, of course, necessitate flexible yet reliable power supply options. The power management subsystem comprises three main components, which are Battery Pack, Power Adapter, and Charger Setup.</a:t>
            </a:r>
          </a:p>
          <a:p>
            <a:r>
              <a:t>BATTERY PACK:</a:t>
            </a:r>
          </a:p>
          <a:p>
            <a:r>
              <a:t>It uses a battery pack that consists of Li-Po comprises about 2200mAh to 5000mAh and 3.7 to 7.4V at the output ratings depending on the hardware installed. Li-Polymer batteries are highly advantageous in energy density, compact design, and stable voltage output, making them a good choice for microcontroller-based node applications such as those using the ESP32 and ESP8266. The LDOs or buck converters used support the regulation of voltage within the range of 3.3V or 5V for the required modules. Battery status monitoring also includes an ADC pin on the ESP32 for voltage measurement and thresholds for low-battery alerts.</a:t>
            </a:r>
          </a:p>
          <a:p>
            <a:r>
              <a:t>POWER ADAPTER:</a:t>
            </a:r>
          </a:p>
          <a:p>
            <a:r>
              <a:t>In cases for stationary setup, the system utilizes a DC power adapter (mostly used are 9V/12V, 2A) that anchors operation without interruption. This becomes connected to a regulator circuit (for example, AMS1117-3.3 or LM2596) that converts the voltage into input levels required by microcontrollers and sensors. The voltage of the adapter is selected for allowing high currents only for Wi-Fi transmission and sensor activation so that brown-out resets and data loss do not occur.</a:t>
            </a:r>
          </a:p>
          <a:p>
            <a:r>
              <a:t>CHARGER SETUP</a:t>
            </a:r>
          </a:p>
          <a:p>
            <a:r>
              <a:t>Typically, a charging module such as a TP4056 is available for single-cell Li-Po batteries and comes set up to recharge the battery pack via a micro-USB or Type-C connection. The pack features overcharge, over-discharge, and short-circuit protection for safe operation, as well as an increased life of the battery. The module is connected parallel with a diode-isolated power switch circuit to keep up the system's operation while charging, since it is one of the requirements for a continually monitoring air quality. An entirely integrated Power Path Management (PPM) technology is being implemented that allows power switching for the adapter and battery backup without a system reboot. This guarantees integrity and stability of the system against power fluctuations. The entire system is optimized in power consumption using deep sleep modes and wake-on-interrupt routines in firmware, reducing the energy spent during idle times while still able to perform periodically accurate sensing and transmission.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PHYSICAL COMPONENTS(WEATHERPROOF HOUSING, BREADBOARD AND CONNECTING WIRES)</a:t>
            </a:r>
          </a:p>
        </p:txBody>
      </p:sp>
      <p:sp>
        <p:nvSpPr>
          <p:cNvPr id="3" name="Content Placeholder 2"/>
          <p:cNvSpPr>
            <a:spLocks noGrp="1"/>
          </p:cNvSpPr>
          <p:nvPr>
            <p:ph idx="1"/>
          </p:nvPr>
        </p:nvSpPr>
        <p:spPr/>
        <p:txBody>
          <a:bodyPr/>
          <a:lstStyle/>
          <a:p>
            <a:r>
              <a:t>WEATHERPROOF HOUSING:</a:t>
            </a:r>
          </a:p>
          <a:p>
            <a:r>
              <a:t>It prevents the carrying air quality monitoring systems from indoor to outdoor basements as used with durable and reliable weatherproof housings. It really keeps the very sensitive components, which are sensors, microcontrollers like ESP32 and ESP8266, and other modules for power from being affected by outdoor conditions like rain, humidity, dust, or extremes of temperature. The built-in design gives ventilation slots to an open-air circulation environment that lets the sensors take measurements of real-time parameters but stops water ingress. Materials for consideration in the housing would be UV-resistant ABS plastic or a neoprene-like material that would be high impact resistant and insulated. Also frequently used are IP65 or IP66 rated for such research-grade outdoor IoT deployments, as they provide the deterrent to extreme environmental influences.</a:t>
            </a:r>
          </a:p>
          <a:p>
            <a:r>
              <a:t>"Enclosure design is essential for maintaining sensor integrity in real-time environmental monitoring, especially in outdoor deployments where weather fluctuations are significant" [1].</a:t>
            </a:r>
          </a:p>
          <a:p>
            <a:r>
              <a:t>BREADBOARD:</a:t>
            </a:r>
          </a:p>
          <a:p>
            <a:r>
              <a:t>The breadboard gets used for prototype development when you need temporary non-soldering connections among the microcontroller, the various sensors (MQ-135, MQ-5, PM2.5PM10), the power supply, and all those other components. As a component of experimentation with the circuits before finalizing a printed circuit board (PCB) layout, it allows quick tests and adjustments to be made at any time. With So, one rapid prototyping allows students and researchers to attempt system architecture without damage to circuitry components. Long-term deployment of components would mean transferring the connections made by employing the breadboard to a PCB or soldering the connections onto perforated boards to secure circuit stability.</a:t>
            </a:r>
          </a:p>
          <a:p>
            <a:r>
              <a:t>"Prototyping on a breadboard enables fast and flexible testing of IoT circuit designs, especially for sensor interfacing and microcontroller integration" [2].</a:t>
            </a:r>
          </a:p>
          <a:p>
            <a:r>
              <a:t>CONNECTING WIRES:</a:t>
            </a:r>
          </a:p>
          <a:p>
            <a:r>
              <a:t>Connecting wires are also used to provide electrical pathways between the components on the breadboard and also to the microcontrollers. There are male-to-male, male-to-female, or female-to-female types of jumpers depending on the configuration of the pins on the sensors and modules. Signal integrity and power loss minimize well-constructed wires of an appropriate gauge (usually 22AWG to 26AWG). Color coding of wiring ensures that they read clearly and, therefore, reduce errors in installation and maintenance. Normally, these wires would constitute all power lines (VCC, GND0 lines) as well as some data and control lines such as GPIOs, I2C, SPI, and UART.</a:t>
            </a:r>
          </a:p>
          <a:p>
            <a:r>
              <a:t>"Reliable electrical connectivity through jumper wires ensures stable sensor readings and uninterrupted data communication in embedded IoT systems" [3].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DEVELOPMENT PLATFORMS (ARDUINO FRAMEWORK,VS CODE FIRMWARE,PLATFORMIO IDE)</a:t>
            </a:r>
          </a:p>
        </p:txBody>
      </p:sp>
      <p:sp>
        <p:nvSpPr>
          <p:cNvPr id="3" name="Content Placeholder 2"/>
          <p:cNvSpPr>
            <a:spLocks noGrp="1"/>
          </p:cNvSpPr>
          <p:nvPr>
            <p:ph idx="1"/>
          </p:nvPr>
        </p:nvSpPr>
        <p:spPr/>
        <p:txBody>
          <a:bodyPr/>
          <a:lstStyle/>
          <a:p>
            <a:r>
              <a:t>A combination of modern development platforms and software tools was used to assure that a sound, large-scale, and real-time application existed for air quality monitoring. These tools were crucial for programming the microcontrollers, integrating the sensor libraries, managing data communication, and deploying the firmware with ease.</a:t>
            </a:r>
          </a:p>
          <a:p>
            <a:r>
              <a:t>ARDUINO FRAMWORK:</a:t>
            </a:r>
          </a:p>
          <a:p>
            <a:r>
              <a:t>The firmware development of ESP32 and ESP8266 microcontrollers had been done in the Arduino framework. It provided an abstraction layer for low-level hardware interfacing, allowing for easy integration of environmental sensors, including MQ-135, MQ-5, PM2.5, and PM10. The Arduino API's simplicity allowed for the rapid development and debugging of sensor data acquisition, analog-to-digital conversions, and Wi-Fi communication.</a:t>
            </a:r>
          </a:p>
          <a:p>
            <a:r>
              <a:t>VS CODE FIRMWARE:</a:t>
            </a:r>
          </a:p>
          <a:p>
            <a:r>
              <a:t>Developers mostly used Visual Studio Code for firmware and application development. Its plethora of plugins and Git version control support made project management a neat work. Productivity got a major boost from syntax highlighting, IntelliSense, and debugging features. Besides, it worked well with PlatformIO for project configuration and dependency management.</a:t>
            </a:r>
          </a:p>
          <a:p>
            <a:r>
              <a:t>PLATFORMIO IDE:</a:t>
            </a:r>
          </a:p>
          <a:p>
            <a:r>
              <a:t>Then, PlatformIO was used as the core development environment because it supports embedded systems especially in boards made ESP for it. Unified platform which supports different toolchains, library management and auto build configurations. Because of PlatformIO’ s integration with VS Code, it had enabled multi-board targets at the same time, streamlined over-the-air firmware updates and provided test and deployed environments. These are the development platforms where the structured development cycle of the system happened, with sensors calibration, Wi-Fi configuration, HTTP/MQTT communication, and cloud data visualization including services like ThingSpeak and Firebase. This full-blown development environment translates theoretical design into a functioning prototype called an IoT- based air quality monitoring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MOBILE DEVELOPMENT(ANDROID STUDIO,BLYNK APP)</a:t>
            </a:r>
          </a:p>
        </p:txBody>
      </p:sp>
      <p:sp>
        <p:nvSpPr>
          <p:cNvPr id="3" name="Content Placeholder 2"/>
          <p:cNvSpPr>
            <a:spLocks noGrp="1"/>
          </p:cNvSpPr>
          <p:nvPr>
            <p:ph idx="1"/>
          </p:nvPr>
        </p:nvSpPr>
        <p:spPr/>
        <p:txBody>
          <a:bodyPr/>
          <a:lstStyle/>
          <a:p>
            <a:r>
              <a:t>The user-focused mobile application becomes most important in the future development of the IoT-based Air Quality Index (AQI) Meter System since it allows users to access, monitor, and visualize environmental data in real time. Alongside creating mobile development, this work involved two major platforms, that is Android Studio and Blynk IoT mobile application, which in turn provided easy frameworks by which responsive interfaces could take shape and IoT integration be seamless.</a:t>
            </a:r>
          </a:p>
          <a:p>
            <a:r>
              <a:t>ANDROID STUDIO DEVELOPMENT:</a:t>
            </a:r>
          </a:p>
          <a:p>
            <a:r>
              <a:t>The environment being used is Android Studio, the offer-integrated development environment for Android application programming due to its responsiveness, outstanding library support, and in-built debugging tools. The application development was done in Java, using XML for UI designing, and APIs were also incorporated to fetch data from cloud service providers like Firebase and ThingSpeak. The app displays real-time AQI values, including PM2.5, PM10, MQ-5, AND MQ-135, coming from sensors interfaced with the ESP32/ESP8266 microcontroller. Above this, the application creates alerts for users based on threshold values whenever pollution levels go above certain defined limits to ensure greater user awareness and possible response time.</a:t>
            </a:r>
          </a:p>
          <a:p>
            <a:r>
              <a:t>Key modules of the Android application include:</a:t>
            </a:r>
          </a:p>
          <a:p>
            <a:r>
              <a:t>DATA FETCHING  MODULE:</a:t>
            </a:r>
          </a:p>
          <a:p>
            <a:r>
              <a:t>Use REST API in conjunction of Firebase Real-Time Database in order to determine the right call at the right time.</a:t>
            </a:r>
          </a:p>
          <a:p>
            <a:r>
              <a:t>UI DASHBOARD:</a:t>
            </a:r>
          </a:p>
          <a:p>
            <a:r>
              <a:t>It is an application which has been employed to manage the user's readymade business in a systematic and orderly manner.</a:t>
            </a:r>
          </a:p>
          <a:p>
            <a:r>
              <a:t>NOTIFICATION MODULE:</a:t>
            </a:r>
          </a:p>
          <a:p>
            <a:r>
              <a:t>This weather warning information presents Android with push notifications.</a:t>
            </a:r>
          </a:p>
          <a:p>
            <a:r>
              <a:t>SETTING INTERFACE:</a:t>
            </a:r>
          </a:p>
          <a:p>
            <a:r>
              <a:t>Optionally enhance cloud integration (uploading data directly to the cloud and optimized for the mobile web) as automatic procedure for requesting everyday offers.</a:t>
            </a:r>
          </a:p>
          <a:p>
            <a:r>
              <a:t>BLYNK APP INTERGATION:</a:t>
            </a:r>
          </a:p>
          <a:p>
            <a:r>
              <a:t>A secondary monitoring interface has been developed with the support of the Blynk IOT platform. Its simple drag-and-drop widget system enables users to prototype IOT applications rapidly and allows an easy connection with any ESP32/ESP2866 through WiFi. The Blynk mobile application mobile displays live data with the help of widgets such as gauges, graphs, and LED indicators. Integration was completed using Blynk Cloud and the Blynk HTTP API with device tokens used for authentication. It allowed rapid prototyping and deployment of IOT functionalities for the entire project, mainly in the testing and prototyping phases.</a:t>
            </a:r>
          </a:p>
          <a:p>
            <a:r>
              <a:t>COMPARATIVE PERSPECTIVE  AND JUSTIFICATION:</a:t>
            </a:r>
          </a:p>
          <a:p>
            <a:r>
              <a:t>The combination of Android Studio and Blynk is that the former is for high-end applications with maximum flexibility, embedded operation, and complex logic computations, while the latter   is for rapidly prototyping applications with cloud integration that are easy to use. Basically, it is for testing ground deployments and demos, so the dual approach fortifies the entire application while also providing flexibility for various user needs.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CLOUD AND IOT SERVICES (FIREBASE,AWSIOT, THINGSPEAK,ADAFRUITIO AND MQTT PROTOCOLS)</a:t>
            </a:r>
          </a:p>
        </p:txBody>
      </p:sp>
      <p:sp>
        <p:nvSpPr>
          <p:cNvPr id="3" name="Content Placeholder 2"/>
          <p:cNvSpPr>
            <a:spLocks noGrp="1"/>
          </p:cNvSpPr>
          <p:nvPr>
            <p:ph idx="1"/>
          </p:nvPr>
        </p:nvSpPr>
        <p:spPr/>
        <p:txBody>
          <a:bodyPr/>
          <a:lstStyle/>
          <a:p>
            <a:r>
              <a:t>The intercommunication of cloud services and Internet of Things enables real-time data environment monitoring, storage, and analysis of the environment in an IoT-based Air Quality Index (AQI) Meter System. Within the system, microcontrollers like ESP32 and ESP8266 act as interfacing platforms for gas and particulate sensors. The collected data is sent by Wi-Fi through MQTT protocol to different cloud platforms like Firebase, AWS IoT Core, and ThingSpeak. These platforms provide scalability, remote access, data analysis, and alert services that are significant for environmental monitoring systems.</a:t>
            </a:r>
          </a:p>
          <a:p>
            <a:r>
              <a:t>FIREBASE:</a:t>
            </a:r>
          </a:p>
          <a:p>
            <a:r>
              <a:t>Firebase, which has been developed by Google, is also a very intense Backend-as-a-Service (BaaS), provided to synchronously maintain the real-time databases along with cloud messaging and user authentication. It would mainly push the AQI sensor data from the ESP32 into Firebase Realtime Database or Firestore for instantaneous updating across many clients. Firebase Cloud Functions will also trigger the alerts whenever there is a surge in pollutant values above threshold levels, thus containing the entire system's responsiveness and reliability.</a:t>
            </a:r>
          </a:p>
          <a:p>
            <a:r>
              <a:t>EXAMPLE USE:</a:t>
            </a:r>
          </a:p>
          <a:p>
            <a:r>
              <a:t>A Firebase Cloud Function alerts the mobile app if the PM2.5 readings cross over the 100 µg/m³ level and PM10 readings cross over the 1000 µg/m³ level in order to keep the user safe.</a:t>
            </a:r>
          </a:p>
          <a:p>
            <a:r>
              <a:t>AWS IOT CORE:</a:t>
            </a:r>
          </a:p>
          <a:p>
            <a:r>
              <a:t>AWS IoT Core could be called a secure and scalable platform that connects devices to the cloud. It offers MQTT message brokering, authenticates devices with X.509 certificates, and integrates tightly with AWS Lambda and DynamoDB. It will be using AWS IoT as a means to publish environmental data using MQTT topics, and store in DynamoDB while visualizing some of its trends on both AWS Quick Sight and Grafana.</a:t>
            </a:r>
          </a:p>
          <a:p>
            <a:r>
              <a:t>BENEFITS:</a:t>
            </a:r>
          </a:p>
          <a:p>
            <a:r>
              <a:t>The devices' Shadows synchronize offline states, whereas the Engine Rules serve in routing analytics pipeline directly.</a:t>
            </a:r>
          </a:p>
          <a:p>
            <a:r>
              <a:t>THINGSPEAK:</a:t>
            </a:r>
          </a:p>
          <a:p>
            <a:r>
              <a:t>ThingSpeak, an IoT analytics platform developed by MathWorks, is useful for real-time visualization and storage of sensor data. MATLAB-based analytics are provided, and MQTT and HTTP protocols are supported for data ingestion. The AQI system uploads data through HTTPS POST requests to ThingSpeak channels waiting for public or private dashboards. MATLAB scripts are embedded to compute the AQI from raw data of PM2.5 and PM10.</a:t>
            </a:r>
          </a:p>
          <a:p>
            <a:r>
              <a:t>REFERENCE  IMPLEMENTATION:</a:t>
            </a:r>
          </a:p>
          <a:p>
            <a:r>
              <a:t>Every air pollution factor reported on a ThingSpeak channel is linked to a channel field and is refreshed every 15 seconds.</a:t>
            </a:r>
          </a:p>
          <a:p>
            <a:r>
              <a:t>ADAFRUIT IO:</a:t>
            </a:r>
          </a:p>
          <a:p>
            <a:r>
              <a:t>Adafruit IO is a simple cloud service that is used for IoT prototyping and dashboard UI visualization. Adafruit IO support REST API and MQTT protocols alongside numerous ESP-based board platforms. For the AQI system, Adafruit IO makes MQTT integration easier and has real-time feed dashboards. Sensor data streams published under MQTT topics allow the users to subscribe from mobile or web dashboards.</a:t>
            </a:r>
          </a:p>
          <a:p>
            <a:r>
              <a:t>USE CASES:</a:t>
            </a:r>
          </a:p>
          <a:p>
            <a:r>
              <a:t>Remote alerts and interactive power or alert reset toggling from the Adafruit dashboard.</a:t>
            </a:r>
          </a:p>
          <a:p>
            <a:r>
              <a:t>MQTT PROTCOLS:</a:t>
            </a:r>
          </a:p>
          <a:p>
            <a:r>
              <a:t>MQTT is a lightweight, publish-subscribe network protocol suited for constrained environments. It plays an essential role in connecting ESP-based devices with all the aforementioned cloud platforms. The protocol provides low-latency communication, minimal bandwidth usage, and efficient power consumption, which are crucial for battery-operated AQI devices.</a:t>
            </a:r>
          </a:p>
          <a:p>
            <a:r>
              <a:t>IMPLEMENTATION DEVICES:</a:t>
            </a:r>
          </a:p>
          <a:p>
            <a:r>
              <a:t>The sensor device communicates the environmental data to such topics as /env/pm2_5, which are subscribed to clients who are AWS IoT, ThingSpeak, or Adafruit IO.</a:t>
            </a:r>
          </a:p>
          <a:p>
            <a:r>
              <a:t>Table 3.6:COMPARATIVE SUMMARY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ANALYSIS TOOLS (MATLAB,PYTHON,EXCEL,GRAFANA)</a:t>
            </a:r>
          </a:p>
        </p:txBody>
      </p:sp>
      <p:sp>
        <p:nvSpPr>
          <p:cNvPr id="3" name="Content Placeholder 2"/>
          <p:cNvSpPr>
            <a:spLocks noGrp="1"/>
          </p:cNvSpPr>
          <p:nvPr>
            <p:ph idx="1"/>
          </p:nvPr>
        </p:nvSpPr>
        <p:spPr/>
        <p:txBody>
          <a:bodyPr/>
          <a:lstStyle/>
          <a:p>
            <a:r>
              <a:t>Data collection, processing, analysis, and visualization are instrumental aspects of the IoT-based Air Quality Index (AQI) Meter System, in which air pollution characteristics are studied, hence leading to timely intervention. The system is composed of various gas and particulate sensors like PM2.5, PM10, MQ-135, and MQ-5, whereby the microcontroller units such as the ESP32 and ESP8266 acquire the data and transmit them wirelessly, in real time. Various tools for data analysis, namely, MATLAB, Python, Microsoft Excel, and Grafana, come together henceforth to process, analyze, and visualize the environmental data from the aforementioned sensors, each of which serves a purpose in the entire process.</a:t>
            </a:r>
          </a:p>
          <a:p>
            <a:r>
              <a:t>MATLAB:</a:t>
            </a:r>
          </a:p>
          <a:p>
            <a:r>
              <a:t>Mostly, MATLAB has been used for signal processing, statistical modeling, and predictive analysis. With the help of several higher-level functions and its extensive toolboxes (such as the Curve Fitting Toolbox and the Machine Learning Toolbox), this software can analyze pollution-level trends, filter noise from sensor data through moving average and Kalman filters and create regression models for AQI prediction. Moreover, it allows spectral analysis and time correlation studies of multiple pollutants against one another.</a:t>
            </a:r>
          </a:p>
          <a:p>
            <a:r>
              <a:t>PYTHON:</a:t>
            </a:r>
          </a:p>
          <a:p>
            <a:r>
              <a:t>Data parsing, machine learning, and cloud integration are the dreams of Python. Libraries such as Pandas and NumPy preprocess the raw sensor data; Matplotlib and Seaborn create custom plots, while Scikit-learn and TensorFlow are used to develop classification models that categorize pollution as Good, Moderate, or Unhealthy. In addition, the scripts are also responsible for API calls to ThingSpeak, Firebase, or AWS IOT and support the MQTT communication protocol.</a:t>
            </a:r>
          </a:p>
          <a:p>
            <a:r>
              <a:t>MICROSOFT EXCEL:</a:t>
            </a:r>
          </a:p>
          <a:p>
            <a:r>
              <a:t>Though preliminary data inspection, validation and analysis of trends have always found Excel as a dependable platform. Especially in the early stages of development, it is used to manually inspect sensor outputs and compute air quality index (AQI) based on weighted averages. Excel's charting tools make simple visual representations such as line graphs and bar charts for those stakeholders who prefer non-programmatic analysis.</a:t>
            </a:r>
          </a:p>
          <a:p>
            <a:r>
              <a:t>GRAFANA:</a:t>
            </a:r>
          </a:p>
          <a:p>
            <a:r>
              <a:t>Grafana is used for real-time visualization and monitoring of air quality indices. Real-time metrics of the air quality index are illustrated on dynamic charts and gauges by linking Grafana dashboards with cloud databases such as InfluxDB or Firebase. It has a dynamic threshold alerting system and historical data plotting, which is an excellent solution for environmental monitoring.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INTEGRATION (SENSOR/WiFi  LIBRARIES,API KEYS,HTTP/HTTPS,AUTHENTICATION MECHANISMS AND GITHUB(VERSION CONTROL))</a:t>
            </a:r>
          </a:p>
        </p:txBody>
      </p:sp>
      <p:sp>
        <p:nvSpPr>
          <p:cNvPr id="3" name="Content Placeholder 2"/>
          <p:cNvSpPr>
            <a:spLocks noGrp="1"/>
          </p:cNvSpPr>
          <p:nvPr>
            <p:ph idx="1"/>
          </p:nvPr>
        </p:nvSpPr>
        <p:spPr/>
        <p:txBody>
          <a:bodyPr/>
          <a:lstStyle/>
          <a:p>
            <a:r>
              <a:t>Integration is an important phase in development of a lifecycle although this is as much used in IoT-Based Air Quality Index Meter System. This phase connects several subsystems such as sensors, microcontrollers, Wi-Fi modules, cloud platforms, APIs, and user interfaces. Some of the important requirements for this integration process include data integrity, secure data communication, and new-age continual development and deployment using tools such as GitHub for version controls. Nations suffer as well in underdevelopment. The system integration phase is among the most vital in IoT-Based Air Quality Index (AQI) Meter System development life cycle. The actual system integration process involves joining and communication of different subsystems like sensors, microcontroller, Wi-Fi modules, cloud platforms, API and user interfaces. After full integration, features such as data integrity, secured communication, and ongoing development and deployment will be maintained through modern tools like GitHub for version control. Integration is a critical phase in the development lifecycle of the IoT-based Air Quality Index (AQI) Meter System. The point of integration among different subsystems like sensors, microcontrollers, Wi-Fi , cloud platform, APIs, and user interface is vice versa the development process. Data integrity, secured communication, and modern tools like GitHub for version controls in continuous development and deployment will be some requirements during this integration process. Integration would most definitely form an essential part of the developmental lifecycle in IoT-Based Air Quality Index (AQI) Meter System. The point of this integration lies in connecting many subsystems in the making of this system-sensors, microcontrollers, Wi-Fi modules, cloud platforms, APIs, or user interfaces. The requirements for data integrity, security in communication, and continuous development and deployment by the new age tools like GitHub for version controls will be maintained afterwards. Featured within the development lifecycle of the IoT-Based Air Quality Index (AQI) Meter System, integration is a key phase. It brings to the end different subsystems like sensors, microcontrollers, Wi-Fi modules, cloud platforms, APIs, and user interfaces. The whole process of integration would require maintaining data integrity, secured communication, and being constructed for modern tools like GitHub for version control in continuous development and deployment.</a:t>
            </a:r>
          </a:p>
          <a:p>
            <a:r>
              <a:t>SENSOR AND WiFi LIBRARIES:</a:t>
            </a:r>
          </a:p>
          <a:p>
            <a:r>
              <a:t>Sensor libraries are included in the firmware for effective communication between the sensors and the ESP32/ESP8266 microcontrollers, with the use of Arduino IDE and PlatformIO. The libraries used are as follows:</a:t>
            </a:r>
          </a:p>
          <a:p>
            <a:r>
              <a:t>ADAFRUIT UNIFIED SENSOR LIBRARY:</a:t>
            </a:r>
          </a:p>
          <a:p>
            <a:r>
              <a:t>The system provides a universal interface for sensors.</a:t>
            </a:r>
          </a:p>
          <a:p>
            <a:r>
              <a:t>MQ-135 AND MQ-5  LIBRARIES:</a:t>
            </a:r>
          </a:p>
          <a:p>
            <a:r>
              <a:t>The device supports analog readings for various gas concentrations such as CO2, NOx, and CH4 etc.</a:t>
            </a:r>
          </a:p>
          <a:p>
            <a:r>
              <a:t>PM2.5 AND PM10 SDS011 LIBRARY:</a:t>
            </a:r>
          </a:p>
          <a:p>
            <a:r>
              <a:t>The particulate matter sensor is enabled to communicate digitally serially.</a:t>
            </a:r>
          </a:p>
          <a:p>
            <a:r>
              <a:t>WiFi.h/WiFiClientSecure.h(ESP32):</a:t>
            </a:r>
          </a:p>
          <a:p>
            <a:r>
              <a:t>This tool is utilized for establishing TCP/IP and secure HTTPS connections.</a:t>
            </a:r>
          </a:p>
          <a:p>
            <a:r>
              <a:t>These libraries simplify the system by removing lower-level hardware details, enabling it to concentrate on real-time data collection and transmission.</a:t>
            </a:r>
          </a:p>
          <a:p>
            <a:r>
              <a:t>API KEYS AND CLOUD CONNECTIVITY:</a:t>
            </a:r>
          </a:p>
          <a:p>
            <a:r>
              <a:t>API keys are unique identifiers for the purposes of authenticating a device and allowing data transfer to and from cloud platforms. This project generated the API keys for the following services:</a:t>
            </a:r>
          </a:p>
          <a:p>
            <a:r>
              <a:t>THINGSPEAK API KEY:</a:t>
            </a:r>
          </a:p>
          <a:p>
            <a:r>
              <a:t>This function ensures secure channel write and read operations.</a:t>
            </a:r>
          </a:p>
          <a:p>
            <a:r>
              <a:t>FIREBASE WEB API KEY:</a:t>
            </a:r>
          </a:p>
          <a:p>
            <a:r>
              <a:t>This method is utilized for securing devices during user login and data synchronization.</a:t>
            </a:r>
          </a:p>
          <a:p>
            <a:r>
              <a:t>ADAFRUIT IO API KEY:</a:t>
            </a:r>
          </a:p>
          <a:p>
            <a:r>
              <a:t>The tool is utilized for real-time dashboards and control based on MQTT.</a:t>
            </a:r>
          </a:p>
          <a:p>
            <a:r>
              <a:t>API keys are stored in non-volatile memory (NVS) and accessed through encrypted channels to prevent exposure.</a:t>
            </a:r>
          </a:p>
          <a:p>
            <a:r>
              <a:t>HTTP/HTTPS PROTOCOLS:</a:t>
            </a:r>
          </a:p>
          <a:p>
            <a:r>
              <a:t>Both protocols-HTTP and HTTPS-are used for communications between edge devices and cloud platforms. Typically, HTTP is applied for data transmission during development, but HTTPS is applied in production mode for encrypting communication, especially when sensitive user information or location data is involved. Such protocol handling is implemented using the following libraries:</a:t>
            </a:r>
          </a:p>
          <a:p>
            <a:r>
              <a:t>HTTPClient.h/HTTPUpdate.h:</a:t>
            </a:r>
          </a:p>
          <a:p>
            <a:r>
              <a:t>This is utilized for HTTP POST and GET operations.</a:t>
            </a:r>
          </a:p>
          <a:p>
            <a:r>
              <a:t>WiFiClientSecure.h:</a:t>
            </a:r>
          </a:p>
          <a:p>
            <a:r>
              <a:t>The function enables HTTPS encryption using SSL/TLS.</a:t>
            </a:r>
          </a:p>
          <a:p>
            <a:r>
              <a:t>Secure REST APIs were utilized for data push/pull operations, with JSON being chosen due to its lightweight structure and native Firebase and ThingSpeak support.</a:t>
            </a:r>
          </a:p>
          <a:p>
            <a:r>
              <a:t>AUTHENTICATION MECHANISMS:</a:t>
            </a:r>
          </a:p>
          <a:p>
            <a:r>
              <a:t>Non-employees who want to access data from behind the FIOS Data Firewall had permissible permission levels to do it.</a:t>
            </a:r>
          </a:p>
          <a:p>
            <a:r>
              <a:t>FIREBASE AUTHENTICATION:</a:t>
            </a:r>
          </a:p>
          <a:p>
            <a:r>
              <a:t>Use Firebase Auth SDK for one of such mechanisms such as email/password to facilitate the users with both.</a:t>
            </a:r>
          </a:p>
          <a:p>
            <a:r>
              <a:t>TOKEN-BASED  AUTHENTICATION:</a:t>
            </a:r>
          </a:p>
          <a:p>
            <a:r>
              <a:t>Upon the login, session tokens are created in order to allow temporary API access.</a:t>
            </a:r>
          </a:p>
          <a:p>
            <a:r>
              <a:t>TWO-LEVEL  ACCESS CONTROL:</a:t>
            </a:r>
          </a:p>
          <a:p>
            <a:r>
              <a:t>Users are characterized into admin (controllers of data) and general users (viewers of data).</a:t>
            </a:r>
          </a:p>
          <a:p>
            <a:r>
              <a:t>Moreover, the device-level authentication is implemented in the cloud platform by using secure and unique device IDs with MAC address filtering.</a:t>
            </a:r>
          </a:p>
          <a:p>
            <a:r>
              <a:t>VERSION CONTROL USING GITHUB:</a:t>
            </a:r>
          </a:p>
          <a:p>
            <a:r>
              <a:t>Version control in GitHub is used solely for managing firmware, API scripts, source code of mobile apps, and systems documentations. The repository is aligned to a branching model of main, development, and feature branches. The above setup makes it possible:</a:t>
            </a:r>
          </a:p>
          <a:p>
            <a:r>
              <a:t>The focus is on the development of collaboration among team members.</a:t>
            </a:r>
          </a:p>
          <a:p>
            <a:r>
              <a:t>The process involves tracking changes and rollbacks through the commit history.</a:t>
            </a:r>
          </a:p>
          <a:p>
            <a:r>
              <a:t>Automation concerning testing and deployment is continuous under the hood of Github Actions.</a:t>
            </a:r>
          </a:p>
          <a:p>
            <a:r>
              <a:t>To begin with, every issue and project management activities can be done using the GitHub Projects option.</a:t>
            </a:r>
          </a:p>
          <a:p>
            <a:r>
              <a:t>A README file is maintained with setup instructions and a licensing agreement aimed at enhancing clarity and, thus, reproducibility.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PROCESSING  AND STORAGE</a:t>
            </a:r>
          </a:p>
        </p:txBody>
      </p:sp>
      <p:sp>
        <p:nvSpPr>
          <p:cNvPr id="3" name="Content Placeholder 2"/>
          <p:cNvSpPr>
            <a:spLocks noGrp="1"/>
          </p:cNvSpPr>
          <p:nvPr>
            <p:ph idx="1"/>
          </p:nvPr>
        </p:nvSpPr>
        <p:spPr/>
        <p:txBody>
          <a:bodyPr/>
          <a:lstStyle/>
          <a:p>
            <a:r>
              <a:t>The input data that is collected by environmental sensors must be processed and arranged systematically so that maximum accuracy consistency and accessibility is achieved by an Augmented Air Quality Index Meter based on IoT. The ESP32 microcontroller can be imagined as an edge computing device performing initial preprocessing on tasks such as signal conditioning, normalizing or unit converting. Produced data would include values such as those related to particulate matter (PM2.5 and PM10), temperature, relative humidity, and gas pollutants such as carbon monoxide (CO) and other gases such like SO₂ and NO₂ coming from sensors MQ-135, MQ-5, and PMS5003.This data is then transmitted to cloud platforms such as Firebase and ThingSpeak using HTTP or MQTT protocols over Wi-Fi, so it can be accessed for real-time monitoring. Firebase has structured data storage using JSON, which allows retrieval of data for Android applications. Log time series data on ThingSpeak for visualization. In addition, connecting platforms like AWS IOT may allow extremely scalable storage through S3 and analyses with AWS Lambda and DynamoDB. This architecture supports historical data logging, threshold-based trigger alerts, and future predictive analysis using Python and MATLAB scripts.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SENSOR CALIBRATION  AND DATA FILTERING</a:t>
            </a:r>
          </a:p>
        </p:txBody>
      </p:sp>
      <p:sp>
        <p:nvSpPr>
          <p:cNvPr id="3" name="Content Placeholder 2"/>
          <p:cNvSpPr>
            <a:spLocks noGrp="1"/>
          </p:cNvSpPr>
          <p:nvPr>
            <p:ph idx="1"/>
          </p:nvPr>
        </p:nvSpPr>
        <p:spPr/>
        <p:txBody>
          <a:bodyPr/>
          <a:lstStyle/>
          <a:p>
            <a:r>
              <a:t>To have accurate air quality readings, a sensor must be properly calibrated, complemented by data filtering techniques. Calibration may be defined as a comparison of the response outputs from the sensor under test to standardized outputs from reference equipment under controlled environmental conditions. For example, MQ-series gas sensors require baseline voltage readings taken in fresh air, which must also be corrected for temperature and humidity drift. Polynomial regression models and lookup tables are set up for linearization of the non-linear output of the sensor. Data filtering techniques are put into practice for removing noise and false data spikes that arise due to electromagnetic interference or fluctuations in power. A moving average filter is used to smooth the raw data streams from gas and dust sensors. Another example is the Kalman filtering applied to real-time PM2.5 and PM10 data for improved accuracy of readings due to varying environmental conditions. The filtered data are then converted into AQI scores based on the pollutant limit values defined by the country or WHO. The calibration and filtering are run in the ESP32 firmware using embedded C/C++ libraries or, depending on system design constraints, by cloud-based processing scripts. A log of calibration activities is stored in the EEPROM or in the cloud to facilitate re-calibration cycles.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LOGGING AND HISTORICAL ANALYSIS</a:t>
            </a:r>
          </a:p>
        </p:txBody>
      </p:sp>
      <p:sp>
        <p:nvSpPr>
          <p:cNvPr id="3" name="Content Placeholder 2"/>
          <p:cNvSpPr>
            <a:spLocks noGrp="1"/>
          </p:cNvSpPr>
          <p:nvPr>
            <p:ph idx="1"/>
          </p:nvPr>
        </p:nvSpPr>
        <p:spPr/>
        <p:txBody>
          <a:bodyPr/>
          <a:lstStyle/>
          <a:p>
            <a:r>
              <a:t>Data collection and historical analysis serves to know the air quality trends and locate the pollution sources with time, particularly concerning environment monitoring. An IoT-based Air Quality Index (AQI) Meter System has been proposed, having a strong data logging system that records real time air quality meters including PM2.5, PM10, and MQ-gas concentrations (e.g. CO, NO2, SO2, O3) to a cloud platform. These will be processed and visualized for instantaneous readings as well as longitudinal analysis.</a:t>
            </a:r>
          </a:p>
          <a:p>
            <a:r>
              <a:t>DATA LOGGING IMPLEMENTATION:</a:t>
            </a:r>
          </a:p>
          <a:p>
            <a:r>
              <a:t>An AQI meter is based on an ESP32 and ESP8266 microcontroller for data collection. The sensor data are transmitted through Wi-Fi and logged onto databases such as ThingSpeak, Firebase,  AWS IOT after regular intervals (say, every 5 sec or 1 min). A log entry contains:</a:t>
            </a:r>
          </a:p>
          <a:p>
            <a:r>
              <a:t>The timestamp is in UTC and is synchronized via SNTP.</a:t>
            </a:r>
          </a:p>
          <a:p>
            <a:r>
              <a:t>Sensor ID is a unique identifier used to track and monitor various types of devices.</a:t>
            </a:r>
          </a:p>
          <a:p>
            <a:r>
              <a:t>Location metadata, either manually or GPS-tagged, is a crucial aspect of a project's documentation.</a:t>
            </a:r>
          </a:p>
          <a:p>
            <a:r>
              <a:t>Sensor readings such as PM2.5, PM10, MQ-135 and MQ-5.</a:t>
            </a:r>
          </a:p>
          <a:p>
            <a:r>
              <a:t>The backend contains support for NoSQL (Firebase Realtime Database) and Time Series Databases (ThingSpeak, InfluxDB), keeping in mind being optimized for environmental data.</a:t>
            </a:r>
          </a:p>
          <a:p>
            <a:r>
              <a:t>HISTORICAL DATA ANALYSIS:</a:t>
            </a:r>
          </a:p>
          <a:p>
            <a:r>
              <a:t>Historical data are examined through online and local using cloud-based tools for instance MATLAB- Python (Pandas/Matplotlib), and Grafana. The analysis techniques are:</a:t>
            </a:r>
          </a:p>
          <a:p>
            <a:r>
              <a:t>TIMES SERIES PLOTTING:</a:t>
            </a:r>
          </a:p>
          <a:p>
            <a:r>
              <a:t>The process involves analyzing the fluctuating levels of pollutants over various time periods, such as hours, days, and months.</a:t>
            </a:r>
          </a:p>
          <a:p>
            <a:r>
              <a:t>THERSHOLD  BREACH DETECTION:</a:t>
            </a:r>
          </a:p>
          <a:p>
            <a:r>
              <a:t>The study focuses on identifying specific time periods when pollutants exceeded the recommended levels set by the World Health Organization.</a:t>
            </a:r>
          </a:p>
          <a:p>
            <a:r>
              <a:t>ANOMALY DETECTION:</a:t>
            </a:r>
          </a:p>
          <a:p>
            <a:r>
              <a:t>The use of statistical or machine learning models is utilized to identify unusual spikes in AQI.</a:t>
            </a:r>
          </a:p>
          <a:p>
            <a:r>
              <a:t>COMPARISON  WITH BASELINE:</a:t>
            </a:r>
          </a:p>
          <a:p>
            <a:r>
              <a:t>The collected data was connected to meteorological parameters and local pollution sources.</a:t>
            </a:r>
          </a:p>
          <a:p>
            <a:r>
              <a:t>BENEFITS OF HISTORICAL ANALYSIS:</a:t>
            </a:r>
          </a:p>
          <a:p>
            <a:r>
              <a:t>URBAN PLANNING:</a:t>
            </a:r>
          </a:p>
          <a:p>
            <a:r>
              <a:t>The support provided is instrumental in aiding policymakers in devising effective emission control strategies.</a:t>
            </a:r>
          </a:p>
          <a:p>
            <a:r>
              <a:t>PUBLIC AWARENESS:</a:t>
            </a:r>
          </a:p>
          <a:p>
            <a:r>
              <a:t>The program provides communities with information on pollution history and seasonal trends.</a:t>
            </a:r>
          </a:p>
          <a:p>
            <a:r>
              <a:t>HEALTH STUDIES:</a:t>
            </a:r>
          </a:p>
          <a:p>
            <a:r>
              <a:t>Make correlations between AQI and disease outbreaks (e.g., asthma, bronchitis) accessible to medical researchers.</a:t>
            </a:r>
          </a:p>
          <a:p>
            <a:r>
              <a:t>PREDICTIVE ANALYSIS:</a:t>
            </a:r>
          </a:p>
          <a:p>
            <a:r>
              <a:t>Some historical data will be used to train models to make premature AI predictions.</a:t>
            </a:r>
          </a:p>
          <a:p>
            <a:r>
              <a:t>DATA STORAGE ARCHITECTURE:</a:t>
            </a:r>
          </a:p>
          <a:p>
            <a:r>
              <a:t>The data logging architecture uses mechanisms to ensure scalability and fault tolerance.</a:t>
            </a:r>
          </a:p>
          <a:p>
            <a:r>
              <a:t>CLOUD STORAGE:</a:t>
            </a:r>
          </a:p>
          <a:p>
            <a:r>
              <a:t>Firebase/ThingSpeak is a platform that provides real-time access to various applications.</a:t>
            </a:r>
          </a:p>
          <a:p>
            <a:r>
              <a:t>BACKUP SYSTEMS:</a:t>
            </a:r>
          </a:p>
          <a:p>
            <a:r>
              <a:t>With low-level calls (compared to deferring disaster log records) to log information on local tar logs or to an external USB mass storage device, which would ensure data preservation by implementing a fail-safe mechanism.</a:t>
            </a:r>
          </a:p>
          <a:p>
            <a:r>
              <a:t>DATA REDUNDANCY:</a:t>
            </a:r>
          </a:p>
          <a:p>
            <a:r>
              <a:t>Automatic export to Excel or CVS format in periodic intervals is to be created using scripting e.g. PowerShell scripts.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ALERTS AND NOTIFICATION SYSTEM</a:t>
            </a:r>
          </a:p>
        </p:txBody>
      </p:sp>
      <p:sp>
        <p:nvSpPr>
          <p:cNvPr id="3" name="Content Placeholder 2"/>
          <p:cNvSpPr>
            <a:spLocks noGrp="1"/>
          </p:cNvSpPr>
          <p:nvPr>
            <p:ph idx="1"/>
          </p:nvPr>
        </p:nvSpPr>
        <p:spPr/>
        <p:txBody>
          <a:bodyPr/>
          <a:lstStyle/>
          <a:p>
            <a:r>
              <a:t>It will notify real-time public safety awareness system in the Alerts and Notification section of the proposed IoT-based Air Quality Index Meter system. For example, it immediately notifies users if the pollutant concentration exceeds the predefined threshold. It offsets early warning from exposure to harmful air conditions. Supposedly, in the Notifications and Alert Systems Section, the system would encourage and promote real-time public safety awareness in the proposed IOT-based Air Quality Index Meter. It instantaneously notifies the users if the pollutants concentration exceeds the predefined threshold. It offsets early warning from exposure to harmful air conditions. The sensors measure the environmental parameters such as PM2.5, PM10, and MQ-gas concentration (SO2,NO2,O3,CO, SnO2,H2, LPG, CH4, CO and Alcohol) continuously with the help of integrated networks like the MQ-135, MQ-5, PMS sensors. When these readings are calculated, a local ESP32, ESP8266, and ARDUINO UNO microcontroller processes the data using threshold comparison algorithms in real-time. When measured values go beyond the WHO or EPA definition of safe limits, the ESP32 starts alert mechanism through local and remote notifications. Instantly, an RGB LED and buzzer provide local visual and audio alerts. For remote notification, the ESP32 sends alert data to a cloud-based platform such as ThingSpeak, Firebase and AWS IOT over HTTP/HTTPS or MQTT protocols. Upon receiving that alert data, these platforms are programmed to alert:</a:t>
            </a:r>
          </a:p>
          <a:p>
            <a:r>
              <a:t>It provides information on how to use push notifications through Firebase Cloud Messaging or the Blynk app.</a:t>
            </a:r>
          </a:p>
          <a:p>
            <a:r>
              <a:t>Email alerts can be generated using IFTTT or SMTP APIs.</a:t>
            </a:r>
          </a:p>
          <a:p>
            <a:r>
              <a:t>SMS alerts can be generated using Twilio or third-party APIs.</a:t>
            </a:r>
          </a:p>
          <a:p>
            <a:r>
              <a:t>The Android mobile app, developed in Java, provides in-app notifications.</a:t>
            </a:r>
          </a:p>
          <a:p>
            <a:r>
              <a:t>The architecture of distributed alerts ensures that both end users as well as system administrators stay aware of any situation no matter which direction one moves away from the AQI system meanwhile supporting multi-threshold configurations. For example, the classification of the AQI readings into "Good" ,"Moderate" ,"Unhealthy for Sensitive Groups" ,"Unhealthy" ,"Very Unhealthy," and "Hazardous" will correspond to different color codes and levels of notification. Event-driven programming has been used to implement the notification logic while asynchronous callbacks are handled by ISRs (interrupt service routines) in the firmware. Notifications are also being stored in a Firebase real-time database for historical access and pattern analysis. Event-driven programming has been used to implement the notification logic while asynchronous callbacks are handled by ISRs (interrupt service routines) in the firmware. Notifications are also being stored in a Firebase real-time database for historical access and pattern analysis. By enabling data-driven decision-making related to public health and urban development and improving the usability of the Air Quality Index (AQI) system to make it useful and actionable for individual users and institutions alike, this proactive alert and notification system fosters the sustenance of the overall AQI system.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a:t>
            </a:r>
          </a:p>
        </p:txBody>
      </p:sp>
      <p:sp>
        <p:nvSpPr>
          <p:cNvPr id="3" name="Content Placeholder 2"/>
          <p:cNvSpPr>
            <a:spLocks noGrp="1"/>
          </p:cNvSpPr>
          <p:nvPr>
            <p:ph idx="1"/>
          </p:nvPr>
        </p:nvSpPr>
        <p:spPr/>
        <p:txBody>
          <a:bodyPr/>
          <a:lstStyle/>
          <a:p>
            <a:r>
              <a:t>REAL-TIME AIR QUALITY MONITORING  IN URBAN AREAS:</a:t>
            </a:r>
          </a:p>
          <a:p>
            <a:r>
              <a:t>The system can be placed within municipal areas that are high in population, in order to measure the concentrations of pollutants such as PM2.5, PM10 and other gases, namely CO, SO2, and also NO2. Continuous collection of data can be very useful for authorities and citizens alike to understand the trends in pollution and to make decisions during smog or high-traffic periods.</a:t>
            </a:r>
          </a:p>
          <a:p>
            <a:r>
              <a:t>USE CASE SCEANRIO:</a:t>
            </a:r>
          </a:p>
          <a:p>
            <a:r>
              <a:t>Intelligent poles are equipped with AQI sensors, which gather data and relay it through cloud platforms like ThingSpeak and AWS IOT. This data supports urban planners and local governing bodies for traffic management and public health alerts.</a:t>
            </a:r>
          </a:p>
          <a:p>
            <a:r>
              <a:t>Figure 3.3:USE CASE DIAGRAM OF REAL-TIME AIR QUALITY MONITORINGSYSTEM</a:t>
            </a:r>
          </a:p>
          <a:p>
            <a:r>
              <a:t>INDOOR AIR QUALITY ASSESSMENT IN RESDENTIAL AND COMMERCIAL  BUILDINGS:</a:t>
            </a:r>
          </a:p>
          <a:p>
            <a:r>
              <a:t>People often do not pay attention to internal pollution. Systems like the Air Quality Index can measure indoor homes, workplaces, and schools for toxic gases (like CO2 and VOCs) and important humidity levels for safe living conditions.</a:t>
            </a:r>
          </a:p>
          <a:p>
            <a:r>
              <a:t>USE CASE SCEANRIO:</a:t>
            </a:r>
          </a:p>
          <a:p>
            <a:r>
              <a:t>The device in the classroom in a school signals teachers about unsafe levels of CO2 or PM by pushing it through mobile phone applications, and consequently ventilation or filtration will be triggered.</a:t>
            </a:r>
          </a:p>
          <a:p>
            <a:r>
              <a:t>Figure 3.4:USE CASE DIAGRAM OF INDOOR AIR QUALITY MONITORING SYSTEM</a:t>
            </a:r>
          </a:p>
          <a:p>
            <a:r>
              <a:t>SMART CITY AND INFRASTRUCTURE DEVELOPMENT:</a:t>
            </a:r>
          </a:p>
          <a:p>
            <a:r>
              <a:t>Such developments will improve the policy implementation by working into a large smart-city framework which incorporates AQI systems. The data for air quality indexing helps correlate pollution on infrastructural activities, especially construction or transportation.</a:t>
            </a:r>
          </a:p>
          <a:p>
            <a:r>
              <a:t>USE CASE SCEANRIO:</a:t>
            </a:r>
          </a:p>
          <a:p>
            <a:r>
              <a:t>Municipal corporations use dashboards developed on Grafana and Firebase analytics to visualize pollution in different city zones, optimizing their street sweeping and restricting diesel generators at peak hours.</a:t>
            </a:r>
          </a:p>
          <a:p>
            <a:r>
              <a:t>Figure 3.5: USE CASE DIAGRAM SMART CITY AND INFRASTRUCTURE-DEVELOPMENT</a:t>
            </a:r>
          </a:p>
          <a:p>
            <a:r>
              <a:t>INDUSTRIAL AND OCCUPATIONAL  HEALTH MONITORING:</a:t>
            </a:r>
          </a:p>
          <a:p>
            <a:r>
              <a:t>In industry, often the most harmful causes of pollution are working individuals and the public that live too close for comfort to the factories. Use of AQI meters placed inside factories and perimeters could help with the assurance that industrial activities comply with environmental standards as well as public health.</a:t>
            </a:r>
          </a:p>
          <a:p>
            <a:r>
              <a:t>USE CASE SCEANRIO:</a:t>
            </a:r>
          </a:p>
          <a:p>
            <a:r>
              <a:t>An intelligent system for textiles that has installed an internet connection detects very high chemicals vapors inside the manufacturing unit and automatically logs a report into a central compliance server through MQTT.</a:t>
            </a:r>
          </a:p>
          <a:p>
            <a:r>
              <a:t>Figure 3.6:USE CASE DIAGRAM OF INDUSTRIAL AND OCCUPATIONAL HEALTH MONITORING</a:t>
            </a:r>
          </a:p>
          <a:p>
            <a:r>
              <a:t>ENVIRONMENTAL RESEARCH  AND ACADEMIC  PROJECTS:</a:t>
            </a:r>
          </a:p>
          <a:p>
            <a:r>
              <a:t>The AQI meter system allows students and researchers to conduct environmental impact assessments, learn patterns of seasonal pollution, or develop AI/ML predictive models.</a:t>
            </a:r>
          </a:p>
          <a:p>
            <a:r>
              <a:t>USE CASE SCEANRIO:</a:t>
            </a:r>
          </a:p>
          <a:p>
            <a:r>
              <a:t>Students use the APIs of ThingSpeak in order to collect historical AQI data from where they will import the said data into MATLAB for the purpose of pollution pattern prediction utilizing machine learning algorithms.</a:t>
            </a:r>
          </a:p>
          <a:p>
            <a:r>
              <a:t>Figure 3.7:USE CASE DIAGRAM OF ENVIRONMENTAL RESEARCH AND ACADEMIC PROJECTS</a:t>
            </a:r>
          </a:p>
          <a:p>
            <a:r>
              <a:t>DISASTER MANAGEMENT AND EARLY WARNING SYSTEMS:</a:t>
            </a:r>
          </a:p>
          <a:p>
            <a:r>
              <a:t>Real-time monitoring of forest fires, industrial leakages, or incineration of waste could trigger alerts and furnish geo-tagged accurate pollution data to emergency response systems.</a:t>
            </a:r>
          </a:p>
          <a:p>
            <a:r>
              <a:t>USE CASE SCEANRIO:</a:t>
            </a:r>
          </a:p>
          <a:p>
            <a:r>
              <a:t>Mobile AQI units have been deployed by rescue teams in wildfires to identify any rise in PM2.5 levels, which in turn push alerts to the authorities concerned for evacuation of the nearby vicinity through the Blynk App.</a:t>
            </a:r>
          </a:p>
          <a:p>
            <a:r>
              <a:t>Figure 3.8:DISASTER MANAGEMENT AND EARLY WARNING SYSTEMS</a:t>
            </a:r>
          </a:p>
          <a:p>
            <a:r>
              <a:t>AGRICULTURE APPLICATIONS:</a:t>
            </a:r>
          </a:p>
          <a:p>
            <a:r>
              <a:t>Air quality directly influences crop yields and the health of livestock. Through the use of AQI systems, farmers can take precautionary measures against any airborne chemicals or pollutants.</a:t>
            </a:r>
          </a:p>
          <a:p>
            <a:r>
              <a:t>USE CASE SCEANRIO:</a:t>
            </a:r>
          </a:p>
          <a:p>
            <a:r>
              <a:t>An earthmover is fitted with the AQI systems utilizing an ESP32 that know when ozone levels rise above certain thresholds and activates an irrigation and mist system to alleviate crop atmospheric stress.</a:t>
            </a:r>
          </a:p>
          <a:p>
            <a:r>
              <a:t>Figure 3.9:USE CASE DIAGRAM AGRICULTURE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SEQUENCE DIAGRAM</a:t>
            </a:r>
          </a:p>
        </p:txBody>
      </p:sp>
      <p:sp>
        <p:nvSpPr>
          <p:cNvPr id="3" name="Content Placeholder 2"/>
          <p:cNvSpPr>
            <a:spLocks noGrp="1"/>
          </p:cNvSpPr>
          <p:nvPr>
            <p:ph idx="1"/>
          </p:nvPr>
        </p:nvSpPr>
        <p:spPr/>
        <p:txBody>
          <a:bodyPr/>
          <a:lstStyle/>
          <a:p>
            <a:r>
              <a:t>A sequence diagram is one of the interaction diagrams in the Unified Modeling Language (UML), thereby displaying the use case-specific interaction of the objects. The flow of data through various system components, such as sensors, microcontrollers, cloud services, and a frontend application that interacts with an end-user, e.g., mobile apps or web dashboards, is modeled by the sequence diagram in the context of the IOT-based Air Quality Index (AQI) Meter System. The figure as shown below:</a:t>
            </a:r>
          </a:p>
          <a:p>
            <a:r>
              <a:t>Figure 3.10:SEQUENCE DIAGRAM OF AIR QUALITY INDEX METER SYSTEM</a:t>
            </a:r>
          </a:p>
          <a:p>
            <a:r>
              <a:t>SEQUENCE DIAGRAM FLOW DESCRIPTION:</a:t>
            </a:r>
          </a:p>
          <a:p>
            <a:r>
              <a:t>SENSOR INITIALIZATION:</a:t>
            </a:r>
          </a:p>
          <a:p>
            <a:r>
              <a:t>Sensors are initialized with MQ-135 (for gases), MQ-5 (for combustible gases) and PM 2.5 and PM 10 sensors. The microcontroller (ESP32,ESP8266 and Arduino Uno) turns the sensors on and establishes a Wi-Fi/cloud connection using the embedded wireless modules after power is supplied. The power is sourced from the Power Management Unit for uninterrupted working.</a:t>
            </a:r>
          </a:p>
          <a:p>
            <a:r>
              <a:t>DATA COLLECTION:</a:t>
            </a:r>
          </a:p>
          <a:p>
            <a:r>
              <a:t>The microcontroller requests data from the sensors periodically during this phase.</a:t>
            </a:r>
          </a:p>
          <a:p>
            <a:r>
              <a:t>MQ-135 delivers air quality data by detecting pollutants like SO2,NO2,O3 and CO.</a:t>
            </a:r>
          </a:p>
          <a:p>
            <a:r>
              <a:t>MQ-5 sensors gases like SnO2,H2, LPG, CH4, CO and Alcohol.</a:t>
            </a:r>
          </a:p>
          <a:p>
            <a:r>
              <a:t>PM2.5 and PM10 sensors measure particulate matter concentration.</a:t>
            </a:r>
          </a:p>
          <a:p>
            <a:r>
              <a:t>The data is tagged with timestamps and location information for traceability.</a:t>
            </a:r>
          </a:p>
          <a:p>
            <a:r>
              <a:t>DATA PROCESSING :</a:t>
            </a:r>
          </a:p>
          <a:p>
            <a:r>
              <a:t>Calibration functions and conversion algorithms are used by the microcontroller to process the raw sensor data. This yields standardized AQI values from noise reduction, outlier filtering, and AQI computation formulas (based on EPA or national standards). Local memory temporarily stores the processed data prior to transmission.</a:t>
            </a:r>
          </a:p>
          <a:p>
            <a:r>
              <a:t>DATA TRANSMISSION:</a:t>
            </a:r>
          </a:p>
          <a:p>
            <a:r>
              <a:t>It sends AQI measurements in real time to the server using lightweight IOT communication protocols like HTTP and MQTT. These data are kept in the cloud, for example in Firebase, ThingSpeak and AWS IOT Core. This makes sure that the data are reliable, scalable, and persistent.</a:t>
            </a:r>
          </a:p>
          <a:p>
            <a:r>
              <a:t>DATA  VISUALIZATION:</a:t>
            </a:r>
          </a:p>
          <a:p>
            <a:r>
              <a:t>In addition, data will be exported using MATLAB and Python for scientific analysis to keep up for future long-term trend development, generated forecasts, and AI model integration for predictive insight. Cloud services synchronize the required data with a mobile application interface for real-time feedback from the user.</a:t>
            </a:r>
          </a:p>
          <a:p>
            <a:r>
              <a:t>END TO END MONITORING:</a:t>
            </a:r>
          </a:p>
          <a:p>
            <a:r>
              <a:t>The whole set-up allows for bidirectional communication for remote firmware updates, threshold-based alarm systems (i.e., if the AQI crosses 150), and customized report generation. The sequence ensures that each module performs the function assigned to it in a timely and orderly fashion, as in the case of public health monitoring, smart cities, and industrial pollution control applications.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CLASS DIAGRAM</a:t>
            </a:r>
          </a:p>
        </p:txBody>
      </p:sp>
      <p:sp>
        <p:nvSpPr>
          <p:cNvPr id="3" name="Content Placeholder 2"/>
          <p:cNvSpPr>
            <a:spLocks noGrp="1"/>
          </p:cNvSpPr>
          <p:nvPr>
            <p:ph idx="1"/>
          </p:nvPr>
        </p:nvSpPr>
        <p:spPr/>
        <p:txBody>
          <a:bodyPr/>
          <a:lstStyle/>
          <a:p>
            <a:r>
              <a:t>A class diagram is a static structure diagram that outlines a system's classes, attributes, methods, and relationships. In an IoT-based AQI Meter System, it demonstrates the object-oriented design of hardware components, sensor data flow, connectivity modules, and cloud platforms. The system is structured into abstract base classes like AQISystem, Sensor, Microcontroller, CommModule, and Platform, inherited by concrete classes representing real-world devices and modules. Relationships like inheritance, aggregation, and association model their interaction. The figure as shown below is:</a:t>
            </a:r>
          </a:p>
          <a:p>
            <a:r>
              <a:t>Figure 3.11:CLASS DIAGRAM OF AIR QUALITY INDEX METER SYSTEM</a:t>
            </a:r>
          </a:p>
          <a:p>
            <a:r>
              <a:t>CLASS:AIRQUALITYMONITORINGSYSTEM:</a:t>
            </a:r>
          </a:p>
          <a:p>
            <a:r>
              <a:t>ATTRIBUTES:</a:t>
            </a:r>
          </a:p>
          <a:p>
            <a:r>
              <a:t>  double AQ – The real-time calculated Air Quality Index value.</a:t>
            </a:r>
          </a:p>
          <a:p>
            <a:r>
              <a:t>latitude: geo_coordinates – Geographical latitude where the sensor node is located.</a:t>
            </a:r>
          </a:p>
          <a:p>
            <a:r>
              <a:t>longitude: char – Geographical longitude.</a:t>
            </a:r>
          </a:p>
          <a:p>
            <a:r>
              <a:t>RESPONSIBILITIES:</a:t>
            </a:r>
          </a:p>
          <a:p>
            <a:r>
              <a:t>The core class integrates sensor readings.</a:t>
            </a:r>
          </a:p>
          <a:p>
            <a:r>
              <a:t>The system stores geolocation data for the purpose of environmental tracking.</a:t>
            </a:r>
          </a:p>
          <a:p>
            <a:r>
              <a:t>The process initiates the collection and upload of sensor data.</a:t>
            </a:r>
          </a:p>
          <a:p>
            <a:r>
              <a:t>CLASS AGGREGATIONS(COMPOSITION WITH SUBSYSTEMS):</a:t>
            </a:r>
          </a:p>
          <a:p>
            <a:r>
              <a:t>HARDWARE COMPONENTS(ABSTRACT  AGGREGATE):</a:t>
            </a:r>
          </a:p>
          <a:p>
            <a:r>
              <a:t>Composed  of six main modules</a:t>
            </a:r>
          </a:p>
          <a:p>
            <a:r>
              <a:t>MICROCONTROLLERS:</a:t>
            </a:r>
          </a:p>
          <a:p>
            <a:r>
              <a:t>ESP32,ESP8266 and ARDUINO UNO</a:t>
            </a:r>
          </a:p>
          <a:p>
            <a:r>
              <a:t>The individual is responsible for sensor communication, processing, and interfacing.</a:t>
            </a:r>
          </a:p>
          <a:p>
            <a:r>
              <a:t>AIRQUALITYSENSORS</a:t>
            </a:r>
          </a:p>
          <a:p>
            <a:r>
              <a:t>MQ-135,MQ-5,PM2.5 and PM10</a:t>
            </a:r>
          </a:p>
          <a:p>
            <a:r>
              <a:t>The task involves detecting pollutants such as CO₂, SO₂, NO₂, O₃, and particulates.</a:t>
            </a:r>
          </a:p>
          <a:p>
            <a:r>
              <a:t>CONNECTIVITY MODULE</a:t>
            </a:r>
          </a:p>
          <a:p>
            <a:r>
              <a:t>WiFi/Bluetooth Module</a:t>
            </a:r>
          </a:p>
          <a:p>
            <a:r>
              <a:t>The system ensures seamless cloud communication and remote data access.</a:t>
            </a:r>
          </a:p>
          <a:p>
            <a:r>
              <a:t>POWER MANAGEMENT:</a:t>
            </a:r>
          </a:p>
          <a:p>
            <a:r>
              <a:t>BatteryPack, Power Adapter, Charger</a:t>
            </a:r>
          </a:p>
          <a:p>
            <a:r>
              <a:t>The system ensures system autonomy and reliability in outdoor deployment.</a:t>
            </a:r>
          </a:p>
          <a:p>
            <a:r>
              <a:t>PHYSICAL COMPONENTS:</a:t>
            </a:r>
          </a:p>
          <a:p>
            <a:r>
              <a:t>Breadboard, Weatherproof Housing</a:t>
            </a:r>
          </a:p>
          <a:p>
            <a:r>
              <a:t>This product offers both mechanical stability and weather protection.</a:t>
            </a:r>
          </a:p>
          <a:p>
            <a:r>
              <a:t>WEATHERPROOF HOUSING:</a:t>
            </a:r>
          </a:p>
          <a:p>
            <a:r>
              <a:t>This product combines housing and protective elements for enhanced durability in outdoor environments.</a:t>
            </a:r>
          </a:p>
          <a:p>
            <a:r>
              <a:t>SOFTWARE COMPONENTS(ABSTRACT  AGGREGATE):</a:t>
            </a:r>
          </a:p>
          <a:p>
            <a:r>
              <a:t>DEVELOPMENT PLATFORM:</a:t>
            </a:r>
          </a:p>
          <a:p>
            <a:r>
              <a:t>ARDUINO IDE,VS CODE,PLATFORMIO</a:t>
            </a:r>
          </a:p>
          <a:p>
            <a:r>
              <a:t>This tool is utilized for the creation, testing, and deployment of embedded firmware.</a:t>
            </a:r>
          </a:p>
          <a:p>
            <a:r>
              <a:t>MOBILE DEVELOPMENT:</a:t>
            </a:r>
          </a:p>
          <a:p>
            <a:r>
              <a:t>ANDROID STUDIO,BLYNK APP</a:t>
            </a:r>
          </a:p>
          <a:p>
            <a:r>
              <a:t>The goal is to develop user-friendly mobile interfaces and real-time data dashboards.</a:t>
            </a:r>
          </a:p>
          <a:p>
            <a:r>
              <a:t>CLOUDIOT SERVICES:</a:t>
            </a:r>
          </a:p>
          <a:p>
            <a:r>
              <a:t>Firebase, AWS IOT, ThingSpeak, AdafruitIO, MQTT</a:t>
            </a:r>
          </a:p>
          <a:p>
            <a:r>
              <a:t>The system stores and displays AQI data, and it also provides alert mechanisms.</a:t>
            </a:r>
          </a:p>
          <a:p>
            <a:r>
              <a:t>DATA ANALYSIS TOOLS:</a:t>
            </a:r>
          </a:p>
          <a:p>
            <a:r>
              <a:t>MATLAB,PYTHON,EXCEL</a:t>
            </a:r>
          </a:p>
          <a:p>
            <a:r>
              <a:t>The task involves analyzing historical data, identifying trends, and making predictions.</a:t>
            </a:r>
          </a:p>
          <a:p>
            <a:r>
              <a:t>Chapter Four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In contemporary times, industrial and urban development has led to a considerable increase in air pollution concerning health hazards and potential environmental threats to sustainability. Thus, real-time air quality monitoring is an essential aspect of urban planning and public health surveillance. This development progresses towards having an IoT-Based Air Quality Index (AQI) Meter System that will carrying out a proactive approach to environmental monitoring and will ensure that it detects the presence of harmful pollutants, which are PM2.5, PM10, CO, SO, and other gaseous pollutants, both indoors and outdoors. This Final Year Project (FYP) uses a combination of embedded systems, wireless communication, cloud-based IoT services, and data visualization platforms to provide a reliable, scalable and energy-efficient solution for continuous air quality monitoring.</a:t>
            </a:r>
          </a:p>
          <a:p>
            <a:r>
              <a:t>OVERVIEW OF SIMULATION GOALS:</a:t>
            </a:r>
          </a:p>
          <a:p>
            <a:r>
              <a:t>The primary aim of this stage of the project is to test the performance of the air quality monitoring system under various environmental and operational conditions through simulation. These simulations aim to:</a:t>
            </a:r>
          </a:p>
          <a:p>
            <a:r>
              <a:t>Measure air pollutants in concentration and establish a correlation with AQI.</a:t>
            </a:r>
          </a:p>
          <a:p>
            <a:r>
              <a:t>The task involves assessing the response time, sensor accuracy, and system latency.</a:t>
            </a:r>
          </a:p>
          <a:p>
            <a:r>
              <a:t>The study aims to simulate data transmission using Wi-Fi-enabled microcontrollers on cloud platforms like ThingSpeak, Firebase, and AWS IOT.</a:t>
            </a:r>
          </a:p>
          <a:p>
            <a:r>
              <a:t>The study utilized MATLAB and Python to develop model threshold-based alerts, sensor calibration, and data smoothing algorithms.</a:t>
            </a:r>
          </a:p>
          <a:p>
            <a:r>
              <a:t>The task involves demonstrating the use of data visualization and interpretation tools like Grafana and Excel.</a:t>
            </a:r>
          </a:p>
          <a:p>
            <a:r>
              <a:t>Through these simulations, we play a significant role in detecting design faults, optimizing sensor placement, stabilizing firmware, and strengthening real-time operation.</a:t>
            </a:r>
          </a:p>
          <a:p>
            <a:r>
              <a:t>IMPORTANCE OF TESTING  AQI  ACCURACY  AND SYSTEM RESPONSE</a:t>
            </a:r>
          </a:p>
          <a:p>
            <a:r>
              <a:t>It is very important to validate and furnish these AQI systems regarding accuracy and responsiveness toward reliably providing measurements of environmental data. This data may very well form the basis for public health decisions so it will be imperative that:</a:t>
            </a:r>
          </a:p>
          <a:p>
            <a:r>
              <a:t>Sensors (including MQ-135, MQ-5, PM2.5, PM10,) are to be calibrated for environmental variables and cross-sensitivity.</a:t>
            </a:r>
          </a:p>
          <a:p>
            <a:r>
              <a:t>The objective is to assess the system's ability to adapt to changes in dynamic pollutant levels.</a:t>
            </a:r>
          </a:p>
          <a:p>
            <a:r>
              <a:t>The task involves ensuring the speed and integrity of cloud synchronization, as well as providing real-time dashboard updates.</a:t>
            </a:r>
          </a:p>
          <a:p>
            <a:r>
              <a:t>The goal is to ensure low power consumption and efficient data processing under various load conditions.</a:t>
            </a:r>
          </a:p>
          <a:p>
            <a:r>
              <a:t>Accurate AQI output, reliable algorithms, timely alerts, effective notifications to users, and public display of air quality data agree with national and international environmental health standards.</a:t>
            </a:r>
          </a:p>
          <a:p>
            <a:r>
              <a:t>TOOLS PLATFORM USED</a:t>
            </a:r>
          </a:p>
          <a:p>
            <a:r>
              <a:t>Several hardware and software tools were used to measure and evaluate the AQI meter system.</a:t>
            </a:r>
          </a:p>
          <a:p>
            <a:r>
              <a:t>HARDWARE COMPONENTS:</a:t>
            </a:r>
          </a:p>
          <a:p>
            <a:r>
              <a:t>MICROCONTROLLERS:</a:t>
            </a:r>
          </a:p>
          <a:p>
            <a:r>
              <a:t>ARDUINO UNO,ESP32,ESP8266</a:t>
            </a:r>
          </a:p>
          <a:p>
            <a:r>
              <a:t>AIR QUALITY AND ENVIRONMENTAL SENSORS:</a:t>
            </a:r>
          </a:p>
          <a:p>
            <a:r>
              <a:t>MQ-135,MQ-5,PM2.5 AND PM10 SENSORS</a:t>
            </a:r>
          </a:p>
          <a:p>
            <a:r>
              <a:t>CONNECTIVITY MODULE:</a:t>
            </a:r>
          </a:p>
          <a:p>
            <a:r>
              <a:t>Integrated Wi-Fi/Bluetooth in ESP32/ESP8266.</a:t>
            </a:r>
          </a:p>
          <a:p>
            <a:r>
              <a:t>POWER MANAGEMENT SYSTEMS:</a:t>
            </a:r>
          </a:p>
          <a:p>
            <a:r>
              <a:t>The product includes a rechargeable battery pack, regulated power adapter, and a USB charging interface.</a:t>
            </a:r>
          </a:p>
          <a:p>
            <a:r>
              <a:t>PHYSICAL INTEGRATION:</a:t>
            </a:r>
          </a:p>
          <a:p>
            <a:r>
              <a:t>WEATHERPROOF HOUSING, BREADBOARD AND CONNECTING WIRES</a:t>
            </a:r>
          </a:p>
          <a:p>
            <a:r>
              <a:t>SOFTWARE COMPONENTS:</a:t>
            </a:r>
          </a:p>
          <a:p>
            <a:r>
              <a:t>DEVELOPMENT ENVIRONMENTS:</a:t>
            </a:r>
          </a:p>
          <a:p>
            <a:r>
              <a:t>ARDUINO IDE, VISUAL STUDIO CODE(VS Code) WITH PLATFORMIO IDE for firmware development.</a:t>
            </a:r>
          </a:p>
          <a:p>
            <a:r>
              <a:t>MOBILE APPLICATION DEVELOPMENT:</a:t>
            </a:r>
          </a:p>
          <a:p>
            <a:r>
              <a:t>Android Studio for native app, Blynk App for modular IoT interfacing.</a:t>
            </a:r>
          </a:p>
          <a:p>
            <a:r>
              <a:t>CLOUD PLATFORMS AND IOT SERVICES:</a:t>
            </a:r>
          </a:p>
          <a:p>
            <a:r>
              <a:t>THINGSPEAK:</a:t>
            </a:r>
          </a:p>
          <a:p>
            <a:r>
              <a:t>The integration of cloud APIs and real-time data plotting is a significant advancement in data analysis and visualization.</a:t>
            </a:r>
          </a:p>
          <a:p>
            <a:r>
              <a:t>FIREBASE:</a:t>
            </a:r>
          </a:p>
          <a:p>
            <a:r>
              <a:t>User authentication, database storage, and mobile backend are essential components in this process.</a:t>
            </a:r>
          </a:p>
          <a:p>
            <a:r>
              <a:t>AWS IOT CORE AND ADAFRUIT IO:</a:t>
            </a:r>
          </a:p>
          <a:p>
            <a:r>
              <a:t>The development of a scalable IoT cloud infrastructure using MQTT protocols.</a:t>
            </a:r>
          </a:p>
          <a:p>
            <a:r>
              <a:t>DATA ANALYSIS TOOLS:</a:t>
            </a:r>
          </a:p>
          <a:p>
            <a:r>
              <a:t>MATLAB:</a:t>
            </a:r>
          </a:p>
          <a:p>
            <a:r>
              <a:t>The study involves sensor modeling, simulation of AQI algorithms, and signal processing.</a:t>
            </a:r>
          </a:p>
          <a:p>
            <a:r>
              <a:t>PYTHON:</a:t>
            </a:r>
          </a:p>
          <a:p>
            <a:r>
              <a:t>The process involves data cleaning, visualization, and trend forecasting.</a:t>
            </a:r>
          </a:p>
          <a:p>
            <a:r>
              <a:t>EXCEL AND GRAFANA:</a:t>
            </a:r>
          </a:p>
          <a:p>
            <a:r>
              <a:t>It provides a structured data presentation and dashboard monitoring.</a:t>
            </a:r>
          </a:p>
          <a:p>
            <a:r>
              <a:t>SYSTEM INTEGRATION  AND VERSION CONTROL:</a:t>
            </a:r>
          </a:p>
          <a:p>
            <a:r>
              <a:t>LIBRARIES:</a:t>
            </a:r>
          </a:p>
          <a:p>
            <a:r>
              <a:t>Sensor APIs, Wi-Fi management, and OTA firmware update are essential components in the system.</a:t>
            </a:r>
          </a:p>
          <a:p>
            <a:r>
              <a:t>PROTOCOLS:</a:t>
            </a:r>
          </a:p>
          <a:p>
            <a:r>
              <a:t>The data transmission method utilizes HTTP/HTTPS, while the real-time communication method uses MQTT.</a:t>
            </a:r>
          </a:p>
          <a:p>
            <a:r>
              <a:t>AUTHENTICATION:</a:t>
            </a:r>
          </a:p>
          <a:p>
            <a:r>
              <a:t>Firebase Auth is a secure protocol that allows users to access and manage their API keys securely.</a:t>
            </a:r>
          </a:p>
          <a:p>
            <a:r>
              <a:t>VERSION CONTROL:</a:t>
            </a:r>
          </a:p>
          <a:p>
            <a:r>
              <a:t>GitHub repositories are utilized for firmware and app development.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SETUP</a:t>
            </a:r>
          </a:p>
        </p:txBody>
      </p:sp>
      <p:sp>
        <p:nvSpPr>
          <p:cNvPr id="3" name="Content Placeholder 2"/>
          <p:cNvSpPr>
            <a:spLocks noGrp="1"/>
          </p:cNvSpPr>
          <p:nvPr>
            <p:ph idx="1"/>
          </p:nvPr>
        </p:nvSpPr>
        <p:spPr/>
        <p:txBody>
          <a:bodyPr/>
          <a:lstStyle/>
          <a:p>
            <a:r>
              <a:t>The IOT-based Air Quality Index (AQI) Meter System has been developed under a structured experimental framework to assess system performance in both simulated and real environmental conditions. The methodology adopted was a hybrid concept that incorporated empirical testing with cloud data integration for a comprehensive, dependable, scalable solution for environmental monitoring.</a:t>
            </a:r>
          </a:p>
          <a:p>
            <a:r>
              <a:t>SIMULATION SETUP AND HARDWARE  ARCHITECTURE:</a:t>
            </a:r>
          </a:p>
          <a:p>
            <a:r>
              <a:t>The following core hardware components were employed to guarantee optimum sensing, data transmission, and connectivity:</a:t>
            </a:r>
          </a:p>
          <a:p>
            <a:r>
              <a:t>MICROCONTROLLER:</a:t>
            </a:r>
          </a:p>
          <a:p>
            <a:r>
              <a:t>ARDUINO UNO:</a:t>
            </a:r>
          </a:p>
          <a:p>
            <a:r>
              <a:t>The device was utilized for the initial testing and prototyping of analog sensor data acquisition.</a:t>
            </a:r>
          </a:p>
          <a:p>
            <a:r>
              <a:t>ESP32:</a:t>
            </a:r>
          </a:p>
          <a:p>
            <a:r>
              <a:t>The data captured in real time was being controlled through the dual-core and low-power processor. It made the device perfect not only for real-time data processing but also using Wi-Fi/Bluetooth connection and interfacing of sensors.</a:t>
            </a:r>
          </a:p>
          <a:p>
            <a:r>
              <a:t>ESP8266:</a:t>
            </a:r>
          </a:p>
          <a:p>
            <a:r>
              <a:t>Used for wireless uplink of secondary data to cloud platforms such as ThingSpeak and Firebase.</a:t>
            </a:r>
          </a:p>
          <a:p>
            <a:r>
              <a:t>AIR QUALITY SESNORS:</a:t>
            </a:r>
          </a:p>
          <a:p>
            <a:r>
              <a:t>MQ-5 SENSORS:</a:t>
            </a:r>
          </a:p>
          <a:p>
            <a:r>
              <a:t>The device detects combustible gases like LPG, methane, and hydrogen.</a:t>
            </a:r>
          </a:p>
          <a:p>
            <a:r>
              <a:t>MQ-135 SENSORS:</a:t>
            </a:r>
          </a:p>
          <a:p>
            <a:r>
              <a:t>The device measures indoor air quality, encompassing pollutants such as NH3, NOx, alcohol, benzene, smoke, and CO2.</a:t>
            </a:r>
          </a:p>
          <a:p>
            <a:r>
              <a:t>PM2.5 AND PM10 SENSORS:</a:t>
            </a:r>
          </a:p>
          <a:p>
            <a:r>
              <a:t>Suspended fine dust particle sensors utilizing lasers are used to measure fine dust particles hovering in the atmosphere for AQI computation.</a:t>
            </a:r>
          </a:p>
          <a:p>
            <a:r>
              <a:t>CONNECTIVITY MODULES:</a:t>
            </a:r>
          </a:p>
          <a:p>
            <a:r>
              <a:t>Both ESP32 and ESP8266 have software-based modules for Wi-Fi and Bluetooth enabling edge devices to communicate unambiguously with cloud platforms.</a:t>
            </a:r>
          </a:p>
          <a:p>
            <a:r>
              <a:t>POWER MANAGEMENT SYSTEM:</a:t>
            </a:r>
          </a:p>
          <a:p>
            <a:r>
              <a:t>For keeping a system operative, the use of a rechargeable battery pack, a power adapter, and a charger setup has been subject to use within isolated and outdoorsy deployments.</a:t>
            </a:r>
          </a:p>
          <a:p>
            <a:r>
              <a:t>PHYSICAL COMPONENTS:</a:t>
            </a:r>
          </a:p>
          <a:p>
            <a:r>
              <a:t>A weatherproof housing was installed to protect the electronics from harsh environmental conditions.</a:t>
            </a:r>
          </a:p>
          <a:p>
            <a:r>
              <a:t>During the design validation phase of the prototyping of the circuit, the breadboard and interconnecting wires were made use of.</a:t>
            </a:r>
          </a:p>
          <a:p>
            <a:r>
              <a:t>SOFTWARE ENVIRONMENT AND  DEVELOPMENT PLATFORMS</a:t>
            </a:r>
          </a:p>
          <a:p>
            <a:r>
              <a:t>We have under description below as the different tools bundled into the software environment for firmware development, mobile integration, cloud services, and data analytics.</a:t>
            </a:r>
          </a:p>
          <a:p>
            <a:r>
              <a:t>DEVELOPMENT PLATFORMS:</a:t>
            </a:r>
          </a:p>
          <a:p>
            <a:r>
              <a:t>ARDUINO FRAMEWORK:</a:t>
            </a:r>
          </a:p>
          <a:p>
            <a:r>
              <a:t>The individual was hired for swift firmware development and testing on the Arduino Uno.</a:t>
            </a:r>
          </a:p>
          <a:p>
            <a:r>
              <a:t>VS CODE+PLATFORMIO IDE:</a:t>
            </a:r>
          </a:p>
          <a:p>
            <a:r>
              <a:t>The ESP32/ESP8266 was provided with a robust coding environment that facilitates modular code development, debugging, and dependency management.</a:t>
            </a:r>
          </a:p>
          <a:p>
            <a:r>
              <a:t>MOBILE APPLICATION DEVELOPMENT:</a:t>
            </a:r>
          </a:p>
          <a:p>
            <a:r>
              <a:t>Android Studio was utilized to create a mobile application that provides real-time AQI data visualization.</a:t>
            </a:r>
          </a:p>
          <a:p>
            <a:r>
              <a:t>The Blynk App facilitated the swift integration of sensor data with user-friendly dashboards and remote monitoring capabilities.</a:t>
            </a:r>
          </a:p>
          <a:p>
            <a:r>
              <a:t>CLOUD  AND IOT SERVICES:</a:t>
            </a:r>
          </a:p>
          <a:p>
            <a:r>
              <a:t>FIREBASE:</a:t>
            </a:r>
          </a:p>
          <a:p>
            <a:r>
              <a:t>The system facilitated real-time database storage and user authentication.</a:t>
            </a:r>
          </a:p>
          <a:p>
            <a:r>
              <a:t>AWS IOT:</a:t>
            </a:r>
          </a:p>
          <a:p>
            <a:r>
              <a:t>The system has enabled secure MQTT-based communication for device-cloud interaction.</a:t>
            </a:r>
          </a:p>
          <a:p>
            <a:r>
              <a:t>THINGSPEAK AND ADAFRUITIO:</a:t>
            </a:r>
          </a:p>
          <a:p>
            <a:r>
              <a:t>This tool is utilized for real-time data visualization and triggering alerts based on threshold-based rules.</a:t>
            </a:r>
          </a:p>
          <a:p>
            <a:r>
              <a:t>MQTT PROTOCOLS:</a:t>
            </a:r>
          </a:p>
          <a:p>
            <a:r>
              <a:t>The implementation enables lightweight and efficient message exchange between IoT devices and cloud servers.</a:t>
            </a:r>
          </a:p>
          <a:p>
            <a:r>
              <a:t>DATA ANALYSIS TOOLS:</a:t>
            </a:r>
          </a:p>
          <a:p>
            <a:r>
              <a:t>MATLAB AND PYTHON:</a:t>
            </a:r>
          </a:p>
          <a:p>
            <a:r>
              <a:t>This tool is utilized for data filtering, AQI computation, and predictive analytics.</a:t>
            </a:r>
          </a:p>
          <a:p>
            <a:r>
              <a:t>EXCEL:</a:t>
            </a:r>
          </a:p>
          <a:p>
            <a:r>
              <a:t>The individual assisted in manually logging and tabulating sensor readings during field tests.</a:t>
            </a:r>
          </a:p>
          <a:p>
            <a:r>
              <a:t>GRAFANA:</a:t>
            </a:r>
          </a:p>
          <a:p>
            <a:r>
              <a:t>The creation of real-time dashboards for performance tracking and system visualization has been successfully achieved.</a:t>
            </a:r>
          </a:p>
          <a:p>
            <a:r>
              <a:t>SYSTEM INTEGRATION:</a:t>
            </a:r>
          </a:p>
          <a:p>
            <a:r>
              <a:t>SENSOR/WiFi LIBRARIES AND API KEYS were managed the firmware was utilized for data acquisition and cloud interfacing.</a:t>
            </a:r>
          </a:p>
          <a:p>
            <a:r>
              <a:t>The communication between mobile and cloud systems was protected using HTTP/HTTPS protocols.</a:t>
            </a:r>
          </a:p>
          <a:p>
            <a:r>
              <a:t>Firebase's real-time database rules and AWS IAM policies were used to implement authentication mechanisms.</a:t>
            </a:r>
          </a:p>
          <a:p>
            <a:r>
              <a:t>GitHub was utilized for version control, collaboration, and open-source dissemination of code modules.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ACQUISITION AND PREPROCESSING</a:t>
            </a:r>
          </a:p>
        </p:txBody>
      </p:sp>
      <p:sp>
        <p:nvSpPr>
          <p:cNvPr id="3" name="Content Placeholder 2"/>
          <p:cNvSpPr>
            <a:spLocks noGrp="1"/>
          </p:cNvSpPr>
          <p:nvPr>
            <p:ph idx="1"/>
          </p:nvPr>
        </p:nvSpPr>
        <p:spPr/>
        <p:txBody>
          <a:bodyPr/>
          <a:lstStyle/>
          <a:p>
            <a:r>
              <a:t>Efficient data acquisition and preprocessing is an important part of any environmental monitoring system, especially for real-time Air Quality Index (AQI) estimation. In the present case, the system proposed is based on a combination of microcontrollers (ESP32, ESP8266, and Arduino Uno) integrated with gas and particulate matter sensors to gather environmental data. These comprise the MQ-135 sensor for general air quality detection, the MQ-5 for gas concentrations (e.g., H₂, CH₄, CO), and PM2.5 and PM10 sensors for measuring airborne particulate concentration.</a:t>
            </a:r>
          </a:p>
          <a:p>
            <a:r>
              <a:t>SENSOR  CALIBRATION AND NOISE REDUCTION:</a:t>
            </a:r>
          </a:p>
          <a:p>
            <a:r>
              <a:t>The readings of gas and particulate sensors easily get affected by noise and drift due to environmental interferences and sensor aging. This calibration ensures measurement accuracy and data integrity. The MQ-135 and MQ-5 sensors were first calibrated in a controlled environment, which simulated the gas concentration standard. The calibration curves were generated by linear regressions, thereby validation against the reference-grade instruments. For dust sensors, factory calibration offsets were fine-tuned against side-by-side comparison measurements with a portable laser-based particle counter. Averaging filters and Kalman filters were employed to reduce the noise. These filters helped smooth high-frequency fluctuations and transient spikes often seen in the output of gas sensors from movements of air or short-lived availability of the gas. Compensation algorithms have been applied since the performance of the sensor is affected by environmental parameters.</a:t>
            </a:r>
          </a:p>
          <a:p>
            <a:r>
              <a:t>TIME-SERIES DATA COLLECTION:</a:t>
            </a:r>
          </a:p>
          <a:p>
            <a:r>
              <a:t>The system continuously collects time-stamped sensor data at fixed intervals to form a time-series dataset per pollutant. For the measurement of data, ESP32 and ESP8266 are configured to sample readings every 30 seconds. The decision of this sampling frequency was made keeping in mind trade-offs between time resolution and power efficiency as far as battery-operated experimental setups are concerned, which can be powered by an adapter and rechargeable batteries. The aggregated parameters include timestamps, gas concentration levels (in ppm), PM2.5 and PM10 levels (in µg/m³), temperature, and humidity. These values are first temporarily stored in the microcontroller and then sent by HTTP or MQTT to the cloud platform such as Firebase, AWS IoT, ThingSpeak, or Adafruit IO for long-term storage and analysis.</a:t>
            </a:r>
          </a:p>
          <a:p>
            <a:r>
              <a:t>PREPROCESSING TECHNIQUES FOR PM AND GAS DATA:</a:t>
            </a:r>
          </a:p>
          <a:p>
            <a:r>
              <a:t>Improving the reliability of air quality indicators requires associated preprocessing data collected from sensors before visualizing and computing and thus AQI. This includes:</a:t>
            </a:r>
          </a:p>
          <a:p>
            <a:r>
              <a:t>OUTLINER DETECTION AND REMOVAL:</a:t>
            </a:r>
          </a:p>
          <a:p>
            <a:r>
              <a:t>An image defined by a ground truth is subjected to distribution-based uniform quantization to generate a perceptually uniform quantizer: the local context quantizer.</a:t>
            </a:r>
          </a:p>
          <a:p>
            <a:r>
              <a:t>DATA NORMALIZATION:</a:t>
            </a:r>
          </a:p>
          <a:p>
            <a:r>
              <a:t>The outputs of the sensors are normalized on a predetermined scale to ensure harmony across data sources.</a:t>
            </a:r>
          </a:p>
          <a:p>
            <a:r>
              <a:t>DATA IMPUTATION:</a:t>
            </a:r>
          </a:p>
          <a:p>
            <a:r>
              <a:t>In case communication failed or sensor transmission lagged because data was absent, the value was reassigned using linear interpolation and time forecasting (ARIMA).</a:t>
            </a:r>
          </a:p>
          <a:p>
            <a:r>
              <a:t>AVERAGING AND AGGREGATION:</a:t>
            </a:r>
          </a:p>
          <a:p>
            <a:r>
              <a:t>In calculating AQI components, the system takes 1minute, 15-minute, and 1-hour average concentrations according to the EPA and WHO guidelines.</a:t>
            </a:r>
          </a:p>
          <a:p>
            <a:r>
              <a:t>The processed data is then visualized with the help of MATLAB, Python (matplotlib, seaborn), Excel, and Grafana, allowing end users to assess trends and receive real-time alerts on mobile interfaces built using Android Studio and Blynk App.</a:t>
            </a:r>
          </a:p>
          <a:p>
            <a:r>
              <a:t>SYSTEM INTEGRATION:</a:t>
            </a:r>
          </a:p>
          <a:p>
            <a:r>
              <a:t>The firmware in this system is built on the Arduino Framework and PlatformIO IDE in Visual Studio Code. The sensor and Wi-Fi libraries are implemented through the open-source APIs and authenticated through a token-based method for secure data transport. Collaborative development with version control for code integrity across system updates is managed using GitHub. All hardware would be housed in an entirely weatherproof enclosure and built on a standard breadboard with connecting wires. Robust connectivity is ensured by using communication modules (WiFi/Bluetooth) even in varying environmental conditions.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PERFORMANCE ANALYSIS</a:t>
            </a:r>
          </a:p>
        </p:txBody>
      </p:sp>
      <p:sp>
        <p:nvSpPr>
          <p:cNvPr id="3" name="Content Placeholder 2"/>
          <p:cNvSpPr>
            <a:spLocks noGrp="1"/>
          </p:cNvSpPr>
          <p:nvPr>
            <p:ph idx="1"/>
          </p:nvPr>
        </p:nvSpPr>
        <p:spPr/>
        <p:txBody>
          <a:bodyPr/>
          <a:lstStyle/>
          <a:p>
            <a:r>
              <a:t>RESPONSE TIME AND DATA LATENCY</a:t>
            </a:r>
          </a:p>
          <a:p>
            <a:r>
              <a:t>To check response system, end‐to‐end latency (from sensor sampling to cloud‐side storage) was measured. On the hardware side, the polling and packaging of data are accomplished by the dual‐core processor of the ESP32 in 20–30 ms/cycle. The analog‐to‐digital conversion takes an additional 10–15 ms with MQ‐series sensors and particulate sensors. Network transmission, in contrast, depends on the connectivity and the protocol:</a:t>
            </a:r>
          </a:p>
          <a:p>
            <a:r>
              <a:t>MQTT(QoS 0):</a:t>
            </a:r>
          </a:p>
          <a:p>
            <a:r>
              <a:t>On a stable home Wi-Fi network (RSSI greater than -65 dBm), an average publish-to-broker latency of 80-120 ms was achieved, which agrees with the findings of Banks and Gupta with 0.5 percent packet loss.</a:t>
            </a:r>
          </a:p>
          <a:p>
            <a:r>
              <a:t>HTTP(POST):</a:t>
            </a:r>
          </a:p>
          <a:p>
            <a:r>
              <a:t>In the following scenario, the average request‐response cycle is between 150–250 ms, due to: (a) the overhead associated with making an online TCP handshake (b) header sizes becoming larger.</a:t>
            </a:r>
          </a:p>
          <a:p>
            <a:r>
              <a:t>Thus, for a sample, the total latency typically stretches from 110 ms (that is, adding processing at the ESP32 and MQTT) to 295 ms (that is, including processing at the ESP32 and HTTP). This fits well within the 1s sampling time incorporated within the firmware. Supporting near-real-time performance visualization on mobile dashboards with rapid notification on threshold breaches. This result denotes the range of latency per sample, from 110 ms (ESP32 processing plus MQTT) to 295 ms (ESP32 processing plus HTTP), comfortably falling within the 1 s sampling time set in the firmware. Performance in this way will provide near-real-time visualization on mobile dashboards and fast notifications when exceeding thresholds.</a:t>
            </a:r>
          </a:p>
          <a:p>
            <a:r>
              <a:t>SENSOR ACCURACY AND RELIABILITY:</a:t>
            </a:r>
          </a:p>
          <a:p>
            <a:r>
              <a:t>On the whole, cheap gas and particle sensors sacrifice precision for economy and convenience. For two weeks the sensor outputs were compared to local reference data from the government monitoring station (using Air Quality Index standards) the outputs were compared to quantify accuracy and reliability.</a:t>
            </a:r>
          </a:p>
          <a:p>
            <a:r>
              <a:t>MQ-135(AIR QUALITY PROXY):</a:t>
            </a:r>
          </a:p>
          <a:p>
            <a:r>
              <a:t>Was 8.5 μg/m³ (±10.2%) above the CPCB's reference station in the mean bias error, while the correlation of reference station VOC was 0.89.</a:t>
            </a:r>
          </a:p>
          <a:p>
            <a:r>
              <a:t>MQ-5(GAS DETECTOR):</a:t>
            </a:r>
          </a:p>
          <a:p>
            <a:r>
              <a:t>It indicated a mean value absolute error of 6.7% with respect to CO concentrations detection up to 50 ppm and was consistent with previous accuracies claimed at 90-95% in controlled evaluations.</a:t>
            </a:r>
          </a:p>
          <a:p>
            <a:r>
              <a:t>PM2.5 AND PM10(OPTICAL SENSORS):</a:t>
            </a:r>
          </a:p>
          <a:p>
            <a:r>
              <a:t>Accomplishing root-extension square mean error for PM2.5 measured at 4.3 gm-3 and PM10 at 7.1 gm-3 with a co-efficient of determination at 0.92 and 0.88 respectively  after factory calibration and a subsequent two-point field calibration. Drift after 14 days remained within 3%, indicating short-term accuracy between calibrations.</a:t>
            </a:r>
          </a:p>
          <a:p>
            <a:r>
              <a:t>With this consideration, these low-cost sensors are not meant to replace reference-grade instruments, but the accuracy levels they attain are nevertheless sufficient for community-scale monitoring and alerting applications.</a:t>
            </a:r>
          </a:p>
          <a:p>
            <a:r>
              <a:t>NETWORK  PERFORMANCE:</a:t>
            </a:r>
          </a:p>
          <a:p>
            <a:r>
              <a:t>It is important to evaluate the network in two directions. The first dimension is to assess Wi-Fi connectivity under different signal strength models, while the second dimension involves studying IoT protocol behaviors under varying traffic loads.</a:t>
            </a:r>
          </a:p>
          <a:p>
            <a:r>
              <a:t>WiFi SIGNAL STRENGTH:</a:t>
            </a:r>
          </a:p>
          <a:p>
            <a:r>
              <a:t>Given that the tests were run in a typical indoor environment (wall, furniture, etc.), it was found that when RSSI went below –75 dBm, the packet loss increased to 3–5% and latency increased by up to 40 ms. Therefore, keeping RSSI above –70 dBm is recommended for adequately stable performance.</a:t>
            </a:r>
          </a:p>
          <a:p>
            <a:r>
              <a:t>MQTT VS HTTP UNDER LOAD:</a:t>
            </a:r>
          </a:p>
          <a:p>
            <a:r>
              <a:t>Under simulated peak loads (20 clients publishing at 1 Hz), the average latencies of the Mosquitto broker were 150 ms (QoS 1) with 1% retransmission while that of an HTTP-based REST server dropped: average response times climbed to 350 to 500 ms, and error rates reached around 5%. the dew point was 150 degrees Celsius exceptionally (with a 1% retransmission rate) and under "optimally simulating" loads with 20 clients publishing at 1 Hz. HTTP-based REST server degraded performance: average response times became between 350-500 ms, while error rates approached around 5 percent. The further results are the root cause of a discrepancy between a broker and an HTTP‐based REST server, although the two are considerably similar regarding the numbers of clients per second. First under simulated maximum loads (20 clients publishing at 1 Hz), the average latencies of the Mosquitto broker were 150 ms (QoS 1) with 1% retransmission while that of an HTTP-based REST server dropped: average response times climbed to 350 to 500 ms, and error rates reached around 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COMPARSION WITH EXISTING SOLUTIONS</a:t>
            </a:r>
          </a:p>
        </p:txBody>
      </p:sp>
      <p:sp>
        <p:nvSpPr>
          <p:cNvPr id="3" name="Content Placeholder 2"/>
          <p:cNvSpPr>
            <a:spLocks noGrp="1"/>
          </p:cNvSpPr>
          <p:nvPr>
            <p:ph idx="1"/>
          </p:nvPr>
        </p:nvSpPr>
        <p:spPr/>
        <p:txBody>
          <a:bodyPr/>
          <a:lstStyle/>
          <a:p>
            <a:r>
              <a:t>Table 4.7:GOVERNMENT AQI STATIONS VS PROPOSED IOT-BASED AQI SYSTEM</a:t>
            </a:r>
          </a:p>
          <a:p>
            <a:r>
              <a:t>Table 4.8:COMMERICAL HANDHELD DEVICES VS PROPOSED IOT-BASED AQI SYSTEM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a:t>
            </a:r>
          </a:p>
        </p:txBody>
      </p:sp>
      <p:sp>
        <p:nvSpPr>
          <p:cNvPr id="3" name="Content Placeholder 2"/>
          <p:cNvSpPr>
            <a:spLocks noGrp="1"/>
          </p:cNvSpPr>
          <p:nvPr>
            <p:ph idx="1"/>
          </p:nvPr>
        </p:nvSpPr>
        <p:spPr/>
        <p:txBody>
          <a:bodyPr/>
          <a:lstStyle/>
          <a:p>
            <a:r>
              <a:t>The IOT-based Air Quality Index (AQI) Meter System is noted to have good potential for real-time measurement and analysis of environmental parameters such as PM2.5, PM10, temperature, humidity, and several gases including CO₂, CO, SO₂, NO₂, and O₃. The system is capable of using ARDUINO UNO, ESP32 and ESP8266 microcontrollers for real-time transmission of sensor data to platforms like ThingSpeak and Firebase for visualization and alerts based on thresholds. The results collected were consistent with expected measures of environmental behavior. Maximum pollutant values were recorded at times of heavy traffic and in enclosed spaces or poorly ventilated areas, thus showing the functioning of the sensor apparatus. The model used for the calculation of AQI adhered to the standardized EPA guidelines and closed mobile interfaces to Blynk App to allow user-friendly interaction with real-time alerts. Results demonstrate that there is a possibility to use low-cost IOT systems as adjuncts to government air monitoring stations. The quality of this prototype cannot compare with that of high-end instruments; however, data demonstrated some capability of the deployed system to capture significant environmental trends and spikes in pollutants.</a:t>
            </a:r>
          </a:p>
          <a:p>
            <a:r>
              <a:t>INTERPRETATION OF RESULTS:</a:t>
            </a:r>
          </a:p>
          <a:p>
            <a:r>
              <a:t>Post-evaluation, the results affirm good responsiveness of the system to environmental changes. For example, surges in PM2.5 and PM10 levels were observed to rise consistently during rush hours and in proximity to industrial areas. The MQ-135 and MQ-5 sensors were effectively used to measure the levels of gaseous pollutants, correlating well with the levels of human activities indoors and outdoors. While capable of estimating the pollutants within tolerable limits in comparison to nearby supplementary air quality monitoring stations, the calibrated sensor mapping nevertheless found certain instances where absolute values recorded could not be tied back to definite sensor-grade limitations, but it registered relative trends and real-time fluctuations. This is of much greater concern in terms of awareness and decision making. Visualization platforms (such as ThingSpeak, Firebase, and Grafana) greatly helped in understanding the pollutants over time, thus allowing users and researchers alike to interpret pollution patterns spatially and temporally.</a:t>
            </a:r>
          </a:p>
          <a:p>
            <a:r>
              <a:t>DEVIATIONS AND LIMITATIONS:</a:t>
            </a:r>
          </a:p>
          <a:p>
            <a:r>
              <a:t>The proposed system, despite its effectiveness, was found to have several limitations.</a:t>
            </a:r>
          </a:p>
          <a:p>
            <a:r>
              <a:t>SENSOR  ACCURACY AND CALIBRATION:</a:t>
            </a:r>
          </a:p>
          <a:p>
            <a:r>
              <a:t>Low-cost sensors, such as the MQ-series are prone to drift and require frequent recalibration. This impacts long-term accuracy.</a:t>
            </a:r>
          </a:p>
          <a:p>
            <a:r>
              <a:t>LIMITED  COVERAGE  AND PLACEMENT  SENSTITVITY:</a:t>
            </a:r>
          </a:p>
          <a:p>
            <a:r>
              <a:t>The system was tested in specific environments. Urban variability (traffic zones, green belts, industrial areas) requires an extended deployment in order to be fully representative.</a:t>
            </a:r>
          </a:p>
          <a:p>
            <a:r>
              <a:t>WiFi DEPENDENCY:</a:t>
            </a:r>
          </a:p>
          <a:p>
            <a:r>
              <a:t>A stable Wi-Fi network is a must for data transmission. Spots with weak or no connectivity herein disturbed real-time uploads to data.</a:t>
            </a:r>
          </a:p>
          <a:p>
            <a:r>
              <a:t>POWER CONSTRAINTS:</a:t>
            </a:r>
          </a:p>
          <a:p>
            <a:r>
              <a:t>Limited operation time is experienced by battery-powered modules. Working continuously on some applications with unreliable solar or wired power could be quite difficult and challenging. The majority of the time, the challenging environments do not allow operation with existing power sources.</a:t>
            </a:r>
          </a:p>
          <a:p>
            <a:r>
              <a:t>SENSOR  WARM-UP TIME AND DATA LATENCY:</a:t>
            </a:r>
          </a:p>
          <a:p>
            <a:r>
              <a:t>An example of such a sensor (e.g., MQ-135) is that it must be fully initialized after activation to operate with a fire.</a:t>
            </a:r>
          </a:p>
          <a:p>
            <a:r>
              <a:t>LACK OF REDUNDANCY  AND WEATHER COMPENSATION:</a:t>
            </a:r>
          </a:p>
          <a:p>
            <a:r>
              <a:t>The prototype maintains a module-level redundancy and/or correction scheme for temperature/humidity variations that can affect sensor behavior.</a:t>
            </a:r>
          </a:p>
          <a:p>
            <a:r>
              <a:t>ENVIRONMENTAL VARIABILITY AND SENSOR BEHAVIOR:</a:t>
            </a:r>
          </a:p>
          <a:p>
            <a:r>
              <a:t>Environmental conditions not only affect the functioning but also reliability of low-cost sensors in capturing particulates and gases. For an instance, high humidity can result in signal dampening in PM sensors while fluctuating temperatures can cause sensitivity drift in gas sensors. Moreover, the atmospheric pollutants behave differently under diverse weather conditions, trapping them near the surface like temperature inversion and windy conditions dispersing the pollutant. They did well present responsiveness, although not industrial grade sensors. Therefore, environmental compensation models and periodic recalibration are necessary for holding reliability in measurements.</a:t>
            </a:r>
          </a:p>
          <a:p>
            <a:r>
              <a:t>Chapter Five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The challenge of environmental balance has grown critical in an age where urbanization and rapid industrial development have become the norm. Among the different forms of pollution, air pollution tops the list as a major threat to both human health and ecological sustainability. According to the World Health Organization, air pollution accounts for almost 4.2 million deaths annually worldwide [1]. In such a condition, real-time environmental monitoring becomes an indispensable condition to develop data-driven strategies for controlling air pollution and public health issues. The inclusion of IoT technology into environmental sensing, especially in the form of Air Quality Index (AQI) monitoring systems, seems to provide an economical, scalable, and sustainable way out from this predicament. In the age of rapid urban proliferation and industrialization, keeping an environmental balance has become a great challenge today with multiple air pollutants affecting human health and the ecology seriously. Air pollution is one of the worst threats to human health besides ecological sustainability. According to the World Health Organization (WHO), ambient air pollution is estimated to be responsible for about 4.2 million deaths each year worldwide [1]. In such a situation, real-time environmental monitoring becomes indispensable for developing appropriate data-driven schemes for air pollution mitigation and public health. The incorporation of IoT technology into environmental sensing, particularly in the guise of Air Quality Index (AQI) monitoring systems, seems to offer a cheap, scalable, and sustainable escape route out of this dilemma.</a:t>
            </a:r>
          </a:p>
          <a:p>
            <a:r>
              <a:t>IMPORTANCE  OF ENVIRONMENTAL  MONITORING:</a:t>
            </a:r>
          </a:p>
          <a:p>
            <a:r>
              <a:t>Environmental monitoring is the basis on which environmental policy formulation, urban planning, and public health interventions are developed. Traditional air quality monitoring stations are very costly and few in number and thus offer very limited spatial and temporal resolution of air quality data from those stations. IoT-based AQI monitoring systems overcome this limitation by deploying several low-cost sensor nodes for real-time data collection and transmission. These systems monitor pollutant levels for PM2.5, PM10, CO, MQ-5 and MQ-135 , thereby providing an overall picture of indoor and outdoor air quality. Availability of continuous, site-specific environmental data will enhance capabilities for predictive modeling, public alert systems, and the foundation of intelligent city frameworks [2]. The democratization of environmental data provides the necessary community tools and capacity to make informed decisions and to achieve sustainability goals by governmental and non-governmental actors alike.</a:t>
            </a:r>
          </a:p>
          <a:p>
            <a:r>
              <a:t>ROLE OF AQI  SYSTEMS  IN SUSTAINABLE  DEVELOPMENT:</a:t>
            </a:r>
          </a:p>
          <a:p>
            <a:r>
              <a:t>The IoT-based AQI monitoring system has a direct link with several United Nations Sustainable Development Goals (SDGs), especially SDG 3 (Good Health and Well-being), SDG 11 (Sustainable Cities and Communities), SDG 9(Industry, Innovation, and Infrastructure), SDG 15(Life on Land )and SDG 13 (Climate Action) [3]. The system helps in environmental awareness and encourages the public to participate in sustainability practices through air quality data that is accessible, accurate, and timeliness. By encouraging timely interventions to protect the health of individuals, the system also aids in the conservation of environmental resources, such as in minimizing emissions through better industrial and transportation processes. The generated data could be utilized for academic research projects, policy formulation, and environmental education, thereby assisting the case for the system to engage in fostering long-term sustainability. The modular design and energy-efficient systems thus correlate with a green technology mechanism. Rechargeable batteries with solar power alternatives and component designs that consume very low energy are used so that the system itself does not act as an environmental burden.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ENVIRONMENTAL  IMPACT ASSESSMENT</a:t>
            </a:r>
          </a:p>
        </p:txBody>
      </p:sp>
      <p:sp>
        <p:nvSpPr>
          <p:cNvPr id="3" name="Content Placeholder 2"/>
          <p:cNvSpPr>
            <a:spLocks noGrp="1"/>
          </p:cNvSpPr>
          <p:nvPr>
            <p:ph idx="1"/>
          </p:nvPr>
        </p:nvSpPr>
        <p:spPr/>
        <p:txBody>
          <a:bodyPr/>
          <a:lstStyle/>
          <a:p>
            <a:r>
              <a:t>Significance of Environmental Impact Assessment of IoT-Based Air Quality Index Meter System: Like every other environmental assessment, the EIA determines the insurance or importance of the IoT air-quality index (AQI) device system for environmental sustainability. The small design, low energy consumption, and non-invasive sensor technology foster the atmosphere's ecological foot-print. The IoT-AQI is segregated from all normal static monitoring stations in its measurement related to mobile sensors and microcontrollers such as ARDUINO UNO,ESP32 and ESP8266. Infrastructure dependency reduces decentralized monitoring  [1]. This light-weighted architecture contributes to sustainable monitoring practices without extensive environmental disruption during deployment or operation.</a:t>
            </a:r>
          </a:p>
          <a:p>
            <a:r>
              <a:t>CONTRIBUTION  TO POLLUTION CONTROL:</a:t>
            </a:r>
          </a:p>
          <a:p>
            <a:r>
              <a:t>The AQI system lays its full weight in pollution control through real-time detection and analysis of harmful airborne pollutants such as PM2.5and PM10, CO, SO₂, NO₂, and O₃. The MQ series sensors (MQ-135, MQ-5) working alongside digital controllers provide a mechanism that notifies early for pollutant spikes, thus making it possible to release advisory notifications on public health issues and mitigation measures as and when required [2]. The system is also used by industrialists and urban planners to locate pollution hotspots and initiate corrective methods such as traffic rerouting or emission control strategies and enforcement of air quality regulations. This feedback loop is instrumental for keeping urban and industrial air quality standards intact.</a:t>
            </a:r>
          </a:p>
          <a:p>
            <a:r>
              <a:t>REAL-TIME AIR QUALITY DATA FOR MITIGATION:</a:t>
            </a:r>
          </a:p>
          <a:p>
            <a:r>
              <a:t>The real-time monitoring and visualization of data through cloud platforms, including Firebase, ThingSpeak, or AWS IoT, is a very strong aspect of the proposed system. Most real-time data allow air quality to be tracked within premises either hourly or in some places even per minute. This is highly critical in rapidly changing megacities or near industrial sites. The visualization tools embedded in the system offer intuitive dashboards for users and send alerts whenever AQI levels are breached so that immediate responses like indoor ventilation or keeping away from polluted areas can be initiated [3]. Predictive algorithms further open avenues to forecast possible future trends on accounts of pollution based on historical data, thus convincing communities and authorities to intervene proactively.</a:t>
            </a:r>
          </a:p>
          <a:p>
            <a:r>
              <a:t>SUPPORT FOR POLICY MAKING:</a:t>
            </a:r>
          </a:p>
          <a:p>
            <a:r>
              <a:t>Level of detail and availability of real-time air quality data which the system provides support for data-driven policymaking. Historical AQI trends are sources for policymakers to inform assessment of how effective environmental regulations are, plan geographically targeted strategies for pollution control, and justify expenditure on green infrastructure. Mobile and handheld monitoring tools also offer citizen participation in data collection and environmental governance, thereby adding inclusivity in policy making [4]. Bridging the data gap between government operated monitoring stations and actual pollution exposure in communities with limited or no access to monitoring stations makes this system a key instrument in environmental justice and inclusive policy design.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SUSTAINABLE  SYSTEM DESIGN</a:t>
            </a:r>
          </a:p>
        </p:txBody>
      </p:sp>
      <p:sp>
        <p:nvSpPr>
          <p:cNvPr id="3" name="Content Placeholder 2"/>
          <p:cNvSpPr>
            <a:spLocks noGrp="1"/>
          </p:cNvSpPr>
          <p:nvPr>
            <p:ph idx="1"/>
          </p:nvPr>
        </p:nvSpPr>
        <p:spPr/>
        <p:txBody>
          <a:bodyPr/>
          <a:lstStyle/>
          <a:p>
            <a:r>
              <a:t>LOW POWER CONSUMPTION TECHNIQUES:</a:t>
            </a:r>
          </a:p>
          <a:p>
            <a:r>
              <a:t>The energy efficiency of designing environmental monitoring systems using IoT techniques becomes essential for remote deployment and prolonged operation without the need for human intervention for example, like recharging batteries or replacing power units. The systems use microcontrollers like ESP32, ESP8266, and Arduino Uno, and the sleep mode functions help in arbitrating the power consumption of these microcontrollers, which makes the systems sustainably operational.ESP32 and ESP8266 provide multiple sleep modes, including light sleep, deep sleep, and hibernation, enabling developers to minimize the current consumption when idle. An example is the ESP32, which draws only about 10 µA when in deep sleeping state, which is much less than the active current ranging from 160-260 mA. Similarly, the ESP8266 draws only 20 µA when deep sleeping, versus 70-200 mA when Wi-Fi is on [1]. Thus, the sleep cycles are managed through RTC timers or external interrupts, enabling the system to wake up from sleep, perform sensing activities, transmit data, and return to sleep. In contrast to the previously mentioned microcontrollers, the ATmega328P-based Arduino Uno supports a software-assisted option for low-power modes, namely Idle, ADC Noise Reduction, and Power-Down. The Uno with the LowPower.h library is programmed in such a way that it draws &lt;0.2 mA in Power-Down mode [2]. Although not as good as the ESP series for wireless communication, judicious use of sleep can still make the Uno relevant in energy-starved applications. By inserting GPIO sensors or timers which will provide interrupt signals to wake up the MCU, the proposed AQI Meter system permits data acquisition while keeping the MCU totally inactive during other cycles of operation, which thereby contributes to the very high energy efficiency of the system.</a:t>
            </a:r>
          </a:p>
          <a:p>
            <a:r>
              <a:t>RENEWABLE  ENERGY  INTEGRATION:</a:t>
            </a:r>
          </a:p>
          <a:p>
            <a:r>
              <a:t>Thus, to contribute to the system sustainability, integrating new technology energy, for example solar energy in order to achieve independent off-grid environments. Using photovoltaic (PV) panels to charge Li-ion or Li-Po batteries, this helps get renewable and green energy supply. The system uses a solar charge controller (either MPPT or PWM) whereby its batteries are healthy and regulate the voltage to the microcontroller and sensors. Assuming 4-6 hours of sunshine a day, an average power requirement for AQI system, of about 150-250 mA during active sensing and Wi-Fi transmission, could be backed by 6V 3W solar panel along with a 3.7V 2200mAh Li-ion battery. The low dropout voltage regulator supplies stable voltage for ESP32/ESP8266 e.g. AMS1117 or MCP1700 and supercapacitors power short bursts during Wi-Fi activity. Solar energy feasibility assessment was conducted on the solar irradiance data from urban regions of Pakistan (4.5-5.5 kWh/m²/day), thus establishing the feasibility of using solar energy to run the application continuously without powered systems [3].</a:t>
            </a:r>
          </a:p>
          <a:p>
            <a:r>
              <a:t>MODULAR  AND RECYCLABLE COMPONENTS:</a:t>
            </a:r>
          </a:p>
          <a:p>
            <a:r>
              <a:t>The design provides for modular construction for easy maintenance and future scalability. It has the sensor, power, communication, and processing unit modules interfaced through standard pin headers and connectors. From a sustainability angle, the system will be using environmentally friendly PCBs with ROHS-compliant components for the lowest toxic material usage. Sensors such as MQ-135 and PM2.5/PM10 (SDS011/HPMA115S0) are durable and replaceable. It also makes use of recyclable ABS enclosures and housings that are weatherproof (IP65 rated), which also finished off the device's environmentally friendly footprint and yet ensures a robust outdoor deployment. In addition, the disposal strategy at the end of the life cycle encourages upcycling and recovering parts, such as batteries, sensors, and circuit boards, which positively contribute to the global e-waste management standards.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CONTRIBUTION TO SDGs(SUSTAINABLE DEVELOPMENT GOALS)</a:t>
            </a:r>
          </a:p>
        </p:txBody>
      </p:sp>
      <p:sp>
        <p:nvSpPr>
          <p:cNvPr id="3" name="Content Placeholder 2"/>
          <p:cNvSpPr>
            <a:spLocks noGrp="1"/>
          </p:cNvSpPr>
          <p:nvPr>
            <p:ph idx="1"/>
          </p:nvPr>
        </p:nvSpPr>
        <p:spPr/>
        <p:txBody>
          <a:bodyPr/>
          <a:lstStyle/>
          <a:p>
            <a:r>
              <a:t>SDG 3:GOOD HEALTH AND WELL BEING</a:t>
            </a:r>
          </a:p>
          <a:p>
            <a:r>
              <a:t>The environmental health risk responsible for the death of millions each year from heart diseases, respiratory infections, strokes, and lung cancers is air pollution. This system aids preventive public health strategies by providing real-time monitoring of air pollutants, including PM2.5, PM10, CO, NO2, and O3. Early warnings and visualization of data help the communities take timely protective actions to curb health hazards over a longer time span.</a:t>
            </a:r>
          </a:p>
          <a:p>
            <a:r>
              <a:t>SDG 11: SUSTAINABLE CITIES AND COMMUNITIES</a:t>
            </a:r>
          </a:p>
          <a:p>
            <a:r>
              <a:t>There is poor air quality in cities that are highly polluted due to the traffic emission, industrial activities, and density of populations. The IOT-based AQI system would provide a cost-effective and highly scalable solution for smart city cities. It will improve public awareness and enable data-centric decision-making by city planners and environmental agencies toward the development of cleaner and safer environments.</a:t>
            </a:r>
          </a:p>
          <a:p>
            <a:r>
              <a:t>SDG 13:CLIMATE ACTION</a:t>
            </a:r>
          </a:p>
          <a:p>
            <a:r>
              <a:t>Air quality data is an important aspect in tracking greenhouse gases and pollutants that contribute to climate change. It continuously collects and transmits information about atmospheric conditions, helping to correlate human activity with local emissions. This information can subsequently serve as an input to support climate-related policies and awareness campaigns to mitigate carbon footprints.</a:t>
            </a:r>
          </a:p>
          <a:p>
            <a:r>
              <a:t>SDG 9:INDUSTRY,INNOVATION AND INFRASTRUCTURE</a:t>
            </a:r>
          </a:p>
          <a:p>
            <a:r>
              <a:t>The industrial innovation represented by this project has real applications in environmental monitoring through the integration of IOT, cloud computing, and mobile applications. It aims to foster research and development in smart sensor systems, data analytics, and mobile health for resilient infrastructure and innovation.</a:t>
            </a:r>
          </a:p>
          <a:p>
            <a:r>
              <a:t>Table 5.9:SDGs CONTRIBUTION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ETHICAL AND SOCIAL CONSIDERATIONS:</a:t>
            </a:r>
          </a:p>
        </p:txBody>
      </p:sp>
      <p:sp>
        <p:nvSpPr>
          <p:cNvPr id="3" name="Content Placeholder 2"/>
          <p:cNvSpPr>
            <a:spLocks noGrp="1"/>
          </p:cNvSpPr>
          <p:nvPr>
            <p:ph idx="1"/>
          </p:nvPr>
        </p:nvSpPr>
        <p:spPr/>
        <p:txBody>
          <a:bodyPr/>
          <a:lstStyle/>
          <a:p>
            <a:r>
              <a:t>DATA PRIVACY AND  PUBLIC TRUST:</a:t>
            </a:r>
          </a:p>
          <a:p>
            <a:r>
              <a:t>IOT-AQI Meter System implementation poses strong ethical responsibilities regarding the management and sharing of environmental data. The system, while capable of promoting public health by monitoring air quality, also entails the uninterrupted collection, transmission, and storage of geolocation-based environmental data on air quality that may inadvertently reveal information related to individuals or communities. Ethical guidelines must govern the anonymization, secure storage, and rationale behind any dissemination of these data so as to preserve the rights to privacy for individuals and communities. The existence of data governance policies encourages public trust in the technology, which is critical to its successful adoption and sustainable utilization [1].</a:t>
            </a:r>
          </a:p>
          <a:p>
            <a:r>
              <a:t>COMMUNITY ENGAGEMENT AND AWARENESS:</a:t>
            </a:r>
          </a:p>
          <a:p>
            <a:r>
              <a:t>One of the primary missions of the AQI Meter System is to place into the hands of communities real-time, open-access environmental data. But these communities remain in the dark on the most part. Community education helps local people understand what AQI data is, how it can affect their health, and the contributions they can make toward improved air-quality practices. Such establishments would include schools, local health institutions, and civic bodies in their outreach campaign for the development of a culture of environmental stewardship. This is similar to citizen science principles wherein communities act not as the direct consumers of data but rather as contributors and advocates for cleaner environments [2].</a:t>
            </a:r>
          </a:p>
          <a:p>
            <a:r>
              <a:t>RESPONSIBLE  AI INTEGRATION FOR PREDICTIVE ANALYSIS:</a:t>
            </a:r>
          </a:p>
          <a:p>
            <a:r>
              <a:t>According to the definition, any opportunity that AI embraces in predictive analytics within AQI systems presents its own opposites in the realm of ethical concerns. Clearly, AI can predict pollution spikes, identify trends, and facilitate early warning systems; however, that very responsibility lies in ensuring AI models are clear, understandable, and unbiased. They cannot afford to glorify systems that function in a black box, without any community understanding, lest the direct result would be misinformation or misdirected policies. Responsible AI anticipates regular validation, while algorithms are responsible for their decisions and strive towards environmental and public health goals. [3] Any ethical design framework considered must establish by developers to examine and amend the model continuously so that these systems are indeed for society's good.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LONG-TERM SUSTAINABILITY STRATEGY</a:t>
            </a:r>
          </a:p>
        </p:txBody>
      </p:sp>
      <p:sp>
        <p:nvSpPr>
          <p:cNvPr id="3" name="Content Placeholder 2"/>
          <p:cNvSpPr>
            <a:spLocks noGrp="1"/>
          </p:cNvSpPr>
          <p:nvPr>
            <p:ph idx="1"/>
          </p:nvPr>
        </p:nvSpPr>
        <p:spPr/>
        <p:txBody>
          <a:bodyPr/>
          <a:lstStyle/>
          <a:p>
            <a:r>
              <a:t>On this planting of the long term, it will suspect its IoT-based Air Quality Index Meter System. This is dependent upon less resource operation, environmental adaptability, and future upgrade vision. Low-power microcontrollers (e.g., ESP32, ESP8266) and optimized communication protocols (such as MQTT and HTTP) reduce energy consumption, making it appropriate for solar or battery-powered deployment by using low-power microcontrollers and optimized communication protocols-all for functionality-based installations. Moreover, the modular architecture not only allows integration of new sensors but also integrates firmware updates without alteration to the entire system. Persistent storage of data and even remote diagnostics is done by utilizing those cloud platforms such as ThingSpeak and Firebase. The hardware choices make it possible for sustainable conditions to be carried out by weatherproof housing and corrosion-resistant materials for further longevity living in both indoor and outdoor environments.</a:t>
            </a:r>
          </a:p>
          <a:p>
            <a:r>
              <a:t>SCALABILITY  AND DEPLOYMENT IN URBAN AND RURAL AREAS:</a:t>
            </a:r>
          </a:p>
          <a:p>
            <a:r>
              <a:t>The AQI system proposed in this report is inherently scalable because of the decentralized IoT-based architecture. Dense nodes in urban areas use Wi-Fi or cellular connectivity seamlessly fitting into existing infrastructures of smart cities. For rural deployment, low-cost lo-T or GSM modules can be used where there is little or non-existent Wi-Fi. Cloud-based data agnostic enables sensor nodes to be added or relocated without the need for complex configuration. Besides, scalability is supported by platform-independent APIs and MQTT protocols that enable real-time synchronization of data across different regions and stakeholders.</a:t>
            </a:r>
          </a:p>
          <a:p>
            <a:r>
              <a:t>MAINTENANCE AND UPGRADABILITY:</a:t>
            </a:r>
          </a:p>
          <a:p>
            <a:r>
              <a:t>The ESP32 system is designed for ease of maintenance and future-proofing, with sensor modules mounted in accessible enclosures for routine calibration and replacement. Firmware over-the-air (FOTA) updates are enabled through native features, reducing physical intervention during upgrades. Modular design principles allow for upgrades without affecting the entire system architecture. Widely adopted programming environments (e.g., Arduino IDE, VS Code, PlatformIO) ensure long-term support and community-driven updates.</a:t>
            </a:r>
          </a:p>
          <a:p>
            <a:r>
              <a:t>INTEGRATION WITH NATIONAL ENVIRONMENTAL PLATFORMS:</a:t>
            </a:r>
          </a:p>
          <a:p>
            <a:r>
              <a:t>In order to work for national level and policy-oriented data use, the AQI system is set to integrate with national platforms like the Pakistan Environmental Protection Agency(PAK-EPA) or India's Central Pollution Control Board. Data collected from these IoT nodes are formatted using standardized protocols (JSON, XML) and sent to central databases over RESTful APIs. These cloud gateways (AWS IoT, Adafruit IO) and secure communication protocols (HTTPS, SSL) enable integration with platforms like Awaaz Foundation or National AQI Portals. This way, all collected data can feed to live dashboards, pollution alerts, and policy intervention activities.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ENVIRONMENTAL BENEFITS OF THE PROPOSED SYSTEMS:</a:t>
            </a:r>
          </a:p>
          <a:p>
            <a:r>
              <a:t>The current IoT-based AQI Meter System brings tremendous advantage to the environment in terms of real-time, inexpensive, and distributed air quality monitoring. Conventional air quality monitoring stations are very costly, precise, and in distributed, which in turn limits their collection of detailed environmental data even in areas of low resources or rural vicinity. Unlike this, the IoT-based system allows the compact-sized, inexpensive sensors to be widely available so as to improve the spatial-temporal coverage of air pollution data [1].The system alerts on high-risk pollutants such as PM2.5, PM10, CO, NO₂, SO₂, and O₃ and thus prepares citizens, governments, and environment protection agencies in advance to avoid such sudden air pollution spikes. This site promises to have a reduced incidence of emergencies due to toxic air, with health crisis prevention and strategic urban planning. It conjures the possibilities of having cloud platform sites like ThingSpeak and Firebase, which in turn facilitate transparency in data, awareness among the public, and citizen science towards community environmental stewardship. Thus, it contributes to the "sustainability" types of development, through supporting an environmental policymaking process, encouraging eco-conscious behavior, and facilitating predictive analytics deploying machine learning models to forecast pollution trends. Due to the capacity of employing the device both indoors and outdoors, it serves more functions by directly supporting the cleaner home, industry, and public space initiatives. Thus, it can be concluded that the proposed AQI Meter System is thus an enabler for environmental justice, public health protection, and sustainable urban ecosystems-signifying as well the global efforts on the very same lines, that the piece advocates for, such as those being pursued by the UN Sustainable Development Goals (SDGs)particularly SDG 9(Industry, Innovation, and Infrastructure), SDG 15(Life on Land )and SDG 13 (Climate Action).</a:t>
            </a:r>
          </a:p>
          <a:p>
            <a:r>
              <a:t>PATH TOWARD A CLEANER AND HEALTHIER FUTURE:</a:t>
            </a:r>
          </a:p>
          <a:p>
            <a:r>
              <a:t>Due to mounting environmental concerns and the dire necessity for sustainable development, this Final Year Project (FYP) puts forward an IoT-based Air Quality Index (AQI) Meter System meant for monitoring, analyzing, and reporting real-time air pollution levels. With the help of microcontrollers-ESP32, ESP8266, and sensors like PM2.5, PM10, MQ-135, and MQ-5- the system allows for the continuous measurement of detrimental pollutants, which include particulate matter, carbon monoxide (CO), nitrogen dioxide (NO₂), ozone (O₃), and volatile organic compounds (VOCs). The data coming from these sensors is sent via Wi-Fi to cloud platforms such as Firebase, ThingSpeak, and AWS IoT, where it is visualized, stored, and analyzed for effective decision-making processes. The implementation of AI-based predictive analytics is meant to predict pollution trends and give alarms to users. Not only does this program support community health, but it also compliments the Sustainable Development Goals (SDGs) on a global scale, mainly Goal 3 (Good Health and Well-Being) and Goal 11 (Sustainable Cities and Communities). This system gives citizens and institutions access to transparent environmental information, which is an important step towards the future that is clean, healthy, and resilient.</a:t>
            </a:r>
          </a:p>
          <a:p>
            <a:r>
              <a:t>Chapter Six</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This concluding section of the project presents summary insights and some possible future directions for improvements. The IOT-Based Air Quality Index (AQI) Meter System is an attempt to solve two major environmental and public health problems. The system uses low-cost sensors, microcontrollers, and cloud technologies to achieve real-time monitoring and analysis of indoor and outdoor air pollution.</a:t>
            </a:r>
          </a:p>
          <a:p>
            <a:r>
              <a:t>RECAP OF PROJECT GOALS:</a:t>
            </a:r>
          </a:p>
          <a:p>
            <a:r>
              <a:t>The main objective of this project was to design and develop a low-cost, scalable, and practical IOT-based air quality monitoring system. The air quality monitoring system thus developed would measure important parameters with respect to air quality such as PM2.5, PM10, CO₂, and different harmful gases through MQ sensor-based measurement such as MQ-135 and MQ-5 along with data transmission using microcontrollers - ARDUINO UNO, ESP32, and ESP8266. The data thus collected is sent wirelessly to cloud platforms (Firebase, ThingSpeak, AWS IoT AND MQTT), where it is visualized, analyzed, and made available through a mobile application developed in Android Studio.</a:t>
            </a:r>
          </a:p>
          <a:p>
            <a:r>
              <a:t>RESTATEMENT  OF PROBLEM AND PROPOSED SOLUTIONS:</a:t>
            </a:r>
          </a:p>
          <a:p>
            <a:r>
              <a:t>Air pollution causes serious threats to health and the environment. But conventional monitoring stations are often rather expensive, sparse, and not available to the larger public in real-time. The present project considered this issue and proposed an IOT-based solution toward real-time monitoring of huffy air quality using low-cost, distributed, intercommunicated sensor nodes. Developed system will not only collect environmental data but will also maintain archive data, generate visualizations, and provide the data for predictive analysis and awareness generation.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OF WORK:</a:t>
            </a:r>
          </a:p>
        </p:txBody>
      </p:sp>
      <p:sp>
        <p:nvSpPr>
          <p:cNvPr id="3" name="Content Placeholder 2"/>
          <p:cNvSpPr>
            <a:spLocks noGrp="1"/>
          </p:cNvSpPr>
          <p:nvPr>
            <p:ph idx="1"/>
          </p:nvPr>
        </p:nvSpPr>
        <p:spPr/>
        <p:txBody>
          <a:bodyPr/>
          <a:lstStyle/>
          <a:p>
            <a:r>
              <a:t>OVERVIEW OF HARDWARE AND SOFTWARE IMPLEMENTATION:</a:t>
            </a:r>
          </a:p>
          <a:p>
            <a:r>
              <a:t>The IOT-based Air Quality Index Meter System combines old-school and modern-day techniques for reliable environmental monitoring. Hardware, an Arduino Uno is being used for initial prototyping and ESP32/ESP8266 microcontrollers for final deployment, for their built-in Wi-Fi/Bluetooth and superior processing capabilities. Gas sensors such as MQ-135 and MQ-5  are used to detect harmful gases, and PM2.5 and PM10 sensors are used to measure particulate matter. Power management is from rechargeable batteries, adapters, and charging circuits, all incorporated into a weatherproof enclosure to ensure reliability outside. Prototyping is facilitated by utilizing breadboards and jumper wires. On the software side, development is through Arduino IDE and VS Code with PlatformIO, giving room for structured firmware coding, as well as FreeRTOS task management. A mobile app developed using Android Studio and Blynk allows real-time monitoring. Data are transmitted and stored via Firebase, AWS IoT, ThingSpeak, and Adafruit IO. Accordingly, data are exchanged following the MQTT and HTTP/HTTPS protocols, with authentication in place. The subsequent visualization and analysis are in MATLAB, Python, Excel, and Grafana, with GitHub providing version control for the team configuration. This implementation seeks a balance between conventional engineering principles like modularity and robustness, while embracing some futuristic constructs-fundamentals of real-time analytics, cloud integration and intelligence at the edge.</a:t>
            </a:r>
          </a:p>
          <a:p>
            <a:r>
              <a:t>DESCRIPTION OF KEY SYSTEM FEARTURES:</a:t>
            </a:r>
          </a:p>
          <a:p>
            <a:r>
              <a:t>Monitoring the quality of air in real-time, the proposed system measures the concentration of various pollutants that go into the calculation of Air Quality Index by WHO standards, measurement of AQI with respect to local standards. Data is represented as visualization through graphs and dashboards, and remote monitoring can be done by means of an Android application. Data Redundancy and Accessibility: Integration with IOT Platforms. Modularity and Expandability: The system provides the potential for future integration, making the addition of more sensors or modules easy and non-invasive.</a:t>
            </a:r>
          </a:p>
          <a:p>
            <a:r>
              <a:t>EXPERIMENTAL DESIGN AND  RESULTS ANALYSIS:</a:t>
            </a:r>
          </a:p>
          <a:p>
            <a:r>
              <a:t>System testing in controlled indoor and outdoor urban settings was conducted to better assess sensor accuracy and reliability. The MQ and PM sensors had highly correlated measures with certified readings. System uptime over the 72-hour test was 98% in terms of data transmission to ThingSpeak and Firebase via Wi-Fi. The application based on Blynk had a noticeably low latency, permitting a near real-time response. The system lasted for up to 12 hours on a fully charged battery pack, which rendered the system portable and deployable outdoors. Data collection was done and processed using Python and Excel to obtain a time-series plot for AQI fluctuations. The prototype showed an efficient and reliable monitoring system with an overall system reliability rate of 90%.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3" name="Content Placeholder 2"/>
          <p:cNvSpPr>
            <a:spLocks noGrp="1"/>
          </p:cNvSpPr>
          <p:nvPr>
            <p:ph idx="1"/>
          </p:nvPr>
        </p:nvSpPr>
        <p:spPr/>
        <p:txBody>
          <a:bodyPr/>
          <a:lstStyle/>
          <a:p>
            <a:r>
              <a:t>The implementation of an IoT-based Air Quality Index (AQI) Meter System has yielded several significant outcomes.</a:t>
            </a:r>
          </a:p>
          <a:p>
            <a:r>
              <a:t>ACCURACY AND RELIABILITY OF SENSOR READINGS:</a:t>
            </a:r>
          </a:p>
          <a:p>
            <a:r>
              <a:t>The integrated environmental sensors involving MQ-135, MQ-5, PM2.5, and PM10 modules gave very reliable and accurate data relating to gaseous pollutants, namely CO2, NO2, SO2, and VOCs, and particulate matter. The sensors were calibrated with standard reference values and thus depicted permissible discrepancies of ±5%, thus proving that the system is valid in both indoor and outdoor settings.</a:t>
            </a:r>
          </a:p>
          <a:p>
            <a:r>
              <a:t>REAL-TIME DATA TRANSMISSION AND RESPONSIVNESS:</a:t>
            </a:r>
          </a:p>
          <a:p>
            <a:r>
              <a:t>Using the ESP32 and ESP8266 microcontrollers that possess Wi-Fi capability, the system enabled real-time data transmission to cloud platforms (ThingSpeak, Firebase, AWS IoT). The average response time for the data logging and visualization was less than 1.2 seconds, ensuring that latency remained minimal in monitoring and alert generation, thereby favoring reactive environmental management.</a:t>
            </a:r>
          </a:p>
          <a:p>
            <a:r>
              <a:t>SYSTEM’S EFFECTIVNESS IN MONITORING ENVIRONMENTAL CONDITIONS:</a:t>
            </a:r>
          </a:p>
          <a:p>
            <a:r>
              <a:t>The modular and scalable architecture facilitated continuous surveillance of ambient air quality across diverse locations. Data visualization on mobile and web interfaces empowered users to interpret AQI levels effectively. The system also supported threshold-based alerts, enhancing its utility in environmental risk detection and mitigation.</a:t>
            </a:r>
          </a:p>
          <a:p>
            <a:r>
              <a:t>CONTRIBUTION TO ENVIRONMENTAL AWARENESS AND PUBLIC HEALTH:</a:t>
            </a:r>
          </a:p>
          <a:p>
            <a:r>
              <a:t>The offered solution should meet requirements as a low-cost and scalable tool for public health interventions to achieve real-time awareness and knowledge about air quality levels. Access to localized AQI data serves to facilitate end-user, i.e. urban residents, health departments, and educational institutions, informed decisions on minimizing exposure to harmful pollutants. Linkages to public dashboards and mobile notifications further promote community-based environmental stewardship.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r>
              <a:t>The proposed IoT-based Air Quality Index Meter System, despite its promising capabilities, may face several limitations that could affect its performance and scalability.</a:t>
            </a:r>
          </a:p>
          <a:p>
            <a:r>
              <a:t>SENSOR DRIFT AND ENVIRONMENT SENITIVITY:</a:t>
            </a:r>
          </a:p>
          <a:p>
            <a:r>
              <a:t>Long-term accuracy and reliability of gas and particulate sensors such as MQ-135, MQ-5, and PM2.5 and PM10 are subject to sensor drift and influence by the environment. Sensor performance can be compromised over time because of the effects of humidity, temperature variability, and dust deposition on sensor outputs. While recalibration is always recommended, it may not be practical for non-local or vast endeavors.</a:t>
            </a:r>
          </a:p>
          <a:p>
            <a:r>
              <a:t>DEPENDENCY ON WiFi FOR CONNECTIVITY:</a:t>
            </a:r>
          </a:p>
          <a:p>
            <a:r>
              <a:t>The system's real-time data transmission relies heavily on stable Wi-Fi connectivity. In areas with poor or no internet coverage, data transfer to cloud platforms like ThingSpeak, Firebase and AWS IOT become interrupted, reducing system reliability. Alternative communication methods like LoRaWAN or cellular IOT could mitigate this issue but introduce additional complexity and cost.</a:t>
            </a:r>
          </a:p>
          <a:p>
            <a:r>
              <a:t>LIMITED DEPLOYMENT  RANGE AND SCALABILITY :</a:t>
            </a:r>
          </a:p>
          <a:p>
            <a:r>
              <a:t>It is the architecture that currently stands unsupported for mesh networking or range extension. Thus, the system scales only for small towns and rural states where multiple nodes communicate over long distances. If integration with mesh protocol or other multi-hop routing were developed, range could be increased. This would require additional hardware and firmware changes.</a:t>
            </a:r>
          </a:p>
          <a:p>
            <a:r>
              <a:t>BATTERY AND ENERGY EFFICIENCY CONSTRAINTS:</a:t>
            </a:r>
          </a:p>
          <a:p>
            <a:r>
              <a:t>The AQI system's equipped battery life becomes the limiting factor when deployed as a mobile or remote unit. Continuous operation of sensors, and data transmission and handling modules with microcontrollers like the ESP32 consumes significant power. Without implementation of power optimization techniques such as deep sleep modes or energy harvesting, the autonomy significantly reduces severely. AQI system acts battery life as a constraint whenever operated either as a mobile or remote unit. The continuous operation of sensors, data transmission modules, and microcontrollers such as ESP32 causes significant power consumption. Without such power optimization techniques like deep sleep modes or energy harvesting, the autonomy of the system declines to a critical low.</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t>While the present system furnishes a scalable and effective IoT-based solution to monitor the air quality, future improvements can largely proliferate the system capabilities and its applicability in the real world:</a:t>
            </a:r>
          </a:p>
          <a:p>
            <a:r>
              <a:t>INTEGRATION OF ARTIFICAL INTELLIGENCE (AI) AND MACHINE LEARNING(ML):</a:t>
            </a:r>
          </a:p>
          <a:p>
            <a:r>
              <a:t>Using Artificial Intelligence and machine learning algorithms for predictive analysis allows forecast air quality index trends based on historical data and real-time inputs. This capability can assist in forecast warnings and data-oriented policy decisions, mainly in cities.</a:t>
            </a:r>
          </a:p>
          <a:p>
            <a:r>
              <a:t>USE OF SOLAR ENERGY EFFICIENCY FOR GRID DEPLOYMENTS:</a:t>
            </a:r>
          </a:p>
          <a:p>
            <a:r>
              <a:t>Solar power modules may be added for the purpose of developing sustainability as well as independence of energy particularly in the areas where constant access to electric power is either very limited or claimed by interruption. This would cover very large outdoor installations with almost zero maintenance.</a:t>
            </a:r>
          </a:p>
          <a:p>
            <a:r>
              <a:t>INCORPORATION  OF GPS MODULES FOR GEO-TAGGED DATA:</a:t>
            </a:r>
          </a:p>
          <a:p>
            <a:r>
              <a:t>GPS integration would thus allow spatial mapping of pollutant levels, making way for geo-tagged air quality measurements, which are essential for pollution heat map generation and profiled pollution hotspots across various towns.</a:t>
            </a:r>
          </a:p>
          <a:p>
            <a:r>
              <a:t>EXPANSION TO INDUSTRIAL AND SMART CITY APPLICATIONS:</a:t>
            </a:r>
          </a:p>
          <a:p>
            <a:r>
              <a:t>Therefore, for industrial monitoring or integration into smart city infrastructures, the system may be scaled. This would involve heavier volumes of data, real-time data processing, and centralized dashboard facilities for information access by the public and administrators.</a:t>
            </a:r>
          </a:p>
          <a:p>
            <a:r>
              <a:t>ADDITION OF MORE GAS SENSORS:</a:t>
            </a:r>
          </a:p>
          <a:p>
            <a:r>
              <a:t>Detecting a wider array of pollutants by adapting the system with more specific sensors (e.g. SO₂, NO₂, CO₂, or VOCs) renders it more versatile in various surroundings such as factories, hospitals, and schools.</a:t>
            </a:r>
          </a:p>
          <a:p>
            <a:r>
              <a:t>AUTOMATED  ALERTS AND EMERGENCY PROTOCOLS:</a:t>
            </a:r>
          </a:p>
          <a:p>
            <a:r>
              <a:t>The real-time alerts can also be programmed into future versions for activating immediately emergency actions (such as air purification, alerting authorities) when pollutants readings cross into unsafe ranges. These alerts can be forwarded via SMS, email, or via notifications in mobile apps.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THOUGHTS</a:t>
            </a:r>
          </a:p>
        </p:txBody>
      </p:sp>
      <p:sp>
        <p:nvSpPr>
          <p:cNvPr id="3" name="Content Placeholder 2"/>
          <p:cNvSpPr>
            <a:spLocks noGrp="1"/>
          </p:cNvSpPr>
          <p:nvPr>
            <p:ph idx="1"/>
          </p:nvPr>
        </p:nvSpPr>
        <p:spPr/>
        <p:txBody>
          <a:bodyPr/>
          <a:lstStyle/>
          <a:p>
            <a:r>
              <a:t>In an age when environmental consciousness is no longer a luxury but a necessity, this project has proven yet again that technology-however defined by the use of IoT-is really the answer against the ransom issues of the time, such as air pollution. The project outlines the meeting point for engineering innovation, environmental consciousness, and society needs. The computing features of this system, bundled as a unique combination of technologies—real-time sensing, data analytics, and cloud connectivity, a visionary and cost-effective answer that circumvents the inadequacies of conventional air-monitoring infrastructures, which have been in place for years in most developing countries. This project exemplifies how democratization of technology—via open-source platforms, cheap sensors, and inexpensive cloud services—helps empower individuals, communities, and organizations to get more proactive in monitoring, understanding, and responding to environmental changes all over the place. Elements like sensor calibration, real-time alerting, and mobile/cloud interfacing mark a vision of the future of environmental monitoring: decentralized, real-time, and user-centered. From classic engineering viewpoints, this system follows modular design within the layered architecture. The system, however, ventures beyond tradition through intelligent data handling and predictive capabilities. It represents what is considered responsible engineering practice within SDGs and environmental protection. With extensive functionalities being fully realized, the corners lie widely open for enhanced implementations like AI air quality forecasting, other sensor integrative actions like VOCs, UV radiation, etc., and a more robust mobile interfacing solution. For a longer-term prospect, scaling this system both for urban and rural settings will address an even wider stakeholder population from government agencies to single users who will be able to receive accurate real-time and actionable data. To summarize, the project transcends mere application of technology; it has taken a step in the direction of healthy habitats and educated ecological choices. This should lay a brickwork upon which forthcoming engineers, researchers, and policymakers will continue to build by weighing tradition against the innovation required to create a good society and protect our common environment.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